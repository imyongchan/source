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283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317" r:id="rId30"/>
    <p:sldId id="258" r:id="rId31"/>
    <p:sldId id="318" r:id="rId32"/>
    <p:sldId id="319" r:id="rId33"/>
    <p:sldId id="320" r:id="rId34"/>
    <p:sldId id="321" r:id="rId35"/>
    <p:sldId id="280" r:id="rId36"/>
    <p:sldId id="291" r:id="rId37"/>
    <p:sldId id="299" r:id="rId38"/>
    <p:sldId id="300" r:id="rId39"/>
    <p:sldId id="301" r:id="rId40"/>
    <p:sldId id="305" r:id="rId41"/>
    <p:sldId id="286" r:id="rId42"/>
    <p:sldId id="292" r:id="rId43"/>
    <p:sldId id="287" r:id="rId44"/>
    <p:sldId id="288" r:id="rId45"/>
    <p:sldId id="290" r:id="rId46"/>
    <p:sldId id="293" r:id="rId47"/>
    <p:sldId id="289" r:id="rId48"/>
    <p:sldId id="302" r:id="rId49"/>
    <p:sldId id="264" r:id="rId50"/>
    <p:sldId id="303" r:id="rId51"/>
    <p:sldId id="304" r:id="rId52"/>
    <p:sldId id="314" r:id="rId53"/>
    <p:sldId id="315" r:id="rId54"/>
    <p:sldId id="323" r:id="rId55"/>
    <p:sldId id="322" r:id="rId56"/>
    <p:sldId id="325" r:id="rId57"/>
    <p:sldId id="324" r:id="rId58"/>
    <p:sldId id="297" r:id="rId5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1011" autoAdjust="0"/>
  </p:normalViewPr>
  <p:slideViewPr>
    <p:cSldViewPr snapToGrid="0">
      <p:cViewPr varScale="1">
        <p:scale>
          <a:sx n="77" d="100"/>
          <a:sy n="77" d="100"/>
        </p:scale>
        <p:origin x="8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20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212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1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r>
              <a:rPr lang="ko-KR" altLang="en-US" dirty="0"/>
              <a:t>관리자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44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8745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6472296"/>
              </p:ext>
            </p:extLst>
          </p:nvPr>
        </p:nvGraphicFramePr>
        <p:xfrm>
          <a:off x="351394" y="2687320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4192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graphicFrame>
        <p:nvGraphicFramePr>
          <p:cNvPr id="3" name="표 57">
            <a:extLst>
              <a:ext uri="{FF2B5EF4-FFF2-40B4-BE49-F238E27FC236}">
                <a16:creationId xmlns:a16="http://schemas.microsoft.com/office/drawing/2014/main" id="{259FD06B-23EF-0599-4590-327A5C86C3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754310"/>
              </p:ext>
            </p:extLst>
          </p:nvPr>
        </p:nvGraphicFramePr>
        <p:xfrm>
          <a:off x="238125" y="3002942"/>
          <a:ext cx="8128000" cy="1400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2748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5149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54979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6320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547521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썸네일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(21~23)3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년의 정보를 가져온다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 현황 분석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89198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070155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35105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28790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353342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95279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맞춤 통계 분석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안전교육 </a:t>
            </a:r>
            <a:r>
              <a:rPr lang="en-US" altLang="ko-KR" sz="1000" dirty="0">
                <a:solidFill>
                  <a:srgbClr val="555555"/>
                </a:solidFill>
                <a:latin typeface="Arial" panose="020B0604020202020204" pitchFamily="34" charset="0"/>
              </a:rPr>
              <a:t>,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90921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9559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Aouth2.0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611973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3615439"/>
              </p:ext>
            </p:extLst>
          </p:nvPr>
        </p:nvGraphicFramePr>
        <p:xfrm>
          <a:off x="8603672" y="1180081"/>
          <a:ext cx="3588327" cy="5692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35789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5122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586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512282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9978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068967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생년월일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주소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주소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8761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생년월일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51815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4513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5035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34762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922120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72030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603022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F802F4-A8C9-4B4E-B6F6-E38022758E7F}"/>
              </a:ext>
            </a:extLst>
          </p:cNvPr>
          <p:cNvSpPr/>
          <p:nvPr/>
        </p:nvSpPr>
        <p:spPr>
          <a:xfrm>
            <a:off x="2541016" y="27565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사람이름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75A5D-4200-4BAE-95E9-064E79E8C195}"/>
              </a:ext>
            </a:extLst>
          </p:cNvPr>
          <p:cNvSpPr txBox="1"/>
          <p:nvPr/>
        </p:nvSpPr>
        <p:spPr>
          <a:xfrm>
            <a:off x="1648658" y="1950007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4D44AB-C61A-4C49-AAB8-AEC430108C8D}"/>
              </a:ext>
            </a:extLst>
          </p:cNvPr>
          <p:cNvSpPr/>
          <p:nvPr/>
        </p:nvSpPr>
        <p:spPr>
          <a:xfrm>
            <a:off x="2535543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주소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12600E-7909-45A3-BC19-16A48B258D6B}"/>
              </a:ext>
            </a:extLst>
          </p:cNvPr>
          <p:cNvSpPr/>
          <p:nvPr/>
        </p:nvSpPr>
        <p:spPr>
          <a:xfrm>
            <a:off x="2535542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없이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r>
              <a:rPr lang="ko-KR" altLang="en-US" sz="1200" dirty="0">
                <a:solidFill>
                  <a:schemeClr val="tx1"/>
                </a:solidFill>
              </a:rPr>
              <a:t>자리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ACD65-A086-40B6-B9D2-F7A2D0BF801C}"/>
              </a:ext>
            </a:extLst>
          </p:cNvPr>
          <p:cNvSpPr txBox="1"/>
          <p:nvPr/>
        </p:nvSpPr>
        <p:spPr>
          <a:xfrm>
            <a:off x="1659237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A32F4-231E-4B8C-A983-320F8AF9B482}"/>
              </a:ext>
            </a:extLst>
          </p:cNvPr>
          <p:cNvSpPr txBox="1"/>
          <p:nvPr/>
        </p:nvSpPr>
        <p:spPr>
          <a:xfrm>
            <a:off x="1648659" y="37351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0D253-0578-41DC-9742-6E40188DAED4}"/>
              </a:ext>
            </a:extLst>
          </p:cNvPr>
          <p:cNvSpPr txBox="1"/>
          <p:nvPr/>
        </p:nvSpPr>
        <p:spPr>
          <a:xfrm>
            <a:off x="1679460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9B0FE0B-4CBA-4999-9829-C64C832A97DD}"/>
              </a:ext>
            </a:extLst>
          </p:cNvPr>
          <p:cNvSpPr/>
          <p:nvPr/>
        </p:nvSpPr>
        <p:spPr>
          <a:xfrm>
            <a:off x="5391859" y="27526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생년월일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263F7DC-4037-47D8-803C-BD6E4F72BF65}"/>
              </a:ext>
            </a:extLst>
          </p:cNvPr>
          <p:cNvSpPr/>
          <p:nvPr/>
        </p:nvSpPr>
        <p:spPr>
          <a:xfrm>
            <a:off x="5392002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주소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848021-6995-4E33-B4F0-8C890A8EED4C}"/>
              </a:ext>
            </a:extLst>
          </p:cNvPr>
          <p:cNvSpPr/>
          <p:nvPr/>
        </p:nvSpPr>
        <p:spPr>
          <a:xfrm>
            <a:off x="5392001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2CE04-5E42-4A75-B15F-BB0CB8B9C88F}"/>
              </a:ext>
            </a:extLst>
          </p:cNvPr>
          <p:cNvSpPr txBox="1"/>
          <p:nvPr/>
        </p:nvSpPr>
        <p:spPr>
          <a:xfrm>
            <a:off x="4515695" y="2730638"/>
            <a:ext cx="9476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생년월일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3477B-25B0-492E-A4F0-2E99191FE305}"/>
              </a:ext>
            </a:extLst>
          </p:cNvPr>
          <p:cNvSpPr txBox="1"/>
          <p:nvPr/>
        </p:nvSpPr>
        <p:spPr>
          <a:xfrm>
            <a:off x="4505117" y="37351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195720-E57A-4D2B-9C72-0371BA12B92C}"/>
              </a:ext>
            </a:extLst>
          </p:cNvPr>
          <p:cNvSpPr txBox="1"/>
          <p:nvPr/>
        </p:nvSpPr>
        <p:spPr>
          <a:xfrm>
            <a:off x="4535919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3517B5-F8CB-42E3-B1E8-C461ED0DFE6C}"/>
              </a:ext>
            </a:extLst>
          </p:cNvPr>
          <p:cNvSpPr txBox="1"/>
          <p:nvPr/>
        </p:nvSpPr>
        <p:spPr>
          <a:xfrm>
            <a:off x="2486723" y="29978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8607E8-FF34-42C8-A626-3FBFEBECB100}"/>
              </a:ext>
            </a:extLst>
          </p:cNvPr>
          <p:cNvSpPr txBox="1"/>
          <p:nvPr/>
        </p:nvSpPr>
        <p:spPr>
          <a:xfrm>
            <a:off x="2517525" y="40177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81BE78-3DCF-4D39-BF29-C0F4B4FDEABF}"/>
              </a:ext>
            </a:extLst>
          </p:cNvPr>
          <p:cNvSpPr txBox="1"/>
          <p:nvPr/>
        </p:nvSpPr>
        <p:spPr>
          <a:xfrm>
            <a:off x="5323057" y="40142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ED9DA0B-D090-4CE0-8E66-A657DBA4D894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1E2AB2-B455-417D-8006-466B8E6C37A8}"/>
              </a:ext>
            </a:extLst>
          </p:cNvPr>
          <p:cNvSpPr txBox="1"/>
          <p:nvPr/>
        </p:nvSpPr>
        <p:spPr>
          <a:xfrm>
            <a:off x="6404146" y="507788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0F7B02-E565-4C23-B4BA-CB85E1D72D96}"/>
              </a:ext>
            </a:extLst>
          </p:cNvPr>
          <p:cNvSpPr txBox="1"/>
          <p:nvPr/>
        </p:nvSpPr>
        <p:spPr>
          <a:xfrm>
            <a:off x="4590065" y="511338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73" name="원형: 비어 있음 72">
            <a:extLst>
              <a:ext uri="{FF2B5EF4-FFF2-40B4-BE49-F238E27FC236}">
                <a16:creationId xmlns:a16="http://schemas.microsoft.com/office/drawing/2014/main" id="{D8A32403-414B-4CF2-8589-5B5412E403E7}"/>
              </a:ext>
            </a:extLst>
          </p:cNvPr>
          <p:cNvSpPr/>
          <p:nvPr/>
        </p:nvSpPr>
        <p:spPr>
          <a:xfrm>
            <a:off x="5793505" y="520199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원형: 비어 있음 73">
            <a:extLst>
              <a:ext uri="{FF2B5EF4-FFF2-40B4-BE49-F238E27FC236}">
                <a16:creationId xmlns:a16="http://schemas.microsoft.com/office/drawing/2014/main" id="{AD71D93F-603C-4BED-9603-9BB8F823C409}"/>
              </a:ext>
            </a:extLst>
          </p:cNvPr>
          <p:cNvSpPr/>
          <p:nvPr/>
        </p:nvSpPr>
        <p:spPr>
          <a:xfrm>
            <a:off x="6785710" y="520432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34AEE-7053-4544-B6DB-11130347E3C9}"/>
              </a:ext>
            </a:extLst>
          </p:cNvPr>
          <p:cNvSpPr txBox="1"/>
          <p:nvPr/>
        </p:nvSpPr>
        <p:spPr>
          <a:xfrm>
            <a:off x="5399960" y="507788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A7636D3-9752-4D85-B0CF-4E4C8618F4C9}"/>
              </a:ext>
            </a:extLst>
          </p:cNvPr>
          <p:cNvSpPr/>
          <p:nvPr/>
        </p:nvSpPr>
        <p:spPr>
          <a:xfrm>
            <a:off x="2548343" y="231300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37B149-9DD5-4C48-842D-F358323A7C73}"/>
              </a:ext>
            </a:extLst>
          </p:cNvPr>
          <p:cNvSpPr txBox="1"/>
          <p:nvPr/>
        </p:nvSpPr>
        <p:spPr>
          <a:xfrm>
            <a:off x="1666563" y="2287068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99B1A-FE19-458A-9F00-F2B42D180A8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5EF232-B36C-4D27-B422-714DD6C035A0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E7A3B-08CE-4AE7-B7E4-E56C5D640F9E}"/>
              </a:ext>
            </a:extLst>
          </p:cNvPr>
          <p:cNvSpPr txBox="1"/>
          <p:nvPr/>
        </p:nvSpPr>
        <p:spPr>
          <a:xfrm>
            <a:off x="5323057" y="298688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3032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360950"/>
              </p:ext>
            </p:extLst>
          </p:nvPr>
        </p:nvGraphicFramePr>
        <p:xfrm>
          <a:off x="8603672" y="1180083"/>
          <a:ext cx="3588327" cy="56901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43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3546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9290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 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6694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81391"/>
              </p:ext>
            </p:extLst>
          </p:nvPr>
        </p:nvGraphicFramePr>
        <p:xfrm>
          <a:off x="1675370" y="3183933"/>
          <a:ext cx="5495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80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471520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4136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867898"/>
              </p:ext>
            </p:extLst>
          </p:nvPr>
        </p:nvGraphicFramePr>
        <p:xfrm>
          <a:off x="8603672" y="1180083"/>
          <a:ext cx="3588327" cy="623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270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4671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3540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제조업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건설업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따라 바뀜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모두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질병 텍스트가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disable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 되고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발생형태 텍스트가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disable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 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모두를 선택시에는 둘 다 입력해야 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34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81462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1528194" y="468716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81462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FE5CA5-578B-425C-A594-811BFD7A077D}"/>
              </a:ext>
            </a:extLst>
          </p:cNvPr>
          <p:cNvSpPr/>
          <p:nvPr/>
        </p:nvSpPr>
        <p:spPr>
          <a:xfrm>
            <a:off x="2281543" y="331696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32318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30231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중분류</a:t>
            </a:r>
            <a:r>
              <a:rPr lang="en-US" altLang="ko-KR" sz="1000" dirty="0"/>
              <a:t>2 :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9152C-C274-4842-B44E-91F10111CA5D}"/>
              </a:ext>
            </a:extLst>
          </p:cNvPr>
          <p:cNvSpPr txBox="1"/>
          <p:nvPr/>
        </p:nvSpPr>
        <p:spPr>
          <a:xfrm>
            <a:off x="1351916" y="331696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중분류</a:t>
            </a:r>
            <a:r>
              <a:rPr lang="en-US" altLang="ko-KR" sz="1000" dirty="0"/>
              <a:t>1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81462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78532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74D1D3-04FB-44D7-9B5D-07DCB85EF524}"/>
              </a:ext>
            </a:extLst>
          </p:cNvPr>
          <p:cNvSpPr txBox="1"/>
          <p:nvPr/>
        </p:nvSpPr>
        <p:spPr>
          <a:xfrm>
            <a:off x="3772490" y="432774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모두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2E5DAE2-EA55-47D3-BF46-1B80185F281B}"/>
              </a:ext>
            </a:extLst>
          </p:cNvPr>
          <p:cNvSpPr/>
          <p:nvPr/>
        </p:nvSpPr>
        <p:spPr>
          <a:xfrm>
            <a:off x="4317178" y="438852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83B684B-0E6A-4EDB-A38B-D6C2CDECB9CA}"/>
              </a:ext>
            </a:extLst>
          </p:cNvPr>
          <p:cNvSpPr/>
          <p:nvPr/>
        </p:nvSpPr>
        <p:spPr>
          <a:xfrm>
            <a:off x="1528194" y="503164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BB15B32D-1D50-4498-82C5-447EFD06662F}"/>
              </a:ext>
            </a:extLst>
          </p:cNvPr>
          <p:cNvSpPr/>
          <p:nvPr/>
        </p:nvSpPr>
        <p:spPr>
          <a:xfrm>
            <a:off x="2281543" y="299068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CC3E69-3BD3-41C2-A50A-66D37AAE957D}"/>
              </a:ext>
            </a:extLst>
          </p:cNvPr>
          <p:cNvSpPr txBox="1"/>
          <p:nvPr/>
        </p:nvSpPr>
        <p:spPr>
          <a:xfrm>
            <a:off x="1351916" y="299068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 별칭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653856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41386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89154"/>
              </p:ext>
            </p:extLst>
          </p:nvPr>
        </p:nvGraphicFramePr>
        <p:xfrm>
          <a:off x="8603672" y="1180080"/>
          <a:ext cx="3588327" cy="6149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간단 내용은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LLM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비동기로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8421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3174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180602"/>
              </p:ext>
            </p:extLst>
          </p:nvPr>
        </p:nvGraphicFramePr>
        <p:xfrm>
          <a:off x="8603672" y="1180081"/>
          <a:ext cx="3588327" cy="5316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910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산재리스트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DB Join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해서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회원 프로필 명시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정보선택을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클릭할때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산재 닉네임을 선택 시 산재 정보 표시하고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분석기간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선택시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관련 통계 집계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분석 기간에 따른 통계 자료 변경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(Button)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128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198513" y="2008787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4757392" y="2745007"/>
            <a:ext cx="275130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C2A0EA-B3AE-AEC2-CE98-2376622D571B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EA71B6-598E-4F09-AF55-AECC68AE0278}"/>
              </a:ext>
            </a:extLst>
          </p:cNvPr>
          <p:cNvSpPr txBox="1"/>
          <p:nvPr/>
        </p:nvSpPr>
        <p:spPr>
          <a:xfrm>
            <a:off x="1971492" y="4304949"/>
            <a:ext cx="4124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분석을 시작하려면 기간을 선택하세요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ko-KR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22FFAF-E532-0FA7-2D39-ACC91267F496}"/>
              </a:ext>
            </a:extLst>
          </p:cNvPr>
          <p:cNvSpPr/>
          <p:nvPr/>
        </p:nvSpPr>
        <p:spPr>
          <a:xfrm>
            <a:off x="6673212" y="2364788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F51771-E44A-953D-0C91-B6EE8EF0AC9C}"/>
              </a:ext>
            </a:extLst>
          </p:cNvPr>
          <p:cNvSpPr/>
          <p:nvPr/>
        </p:nvSpPr>
        <p:spPr>
          <a:xfrm>
            <a:off x="6502952" y="2244942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AD9B29-D813-20EE-3223-5ABEFF00E57D}"/>
              </a:ext>
            </a:extLst>
          </p:cNvPr>
          <p:cNvSpPr/>
          <p:nvPr/>
        </p:nvSpPr>
        <p:spPr>
          <a:xfrm>
            <a:off x="7014888" y="1324407"/>
            <a:ext cx="1258932" cy="110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별칭 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별칭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별칭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…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818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149F63A-B17E-6964-404B-4C602586C571}"/>
              </a:ext>
            </a:extLst>
          </p:cNvPr>
          <p:cNvSpPr/>
          <p:nvPr/>
        </p:nvSpPr>
        <p:spPr>
          <a:xfrm>
            <a:off x="336077" y="3509181"/>
            <a:ext cx="1928120" cy="28555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재해율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재해율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ko-KR" altLang="en-US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775889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333200"/>
              </p:ext>
            </p:extLst>
          </p:nvPr>
        </p:nvGraphicFramePr>
        <p:xfrm>
          <a:off x="8603672" y="1180081"/>
          <a:ext cx="3588327" cy="58372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139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120188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6060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93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827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(Button)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에 따른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통계 집계 및  시각화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를 보면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년도별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통계분석 가능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4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재해율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사망률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재해유형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 업종 사망유형 집계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97156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9300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4C79B7-5760-B413-FB50-03C6F0CDE6A1}"/>
              </a:ext>
            </a:extLst>
          </p:cNvPr>
          <p:cNvSpPr/>
          <p:nvPr/>
        </p:nvSpPr>
        <p:spPr>
          <a:xfrm>
            <a:off x="368773" y="2090944"/>
            <a:ext cx="7921374" cy="67155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   </a:t>
            </a:r>
            <a:r>
              <a:rPr lang="en-US" altLang="ko-KR" sz="1400" b="1" dirty="0">
                <a:solidFill>
                  <a:schemeClr val="tx1"/>
                </a:solidFill>
              </a:rPr>
              <a:t>000</a:t>
            </a:r>
            <a:r>
              <a:rPr lang="ko-KR" altLang="en-US" sz="1400" b="1" dirty="0">
                <a:solidFill>
                  <a:schemeClr val="tx1"/>
                </a:solidFill>
              </a:rPr>
              <a:t> 님의 프로필 </a:t>
            </a:r>
            <a:r>
              <a:rPr lang="en-US" altLang="ko-KR" sz="1400" b="1" dirty="0">
                <a:solidFill>
                  <a:schemeClr val="tx1"/>
                </a:solidFill>
              </a:rPr>
              <a:t>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en-US" altLang="ko-KR" sz="900" dirty="0">
                <a:solidFill>
                  <a:schemeClr val="tx1"/>
                </a:solidFill>
              </a:rPr>
              <a:t>   </a:t>
            </a:r>
            <a:r>
              <a:rPr lang="ko-KR" altLang="en-US" sz="900" dirty="0">
                <a:solidFill>
                  <a:schemeClr val="tx1"/>
                </a:solidFill>
              </a:rPr>
              <a:t>   업종</a:t>
            </a:r>
            <a:r>
              <a:rPr lang="en-US" altLang="ko-KR" sz="900" dirty="0">
                <a:solidFill>
                  <a:schemeClr val="tx1"/>
                </a:solidFill>
              </a:rPr>
              <a:t>(1):               </a:t>
            </a:r>
            <a:r>
              <a:rPr lang="ko-KR" altLang="en-US" sz="900" dirty="0">
                <a:solidFill>
                  <a:schemeClr val="tx1"/>
                </a:solidFill>
              </a:rPr>
              <a:t>업종</a:t>
            </a:r>
            <a:r>
              <a:rPr lang="en-US" altLang="ko-KR" sz="900" dirty="0">
                <a:solidFill>
                  <a:schemeClr val="tx1"/>
                </a:solidFill>
              </a:rPr>
              <a:t>(2):             </a:t>
            </a:r>
            <a:r>
              <a:rPr lang="ko-KR" altLang="en-US" sz="900" dirty="0">
                <a:solidFill>
                  <a:schemeClr val="tx1"/>
                </a:solidFill>
              </a:rPr>
              <a:t>나이</a:t>
            </a:r>
            <a:r>
              <a:rPr lang="en-US" altLang="ko-KR" sz="900" dirty="0">
                <a:solidFill>
                  <a:schemeClr val="tx1"/>
                </a:solidFill>
              </a:rPr>
              <a:t>:           </a:t>
            </a:r>
            <a:r>
              <a:rPr lang="ko-KR" altLang="en-US" sz="900" dirty="0">
                <a:solidFill>
                  <a:schemeClr val="tx1"/>
                </a:solidFill>
              </a:rPr>
              <a:t>성별</a:t>
            </a:r>
            <a:r>
              <a:rPr lang="en-US" altLang="ko-KR" sz="900" dirty="0">
                <a:solidFill>
                  <a:schemeClr val="tx1"/>
                </a:solidFill>
              </a:rPr>
              <a:t>:             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198511" y="3412727"/>
            <a:ext cx="275129" cy="3039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E2C0410-CB91-6CDB-DD7F-2E9415BF87AA}"/>
              </a:ext>
            </a:extLst>
          </p:cNvPr>
          <p:cNvSpPr/>
          <p:nvPr/>
        </p:nvSpPr>
        <p:spPr>
          <a:xfrm>
            <a:off x="368773" y="2879078"/>
            <a:ext cx="7921374" cy="30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분석 기간</a:t>
            </a:r>
            <a:r>
              <a:rPr lang="en-US" altLang="ko-KR" sz="1400" b="1" dirty="0">
                <a:solidFill>
                  <a:schemeClr val="tx1"/>
                </a:solidFill>
              </a:rPr>
              <a:t>:						          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48A80A4-9904-31F9-D9F0-24A203D0853C}"/>
              </a:ext>
            </a:extLst>
          </p:cNvPr>
          <p:cNvSpPr/>
          <p:nvPr/>
        </p:nvSpPr>
        <p:spPr>
          <a:xfrm>
            <a:off x="4894957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최근 </a:t>
            </a:r>
            <a:r>
              <a:rPr lang="en-US" altLang="ko-KR" sz="1100" dirty="0">
                <a:solidFill>
                  <a:schemeClr val="bg1"/>
                </a:solidFill>
              </a:rPr>
              <a:t>1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A6F1F55-5AD2-24E3-D532-89CB71D9E1EE}"/>
              </a:ext>
            </a:extLst>
          </p:cNvPr>
          <p:cNvSpPr/>
          <p:nvPr/>
        </p:nvSpPr>
        <p:spPr>
          <a:xfrm>
            <a:off x="6053573" y="2887837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2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BB0301-6CB6-76E9-B49C-19AD4DD61391}"/>
              </a:ext>
            </a:extLst>
          </p:cNvPr>
          <p:cNvSpPr/>
          <p:nvPr/>
        </p:nvSpPr>
        <p:spPr>
          <a:xfrm>
            <a:off x="7200693" y="2890782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/>
                </a:solidFill>
              </a:rPr>
              <a:t>3</a:t>
            </a:r>
            <a:r>
              <a:rPr lang="ko-KR" altLang="en-US" sz="1100" dirty="0">
                <a:solidFill>
                  <a:schemeClr val="bg1"/>
                </a:solidFill>
              </a:rPr>
              <a:t>년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2DBE83A-2468-082E-E62C-120CB5D082A9}"/>
              </a:ext>
            </a:extLst>
          </p:cNvPr>
          <p:cNvSpPr/>
          <p:nvPr/>
        </p:nvSpPr>
        <p:spPr>
          <a:xfrm>
            <a:off x="2505517" y="3509182"/>
            <a:ext cx="1793000" cy="28555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사망률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000" b="1" dirty="0">
                <a:solidFill>
                  <a:schemeClr val="tx1"/>
                </a:solidFill>
              </a:rPr>
              <a:t>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사망률 </a:t>
            </a:r>
            <a:r>
              <a:rPr lang="en-US" altLang="ko-KR" sz="1100" b="1" dirty="0">
                <a:solidFill>
                  <a:schemeClr val="tx1"/>
                </a:solidFill>
              </a:rPr>
              <a:t>%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</a:t>
            </a:r>
            <a:r>
              <a:rPr lang="en-US" altLang="ko-KR" sz="11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5AD99E9-1106-2DE1-BFF9-4C62DCC8B6C9}"/>
              </a:ext>
            </a:extLst>
          </p:cNvPr>
          <p:cNvSpPr/>
          <p:nvPr/>
        </p:nvSpPr>
        <p:spPr>
          <a:xfrm>
            <a:off x="4491707" y="3523820"/>
            <a:ext cx="1796876" cy="28408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 재해유형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많이 다친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</a:t>
            </a:r>
            <a:r>
              <a:rPr lang="ko-KR" altLang="en-US" sz="1100" b="1" dirty="0">
                <a:solidFill>
                  <a:schemeClr val="tx1"/>
                </a:solidFill>
              </a:rPr>
              <a:t> 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DF171BC-877A-C50D-B47E-1BB2EA327636}"/>
              </a:ext>
            </a:extLst>
          </p:cNvPr>
          <p:cNvSpPr/>
          <p:nvPr/>
        </p:nvSpPr>
        <p:spPr>
          <a:xfrm>
            <a:off x="6481773" y="3475693"/>
            <a:ext cx="1796877" cy="284088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내 업종 사망유형  </a:t>
            </a:r>
            <a:r>
              <a:rPr lang="en-US" altLang="ko-KR" sz="1400" b="1" dirty="0">
                <a:solidFill>
                  <a:schemeClr val="tx1"/>
                </a:solidFill>
              </a:rPr>
              <a:t>	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가장 많은 사망 유형</a:t>
            </a:r>
            <a:endParaRPr lang="en-US" altLang="ko-KR" sz="11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- </a:t>
            </a:r>
            <a:r>
              <a:rPr lang="ko-KR" altLang="en-US" sz="1100" b="1" dirty="0">
                <a:solidFill>
                  <a:schemeClr val="tx1"/>
                </a:solidFill>
              </a:rPr>
              <a:t>전년 대비 증감률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   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772986" y="2716711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0C3FE3-BB76-E61C-C52C-1978DD221B9E}"/>
              </a:ext>
            </a:extLst>
          </p:cNvPr>
          <p:cNvSpPr/>
          <p:nvPr/>
        </p:nvSpPr>
        <p:spPr>
          <a:xfrm>
            <a:off x="6592551" y="2345429"/>
            <a:ext cx="1077957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정보 선택 </a:t>
            </a:r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17730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재해현황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성별 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재해현황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연령별 사망현황 통계시각화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3182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760F890-669F-145E-F1AB-86374C6FFF03}"/>
              </a:ext>
            </a:extLst>
          </p:cNvPr>
          <p:cNvSpPr/>
          <p:nvPr/>
        </p:nvSpPr>
        <p:spPr>
          <a:xfrm>
            <a:off x="601290" y="1925053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재해현황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5732EC-A2B8-5CCF-ACC4-8F7E33B68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93" y="2573520"/>
            <a:ext cx="2338100" cy="1242049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F467F7-275E-3FE4-8C28-6DD2949F0BFE}"/>
              </a:ext>
            </a:extLst>
          </p:cNvPr>
          <p:cNvSpPr/>
          <p:nvPr/>
        </p:nvSpPr>
        <p:spPr>
          <a:xfrm>
            <a:off x="601290" y="4421581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재해현황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D3B6F6C-DBD0-3EE0-9D60-F3C8754CF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667" y="4852650"/>
            <a:ext cx="2195876" cy="1834656"/>
          </a:xfrm>
          <a:prstGeom prst="rect">
            <a:avLst/>
          </a:prstGeom>
        </p:spPr>
      </p:pic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72D8FF1-B3A6-1ECF-1047-EDD5F84F7381}"/>
              </a:ext>
            </a:extLst>
          </p:cNvPr>
          <p:cNvSpPr/>
          <p:nvPr/>
        </p:nvSpPr>
        <p:spPr>
          <a:xfrm>
            <a:off x="4315038" y="1906408"/>
            <a:ext cx="3008184" cy="2418347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남 </a:t>
            </a:r>
            <a:r>
              <a:rPr lang="en-US" altLang="ko-KR" sz="1400" b="1" dirty="0">
                <a:solidFill>
                  <a:schemeClr val="tx1"/>
                </a:solidFill>
              </a:rPr>
              <a:t> vs </a:t>
            </a:r>
            <a:r>
              <a:rPr lang="ko-KR" altLang="en-US" sz="1400" b="1" dirty="0">
                <a:solidFill>
                  <a:schemeClr val="tx1"/>
                </a:solidFill>
              </a:rPr>
              <a:t>여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000" dirty="0">
                <a:solidFill>
                  <a:schemeClr val="tx1"/>
                </a:solidFill>
              </a:rPr>
              <a:t>사망현황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남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1000" b="1" dirty="0">
                <a:solidFill>
                  <a:schemeClr val="tx1"/>
                </a:solidFill>
              </a:rPr>
              <a:t>여 </a:t>
            </a:r>
            <a:r>
              <a:rPr lang="en-US" altLang="ko-KR" sz="1000" b="1" dirty="0">
                <a:solidFill>
                  <a:schemeClr val="tx1"/>
                </a:solidFill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</a:rPr>
              <a:t>건수 및 퍼센트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64B2379D-2EB6-62F2-EC95-F0361605E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441" y="2554875"/>
            <a:ext cx="2338100" cy="1242049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FBF0404-5DE0-6178-4EA1-4771A8B3DC3C}"/>
              </a:ext>
            </a:extLst>
          </p:cNvPr>
          <p:cNvSpPr/>
          <p:nvPr/>
        </p:nvSpPr>
        <p:spPr>
          <a:xfrm>
            <a:off x="4315038" y="4402936"/>
            <a:ext cx="3008184" cy="2374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 연령대별 사망현황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  <a:p>
            <a:endParaRPr lang="en-US" altLang="ko-KR" sz="1000" b="1" dirty="0">
              <a:solidFill>
                <a:schemeClr val="tx1"/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5887E02-21D3-33DE-39B0-7D58D1DB9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415" y="4834005"/>
            <a:ext cx="2195876" cy="1834656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4EA2AB29-B621-CDC6-6FB2-22A3310C4393}"/>
              </a:ext>
            </a:extLst>
          </p:cNvPr>
          <p:cNvSpPr/>
          <p:nvPr/>
        </p:nvSpPr>
        <p:spPr>
          <a:xfrm>
            <a:off x="408031" y="190104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DCDA271-47A7-3329-18DD-F342DDEB1819}"/>
              </a:ext>
            </a:extLst>
          </p:cNvPr>
          <p:cNvSpPr/>
          <p:nvPr/>
        </p:nvSpPr>
        <p:spPr>
          <a:xfrm>
            <a:off x="463725" y="4343400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34999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04258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재해사망현황 통계시각화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547457" y="2394792"/>
            <a:ext cx="3506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재해 </a:t>
            </a:r>
            <a:r>
              <a:rPr lang="ko-KR" altLang="en-US" b="1" dirty="0"/>
              <a:t>유형별 사망현황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F23D985-7DC2-C9A8-31B5-E6C1A3AF135E}"/>
              </a:ext>
            </a:extLst>
          </p:cNvPr>
          <p:cNvSpPr/>
          <p:nvPr/>
        </p:nvSpPr>
        <p:spPr>
          <a:xfrm>
            <a:off x="513448" y="2204914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388092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80853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고용노동통계 산업재해현황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활용한 </a:t>
                      </a:r>
                      <a:endParaRPr lang="en-US" altLang="ko-KR" sz="12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재해현황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질병별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재해사망현황 통계시각화</a:t>
                      </a: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A7AC872-2757-5684-1D12-80C3D2C37CAF}"/>
              </a:ext>
            </a:extLst>
          </p:cNvPr>
          <p:cNvSpPr/>
          <p:nvPr/>
        </p:nvSpPr>
        <p:spPr>
          <a:xfrm>
            <a:off x="509164" y="2213991"/>
            <a:ext cx="3805225" cy="42830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602BE4D-9673-2903-3DD6-8737C5235DE7}"/>
              </a:ext>
            </a:extLst>
          </p:cNvPr>
          <p:cNvSpPr/>
          <p:nvPr/>
        </p:nvSpPr>
        <p:spPr>
          <a:xfrm>
            <a:off x="4398278" y="2213992"/>
            <a:ext cx="3805227" cy="428306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            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200AFA2-D796-83CF-C0A3-2498C9FED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522" y="2753994"/>
            <a:ext cx="3167868" cy="357187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F754866-24CA-15A6-3FE4-6D7515888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747" y="2745988"/>
            <a:ext cx="3167868" cy="35718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6B755F7-999B-AF94-AECC-F8B02A0708D0}"/>
              </a:ext>
            </a:extLst>
          </p:cNvPr>
          <p:cNvSpPr txBox="1"/>
          <p:nvPr/>
        </p:nvSpPr>
        <p:spPr>
          <a:xfrm>
            <a:off x="1126225" y="2376656"/>
            <a:ext cx="25711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내 업종  </a:t>
            </a:r>
            <a:r>
              <a:rPr lang="ko-KR" altLang="en-US" b="1" dirty="0"/>
              <a:t>재해질병 </a:t>
            </a:r>
            <a:r>
              <a:rPr lang="ko-KR" altLang="en-US" sz="1800" b="1" dirty="0">
                <a:solidFill>
                  <a:schemeClr val="tx1"/>
                </a:solidFill>
              </a:rPr>
              <a:t>유형</a:t>
            </a:r>
            <a:endParaRPr lang="en-US" altLang="ko-KR" sz="1800" b="1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BD7A3-CF7B-71E4-C02A-BB73A160CE80}"/>
              </a:ext>
            </a:extLst>
          </p:cNvPr>
          <p:cNvSpPr txBox="1"/>
          <p:nvPr/>
        </p:nvSpPr>
        <p:spPr>
          <a:xfrm>
            <a:off x="4398278" y="2346996"/>
            <a:ext cx="38052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내 업종  재해</a:t>
            </a:r>
            <a:r>
              <a:rPr lang="ko-KR" altLang="en-US" sz="1600" b="1" dirty="0"/>
              <a:t>질병 유형별 사망현황</a:t>
            </a:r>
            <a:endParaRPr lang="en-US" altLang="ko-KR" sz="1600" b="1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74AE9A-68F0-6A3E-7C4B-97D21FFC1BFF}"/>
              </a:ext>
            </a:extLst>
          </p:cNvPr>
          <p:cNvSpPr/>
          <p:nvPr/>
        </p:nvSpPr>
        <p:spPr>
          <a:xfrm>
            <a:off x="435753" y="2208053"/>
            <a:ext cx="275129" cy="3079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36716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860750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3032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요인들을 종합해서 종합위험도 지수 통계시각화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안전자료실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찾기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정보에 기반한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주변 산재 병원 찾기로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08B4402-1D15-A72D-601E-EEEAF4DAB682}"/>
              </a:ext>
            </a:extLst>
          </p:cNvPr>
          <p:cNvSpPr/>
          <p:nvPr/>
        </p:nvSpPr>
        <p:spPr>
          <a:xfrm>
            <a:off x="601579" y="1916637"/>
            <a:ext cx="6988627" cy="420480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종합 위험도 평가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	          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977A8-EE81-172F-6519-02E4414C84EB}"/>
              </a:ext>
            </a:extLst>
          </p:cNvPr>
          <p:cNvSpPr/>
          <p:nvPr/>
        </p:nvSpPr>
        <p:spPr>
          <a:xfrm>
            <a:off x="601925" y="188070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2B9DF86-42F0-4E7E-7F35-B4DD1D3373A7}"/>
              </a:ext>
            </a:extLst>
          </p:cNvPr>
          <p:cNvSpPr/>
          <p:nvPr/>
        </p:nvSpPr>
        <p:spPr>
          <a:xfrm>
            <a:off x="1615044" y="5413574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나에게 필요한 안전 가이드 보기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8B9AC75-5911-BD25-4C2F-4EEFF9C3518C}"/>
              </a:ext>
            </a:extLst>
          </p:cNvPr>
          <p:cNvSpPr/>
          <p:nvPr/>
        </p:nvSpPr>
        <p:spPr>
          <a:xfrm>
            <a:off x="5278892" y="5316132"/>
            <a:ext cx="1489103" cy="48222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가까운 응급</a:t>
            </a:r>
            <a:r>
              <a:rPr lang="en-US" altLang="ko-KR" sz="1100" dirty="0"/>
              <a:t>·</a:t>
            </a:r>
            <a:r>
              <a:rPr lang="ko-KR" altLang="en-US" sz="1100" dirty="0"/>
              <a:t>산재병원 찾기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BCBF801-505E-A4A7-5E7B-CD6D433640CB}"/>
              </a:ext>
            </a:extLst>
          </p:cNvPr>
          <p:cNvSpPr/>
          <p:nvPr/>
        </p:nvSpPr>
        <p:spPr>
          <a:xfrm>
            <a:off x="3446968" y="5388526"/>
            <a:ext cx="1489103" cy="429422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내 위치 기반 위험 탐색하기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47AE0BDC-C2D3-18A1-CE46-28000D14E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19" y="2883397"/>
            <a:ext cx="6359706" cy="1843378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CD8311E1-5C2E-671C-A58B-196310D778C4}"/>
              </a:ext>
            </a:extLst>
          </p:cNvPr>
          <p:cNvSpPr/>
          <p:nvPr/>
        </p:nvSpPr>
        <p:spPr>
          <a:xfrm>
            <a:off x="1304684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57C9D5-A530-E379-A23F-C36DB9D34656}"/>
              </a:ext>
            </a:extLst>
          </p:cNvPr>
          <p:cNvSpPr/>
          <p:nvPr/>
        </p:nvSpPr>
        <p:spPr>
          <a:xfrm>
            <a:off x="3152785" y="5150770"/>
            <a:ext cx="411194" cy="3158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87F2174-AD50-34D7-DA86-D2F1541A5DB6}"/>
              </a:ext>
            </a:extLst>
          </p:cNvPr>
          <p:cNvSpPr/>
          <p:nvPr/>
        </p:nvSpPr>
        <p:spPr>
          <a:xfrm>
            <a:off x="5000886" y="5162207"/>
            <a:ext cx="411194" cy="29302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7225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945594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149170995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main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2317625951"/>
              </p:ext>
            </p:extLst>
          </p:nvPr>
        </p:nvGraphicFramePr>
        <p:xfrm>
          <a:off x="8603672" y="1180081"/>
          <a:ext cx="3588325" cy="569002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15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8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main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1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default</a:t>
                      </a:r>
                      <a:r>
                        <a:rPr lang="ko-KR" sz="1100" dirty="0"/>
                        <a:t>: 업종 기반 추천 콘텐츠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자료유형 필터(체크박스)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 교재 </a:t>
                      </a:r>
                      <a:r>
                        <a:rPr lang="en-US" altLang="ko-KR" sz="1100" dirty="0"/>
                        <a:t>/ PPT </a:t>
                      </a:r>
                      <a:r>
                        <a:rPr lang="ko-KR" altLang="en-US" sz="1100" dirty="0"/>
                        <a:t>로 나누어 분류</a:t>
                      </a:r>
                      <a:r>
                        <a:rPr lang="en-US" altLang="ko-KR" sz="1100" dirty="0"/>
                        <a:t> 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검색 필터 </a:t>
                      </a:r>
                      <a:r>
                        <a:rPr lang="en-US" altLang="ko-KR" sz="1100" dirty="0"/>
                        <a:t>(selector) – </a:t>
                      </a: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키워드</a:t>
                      </a:r>
                      <a:r>
                        <a:rPr lang="en-US" altLang="ko-KR" sz="1100" dirty="0"/>
                        <a:t>(=</a:t>
                      </a:r>
                      <a:r>
                        <a:rPr lang="ko-KR" altLang="en-US" sz="1100" dirty="0"/>
                        <a:t>태그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1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텍스트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검색란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검색텍스트가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제목 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OR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키워드에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들어가있는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자료 검색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60199" y="6292263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BB3AB8-E9E2-670F-53AA-4EFAB576B196}"/>
              </a:ext>
            </a:extLst>
          </p:cNvPr>
          <p:cNvGrpSpPr/>
          <p:nvPr/>
        </p:nvGrpSpPr>
        <p:grpSpPr>
          <a:xfrm>
            <a:off x="567535" y="3091161"/>
            <a:ext cx="7404379" cy="2345050"/>
            <a:chOff x="-22034" y="2332583"/>
            <a:chExt cx="8613063" cy="21233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8F642C1-AE9C-BA0C-6391-A5D10F03F320}"/>
                </a:ext>
              </a:extLst>
            </p:cNvPr>
            <p:cNvSpPr/>
            <p:nvPr/>
          </p:nvSpPr>
          <p:spPr>
            <a:xfrm>
              <a:off x="-22034" y="2332583"/>
              <a:ext cx="8613063" cy="21233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00AE3-427B-6EEE-E52F-A098DF854A06}"/>
                </a:ext>
              </a:extLst>
            </p:cNvPr>
            <p:cNvSpPr txBox="1"/>
            <p:nvPr/>
          </p:nvSpPr>
          <p:spPr>
            <a:xfrm>
              <a:off x="7815321" y="3192305"/>
              <a:ext cx="163183" cy="37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&gt;</a:t>
              </a:r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169AC0D-4588-C0A6-1A11-9C89EC82F080}"/>
                </a:ext>
              </a:extLst>
            </p:cNvPr>
            <p:cNvGrpSpPr/>
            <p:nvPr/>
          </p:nvGrpSpPr>
          <p:grpSpPr>
            <a:xfrm>
              <a:off x="1251347" y="2594261"/>
              <a:ext cx="1844382" cy="1694170"/>
              <a:chOff x="488731" y="2624754"/>
              <a:chExt cx="1844382" cy="169417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0D1EA7D0-EC6B-9AFB-23F6-CF254C0AD2A9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EDEB38F-96BD-AA65-8B91-21CCD01CCEC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D9E8A6-C223-A79B-0F41-28DCF06C6D49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1A9C0B-ED47-E557-98E1-B75D45DE7AE3}"/>
                </a:ext>
              </a:extLst>
            </p:cNvPr>
            <p:cNvGrpSpPr/>
            <p:nvPr/>
          </p:nvGrpSpPr>
          <p:grpSpPr>
            <a:xfrm>
              <a:off x="5691591" y="2586378"/>
              <a:ext cx="1844382" cy="1694170"/>
              <a:chOff x="488731" y="2624754"/>
              <a:chExt cx="1844382" cy="1694170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4F385DA-4922-DF0C-E792-7DAAF6144865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E641C1A-2B6A-BD4E-F5B0-35D07F14E86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FFC3-0DD5-2F15-C8D0-1985980FFEDA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0304954-153D-A405-A916-1E039EBD1574}"/>
                </a:ext>
              </a:extLst>
            </p:cNvPr>
            <p:cNvGrpSpPr/>
            <p:nvPr/>
          </p:nvGrpSpPr>
          <p:grpSpPr>
            <a:xfrm>
              <a:off x="3471469" y="2608486"/>
              <a:ext cx="1844382" cy="1694170"/>
              <a:chOff x="488731" y="2624754"/>
              <a:chExt cx="1844382" cy="169417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7C6D9E7-FCA2-A6F5-84AB-A82E6DD000B3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C3627AB-8A6D-B5C0-E6BB-82BD70CB49B2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795A-9509-433E-0DD5-7218BCCF63DC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8F7C40-39D5-5E3A-1CDF-CF1198DEFD48}"/>
                </a:ext>
              </a:extLst>
            </p:cNvPr>
            <p:cNvSpPr txBox="1"/>
            <p:nvPr/>
          </p:nvSpPr>
          <p:spPr>
            <a:xfrm>
              <a:off x="517128" y="3201870"/>
              <a:ext cx="436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&lt;</a:t>
              </a:r>
              <a:endParaRPr lang="ko-KR" altLang="en-US" dirty="0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67645" y="5620348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484917" y="55206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14735F-6A8A-88ED-26FD-70AEC223AD40}"/>
              </a:ext>
            </a:extLst>
          </p:cNvPr>
          <p:cNvSpPr/>
          <p:nvPr/>
        </p:nvSpPr>
        <p:spPr>
          <a:xfrm>
            <a:off x="477534" y="6214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1A7A40-7C39-C7B0-8157-53F2B3A05D9D}"/>
              </a:ext>
            </a:extLst>
          </p:cNvPr>
          <p:cNvSpPr/>
          <p:nvPr/>
        </p:nvSpPr>
        <p:spPr>
          <a:xfrm>
            <a:off x="1424111" y="61636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rPr>
                <a:t>전체 자료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598290F-7F84-A1B9-3464-E20FD3BAB3C5}"/>
              </a:ext>
            </a:extLst>
          </p:cNvPr>
          <p:cNvSpPr txBox="1"/>
          <p:nvPr/>
        </p:nvSpPr>
        <p:spPr>
          <a:xfrm>
            <a:off x="6808957" y="2764856"/>
            <a:ext cx="1255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최근 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01D005-5ABD-4C06-9CF3-ED0531F5D442}"/>
              </a:ext>
            </a:extLst>
          </p:cNvPr>
          <p:cNvSpPr/>
          <p:nvPr/>
        </p:nvSpPr>
        <p:spPr>
          <a:xfrm>
            <a:off x="878305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A663A-877B-43EA-A627-E98A52E6A245}"/>
              </a:ext>
            </a:extLst>
          </p:cNvPr>
          <p:cNvSpPr txBox="1"/>
          <p:nvPr/>
        </p:nvSpPr>
        <p:spPr>
          <a:xfrm>
            <a:off x="1279425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동영상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DECD2E-8868-43C7-BBFE-F4B2D0052B72}"/>
              </a:ext>
            </a:extLst>
          </p:cNvPr>
          <p:cNvSpPr/>
          <p:nvPr/>
        </p:nvSpPr>
        <p:spPr>
          <a:xfrm>
            <a:off x="2082755" y="5839077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C872D-4934-43C9-ADBB-30B8DB8DE183}"/>
              </a:ext>
            </a:extLst>
          </p:cNvPr>
          <p:cNvSpPr txBox="1"/>
          <p:nvPr/>
        </p:nvSpPr>
        <p:spPr>
          <a:xfrm>
            <a:off x="2483875" y="5826773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OPS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70BF3-A58E-4C37-BB7E-D24756CDDA25}"/>
              </a:ext>
            </a:extLst>
          </p:cNvPr>
          <p:cNvSpPr/>
          <p:nvPr/>
        </p:nvSpPr>
        <p:spPr>
          <a:xfrm>
            <a:off x="3353039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971BC7-6A1B-4105-91AF-18413B350D6A}"/>
              </a:ext>
            </a:extLst>
          </p:cNvPr>
          <p:cNvSpPr txBox="1"/>
          <p:nvPr/>
        </p:nvSpPr>
        <p:spPr>
          <a:xfrm>
            <a:off x="3754159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교재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0973F0-4017-4C39-A468-05EB7BC3F9EC}"/>
              </a:ext>
            </a:extLst>
          </p:cNvPr>
          <p:cNvSpPr/>
          <p:nvPr/>
        </p:nvSpPr>
        <p:spPr>
          <a:xfrm>
            <a:off x="462332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AA0779-66BE-48C3-9E8D-13908399725C}"/>
              </a:ext>
            </a:extLst>
          </p:cNvPr>
          <p:cNvSpPr txBox="1"/>
          <p:nvPr/>
        </p:nvSpPr>
        <p:spPr>
          <a:xfrm>
            <a:off x="502444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PPT</a:t>
            </a:r>
            <a:endParaRPr lang="ko-KR" altLang="en-US" sz="12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D9CACA8-9093-4DC6-ABA6-A4B7F7568171}"/>
              </a:ext>
            </a:extLst>
          </p:cNvPr>
          <p:cNvSpPr/>
          <p:nvPr/>
        </p:nvSpPr>
        <p:spPr>
          <a:xfrm>
            <a:off x="582777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6EDFEC-90EE-41A1-95CB-D5875D808C19}"/>
              </a:ext>
            </a:extLst>
          </p:cNvPr>
          <p:cNvSpPr txBox="1"/>
          <p:nvPr/>
        </p:nvSpPr>
        <p:spPr>
          <a:xfrm>
            <a:off x="622889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71680491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800507469"/>
              </p:ext>
            </p:extLst>
          </p:nvPr>
        </p:nvGraphicFramePr>
        <p:xfrm>
          <a:off x="8603672" y="1180080"/>
          <a:ext cx="3588325" cy="686392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제목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최소 </a:t>
                      </a:r>
                      <a:r>
                        <a:rPr lang="en-US" altLang="ko-KR" sz="1100" dirty="0"/>
                        <a:t>5-6</a:t>
                      </a:r>
                      <a:r>
                        <a:rPr lang="ko-KR" altLang="en-US" sz="1100" dirty="0"/>
                        <a:t>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-&gt; </a:t>
                      </a:r>
                      <a:r>
                        <a:rPr lang="ko-KR" altLang="en-US" sz="1100" dirty="0"/>
                        <a:t>키워드 항목 사용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내용요약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내용에 따라 추가 및 제거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썸네일 이미지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02043" y="2862450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02153" y="2200514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34403" y="3429001"/>
            <a:ext cx="166072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16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14238"/>
              </p:ext>
            </p:extLst>
          </p:nvPr>
        </p:nvGraphicFramePr>
        <p:xfrm>
          <a:off x="494817" y="4051894"/>
          <a:ext cx="7404270" cy="2437102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39921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98585"/>
                  </a:ext>
                </a:extLst>
              </a:tr>
              <a:tr h="1090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교육자료 제목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94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교육자료 제목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77482" y="4773097"/>
            <a:ext cx="4041648" cy="530600"/>
            <a:chOff x="577482" y="4773097"/>
            <a:chExt cx="4041648" cy="530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48929" y="5876592"/>
            <a:ext cx="4041648" cy="530600"/>
            <a:chOff x="577482" y="4773097"/>
            <a:chExt cx="4041648" cy="5306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383600" y="39501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679038" y="459730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679038" y="5627228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17593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4621"/>
              </p:ext>
            </p:extLst>
          </p:nvPr>
        </p:nvGraphicFramePr>
        <p:xfrm>
          <a:off x="8603672" y="1180080"/>
          <a:ext cx="3588327" cy="737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 이름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태그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키워드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OPS/PPT/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교재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내용요약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자료 </a:t>
            </a:r>
            <a:r>
              <a:rPr lang="ko-KR" altLang="en-US" b="1" dirty="0"/>
              <a:t>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048116" y="3002942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82787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331556" y="3175728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4174709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태그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713445"/>
            <a:ext cx="2314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 PPT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22109" y="4781209"/>
            <a:ext cx="2372396" cy="686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64769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584660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연관 컨텐츠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이런콘텐츠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어떠세요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항목의 썸네일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441746" y="2458157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/>
              <a:t>연관 컨텐츠</a:t>
            </a:r>
            <a:endParaRPr lang="ko-KR" altLang="en-US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491884" y="3002942"/>
            <a:ext cx="7334119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409219" y="291654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281107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211664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192670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631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625173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로그인체크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4463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02095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산재위치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또는 기타 아이디어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리스트형태로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D67E2E-266C-446F-BA8E-6C00531C6B3F}"/>
              </a:ext>
            </a:extLst>
          </p:cNvPr>
          <p:cNvSpPr/>
          <p:nvPr/>
        </p:nvSpPr>
        <p:spPr>
          <a:xfrm>
            <a:off x="4410958" y="2712121"/>
            <a:ext cx="1278585" cy="11024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정보 목록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산재 </a:t>
            </a:r>
            <a:r>
              <a:rPr lang="en-US" altLang="ko-KR" sz="1100" dirty="0">
                <a:solidFill>
                  <a:schemeClr val="tx1"/>
                </a:solidFill>
              </a:rPr>
              <a:t>4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76245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627872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체크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50536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48605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3521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7356666" y="380919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5519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897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326681"/>
            <a:ext cx="7921373" cy="2759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sz="1200" b="0">
                <a:solidFill>
                  <a:schemeClr val="tx1"/>
                </a:solidFill>
              </a:rPr>
              <a:t>Kakao </a:t>
            </a:r>
            <a:r>
              <a:rPr lang="ko-KR" altLang="en-US" sz="1200" b="0">
                <a:solidFill>
                  <a:schemeClr val="tx1"/>
                </a:solidFill>
              </a:rPr>
              <a:t>지도 </a:t>
            </a:r>
            <a:r>
              <a:rPr lang="en-US" altLang="ko-KR" sz="1200" b="0">
                <a:solidFill>
                  <a:schemeClr val="tx1"/>
                </a:solidFill>
              </a:rPr>
              <a:t>API</a:t>
            </a:r>
            <a:r>
              <a:rPr lang="ko-KR" altLang="en-US" sz="1200" b="0">
                <a:solidFill>
                  <a:schemeClr val="tx1"/>
                </a:solidFill>
              </a:rPr>
              <a:t>를 활용하여 해당 산재 지정 의료기관 위치를 마커 표시</a:t>
            </a:r>
            <a:endParaRPr lang="en-US" altLang="ko-KR" sz="1200" b="0">
              <a:solidFill>
                <a:schemeClr val="tx1"/>
              </a:solidFill>
            </a:endParaRPr>
          </a:p>
          <a:p>
            <a:pPr latinLnBrk="1"/>
            <a:r>
              <a:rPr lang="ko-KR" altLang="en-US" sz="1200" b="0">
                <a:solidFill>
                  <a:schemeClr val="tx1"/>
                </a:solidFill>
              </a:rPr>
              <a:t>줌 레벨 만들어보면서 체크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246337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72138"/>
              </p:ext>
            </p:extLst>
          </p:nvPr>
        </p:nvGraphicFramePr>
        <p:xfrm>
          <a:off x="8603672" y="1180080"/>
          <a:ext cx="3588327" cy="6197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띄우고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한번더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인지 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화면에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3186" y="28526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5EC09-4986-6F25-74F7-5EDEB9B69288}"/>
              </a:ext>
            </a:extLst>
          </p:cNvPr>
          <p:cNvSpPr/>
          <p:nvPr/>
        </p:nvSpPr>
        <p:spPr>
          <a:xfrm>
            <a:off x="423186" y="340642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394899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C6E47C-377F-48C3-975E-9EF52302EBB0}"/>
              </a:ext>
            </a:extLst>
          </p:cNvPr>
          <p:cNvSpPr/>
          <p:nvPr/>
        </p:nvSpPr>
        <p:spPr>
          <a:xfrm>
            <a:off x="7358474" y="4234620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76EBE1-9DBD-4248-8335-C0EBD51912D0}"/>
              </a:ext>
            </a:extLst>
          </p:cNvPr>
          <p:cNvSpPr/>
          <p:nvPr/>
        </p:nvSpPr>
        <p:spPr>
          <a:xfrm>
            <a:off x="7846577" y="424257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1B5266-C006-4C75-827C-BCD9ABB33668}"/>
              </a:ext>
            </a:extLst>
          </p:cNvPr>
          <p:cNvSpPr/>
          <p:nvPr/>
        </p:nvSpPr>
        <p:spPr>
          <a:xfrm>
            <a:off x="3361691" y="5871614"/>
            <a:ext cx="1702676" cy="302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리뷰 작성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010DCA-4238-472C-B4A3-D7C96B9464A2}"/>
              </a:ext>
            </a:extLst>
          </p:cNvPr>
          <p:cNvSpPr/>
          <p:nvPr/>
        </p:nvSpPr>
        <p:spPr>
          <a:xfrm>
            <a:off x="3222725" y="5687518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74DABA-A602-44B5-B093-8E8983803FAA}"/>
              </a:ext>
            </a:extLst>
          </p:cNvPr>
          <p:cNvSpPr/>
          <p:nvPr/>
        </p:nvSpPr>
        <p:spPr>
          <a:xfrm>
            <a:off x="423186" y="4526367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FF39268-2150-494F-B6A5-6FE11F66A6F9}"/>
              </a:ext>
            </a:extLst>
          </p:cNvPr>
          <p:cNvSpPr/>
          <p:nvPr/>
        </p:nvSpPr>
        <p:spPr>
          <a:xfrm>
            <a:off x="2572088" y="5318620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408660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💬상세 리뷰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088850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43073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등록하기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후 리뷰 등록하기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로그인한 사용자 아이디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datetime auto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3187" y="2199362"/>
            <a:ext cx="792137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2292387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등록하기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4385728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005259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77545-EBBA-4883-BB42-B279F1986281}"/>
              </a:ext>
            </a:extLst>
          </p:cNvPr>
          <p:cNvSpPr/>
          <p:nvPr/>
        </p:nvSpPr>
        <p:spPr>
          <a:xfrm>
            <a:off x="2168119" y="47592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009185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324827" y="2522172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420006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37242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수정되었습니다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.alert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창 하나 띄우고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22288" y="2312874"/>
            <a:ext cx="7921374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347819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436794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701990" y="3118771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48701C-5E3D-4C19-83A5-6042778997C1}"/>
              </a:ext>
            </a:extLst>
          </p:cNvPr>
          <p:cNvSpPr/>
          <p:nvPr/>
        </p:nvSpPr>
        <p:spPr>
          <a:xfrm>
            <a:off x="1236214" y="487274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06F99-D362-4090-AD86-DD7068DE8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7C2874-28AE-4ADB-94E8-446DA2F24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3319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5309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26983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관리자의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80081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5089312"/>
              </p:ext>
            </p:extLst>
          </p:nvPr>
        </p:nvGraphicFramePr>
        <p:xfrm>
          <a:off x="-1" y="1816922"/>
          <a:ext cx="1677451" cy="5041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451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</a:tblGrid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  <a:tr h="11223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885076"/>
                  </a:ext>
                </a:extLst>
              </a:tr>
              <a:tr h="5514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로그아웃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72089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4347" y="12095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-61255" y="1426597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환영합니다</a:t>
            </a:r>
            <a:r>
              <a:rPr lang="en-US" altLang="ko-KR" sz="1400" dirty="0"/>
              <a:t>, OOO</a:t>
            </a:r>
            <a:r>
              <a:rPr lang="ko-KR" altLang="en-US" sz="1400" dirty="0"/>
              <a:t>님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449098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20240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192399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대시보드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관리자가 대략적인 회원의 흐름을 한눈에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볼수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있는 페이지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8"/>
            <a:ext cx="1677450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175214"/>
            <a:ext cx="8603092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8B04F7A-5F4F-ACF6-4C9A-306724CDF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087" y="1778617"/>
            <a:ext cx="6851787" cy="209184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0BE891E-14C3-49E2-A0D3-6971D2F5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767" y="4347563"/>
            <a:ext cx="5686425" cy="226695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DDA1B36-9293-5A12-FC95-955E42D29165}"/>
              </a:ext>
            </a:extLst>
          </p:cNvPr>
          <p:cNvSpPr/>
          <p:nvPr/>
        </p:nvSpPr>
        <p:spPr>
          <a:xfrm>
            <a:off x="2490950" y="3947212"/>
            <a:ext cx="1975770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/>
                </a:solidFill>
              </a:rPr>
              <a:t>월별 신규가입 </a:t>
            </a:r>
            <a:r>
              <a:rPr lang="en-US" altLang="ko-KR" sz="1100" b="1" dirty="0">
                <a:solidFill>
                  <a:schemeClr val="tx1"/>
                </a:solidFill>
              </a:rPr>
              <a:t>, </a:t>
            </a:r>
            <a:r>
              <a:rPr lang="ko-KR" altLang="en-US" sz="1100" b="1" dirty="0">
                <a:solidFill>
                  <a:schemeClr val="tx1"/>
                </a:solidFill>
              </a:rPr>
              <a:t>산재등록 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5A0615B-3117-5FDB-064C-93CDBBC888D3}"/>
              </a:ext>
            </a:extLst>
          </p:cNvPr>
          <p:cNvSpPr/>
          <p:nvPr/>
        </p:nvSpPr>
        <p:spPr>
          <a:xfrm>
            <a:off x="6638102" y="3929125"/>
            <a:ext cx="1103342" cy="3040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</a:rPr>
              <a:t>🔴 신규가입 </a:t>
            </a:r>
            <a:endParaRPr lang="en-US" altLang="ko-KR" sz="900" b="1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 </a:t>
            </a:r>
            <a:r>
              <a:rPr lang="ko-KR" altLang="en-US" sz="900" b="1" dirty="0">
                <a:solidFill>
                  <a:schemeClr val="tx1"/>
                </a:solidFill>
              </a:rPr>
              <a:t>🔵 산재등록   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D096FEC-696D-432E-B04C-881E045C0FE2}"/>
              </a:ext>
            </a:extLst>
          </p:cNvPr>
          <p:cNvSpPr/>
          <p:nvPr/>
        </p:nvSpPr>
        <p:spPr>
          <a:xfrm>
            <a:off x="23636" y="1175214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1485F2-2C19-4113-B3C1-B643B528AFC5}"/>
              </a:ext>
            </a:extLst>
          </p:cNvPr>
          <p:cNvSpPr/>
          <p:nvPr/>
        </p:nvSpPr>
        <p:spPr>
          <a:xfrm>
            <a:off x="1559303" y="1612559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15983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824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2025-11-27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985560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회원 관리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민감한 개인정보를 제외한 회원정보 보여주기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?”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띄어주고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확인하면 회원 삭제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 시 회원 테이블에 탈퇴 상태로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1677451" y="1180081"/>
            <a:ext cx="6926220" cy="568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5">
            <a:extLst>
              <a:ext uri="{FF2B5EF4-FFF2-40B4-BE49-F238E27FC236}">
                <a16:creationId xmlns:a16="http://schemas.microsoft.com/office/drawing/2014/main" id="{D67916ED-A79E-4F66-9CE9-813C6C03F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795321"/>
              </p:ext>
            </p:extLst>
          </p:nvPr>
        </p:nvGraphicFramePr>
        <p:xfrm>
          <a:off x="1784655" y="2522483"/>
          <a:ext cx="6690885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177">
                  <a:extLst>
                    <a:ext uri="{9D8B030D-6E8A-4147-A177-3AD203B41FA5}">
                      <a16:colId xmlns:a16="http://schemas.microsoft.com/office/drawing/2014/main" val="3571291480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401191227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3213933534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195023035"/>
                    </a:ext>
                  </a:extLst>
                </a:gridCol>
                <a:gridCol w="1338177">
                  <a:extLst>
                    <a:ext uri="{9D8B030D-6E8A-4147-A177-3AD203B41FA5}">
                      <a16:colId xmlns:a16="http://schemas.microsoft.com/office/drawing/2014/main" val="2761892074"/>
                    </a:ext>
                  </a:extLst>
                </a:gridCol>
              </a:tblGrid>
              <a:tr h="1508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가입일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216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1858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3468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25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785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0194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DDC073A-FCB5-43F4-B7D3-D3AA6E2ABEA5}"/>
              </a:ext>
            </a:extLst>
          </p:cNvPr>
          <p:cNvSpPr txBox="1"/>
          <p:nvPr/>
        </p:nvSpPr>
        <p:spPr>
          <a:xfrm>
            <a:off x="1721594" y="2153151"/>
            <a:ext cx="1330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7664B6B-7608-4DA3-A674-E6889D539FB4}"/>
              </a:ext>
            </a:extLst>
          </p:cNvPr>
          <p:cNvSpPr/>
          <p:nvPr/>
        </p:nvSpPr>
        <p:spPr>
          <a:xfrm>
            <a:off x="1582628" y="190211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C145F78-D50D-45BD-8856-F599F0C8E354}"/>
              </a:ext>
            </a:extLst>
          </p:cNvPr>
          <p:cNvSpPr/>
          <p:nvPr/>
        </p:nvSpPr>
        <p:spPr>
          <a:xfrm>
            <a:off x="7107128" y="233781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7CB031-D8EC-465E-8958-286F8A3123C4}"/>
              </a:ext>
            </a:extLst>
          </p:cNvPr>
          <p:cNvSpPr/>
          <p:nvPr/>
        </p:nvSpPr>
        <p:spPr>
          <a:xfrm>
            <a:off x="3104444" y="50723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35592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02927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782080"/>
              </p:ext>
            </p:extLst>
          </p:nvPr>
        </p:nvGraphicFramePr>
        <p:xfrm>
          <a:off x="8603672" y="1180080"/>
          <a:ext cx="3588327" cy="5946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 산재 조회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산재등록 목록 검색필터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발생형태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지역은 사용자가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지역명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일부를 입력만 해도 목록으로 보여주어 선택하는 방식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 산재등록 목록 테이블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09B36BA-6DA8-4C53-AFEB-F4E8C821AD97}"/>
              </a:ext>
            </a:extLst>
          </p:cNvPr>
          <p:cNvSpPr txBox="1"/>
          <p:nvPr/>
        </p:nvSpPr>
        <p:spPr>
          <a:xfrm>
            <a:off x="2241103" y="2388096"/>
            <a:ext cx="1133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검색 </a:t>
            </a:r>
            <a:r>
              <a:rPr lang="en-US" altLang="ko-KR" sz="1400" b="1" dirty="0"/>
              <a:t>/ </a:t>
            </a:r>
            <a:r>
              <a:rPr lang="ko-KR" altLang="en-US" sz="1400" b="1" dirty="0"/>
              <a:t>필터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14AB4E91-C744-C53F-5941-BD8F9F4B7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378091"/>
              </p:ext>
            </p:extLst>
          </p:nvPr>
        </p:nvGraphicFramePr>
        <p:xfrm>
          <a:off x="2108199" y="4098303"/>
          <a:ext cx="6203951" cy="159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154">
                  <a:extLst>
                    <a:ext uri="{9D8B030D-6E8A-4147-A177-3AD203B41FA5}">
                      <a16:colId xmlns:a16="http://schemas.microsoft.com/office/drawing/2014/main" val="290832576"/>
                    </a:ext>
                  </a:extLst>
                </a:gridCol>
                <a:gridCol w="604130">
                  <a:extLst>
                    <a:ext uri="{9D8B030D-6E8A-4147-A177-3AD203B41FA5}">
                      <a16:colId xmlns:a16="http://schemas.microsoft.com/office/drawing/2014/main" val="102188575"/>
                    </a:ext>
                  </a:extLst>
                </a:gridCol>
                <a:gridCol w="772331">
                  <a:extLst>
                    <a:ext uri="{9D8B030D-6E8A-4147-A177-3AD203B41FA5}">
                      <a16:colId xmlns:a16="http://schemas.microsoft.com/office/drawing/2014/main" val="1300920205"/>
                    </a:ext>
                  </a:extLst>
                </a:gridCol>
                <a:gridCol w="1098149">
                  <a:extLst>
                    <a:ext uri="{9D8B030D-6E8A-4147-A177-3AD203B41FA5}">
                      <a16:colId xmlns:a16="http://schemas.microsoft.com/office/drawing/2014/main" val="878541107"/>
                    </a:ext>
                  </a:extLst>
                </a:gridCol>
                <a:gridCol w="669605">
                  <a:extLst>
                    <a:ext uri="{9D8B030D-6E8A-4147-A177-3AD203B41FA5}">
                      <a16:colId xmlns:a16="http://schemas.microsoft.com/office/drawing/2014/main" val="2804284854"/>
                    </a:ext>
                  </a:extLst>
                </a:gridCol>
                <a:gridCol w="721696">
                  <a:extLst>
                    <a:ext uri="{9D8B030D-6E8A-4147-A177-3AD203B41FA5}">
                      <a16:colId xmlns:a16="http://schemas.microsoft.com/office/drawing/2014/main" val="2733423004"/>
                    </a:ext>
                  </a:extLst>
                </a:gridCol>
                <a:gridCol w="769626">
                  <a:extLst>
                    <a:ext uri="{9D8B030D-6E8A-4147-A177-3AD203B41FA5}">
                      <a16:colId xmlns:a16="http://schemas.microsoft.com/office/drawing/2014/main" val="2614146688"/>
                    </a:ext>
                  </a:extLst>
                </a:gridCol>
                <a:gridCol w="1208260">
                  <a:extLst>
                    <a:ext uri="{9D8B030D-6E8A-4147-A177-3AD203B41FA5}">
                      <a16:colId xmlns:a16="http://schemas.microsoft.com/office/drawing/2014/main" val="1299462405"/>
                    </a:ext>
                  </a:extLst>
                </a:gridCol>
              </a:tblGrid>
              <a:tr h="238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No.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회원명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</a:t>
                      </a:r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</a:t>
                      </a:r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발생형태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질병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발생일자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사고지역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945175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출판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인쇄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제본업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끼임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우측 손가락 골절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2023-11-01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서울시 강남구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64222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0721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0EEDECB-78EA-210D-B875-6E3AAE6C538E}"/>
              </a:ext>
            </a:extLst>
          </p:cNvPr>
          <p:cNvSpPr txBox="1"/>
          <p:nvPr/>
        </p:nvSpPr>
        <p:spPr>
          <a:xfrm>
            <a:off x="2241103" y="3546917"/>
            <a:ext cx="189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회원 산재등록 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73300-5F5D-335F-D59D-2BA289995F27}"/>
              </a:ext>
            </a:extLst>
          </p:cNvPr>
          <p:cNvSpPr/>
          <p:nvPr/>
        </p:nvSpPr>
        <p:spPr>
          <a:xfrm>
            <a:off x="1963171" y="254198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90C704-CDD5-9225-24B0-C42371073555}"/>
              </a:ext>
            </a:extLst>
          </p:cNvPr>
          <p:cNvSpPr/>
          <p:nvPr/>
        </p:nvSpPr>
        <p:spPr>
          <a:xfrm>
            <a:off x="1952075" y="387153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7FD89E1-8FB4-4D90-AEB3-0FCB6E775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0626" y="2893355"/>
            <a:ext cx="240484" cy="24048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1F2D5A1-ECEF-40E3-8168-83372110D37B}"/>
              </a:ext>
            </a:extLst>
          </p:cNvPr>
          <p:cNvSpPr txBox="1"/>
          <p:nvPr/>
        </p:nvSpPr>
        <p:spPr>
          <a:xfrm>
            <a:off x="1871703" y="1465441"/>
            <a:ext cx="1725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회원 산재 조회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28A418D-5B87-4491-9696-BBCCEEC25654}"/>
              </a:ext>
            </a:extLst>
          </p:cNvPr>
          <p:cNvSpPr/>
          <p:nvPr/>
        </p:nvSpPr>
        <p:spPr>
          <a:xfrm>
            <a:off x="-20489" y="1180080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FC14AB-BC62-4AED-98F8-76776A6C58DF}"/>
              </a:ext>
            </a:extLst>
          </p:cNvPr>
          <p:cNvSpPr/>
          <p:nvPr/>
        </p:nvSpPr>
        <p:spPr>
          <a:xfrm>
            <a:off x="3423858" y="6022543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6F59C7-8BE9-49A6-9A6D-C051D4A3D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636" y="2796408"/>
            <a:ext cx="1653683" cy="43437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2865650-1794-48C0-AFD8-9204CDDEE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198" y="2842132"/>
            <a:ext cx="4252328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659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85319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939568"/>
              </p:ext>
            </p:extLst>
          </p:nvPr>
        </p:nvGraphicFramePr>
        <p:xfrm>
          <a:off x="8603672" y="1180080"/>
          <a:ext cx="3588327" cy="5739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회원들이 등록한 리뷰 열람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테이블 클릭 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상세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열람 하고싶은 리뷰 검색 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=&gt;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grpSp>
        <p:nvGrpSpPr>
          <p:cNvPr id="13" name="그룹 12">
            <a:extLst>
              <a:ext uri="{FF2B5EF4-FFF2-40B4-BE49-F238E27FC236}">
                <a16:creationId xmlns:a16="http://schemas.microsoft.com/office/drawing/2014/main" id="{D2ED75A3-C1B1-6944-2403-D1EC42282AF6}"/>
              </a:ext>
            </a:extLst>
          </p:cNvPr>
          <p:cNvGrpSpPr/>
          <p:nvPr/>
        </p:nvGrpSpPr>
        <p:grpSpPr>
          <a:xfrm>
            <a:off x="2522159" y="2319355"/>
            <a:ext cx="1932137" cy="3822366"/>
            <a:chOff x="308035" y="2064890"/>
            <a:chExt cx="2166717" cy="462150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DAAD4B23-8DC2-005C-4070-DF563D7B3D78}"/>
                </a:ext>
              </a:extLst>
            </p:cNvPr>
            <p:cNvSpPr/>
            <p:nvPr/>
          </p:nvSpPr>
          <p:spPr>
            <a:xfrm>
              <a:off x="30803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1C568FB2-9E67-60F6-B99D-32DF7037BF65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E429D88C-05BE-F954-C287-D8E3946D3A94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85F9D515-7146-5D5C-5085-8750F36CBA2A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CF28D879-ADA5-71AF-D313-BF628F642CFA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3FECF496-6E84-5B9A-43FF-5B8F22CC486D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55567B12-B9DC-3980-B9E8-86AE919F40DB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69" name="직사각형 168">
              <a:extLst>
                <a:ext uri="{FF2B5EF4-FFF2-40B4-BE49-F238E27FC236}">
                  <a16:creationId xmlns:a16="http://schemas.microsoft.com/office/drawing/2014/main" id="{F584D4EF-1071-4B10-B0CC-F73DB44CFA1D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A5A20FE6-FCEE-9217-2592-8C2FFD476869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병원 이름</a:t>
              </a:r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9698B42-7568-0FA7-9E24-99526805BF4E}"/>
              </a:ext>
            </a:extLst>
          </p:cNvPr>
          <p:cNvSpPr/>
          <p:nvPr/>
        </p:nvSpPr>
        <p:spPr>
          <a:xfrm>
            <a:off x="5190309" y="1806681"/>
            <a:ext cx="3040369" cy="37510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E29E2E-B92C-B987-4977-94C6A3C734F0}"/>
              </a:ext>
            </a:extLst>
          </p:cNvPr>
          <p:cNvSpPr/>
          <p:nvPr/>
        </p:nvSpPr>
        <p:spPr>
          <a:xfrm>
            <a:off x="6096000" y="1833019"/>
            <a:ext cx="2058099" cy="3123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검색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33A41A-DAB7-80E9-153C-9DCC89077478}"/>
              </a:ext>
            </a:extLst>
          </p:cNvPr>
          <p:cNvGrpSpPr/>
          <p:nvPr/>
        </p:nvGrpSpPr>
        <p:grpSpPr>
          <a:xfrm>
            <a:off x="4451009" y="2319356"/>
            <a:ext cx="1805173" cy="3822365"/>
            <a:chOff x="2464455" y="2064890"/>
            <a:chExt cx="2166717" cy="4621505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754E66E-F266-5FE2-AE79-1650855F383C}"/>
                </a:ext>
              </a:extLst>
            </p:cNvPr>
            <p:cNvSpPr/>
            <p:nvPr/>
          </p:nvSpPr>
          <p:spPr>
            <a:xfrm>
              <a:off x="2464455" y="2064890"/>
              <a:ext cx="2164811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255BF8E-A615-DDC5-43E5-C0FE462BF9AC}"/>
                </a:ext>
              </a:extLst>
            </p:cNvPr>
            <p:cNvSpPr/>
            <p:nvPr/>
          </p:nvSpPr>
          <p:spPr>
            <a:xfrm>
              <a:off x="246636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306AE7E4-C1D4-1389-9542-88E70125085A}"/>
                </a:ext>
              </a:extLst>
            </p:cNvPr>
            <p:cNvSpPr/>
            <p:nvPr/>
          </p:nvSpPr>
          <p:spPr>
            <a:xfrm>
              <a:off x="246636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2C75C338-76F1-107F-42FE-30893B17AD0A}"/>
                </a:ext>
              </a:extLst>
            </p:cNvPr>
            <p:cNvSpPr/>
            <p:nvPr/>
          </p:nvSpPr>
          <p:spPr>
            <a:xfrm>
              <a:off x="246446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513B201C-12D7-5B94-EEC9-7577A7FFFD1B}"/>
                </a:ext>
              </a:extLst>
            </p:cNvPr>
            <p:cNvSpPr/>
            <p:nvPr/>
          </p:nvSpPr>
          <p:spPr>
            <a:xfrm>
              <a:off x="246446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59C9A893-78BC-AA39-79E7-AC119FC8A42A}"/>
                </a:ext>
              </a:extLst>
            </p:cNvPr>
            <p:cNvSpPr/>
            <p:nvPr/>
          </p:nvSpPr>
          <p:spPr>
            <a:xfrm>
              <a:off x="246446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CDDC1614-7D20-DB22-B5AB-52EC0D21EE8B}"/>
                </a:ext>
              </a:extLst>
            </p:cNvPr>
            <p:cNvSpPr/>
            <p:nvPr/>
          </p:nvSpPr>
          <p:spPr>
            <a:xfrm>
              <a:off x="246446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A1450180-0E97-EDBB-B6DB-CB2473798304}"/>
                </a:ext>
              </a:extLst>
            </p:cNvPr>
            <p:cNvSpPr/>
            <p:nvPr/>
          </p:nvSpPr>
          <p:spPr>
            <a:xfrm>
              <a:off x="246446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9FD7DF7-288F-5E0C-233E-08A33F33F418}"/>
                </a:ext>
              </a:extLst>
            </p:cNvPr>
            <p:cNvSpPr/>
            <p:nvPr/>
          </p:nvSpPr>
          <p:spPr>
            <a:xfrm>
              <a:off x="246446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작성자 </a:t>
              </a:r>
              <a:r>
                <a:rPr lang="en-US" altLang="ko-KR" dirty="0"/>
                <a:t>ID</a:t>
              </a:r>
              <a:endParaRPr lang="ko-KR" altLang="en-US" dirty="0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19DC55-76DC-D8C9-E4DE-45000C546144}"/>
              </a:ext>
            </a:extLst>
          </p:cNvPr>
          <p:cNvGrpSpPr/>
          <p:nvPr/>
        </p:nvGrpSpPr>
        <p:grpSpPr>
          <a:xfrm>
            <a:off x="6257882" y="2319355"/>
            <a:ext cx="1974696" cy="3822366"/>
            <a:chOff x="5492884" y="2064890"/>
            <a:chExt cx="2739693" cy="4621505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3DE84B6-AE7B-49EE-1F15-4D101387CB4B}"/>
                </a:ext>
              </a:extLst>
            </p:cNvPr>
            <p:cNvSpPr/>
            <p:nvPr/>
          </p:nvSpPr>
          <p:spPr>
            <a:xfrm>
              <a:off x="5492884" y="2064890"/>
              <a:ext cx="2737787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0AFADA21-1195-0074-4616-8C7FC98F6562}"/>
                </a:ext>
              </a:extLst>
            </p:cNvPr>
            <p:cNvSpPr/>
            <p:nvPr/>
          </p:nvSpPr>
          <p:spPr>
            <a:xfrm>
              <a:off x="5494789" y="2334453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DB277293-6632-DFCB-C8C4-E844F28C1BEE}"/>
                </a:ext>
              </a:extLst>
            </p:cNvPr>
            <p:cNvSpPr/>
            <p:nvPr/>
          </p:nvSpPr>
          <p:spPr>
            <a:xfrm>
              <a:off x="5494789" y="2881569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849E0BE9-3CEB-3569-DA93-5B24EC5C7B8E}"/>
                </a:ext>
              </a:extLst>
            </p:cNvPr>
            <p:cNvSpPr/>
            <p:nvPr/>
          </p:nvSpPr>
          <p:spPr>
            <a:xfrm>
              <a:off x="5492890" y="3429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3" name="직사각형 152">
              <a:extLst>
                <a:ext uri="{FF2B5EF4-FFF2-40B4-BE49-F238E27FC236}">
                  <a16:creationId xmlns:a16="http://schemas.microsoft.com/office/drawing/2014/main" id="{891CB0D1-CB53-9955-F570-197594361061}"/>
                </a:ext>
              </a:extLst>
            </p:cNvPr>
            <p:cNvSpPr/>
            <p:nvPr/>
          </p:nvSpPr>
          <p:spPr>
            <a:xfrm>
              <a:off x="5492890" y="3968000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989F8A61-1A2B-9FC1-9BDF-4BDA1B70FF22}"/>
                </a:ext>
              </a:extLst>
            </p:cNvPr>
            <p:cNvSpPr/>
            <p:nvPr/>
          </p:nvSpPr>
          <p:spPr>
            <a:xfrm>
              <a:off x="5492889" y="5062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36E6EC0-31D2-C5AA-2085-03B2D3BD3DC2}"/>
                </a:ext>
              </a:extLst>
            </p:cNvPr>
            <p:cNvSpPr/>
            <p:nvPr/>
          </p:nvSpPr>
          <p:spPr>
            <a:xfrm>
              <a:off x="5492889" y="4515431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FE787AB-89B3-5A0E-8090-C9A1CCBEDDC9}"/>
                </a:ext>
              </a:extLst>
            </p:cNvPr>
            <p:cNvSpPr/>
            <p:nvPr/>
          </p:nvSpPr>
          <p:spPr>
            <a:xfrm>
              <a:off x="5492889" y="5601547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09F39EF-3ED6-7CB6-9A31-074F8DACD801}"/>
                </a:ext>
              </a:extLst>
            </p:cNvPr>
            <p:cNvSpPr/>
            <p:nvPr/>
          </p:nvSpPr>
          <p:spPr>
            <a:xfrm>
              <a:off x="5492889" y="6138964"/>
              <a:ext cx="2737788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작성 날짜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F529F664-9076-B942-8B0D-C421368814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173" y="1866583"/>
            <a:ext cx="240484" cy="240484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56E72F8-90C8-3C96-739C-DC92FF370D93}"/>
              </a:ext>
            </a:extLst>
          </p:cNvPr>
          <p:cNvSpPr/>
          <p:nvPr/>
        </p:nvSpPr>
        <p:spPr>
          <a:xfrm>
            <a:off x="5561399" y="1833019"/>
            <a:ext cx="544709" cy="312351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필터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59136CD-7C8E-417F-9224-7C9B14E15295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FACBA26F-100D-45B0-AB33-1D16F00DA2EA}"/>
              </a:ext>
            </a:extLst>
          </p:cNvPr>
          <p:cNvGrpSpPr/>
          <p:nvPr/>
        </p:nvGrpSpPr>
        <p:grpSpPr>
          <a:xfrm>
            <a:off x="1676599" y="2319355"/>
            <a:ext cx="846407" cy="3822366"/>
            <a:chOff x="308035" y="2064890"/>
            <a:chExt cx="2166717" cy="4621505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8EA786-74C0-490E-8C98-5574C0D5A021}"/>
                </a:ext>
              </a:extLst>
            </p:cNvPr>
            <p:cNvSpPr/>
            <p:nvPr/>
          </p:nvSpPr>
          <p:spPr>
            <a:xfrm>
              <a:off x="308035" y="2064890"/>
              <a:ext cx="2164810" cy="2692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No.</a:t>
              </a:r>
              <a:endParaRPr lang="ko-KR" altLang="en-US" dirty="0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8B85F1D4-1E92-4B5D-9D2E-C42668C1BB23}"/>
                </a:ext>
              </a:extLst>
            </p:cNvPr>
            <p:cNvSpPr/>
            <p:nvPr/>
          </p:nvSpPr>
          <p:spPr>
            <a:xfrm>
              <a:off x="309940" y="2334453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8</a:t>
              </a:r>
              <a:endParaRPr lang="ko-KR" altLang="en-US" dirty="0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954C1F01-5151-4799-AC1F-AFCF6F08C6FF}"/>
                </a:ext>
              </a:extLst>
            </p:cNvPr>
            <p:cNvSpPr/>
            <p:nvPr/>
          </p:nvSpPr>
          <p:spPr>
            <a:xfrm>
              <a:off x="309940" y="2881569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7</a:t>
              </a:r>
              <a:endParaRPr lang="ko-KR" altLang="en-US" dirty="0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5AA13D4-937C-46F2-A45B-B04D116D6182}"/>
                </a:ext>
              </a:extLst>
            </p:cNvPr>
            <p:cNvSpPr/>
            <p:nvPr/>
          </p:nvSpPr>
          <p:spPr>
            <a:xfrm>
              <a:off x="308041" y="3429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6</a:t>
              </a:r>
              <a:endParaRPr lang="ko-KR" altLang="en-US" dirty="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76C77251-0CF0-4835-B258-E5DD4DA804E3}"/>
                </a:ext>
              </a:extLst>
            </p:cNvPr>
            <p:cNvSpPr/>
            <p:nvPr/>
          </p:nvSpPr>
          <p:spPr>
            <a:xfrm>
              <a:off x="308041" y="3968000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5</a:t>
              </a:r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F7F0C23-CC3B-4B90-8EA9-C3CAEC8E0FEC}"/>
                </a:ext>
              </a:extLst>
            </p:cNvPr>
            <p:cNvSpPr/>
            <p:nvPr/>
          </p:nvSpPr>
          <p:spPr>
            <a:xfrm>
              <a:off x="308040" y="5062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3</a:t>
              </a:r>
              <a:endParaRPr lang="ko-KR" altLang="en-US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6344F7A-889E-4380-AB03-A57AA30FAE2D}"/>
                </a:ext>
              </a:extLst>
            </p:cNvPr>
            <p:cNvSpPr/>
            <p:nvPr/>
          </p:nvSpPr>
          <p:spPr>
            <a:xfrm>
              <a:off x="308040" y="4515431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84BFA119-23A3-445B-95FC-29C0BC531693}"/>
                </a:ext>
              </a:extLst>
            </p:cNvPr>
            <p:cNvSpPr/>
            <p:nvPr/>
          </p:nvSpPr>
          <p:spPr>
            <a:xfrm>
              <a:off x="308040" y="5601547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2</a:t>
              </a:r>
              <a:endParaRPr lang="ko-KR" altLang="en-US" dirty="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B1958993-0210-432E-9364-616F70932EE4}"/>
                </a:ext>
              </a:extLst>
            </p:cNvPr>
            <p:cNvSpPr/>
            <p:nvPr/>
          </p:nvSpPr>
          <p:spPr>
            <a:xfrm>
              <a:off x="308040" y="6138964"/>
              <a:ext cx="2164812" cy="547431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1</a:t>
              </a:r>
              <a:endParaRPr lang="ko-KR" altLang="en-US" dirty="0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161556C-9351-4CBC-A78A-949C462371AF}"/>
              </a:ext>
            </a:extLst>
          </p:cNvPr>
          <p:cNvSpPr/>
          <p:nvPr/>
        </p:nvSpPr>
        <p:spPr>
          <a:xfrm>
            <a:off x="1508762" y="208562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98D9849-85D3-4009-AD3F-F70A114BCF36}"/>
              </a:ext>
            </a:extLst>
          </p:cNvPr>
          <p:cNvSpPr/>
          <p:nvPr/>
        </p:nvSpPr>
        <p:spPr>
          <a:xfrm>
            <a:off x="5056217" y="163154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1656F4-56E4-4455-B075-3FCEB399C5DD}"/>
              </a:ext>
            </a:extLst>
          </p:cNvPr>
          <p:cNvSpPr txBox="1"/>
          <p:nvPr/>
        </p:nvSpPr>
        <p:spPr>
          <a:xfrm>
            <a:off x="1722329" y="1465545"/>
            <a:ext cx="1233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DE143C4-36A8-48D7-BC96-BC102D6414DC}"/>
              </a:ext>
            </a:extLst>
          </p:cNvPr>
          <p:cNvSpPr/>
          <p:nvPr/>
        </p:nvSpPr>
        <p:spPr>
          <a:xfrm>
            <a:off x="2956142" y="6405224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60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72876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산재 콕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관리자 페이지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 리뷰 상세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427804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95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0074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페이지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관리자 리뷰관리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리뷰 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9839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해당 리뷰에 대한 정보를 자세히 알 수 있는 페이지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목록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관리 페이지로 이동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0074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BAB13593-1D47-439D-0208-56CDE35154DF}"/>
              </a:ext>
            </a:extLst>
          </p:cNvPr>
          <p:cNvSpPr/>
          <p:nvPr/>
        </p:nvSpPr>
        <p:spPr>
          <a:xfrm>
            <a:off x="1544923" y="2108565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작성자 </a:t>
            </a:r>
            <a:r>
              <a:rPr lang="en-US" altLang="ko-KR" dirty="0"/>
              <a:t>ID: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A1DAA5C-4A6E-0279-F7AC-903F06149C92}"/>
              </a:ext>
            </a:extLst>
          </p:cNvPr>
          <p:cNvSpPr/>
          <p:nvPr/>
        </p:nvSpPr>
        <p:spPr>
          <a:xfrm>
            <a:off x="1544923" y="2538972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병원 이름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79D7F8-E72E-D61B-AD18-A7B5423AAE47}"/>
              </a:ext>
            </a:extLst>
          </p:cNvPr>
          <p:cNvSpPr/>
          <p:nvPr/>
        </p:nvSpPr>
        <p:spPr>
          <a:xfrm>
            <a:off x="1544923" y="297373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작성 날짜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3EF7147-F621-C3C1-7721-7AB4C78BF49B}"/>
              </a:ext>
            </a:extLst>
          </p:cNvPr>
          <p:cNvSpPr/>
          <p:nvPr/>
        </p:nvSpPr>
        <p:spPr>
          <a:xfrm>
            <a:off x="1277655" y="3431594"/>
            <a:ext cx="1466147" cy="3296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73504B8-B2AD-E42A-C759-8FCCA5E56F53}"/>
              </a:ext>
            </a:extLst>
          </p:cNvPr>
          <p:cNvSpPr/>
          <p:nvPr/>
        </p:nvSpPr>
        <p:spPr>
          <a:xfrm>
            <a:off x="3265145" y="2058175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468325-A4C9-524A-EE62-42C7168661A5}"/>
              </a:ext>
            </a:extLst>
          </p:cNvPr>
          <p:cNvSpPr/>
          <p:nvPr/>
        </p:nvSpPr>
        <p:spPr>
          <a:xfrm>
            <a:off x="3265145" y="2488583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85B46E-9324-FED2-56F5-1B5F881F0202}"/>
              </a:ext>
            </a:extLst>
          </p:cNvPr>
          <p:cNvSpPr/>
          <p:nvPr/>
        </p:nvSpPr>
        <p:spPr>
          <a:xfrm>
            <a:off x="3265145" y="2909699"/>
            <a:ext cx="3166473" cy="43040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A186B4-B3F4-AA7E-F0AA-51397BD4E892}"/>
              </a:ext>
            </a:extLst>
          </p:cNvPr>
          <p:cNvSpPr/>
          <p:nvPr/>
        </p:nvSpPr>
        <p:spPr>
          <a:xfrm>
            <a:off x="1697276" y="3802320"/>
            <a:ext cx="6716933" cy="23748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11BE5B9-5EA5-7522-2357-C644713B6667}"/>
              </a:ext>
            </a:extLst>
          </p:cNvPr>
          <p:cNvSpPr/>
          <p:nvPr/>
        </p:nvSpPr>
        <p:spPr>
          <a:xfrm>
            <a:off x="7529305" y="6488055"/>
            <a:ext cx="703277" cy="3266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목록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9FB096-78E5-1907-8F7F-8153F6570271}"/>
              </a:ext>
            </a:extLst>
          </p:cNvPr>
          <p:cNvSpPr/>
          <p:nvPr/>
        </p:nvSpPr>
        <p:spPr>
          <a:xfrm>
            <a:off x="7396005" y="6412061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21CB8A4-912E-4F2C-86B1-22CEB349C17E}"/>
              </a:ext>
            </a:extLst>
          </p:cNvPr>
          <p:cNvSpPr/>
          <p:nvPr/>
        </p:nvSpPr>
        <p:spPr>
          <a:xfrm>
            <a:off x="1" y="1186017"/>
            <a:ext cx="1677450" cy="56719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4B2BC-F342-43BC-A7C9-B1C7D5E8B2D9}"/>
              </a:ext>
            </a:extLst>
          </p:cNvPr>
          <p:cNvSpPr txBox="1"/>
          <p:nvPr/>
        </p:nvSpPr>
        <p:spPr>
          <a:xfrm>
            <a:off x="1747381" y="1421704"/>
            <a:ext cx="1517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리뷰 상세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2DE7B5-11F2-4664-AF9F-75F43C37C620}"/>
              </a:ext>
            </a:extLst>
          </p:cNvPr>
          <p:cNvSpPr/>
          <p:nvPr/>
        </p:nvSpPr>
        <p:spPr>
          <a:xfrm>
            <a:off x="1745274" y="1300723"/>
            <a:ext cx="243280" cy="2273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8815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2001</TotalTime>
  <Words>4814</Words>
  <Application>Microsoft Office PowerPoint</Application>
  <PresentationFormat>와이드스크린</PresentationFormat>
  <Paragraphs>1813</Paragraphs>
  <Slides>58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ui-sans-serif</vt:lpstr>
      <vt:lpstr>맑은 고딕</vt:lpstr>
      <vt:lpstr>맑은 고딕</vt:lpstr>
      <vt:lpstr>Arial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moonseungsin0824@gmail.com</cp:lastModifiedBy>
  <cp:revision>149</cp:revision>
  <dcterms:created xsi:type="dcterms:W3CDTF">2025-11-24T01:38:34Z</dcterms:created>
  <dcterms:modified xsi:type="dcterms:W3CDTF">2025-11-29T07:20:52Z</dcterms:modified>
</cp:coreProperties>
</file>