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770" r:id="rId35"/>
    <p:sldMasterId id="2147483771" r:id="rId37"/>
    <p:sldMasterId id="2147483772" r:id="rId39"/>
  </p:sldMasterIdLst>
  <p:notesMasterIdLst>
    <p:notesMasterId r:id="rId43"/>
  </p:notesMasterIdLst>
  <p:handoutMasterIdLst>
    <p:handoutMasterId r:id="rId41"/>
  </p:handoutMasterIdLst>
  <p:sldIdLst>
    <p:sldId id="257" r:id="rId45"/>
    <p:sldId id="258" r:id="rId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5" Type="http://schemas.openxmlformats.org/officeDocument/2006/relationships/slideMaster" Target="slideMasters/slideMaster1.xml"></Relationship><Relationship Id="rId36" Type="http://schemas.openxmlformats.org/officeDocument/2006/relationships/theme" Target="theme/theme1.xml"></Relationship><Relationship Id="rId37" Type="http://schemas.openxmlformats.org/officeDocument/2006/relationships/slideMaster" Target="slideMasters/slideMaster2.xml"></Relationship><Relationship Id="rId39" Type="http://schemas.openxmlformats.org/officeDocument/2006/relationships/slideMaster" Target="slideMasters/slideMaster3.xml"></Relationship><Relationship Id="rId41" Type="http://schemas.openxmlformats.org/officeDocument/2006/relationships/handoutMaster" Target="handoutMasters/handoutMaster1.xml"></Relationship><Relationship Id="rId43" Type="http://schemas.openxmlformats.org/officeDocument/2006/relationships/notesMaster" Target="notesMasters/notesMaster1.xml"></Relationship><Relationship Id="rId45" Type="http://schemas.openxmlformats.org/officeDocument/2006/relationships/slide" Target="slides/slide1.xml"></Relationship><Relationship Id="rId46" Type="http://schemas.openxmlformats.org/officeDocument/2006/relationships/slide" Target="slides/slide2.xml"></Relationship><Relationship Id="rId48" Type="http://schemas.openxmlformats.org/officeDocument/2006/relationships/viewProps" Target="viewProps.xml"></Relationship><Relationship Id="rId49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4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5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slide" Target="../slides/slide1.xml"></Relationship><Relationship Id="rId2" Type="http://schemas.openxmlformats.org/officeDocument/2006/relationships/notesMaster" Target="../notesMasters/notesMaster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회원가입의 직종이랑 직무코드 겹치는듯?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23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1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2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2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3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22680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602355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클릭하여 마스터 부제목 스타일 편집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838200" y="1825625"/>
            <a:ext cx="51822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1822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365125"/>
            <a:ext cx="10516235" cy="132651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40105" y="1681480"/>
            <a:ext cx="5158105" cy="82423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840105" y="2505075"/>
            <a:ext cx="5158105" cy="3685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 rot="0">
            <a:off x="6172200" y="1681480"/>
            <a:ext cx="5184140" cy="82423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obj"/>
          </p:nvPr>
        </p:nvSpPr>
        <p:spPr>
          <a:xfrm rot="0">
            <a:off x="6172200" y="2505075"/>
            <a:ext cx="5184140" cy="3685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5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22680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602355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클릭하여 마스터 부제목 스타일 편집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838200" y="1825625"/>
            <a:ext cx="51822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1822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365125"/>
            <a:ext cx="10516235" cy="132651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40105" y="1681480"/>
            <a:ext cx="5158105" cy="82423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840105" y="2505075"/>
            <a:ext cx="5158105" cy="3685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 rot="0">
            <a:off x="6172200" y="1681480"/>
            <a:ext cx="5184140" cy="82423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obj"/>
          </p:nvPr>
        </p:nvSpPr>
        <p:spPr>
          <a:xfrm rot="0">
            <a:off x="6172200" y="2505075"/>
            <a:ext cx="5184140" cy="3685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5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2.xml"></Relationship><Relationship Id="rId2" Type="http://schemas.openxmlformats.org/officeDocument/2006/relationships/slideLayout" Target="../slideLayouts/slideLayout13.xml"></Relationship><Relationship Id="rId3" Type="http://schemas.openxmlformats.org/officeDocument/2006/relationships/slideLayout" Target="../slideLayouts/slideLayout14.xml"></Relationship><Relationship Id="rId4" Type="http://schemas.openxmlformats.org/officeDocument/2006/relationships/slideLayout" Target="../slideLayouts/slideLayout15.xml"></Relationship><Relationship Id="rId5" Type="http://schemas.openxmlformats.org/officeDocument/2006/relationships/slideLayout" Target="../slideLayouts/slideLayout16.xml"></Relationship><Relationship Id="rId6" Type="http://schemas.openxmlformats.org/officeDocument/2006/relationships/slideLayout" Target="../slideLayouts/slideLayout17.xml"></Relationship><Relationship Id="rId7" Type="http://schemas.openxmlformats.org/officeDocument/2006/relationships/slideLayout" Target="../slideLayouts/slideLayout18.xml"></Relationship><Relationship Id="rId8" Type="http://schemas.openxmlformats.org/officeDocument/2006/relationships/slideLayout" Target="../slideLayouts/slideLayout19.xml"></Relationship><Relationship Id="rId9" Type="http://schemas.openxmlformats.org/officeDocument/2006/relationships/slideLayout" Target="../slideLayouts/slideLayout20.xml"></Relationship><Relationship Id="rId10" Type="http://schemas.openxmlformats.org/officeDocument/2006/relationships/slideLayout" Target="../slideLayouts/slideLayout21.xml"></Relationship><Relationship Id="rId11" Type="http://schemas.openxmlformats.org/officeDocument/2006/relationships/slideLayout" Target="../slideLayouts/slideLayout22.xml"></Relationship><Relationship Id="rId12" Type="http://schemas.openxmlformats.org/officeDocument/2006/relationships/theme" Target="../theme/theme2.xml"></Relationship></Relationships>
</file>

<file path=ppt/slideMasters/_rels/slideMaster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3.xml"></Relationship><Relationship Id="rId2" Type="http://schemas.openxmlformats.org/officeDocument/2006/relationships/slideLayout" Target="../slideLayouts/slideLayout24.xml"></Relationship><Relationship Id="rId3" Type="http://schemas.openxmlformats.org/officeDocument/2006/relationships/slideLayout" Target="../slideLayouts/slideLayout25.xml"></Relationship><Relationship Id="rId4" Type="http://schemas.openxmlformats.org/officeDocument/2006/relationships/slideLayout" Target="../slideLayouts/slideLayout26.xml"></Relationship><Relationship Id="rId5" Type="http://schemas.openxmlformats.org/officeDocument/2006/relationships/slideLayout" Target="../slideLayouts/slideLayout27.xml"></Relationship><Relationship Id="rId6" Type="http://schemas.openxmlformats.org/officeDocument/2006/relationships/slideLayout" Target="../slideLayouts/slideLayout28.xml"></Relationship><Relationship Id="rId7" Type="http://schemas.openxmlformats.org/officeDocument/2006/relationships/slideLayout" Target="../slideLayouts/slideLayout29.xml"></Relationship><Relationship Id="rId8" Type="http://schemas.openxmlformats.org/officeDocument/2006/relationships/slideLayout" Target="../slideLayouts/slideLayout30.xml"></Relationship><Relationship Id="rId9" Type="http://schemas.openxmlformats.org/officeDocument/2006/relationships/slideLayout" Target="../slideLayouts/slideLayout31.xml"></Relationship><Relationship Id="rId10" Type="http://schemas.openxmlformats.org/officeDocument/2006/relationships/slideLayout" Target="../slideLayouts/slideLayout32.xml"></Relationship><Relationship Id="rId11" Type="http://schemas.openxmlformats.org/officeDocument/2006/relationships/slideLayout" Target="../slideLayouts/slideLayout33.xml"></Relationship><Relationship Id="rId12" Type="http://schemas.openxmlformats.org/officeDocument/2006/relationships/theme" Target="../theme/theme3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</a:p>
          <a:p>
            <a:pPr marL="685800" indent="-228600" lvl="1"/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</a:p>
          <a:p>
            <a:pPr marL="1143000" indent="-228600" lvl="2"/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</a:p>
          <a:p>
            <a:pPr marL="1600200" indent="-228600" lvl="3"/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</a:p>
          <a:p>
            <a:pPr marL="2057400" indent="-228600" lvl="4"/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2025-11-28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3.xml"></Relationship><Relationship Id="rId2" Type="http://schemas.openxmlformats.org/officeDocument/2006/relationships/notesSlide" Target="../notesSlides/notesSlide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4.xml"></Relationship><Relationship Id="rId2" Type="http://schemas.openxmlformats.org/officeDocument/2006/relationships/image" Target="../media/fImage37941125541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12192001" cy="1183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943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프로젝트 명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 eaLnBrk="1" latinLnBrk="1" hangingPunct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산재 콕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화면코드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ctr">
                    <a:lnL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산재 관리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버전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작성자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최도윤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v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일자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2025-11-24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4335">
                <a:tc gridSpan="6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화면 경로 : main&gt; 마이페이지(로그인시) &gt; 산재 관리 페이지(입력 폼)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8603615" y="1179830"/>
          <a:ext cx="3587750" cy="6617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/>
                <a:gridCol w="3230245"/>
              </a:tblGrid>
              <a:tr h="3378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6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description</a:t>
                      </a:r>
                      <a:endParaRPr lang="ko-KR" altLang="en-US" sz="16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8420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6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main&gt; 마이페이지(로그인시) &gt; 산재 관리(폼)</a:t>
                      </a:r>
                      <a:endParaRPr lang="ko-KR" altLang="en-US" sz="16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2666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1.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lang="ko-KR"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별칭:</a:t>
                      </a:r>
                      <a:r>
                        <a:rPr lang="ko-KR"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 </a:t>
                      </a:r>
                      <a:r>
                        <a:rPr lang="ko-KR"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본인이 </a:t>
                      </a:r>
                      <a:r>
                        <a:rPr lang="ko-KR"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알아</a:t>
                      </a:r>
                      <a:r>
                        <a:rPr lang="ko-KR"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보기 </a:t>
                      </a:r>
                      <a:r>
                        <a:rPr lang="ko-KR"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쉽게 별칭 입력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중분류1: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필수, select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광업, 제조업, 건설업 …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중분류2: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중분류 1에 따라 바뀜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필수, select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광업 : </a:t>
                      </a:r>
                      <a:r>
                        <a:rPr sz="10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석탄광업 및 채석업</a:t>
                      </a:r>
                      <a:r>
                        <a:rPr sz="10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, </a:t>
                      </a:r>
                      <a:r>
                        <a:rPr sz="10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석회석·금속·비금속광업 및 기타광업</a:t>
                      </a:r>
                      <a:endParaRPr lang="ko-KR" altLang="en-US" sz="10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endParaRPr lang="ko-KR" altLang="en-US" sz="10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0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건설업: 건설업</a:t>
                      </a:r>
                      <a:endParaRPr lang="ko-KR" altLang="en-US" sz="10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0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….</a:t>
                      </a:r>
                      <a:endParaRPr lang="ko-KR" altLang="en-US" sz="10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발생형태/질병/모두: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필수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Radio 타입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발생형태 선택시 질병 텍스트가 disable이 되고,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rtl="0" algn="l" defTabSz="914400" eaLnBrk="1" latinLnBrk="1" hangingPunct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질병 선택시 발생형태 텍스트가 disable이 된다.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rtl="0" algn="l" defTabSz="914400" eaLnBrk="1" latinLnBrk="1" hangingPunct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모두를 선택시에는 둘 다 입력해야 한다.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재해일자 :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필수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Date 타입으로 받기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YYYY-MM-DD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발생주소 :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필수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다음주소api 사용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926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2.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Form에 입력 검증이 모두 통과했다면 가입확인 페이지로 이동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Rect 0"/>
          <p:cNvSpPr>
            <a:spLocks/>
          </p:cNvSpPr>
          <p:nvPr/>
        </p:nvSpPr>
        <p:spPr>
          <a:xfrm rot="0">
            <a:off x="1614805" y="1186180"/>
            <a:ext cx="6989445" cy="643255"/>
          </a:xfrm>
          <a:prstGeom prst="rect"/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8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헤더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0" y="1179830"/>
            <a:ext cx="1615440" cy="643255"/>
          </a:xfrm>
          <a:prstGeom prst="rect"/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로고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/>
          </p:cNvSpPr>
          <p:nvPr/>
        </p:nvSpPr>
        <p:spPr>
          <a:xfrm rot="0">
            <a:off x="0" y="6216650"/>
            <a:ext cx="8604250" cy="641985"/>
          </a:xfrm>
          <a:prstGeom prst="rect"/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8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푸터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4" name="Rect 0"/>
          <p:cNvSpPr>
            <a:spLocks/>
          </p:cNvSpPr>
          <p:nvPr/>
        </p:nvSpPr>
        <p:spPr>
          <a:xfrm rot="0">
            <a:off x="1291590" y="1924050"/>
            <a:ext cx="301625" cy="314960"/>
          </a:xfrm>
          <a:prstGeom prst="rect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400">
                <a:latin typeface="맑은 고딕" charset="0"/>
                <a:ea typeface="맑은 고딕" charset="0"/>
                <a:sym typeface="맑은 고딕" charset="0"/>
              </a:rPr>
              <a:t>1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 rot="0">
            <a:off x="1480185" y="2694305"/>
            <a:ext cx="1202690" cy="26225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100" b="1">
                <a:latin typeface="맑은 고딕" charset="0"/>
                <a:ea typeface="맑은 고딕" charset="0"/>
                <a:sym typeface="맑은 고딕" charset="0"/>
              </a:rPr>
              <a:t>산재 정보 입력</a:t>
            </a:r>
            <a:endParaRPr lang="ko-KR" altLang="en-US" sz="1100" b="1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4" name="Rect 0"/>
          <p:cNvSpPr>
            <a:spLocks/>
          </p:cNvSpPr>
          <p:nvPr/>
        </p:nvSpPr>
        <p:spPr>
          <a:xfrm rot="0">
            <a:off x="2281555" y="3814445"/>
            <a:ext cx="1878330" cy="217805"/>
          </a:xfrm>
          <a:prstGeom prst="round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endParaRPr lang="ko-KR" altLang="en-US" sz="12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4" name="Rect 0"/>
          <p:cNvSpPr>
            <a:spLocks/>
          </p:cNvSpPr>
          <p:nvPr/>
        </p:nvSpPr>
        <p:spPr>
          <a:xfrm rot="0">
            <a:off x="1528445" y="4686935"/>
            <a:ext cx="1878330" cy="217805"/>
          </a:xfrm>
          <a:prstGeom prst="round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000">
                <a:solidFill>
                  <a:schemeClr val="bg2">
                    <a:lumMod val="75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발생형태  카테고리(select)</a:t>
            </a:r>
            <a:endParaRPr lang="ko-KR" altLang="en-US" sz="1000">
              <a:solidFill>
                <a:schemeClr val="bg2">
                  <a:lumMod val="75000"/>
                </a:schemeClr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7" name="Rect 0"/>
          <p:cNvSpPr>
            <a:spLocks/>
          </p:cNvSpPr>
          <p:nvPr/>
        </p:nvSpPr>
        <p:spPr>
          <a:xfrm rot="0">
            <a:off x="1291590" y="1924050"/>
            <a:ext cx="6162675" cy="4236720"/>
          </a:xfrm>
          <a:prstGeom prst="roundRect"/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5" name="Rect 0"/>
          <p:cNvSpPr>
            <a:spLocks/>
          </p:cNvSpPr>
          <p:nvPr/>
        </p:nvSpPr>
        <p:spPr>
          <a:xfrm rot="0">
            <a:off x="4372610" y="5702935"/>
            <a:ext cx="2480310" cy="217805"/>
          </a:xfrm>
          <a:prstGeom prst="round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200">
                <a:solidFill>
                  <a:schemeClr val="bg1"/>
                </a:solidFill>
                <a:latin typeface="맑은 고딕" charset="0"/>
                <a:ea typeface="맑은 고딕" charset="0"/>
                <a:sym typeface="맑은 고딕" charset="0"/>
              </a:rPr>
              <a:t>등록하기</a:t>
            </a:r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1471930" y="4327525"/>
            <a:ext cx="995045" cy="24701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000">
                <a:latin typeface="맑은 고딕" charset="0"/>
                <a:ea typeface="맑은 고딕" charset="0"/>
                <a:sym typeface="맑은 고딕" charset="0"/>
              </a:rPr>
              <a:t>*발생형태 :</a:t>
            </a:r>
            <a:endParaRPr lang="ko-KR" altLang="en-US" sz="10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9" name="Rect 0"/>
          <p:cNvSpPr txBox="1">
            <a:spLocks/>
          </p:cNvSpPr>
          <p:nvPr/>
        </p:nvSpPr>
        <p:spPr>
          <a:xfrm rot="0">
            <a:off x="1351915" y="3814445"/>
            <a:ext cx="869950" cy="24701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000">
                <a:latin typeface="맑은 고딕" charset="0"/>
                <a:ea typeface="맑은 고딕" charset="0"/>
                <a:sym typeface="맑은 고딕" charset="0"/>
              </a:rPr>
              <a:t>* 재해일자 : </a:t>
            </a:r>
            <a:endParaRPr lang="ko-KR" altLang="en-US" sz="10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0" name="Rect 0"/>
          <p:cNvSpPr>
            <a:spLocks/>
          </p:cNvSpPr>
          <p:nvPr/>
        </p:nvSpPr>
        <p:spPr>
          <a:xfrm rot="0">
            <a:off x="4222115" y="5462905"/>
            <a:ext cx="301625" cy="314960"/>
          </a:xfrm>
          <a:prstGeom prst="rect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400">
                <a:latin typeface="맑은 고딕" charset="0"/>
                <a:ea typeface="맑은 고딕" charset="0"/>
                <a:sym typeface="맑은 고딕" charset="0"/>
              </a:rPr>
              <a:t>2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8" name="Rect 0"/>
          <p:cNvSpPr>
            <a:spLocks/>
          </p:cNvSpPr>
          <p:nvPr/>
        </p:nvSpPr>
        <p:spPr>
          <a:xfrm rot="0">
            <a:off x="2281555" y="3317240"/>
            <a:ext cx="1878330" cy="217805"/>
          </a:xfrm>
          <a:prstGeom prst="round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endParaRPr lang="ko-KR" altLang="en-US" sz="12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9" name="Rect 0"/>
          <p:cNvSpPr>
            <a:spLocks/>
          </p:cNvSpPr>
          <p:nvPr/>
        </p:nvSpPr>
        <p:spPr>
          <a:xfrm rot="0">
            <a:off x="5137785" y="3322955"/>
            <a:ext cx="1878330" cy="217805"/>
          </a:xfrm>
          <a:prstGeom prst="round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endParaRPr lang="ko-KR" altLang="en-US" sz="12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" name="Rect 0"/>
          <p:cNvSpPr txBox="1">
            <a:spLocks/>
          </p:cNvSpPr>
          <p:nvPr/>
        </p:nvSpPr>
        <p:spPr>
          <a:xfrm rot="0">
            <a:off x="4319905" y="3302000"/>
            <a:ext cx="995045" cy="24701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000">
                <a:latin typeface="맑은 고딕" charset="0"/>
                <a:ea typeface="맑은 고딕" charset="0"/>
                <a:sym typeface="맑은 고딕" charset="0"/>
              </a:rPr>
              <a:t>* 중분류2 :</a:t>
            </a:r>
            <a:endParaRPr lang="ko-KR" altLang="en-US" sz="10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1" name="Rect 0"/>
          <p:cNvSpPr txBox="1">
            <a:spLocks/>
          </p:cNvSpPr>
          <p:nvPr/>
        </p:nvSpPr>
        <p:spPr>
          <a:xfrm rot="0">
            <a:off x="1351915" y="3317240"/>
            <a:ext cx="869950" cy="24701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000">
                <a:latin typeface="맑은 고딕" charset="0"/>
                <a:ea typeface="맑은 고딕" charset="0"/>
                <a:sym typeface="맑은 고딕" charset="0"/>
              </a:rPr>
              <a:t>* 중분류1 : </a:t>
            </a:r>
            <a:endParaRPr lang="ko-KR" altLang="en-US" sz="10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2778760" y="4327525"/>
            <a:ext cx="995045" cy="24701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000">
                <a:latin typeface="맑은 고딕" charset="0"/>
                <a:ea typeface="맑은 고딕" charset="0"/>
                <a:sym typeface="맑은 고딕" charset="0"/>
              </a:rPr>
              <a:t>*질병:</a:t>
            </a:r>
            <a:endParaRPr lang="ko-KR" altLang="en-US" sz="10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/>
          </p:cNvSpPr>
          <p:nvPr/>
        </p:nvSpPr>
        <p:spPr>
          <a:xfrm rot="0">
            <a:off x="2281555" y="4388485"/>
            <a:ext cx="121920" cy="121285"/>
          </a:xfrm>
          <a:prstGeom prst="ellips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7" name="Rect 0"/>
          <p:cNvSpPr>
            <a:spLocks/>
          </p:cNvSpPr>
          <p:nvPr/>
        </p:nvSpPr>
        <p:spPr>
          <a:xfrm rot="0">
            <a:off x="3323590" y="4388485"/>
            <a:ext cx="121920" cy="121285"/>
          </a:xfrm>
          <a:prstGeom prst="ellips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5" name="Rect 0"/>
          <p:cNvSpPr>
            <a:spLocks/>
          </p:cNvSpPr>
          <p:nvPr/>
        </p:nvSpPr>
        <p:spPr>
          <a:xfrm rot="0">
            <a:off x="5157470" y="3814445"/>
            <a:ext cx="1878330" cy="217805"/>
          </a:xfrm>
          <a:prstGeom prst="round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endParaRPr lang="ko-KR" altLang="en-US" sz="12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8" name="Rect 0"/>
          <p:cNvSpPr txBox="1">
            <a:spLocks/>
          </p:cNvSpPr>
          <p:nvPr/>
        </p:nvSpPr>
        <p:spPr>
          <a:xfrm rot="0">
            <a:off x="4319905" y="3785235"/>
            <a:ext cx="869950" cy="24701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000">
                <a:latin typeface="맑은 고딕" charset="0"/>
                <a:ea typeface="맑은 고딕" charset="0"/>
                <a:sym typeface="맑은 고딕" charset="0"/>
              </a:rPr>
              <a:t>* 발생주소 : </a:t>
            </a:r>
            <a:endParaRPr lang="ko-KR" altLang="en-US" sz="10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2" name="Rect 0"/>
          <p:cNvSpPr txBox="1">
            <a:spLocks/>
          </p:cNvSpPr>
          <p:nvPr/>
        </p:nvSpPr>
        <p:spPr>
          <a:xfrm rot="0">
            <a:off x="3772535" y="4327525"/>
            <a:ext cx="995045" cy="24701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000">
                <a:latin typeface="맑은 고딕" charset="0"/>
                <a:ea typeface="맑은 고딕" charset="0"/>
                <a:sym typeface="맑은 고딕" charset="0"/>
              </a:rPr>
              <a:t>*모두:</a:t>
            </a:r>
            <a:endParaRPr lang="ko-KR" altLang="en-US" sz="10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3" name="Rect 0"/>
          <p:cNvSpPr>
            <a:spLocks/>
          </p:cNvSpPr>
          <p:nvPr/>
        </p:nvSpPr>
        <p:spPr>
          <a:xfrm rot="0">
            <a:off x="4317365" y="4388485"/>
            <a:ext cx="121920" cy="121285"/>
          </a:xfrm>
          <a:prstGeom prst="ellips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6" name="Rect 0"/>
          <p:cNvSpPr>
            <a:spLocks/>
          </p:cNvSpPr>
          <p:nvPr/>
        </p:nvSpPr>
        <p:spPr>
          <a:xfrm rot="0">
            <a:off x="1528445" y="5093335"/>
            <a:ext cx="1878330" cy="217805"/>
          </a:xfrm>
          <a:prstGeom prst="round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endParaRPr lang="ko-KR" altLang="en-US" sz="1000">
              <a:solidFill>
                <a:schemeClr val="bg2">
                  <a:lumMod val="75000"/>
                </a:schemeClr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000">
                <a:solidFill>
                  <a:schemeClr val="bg2">
                    <a:lumMod val="75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질병형태 카테고리(select) </a:t>
            </a:r>
            <a:endParaRPr lang="ko-KR" altLang="en-US" sz="1000">
              <a:solidFill>
                <a:schemeClr val="bg2">
                  <a:lumMod val="75000"/>
                </a:schemeClr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endParaRPr lang="ko-KR" altLang="en-US" sz="12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2" name="Rect 0"/>
          <p:cNvSpPr>
            <a:spLocks/>
          </p:cNvSpPr>
          <p:nvPr/>
        </p:nvSpPr>
        <p:spPr>
          <a:xfrm rot="0">
            <a:off x="2281555" y="2990850"/>
            <a:ext cx="1878330" cy="217805"/>
          </a:xfrm>
          <a:prstGeom prst="round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endParaRPr lang="ko-KR" altLang="en-US" sz="12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3" name="Rect 0"/>
          <p:cNvSpPr txBox="1">
            <a:spLocks/>
          </p:cNvSpPr>
          <p:nvPr/>
        </p:nvSpPr>
        <p:spPr>
          <a:xfrm rot="0">
            <a:off x="1351915" y="2990850"/>
            <a:ext cx="869950" cy="247015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000">
                <a:latin typeface="맑은 고딕" charset="0"/>
                <a:ea typeface="맑은 고딕" charset="0"/>
                <a:sym typeface="맑은 고딕" charset="0"/>
              </a:rPr>
              <a:t>* 별칭 : </a:t>
            </a:r>
            <a:endParaRPr lang="ko-KR" altLang="en-US" sz="1000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 0"/>
          <p:cNvSpPr>
            <a:spLocks/>
          </p:cNvSpPr>
          <p:nvPr/>
        </p:nvSpPr>
        <p:spPr>
          <a:xfrm rot="0">
            <a:off x="732790" y="2991485"/>
            <a:ext cx="6989445" cy="347218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-22225" y="0"/>
          <a:ext cx="12192001" cy="1183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3943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프로젝트 명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defTabSz="914400" eaLnBrk="1" latinLnBrk="1" hangingPunct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산재 콕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화면코드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ctr">
                    <a:lnL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주변 산재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버전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작성자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김용찬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v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일자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2025-11-24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94335">
                <a:tc gridSpan="6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4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화면 경로 : main &gt; 주변 산재 검색(상단)</a:t>
                      </a:r>
                      <a:endParaRPr lang="ko-KR" altLang="en-US" sz="14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89535" marR="89535" marT="89535" marB="89535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8603615" y="1179830"/>
          <a:ext cx="3587750" cy="5904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05"/>
                <a:gridCol w="3230245"/>
              </a:tblGrid>
              <a:tr h="514985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6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description</a:t>
                      </a:r>
                      <a:endParaRPr lang="ko-KR" altLang="en-US" sz="16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37235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6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main &gt; 주변 산재 검색(상단)</a:t>
                      </a:r>
                      <a:endParaRPr lang="ko-KR" altLang="en-US" sz="16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1.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사용자 집,근무지,사고지역 위치 Click 후 검색  &gt;&gt; 선택에 따른 산업재해수 API 와 KaKao 지도 API를  필터링하여 지도에 마킹  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2.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지도에 표시되어 있는 총 발생 건수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지도 반경에 따라 발생건수 업데이트 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359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3.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마커 Click &gt;&gt; 연동된 산업재해수 API로  </a:t>
                      </a: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/>
                      </a:r>
                      <a:b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</a:b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추가 상세정보 확인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rgbClr val="FF0000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상세정보 (발생년도, 관할구역, 소재지) </a:t>
                      </a:r>
                      <a:endParaRPr lang="ko-KR" altLang="en-US" sz="1100" kern="1200" i="0" b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6708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4.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사고지역은 개인 산재 데이터를 기준으로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리스트이름?산재위치? 또는 기타 아이디어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를 리스트형태로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  <a:p>
                      <a:pPr marL="0" indent="0" latinLnBrk="1" lvl="1">
                        <a:buFontTx/>
                        <a:buNone/>
                      </a:pPr>
                      <a:r>
                        <a:rPr sz="11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sym typeface="맑은 고딕" charset="0"/>
                        </a:rPr>
                        <a:t>드롭다운? 팝업? 으로 구현</a:t>
                      </a: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73723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 lvl="1">
                        <a:buFontTx/>
                        <a:buNone/>
                      </a:pPr>
                      <a:endParaRPr lang="ko-KR" altLang="en-US" sz="11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sym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Rect 0"/>
          <p:cNvSpPr>
            <a:spLocks/>
          </p:cNvSpPr>
          <p:nvPr/>
        </p:nvSpPr>
        <p:spPr>
          <a:xfrm rot="0">
            <a:off x="1614805" y="1186180"/>
            <a:ext cx="6989445" cy="643255"/>
          </a:xfrm>
          <a:prstGeom prst="rect"/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8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헤더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0" y="1179830"/>
            <a:ext cx="1615440" cy="643255"/>
          </a:xfrm>
          <a:prstGeom prst="rect"/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로고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3" name="Picture " descr="C:/Users/dlgks/AppData/Roaming/PolarisOffice/ETemp/21680_22698000/fImage379411255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48690" y="3387725"/>
            <a:ext cx="6493510" cy="302514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86435" y="2906395"/>
            <a:ext cx="7059295" cy="431165"/>
          </a:xfrm>
          <a:prstGeom prst="roundRect"/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400" b="1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근무지/산업재해 상황 					          </a:t>
            </a:r>
            <a:endParaRPr lang="ko-KR" altLang="en-US" sz="1400" b="1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7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주변 산업재해 발생 현황을 확인하세요                                                                      		</a:t>
            </a:r>
            <a:endParaRPr lang="ko-KR" altLang="en-US" sz="7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6" name="Rect 0"/>
          <p:cNvSpPr>
            <a:spLocks/>
          </p:cNvSpPr>
          <p:nvPr/>
        </p:nvSpPr>
        <p:spPr>
          <a:xfrm rot="0">
            <a:off x="6819900" y="2296160"/>
            <a:ext cx="1372235" cy="534035"/>
          </a:xfrm>
          <a:prstGeom prst="roundRect"/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400" b="1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총 발생 건수</a:t>
            </a:r>
            <a:endParaRPr lang="ko-KR" altLang="en-US" sz="1400" b="1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7" name="Rect 0"/>
          <p:cNvSpPr>
            <a:spLocks/>
          </p:cNvSpPr>
          <p:nvPr/>
        </p:nvSpPr>
        <p:spPr>
          <a:xfrm rot="0">
            <a:off x="392430" y="2310765"/>
            <a:ext cx="6261735" cy="534035"/>
          </a:xfrm>
          <a:prstGeom prst="roundRect"/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400" b="1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400" b="1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위치선택:  						</a:t>
            </a:r>
            <a:endParaRPr lang="ko-KR" altLang="en-US" sz="1400" b="1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8" name="Rect 0"/>
          <p:cNvSpPr>
            <a:spLocks/>
          </p:cNvSpPr>
          <p:nvPr/>
        </p:nvSpPr>
        <p:spPr>
          <a:xfrm rot="0">
            <a:off x="1336040" y="2360295"/>
            <a:ext cx="1420495" cy="393065"/>
          </a:xfrm>
          <a:prstGeom prst="roundRect"/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000" b="1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집  </a:t>
            </a:r>
            <a:endParaRPr lang="ko-KR" altLang="en-US" sz="1000" b="1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9" name="Rect 0"/>
          <p:cNvSpPr>
            <a:spLocks/>
          </p:cNvSpPr>
          <p:nvPr/>
        </p:nvSpPr>
        <p:spPr>
          <a:xfrm rot="0">
            <a:off x="2838450" y="2360295"/>
            <a:ext cx="1420495" cy="393065"/>
          </a:xfrm>
          <a:prstGeom prst="roundRect"/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000" b="1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근무지   </a:t>
            </a:r>
            <a:endParaRPr lang="ko-KR" altLang="en-US" sz="1000" b="1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/>
          </p:cNvSpPr>
          <p:nvPr/>
        </p:nvSpPr>
        <p:spPr>
          <a:xfrm rot="0">
            <a:off x="4338320" y="2360295"/>
            <a:ext cx="1420495" cy="393065"/>
          </a:xfrm>
          <a:prstGeom prst="roundRect"/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000" b="1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사고지역  </a:t>
            </a:r>
            <a:endParaRPr lang="ko-KR" altLang="en-US" sz="1000" b="1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/>
          </p:cNvSpPr>
          <p:nvPr/>
        </p:nvSpPr>
        <p:spPr>
          <a:xfrm rot="0">
            <a:off x="2941320" y="3498850"/>
            <a:ext cx="1656080" cy="509905"/>
          </a:xfrm>
          <a:prstGeom prst="wedgeRectCallout">
            <a:avLst>
              <a:gd name="adj1" fmla="val -40116"/>
              <a:gd name="adj2" fmla="val 8586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8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소재지:</a:t>
            </a:r>
            <a:endParaRPr lang="ko-KR" altLang="en-US" sz="8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8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관할구역:</a:t>
            </a:r>
            <a:endParaRPr lang="ko-KR" altLang="en-US" sz="8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8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발생년도:</a:t>
            </a:r>
            <a:endParaRPr lang="ko-KR" altLang="en-US" sz="8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7" name="Rect 0"/>
          <p:cNvSpPr>
            <a:spLocks/>
          </p:cNvSpPr>
          <p:nvPr/>
        </p:nvSpPr>
        <p:spPr>
          <a:xfrm rot="0">
            <a:off x="331470" y="2209800"/>
            <a:ext cx="165735" cy="173355"/>
          </a:xfrm>
          <a:prstGeom prst="rect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400">
                <a:latin typeface="맑은 고딕" charset="0"/>
                <a:ea typeface="맑은 고딕" charset="0"/>
                <a:sym typeface="맑은 고딕" charset="0"/>
              </a:rPr>
              <a:t>1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8" name="Rect 0"/>
          <p:cNvSpPr>
            <a:spLocks/>
          </p:cNvSpPr>
          <p:nvPr/>
        </p:nvSpPr>
        <p:spPr>
          <a:xfrm rot="0">
            <a:off x="6852920" y="2209800"/>
            <a:ext cx="165735" cy="173355"/>
          </a:xfrm>
          <a:prstGeom prst="rect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400">
                <a:latin typeface="맑은 고딕" charset="0"/>
                <a:ea typeface="맑은 고딕" charset="0"/>
                <a:sym typeface="맑은 고딕" charset="0"/>
              </a:rPr>
              <a:t>2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0" name="Rect 0"/>
          <p:cNvSpPr>
            <a:spLocks/>
          </p:cNvSpPr>
          <p:nvPr/>
        </p:nvSpPr>
        <p:spPr>
          <a:xfrm rot="0">
            <a:off x="2693035" y="3942080"/>
            <a:ext cx="165735" cy="173355"/>
          </a:xfrm>
          <a:prstGeom prst="rect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400">
                <a:latin typeface="맑은 고딕" charset="0"/>
                <a:ea typeface="맑은 고딕" charset="0"/>
                <a:sym typeface="맑은 고딕" charset="0"/>
              </a:rPr>
              <a:t>3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/>
          </p:cNvSpPr>
          <p:nvPr/>
        </p:nvSpPr>
        <p:spPr>
          <a:xfrm rot="0">
            <a:off x="4410710" y="2712085"/>
            <a:ext cx="1279525" cy="1102995"/>
          </a:xfrm>
          <a:prstGeom prst="rect"/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200" b="1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산재 정보 목록</a:t>
            </a:r>
            <a:endParaRPr lang="ko-KR" altLang="en-US" sz="1200" b="1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914400" eaLnBrk="1" latinLnBrk="1" hangingPunct="1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별칭1 </a:t>
            </a:r>
            <a:r>
              <a:rPr lang="ko-KR"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발생주소</a:t>
            </a:r>
            <a:r>
              <a:rPr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별칭2</a:t>
            </a:r>
            <a:r>
              <a:rPr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발생주소</a:t>
            </a:r>
            <a:endParaRPr lang="ko-KR" altLang="en-US" sz="11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914400" eaLnBrk="1" latinLnBrk="1" hangingPunct="1">
              <a:buFontTx/>
              <a:buNone/>
            </a:pPr>
            <a:r>
              <a:rPr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별칭3</a:t>
            </a:r>
            <a:r>
              <a:rPr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sz="11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발생주소</a:t>
            </a:r>
            <a:endParaRPr lang="ko-KR" altLang="en-US" sz="11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1" name="Rect 0"/>
          <p:cNvSpPr>
            <a:spLocks/>
          </p:cNvSpPr>
          <p:nvPr/>
        </p:nvSpPr>
        <p:spPr>
          <a:xfrm rot="0">
            <a:off x="4302125" y="2270760"/>
            <a:ext cx="165735" cy="173355"/>
          </a:xfrm>
          <a:prstGeom prst="rect"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400">
                <a:latin typeface="맑은 고딕" charset="0"/>
                <a:ea typeface="맑은 고딕" charset="0"/>
                <a:sym typeface="맑은 고딕" charset="0"/>
              </a:rPr>
              <a:t>4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2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실체 네놈의</dc:creator>
  <cp:lastModifiedBy>실체 네놈의</cp:lastModifiedBy>
  <dc:title>PowerPoint 프레젠테이션</dc:title>
  <cp:version>10.105.286.56066</cp:version>
</cp:coreProperties>
</file>