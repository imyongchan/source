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311" r:id="rId3"/>
    <p:sldId id="312" r:id="rId4"/>
    <p:sldId id="313" r:id="rId5"/>
    <p:sldId id="262" r:id="rId6"/>
    <p:sldId id="257" r:id="rId7"/>
    <p:sldId id="266" r:id="rId8"/>
    <p:sldId id="261" r:id="rId9"/>
    <p:sldId id="296" r:id="rId10"/>
    <p:sldId id="306" r:id="rId11"/>
    <p:sldId id="307" r:id="rId12"/>
    <p:sldId id="308" r:id="rId13"/>
    <p:sldId id="267" r:id="rId14"/>
    <p:sldId id="268" r:id="rId15"/>
    <p:sldId id="270" r:id="rId16"/>
    <p:sldId id="271" r:id="rId17"/>
    <p:sldId id="273" r:id="rId18"/>
    <p:sldId id="274" r:id="rId19"/>
    <p:sldId id="310" r:id="rId20"/>
    <p:sldId id="285" r:id="rId21"/>
    <p:sldId id="283" r:id="rId22"/>
    <p:sldId id="278" r:id="rId23"/>
    <p:sldId id="282" r:id="rId24"/>
    <p:sldId id="281" r:id="rId25"/>
    <p:sldId id="294" r:id="rId26"/>
    <p:sldId id="295" r:id="rId27"/>
    <p:sldId id="263" r:id="rId28"/>
    <p:sldId id="265" r:id="rId29"/>
    <p:sldId id="317" r:id="rId30"/>
    <p:sldId id="258" r:id="rId31"/>
    <p:sldId id="318" r:id="rId32"/>
    <p:sldId id="319" r:id="rId33"/>
    <p:sldId id="320" r:id="rId34"/>
    <p:sldId id="321" r:id="rId35"/>
    <p:sldId id="280" r:id="rId36"/>
    <p:sldId id="291" r:id="rId37"/>
    <p:sldId id="299" r:id="rId38"/>
    <p:sldId id="300" r:id="rId39"/>
    <p:sldId id="301" r:id="rId40"/>
    <p:sldId id="305" r:id="rId41"/>
    <p:sldId id="286" r:id="rId42"/>
    <p:sldId id="292" r:id="rId43"/>
    <p:sldId id="287" r:id="rId44"/>
    <p:sldId id="288" r:id="rId45"/>
    <p:sldId id="290" r:id="rId46"/>
    <p:sldId id="293" r:id="rId47"/>
    <p:sldId id="289" r:id="rId48"/>
    <p:sldId id="302" r:id="rId49"/>
    <p:sldId id="264" r:id="rId50"/>
    <p:sldId id="303" r:id="rId51"/>
    <p:sldId id="304" r:id="rId52"/>
    <p:sldId id="314" r:id="rId53"/>
    <p:sldId id="315" r:id="rId54"/>
    <p:sldId id="323" r:id="rId55"/>
    <p:sldId id="322" r:id="rId56"/>
    <p:sldId id="325" r:id="rId57"/>
    <p:sldId id="324" r:id="rId58"/>
    <p:sldId id="297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1011" autoAdjust="0"/>
  </p:normalViewPr>
  <p:slideViewPr>
    <p:cSldViewPr snapToGrid="0">
      <p:cViewPr varScale="1">
        <p:scale>
          <a:sx n="104" d="100"/>
          <a:sy n="104" d="100"/>
        </p:scale>
        <p:origin x="7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Ref : </a:t>
            </a:r>
            <a:r>
              <a:rPr lang="ko-KR" altLang="en-US" dirty="0" err="1"/>
              <a:t>쿠팡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0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212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code.map.daum.net/gu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kosha.or.kr/archive/cent-archive/indust-arch/indust-page1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wel.or.kr/comwel/medi/orsc.js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comwel.or.kr/comwel/medi/orsc.jsp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A063F-D905-4937-8ABC-3A50C4DF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11D5-FA4D-468B-9D94-5167DC12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API</a:t>
            </a:r>
          </a:p>
          <a:p>
            <a:r>
              <a:rPr lang="ko-KR" altLang="en-US" dirty="0" err="1"/>
              <a:t>크롤링</a:t>
            </a:r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메인</a:t>
            </a:r>
            <a:endParaRPr lang="en-US" altLang="ko-KR" dirty="0"/>
          </a:p>
          <a:p>
            <a:r>
              <a:rPr lang="ko-KR" altLang="en-US" dirty="0"/>
              <a:t>소개</a:t>
            </a:r>
            <a:endParaRPr lang="en-US" altLang="ko-KR" dirty="0"/>
          </a:p>
          <a:p>
            <a:r>
              <a:rPr lang="ko-KR" altLang="en-US" dirty="0"/>
              <a:t>회원가입</a:t>
            </a:r>
            <a:endParaRPr lang="en-US" altLang="ko-KR" dirty="0"/>
          </a:p>
          <a:p>
            <a:r>
              <a:rPr lang="ko-KR" altLang="en-US" dirty="0"/>
              <a:t>마이페이지</a:t>
            </a:r>
            <a:endParaRPr lang="en-US" altLang="ko-KR" dirty="0"/>
          </a:p>
          <a:p>
            <a:r>
              <a:rPr lang="ko-KR" altLang="en-US" dirty="0"/>
              <a:t>산재 뉴스</a:t>
            </a:r>
            <a:endParaRPr lang="en-US" altLang="ko-KR" dirty="0"/>
          </a:p>
          <a:p>
            <a:r>
              <a:rPr lang="ko-KR" altLang="en-US" dirty="0"/>
              <a:t>산재 통계</a:t>
            </a:r>
            <a:endParaRPr lang="en-US" altLang="ko-KR" dirty="0"/>
          </a:p>
          <a:p>
            <a:r>
              <a:rPr lang="ko-KR" altLang="en-US" dirty="0"/>
              <a:t>안전 자료실</a:t>
            </a:r>
            <a:endParaRPr lang="en-US" altLang="ko-KR" dirty="0"/>
          </a:p>
          <a:p>
            <a:r>
              <a:rPr lang="ko-KR" altLang="en-US" dirty="0"/>
              <a:t>주변 산재 검색</a:t>
            </a:r>
            <a:endParaRPr lang="en-US" altLang="ko-KR" dirty="0"/>
          </a:p>
          <a:p>
            <a:r>
              <a:rPr lang="ko-KR" altLang="en-US" dirty="0"/>
              <a:t>주변 병원 검색</a:t>
            </a:r>
            <a:endParaRPr lang="en-US" altLang="ko-KR" dirty="0"/>
          </a:p>
          <a:p>
            <a:r>
              <a:rPr lang="ko-KR" altLang="en-US" dirty="0"/>
              <a:t>관리자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2BFFE-C749-4DA6-89A4-9465C7B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EACF3-F952-44E5-A6E6-8E02014F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sz="1800" dirty="0" err="1"/>
              <a:t>Daum</a:t>
            </a:r>
            <a:r>
              <a:rPr lang="en-US" altLang="ko-KR" sz="1800" dirty="0"/>
              <a:t> </a:t>
            </a:r>
            <a:r>
              <a:rPr lang="ko-KR" altLang="en-US" sz="1800" dirty="0"/>
              <a:t>주소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800" dirty="0">
                <a:hlinkClick r:id="rId2"/>
              </a:rPr>
              <a:t>https://postcode.map.daum.net/guide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 err="1"/>
              <a:t>KakaoMap</a:t>
            </a:r>
            <a:r>
              <a:rPr lang="en-US" altLang="ko-KR" sz="1800" dirty="0"/>
              <a:t> 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https://dapi.kakao.com/v2/local/search/address.json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산업재해수</a:t>
            </a:r>
            <a:r>
              <a:rPr lang="ko-KR" altLang="en-US" sz="1800" dirty="0"/>
              <a:t>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https://safemap.go.kr/opna/data/dataView.do?objtId=178</a:t>
            </a:r>
          </a:p>
          <a:p>
            <a:endParaRPr lang="en-US" altLang="ko-KR" sz="1800" dirty="0"/>
          </a:p>
          <a:p>
            <a:r>
              <a:rPr lang="en-US" altLang="ko-KR" sz="1800" dirty="0" err="1"/>
              <a:t>Kosis</a:t>
            </a:r>
            <a:r>
              <a:rPr lang="en-US" altLang="ko-KR" sz="1800" dirty="0"/>
              <a:t> API(</a:t>
            </a:r>
            <a:r>
              <a:rPr lang="ko-KR" altLang="en-US" sz="1800" dirty="0"/>
              <a:t>고용노동통계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dirty="0"/>
              <a:t>https://laborstat.moel.go.kr/hmp/tblInfo/TblInfoList.do?menuId=0010001100101102&amp;leftMenuId=0010001100101&amp;vwCdVal=MT_PTITLE&amp;upListVal=118_905</a:t>
            </a:r>
          </a:p>
          <a:p>
            <a:endParaRPr lang="en-US" altLang="ko-KR" sz="1800" dirty="0"/>
          </a:p>
          <a:p>
            <a:r>
              <a:rPr lang="ko-KR" altLang="en-US" sz="1800" dirty="0"/>
              <a:t>산재지정병원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https://www.safemap.go.kr/</a:t>
            </a:r>
          </a:p>
        </p:txBody>
      </p:sp>
    </p:spTree>
    <p:extLst>
      <p:ext uri="{BB962C8B-B14F-4D97-AF65-F5344CB8AC3E}">
        <p14:creationId xmlns:p14="http://schemas.microsoft.com/office/powerpoint/2010/main" val="34163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C647-197F-472C-8D93-CE75798E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2527-23FB-4DE3-B932-CAEAC3F5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산재뉴스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2"/>
              </a:rPr>
              <a:t>http://sanjaenews.co.kr/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산업안전포털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https://portal.kosha.or.kr/archive/cent-archive/indust-arch/indust-page1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산재지정 의료기관 찾기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https://www.comwel.or.kr/comwel/medi/orsc.jsp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2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8745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3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72296"/>
              </p:ext>
            </p:extLst>
          </p:nvPr>
        </p:nvGraphicFramePr>
        <p:xfrm>
          <a:off x="351394" y="2687320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4192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42645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aphicFrame>
        <p:nvGraphicFramePr>
          <p:cNvPr id="3" name="표 57">
            <a:extLst>
              <a:ext uri="{FF2B5EF4-FFF2-40B4-BE49-F238E27FC236}">
                <a16:creationId xmlns:a16="http://schemas.microsoft.com/office/drawing/2014/main" id="{259FD06B-23EF-0599-4590-327A5C86C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54310"/>
              </p:ext>
            </p:extLst>
          </p:nvPr>
        </p:nvGraphicFramePr>
        <p:xfrm>
          <a:off x="238125" y="3002942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6320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680237"/>
              </p:ext>
            </p:extLst>
          </p:nvPr>
        </p:nvGraphicFramePr>
        <p:xfrm>
          <a:off x="8603672" y="1180080"/>
          <a:ext cx="3588327" cy="5927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61848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8527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8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8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1518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(21~23)3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년의 정보를 가져온다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 현황 분석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업종별 재해 현황 분석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재해현황 분석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88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</a:t>
            </a:r>
            <a:r>
              <a:rPr lang="en-US" altLang="ko-KR" dirty="0"/>
              <a:t>30</a:t>
            </a:r>
            <a:r>
              <a:rPr lang="ko-KR" altLang="en-US" dirty="0"/>
              <a:t>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</a:t>
            </a:r>
            <a:r>
              <a:rPr lang="en-US" altLang="ko-KR" dirty="0"/>
              <a:t>40</a:t>
            </a:r>
            <a:r>
              <a:rPr lang="ko-KR" altLang="en-US" dirty="0"/>
              <a:t>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</a:t>
            </a:r>
            <a:r>
              <a:rPr lang="en-US" altLang="ko-KR" dirty="0"/>
              <a:t>10</a:t>
            </a:r>
            <a:r>
              <a:rPr lang="ko-KR" altLang="en-US" dirty="0"/>
              <a:t>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F29B-5EAE-4EF4-B67A-285B6D13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9992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891987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70155"/>
              </p:ext>
            </p:extLst>
          </p:nvPr>
        </p:nvGraphicFramePr>
        <p:xfrm>
          <a:off x="8603672" y="1180080"/>
          <a:ext cx="3588327" cy="6205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문제점 제기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산재지정병원 탐색 필요성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공공 데이터들이 흩어져 있어서 일반인이 한눈에 보기 쉽지 않음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D7493-845A-5A34-EDD4-CE1F2AE0D169}"/>
              </a:ext>
            </a:extLst>
          </p:cNvPr>
          <p:cNvSpPr txBox="1"/>
          <p:nvPr/>
        </p:nvSpPr>
        <p:spPr>
          <a:xfrm>
            <a:off x="1988709" y="3199895"/>
            <a:ext cx="510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/>
              <a:t>“</a:t>
            </a:r>
            <a:r>
              <a:rPr lang="ko-KR" altLang="en-US" sz="1200" i="1" dirty="0"/>
              <a:t>상단 히어로 메시지</a:t>
            </a:r>
            <a:r>
              <a:rPr lang="en-US" altLang="ko-KR" i="1" dirty="0"/>
              <a:t>”</a:t>
            </a:r>
            <a:endParaRPr lang="ko-KR" alt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988709" y="3880539"/>
            <a:ext cx="1778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문제점 제기 및 필요성</a:t>
            </a:r>
            <a:r>
              <a:rPr lang="en-US" altLang="ko-KR" sz="1200" dirty="0"/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F22088-3EF5-3EE3-1326-11B0FAA08CB0}"/>
              </a:ext>
            </a:extLst>
          </p:cNvPr>
          <p:cNvSpPr/>
          <p:nvPr/>
        </p:nvSpPr>
        <p:spPr>
          <a:xfrm>
            <a:off x="218122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AF7D5B-2D91-E6F2-9869-197009B5EB1A}"/>
              </a:ext>
            </a:extLst>
          </p:cNvPr>
          <p:cNvSpPr/>
          <p:nvPr/>
        </p:nvSpPr>
        <p:spPr>
          <a:xfrm>
            <a:off x="556760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F4B62-0D36-B8F2-7937-ECF51238964A}"/>
              </a:ext>
            </a:extLst>
          </p:cNvPr>
          <p:cNvSpPr/>
          <p:nvPr/>
        </p:nvSpPr>
        <p:spPr>
          <a:xfrm>
            <a:off x="387441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5AF1F-57ED-D7D1-E81A-F464B44AF0CE}"/>
              </a:ext>
            </a:extLst>
          </p:cNvPr>
          <p:cNvSpPr txBox="1"/>
          <p:nvPr/>
        </p:nvSpPr>
        <p:spPr>
          <a:xfrm>
            <a:off x="6800689" y="3019927"/>
            <a:ext cx="79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상단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9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35105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28790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그룹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텍스트로  사용자 그룹 표현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사용자의 니즈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서비스의 핵심 가치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정도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846640" y="2975301"/>
            <a:ext cx="146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사용자 그룹</a:t>
            </a:r>
            <a:r>
              <a:rPr lang="en-US" altLang="ko-KR" sz="1200" dirty="0"/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DECF4B-FB88-DEAA-6A8B-93CB7F31512A}"/>
              </a:ext>
            </a:extLst>
          </p:cNvPr>
          <p:cNvGrpSpPr/>
          <p:nvPr/>
        </p:nvGrpSpPr>
        <p:grpSpPr>
          <a:xfrm>
            <a:off x="2228526" y="3349810"/>
            <a:ext cx="1270004" cy="1561764"/>
            <a:chOff x="2453042" y="4143237"/>
            <a:chExt cx="1142809" cy="12579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4A3C1B-CB6D-902D-61AB-E3D84E668A8C}"/>
                </a:ext>
              </a:extLst>
            </p:cNvPr>
            <p:cNvSpPr/>
            <p:nvPr/>
          </p:nvSpPr>
          <p:spPr>
            <a:xfrm>
              <a:off x="2453042" y="4143237"/>
              <a:ext cx="1142809" cy="1257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852921-ABFD-1500-4C8B-86236D7D141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94DBB3-A2FA-694A-E55D-1D7E895863CE}"/>
                </a:ext>
              </a:extLst>
            </p:cNvPr>
            <p:cNvSpPr txBox="1"/>
            <p:nvPr/>
          </p:nvSpPr>
          <p:spPr>
            <a:xfrm>
              <a:off x="2557444" y="5091946"/>
              <a:ext cx="970977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현장근로자</a:t>
              </a:r>
              <a:endParaRPr lang="en-US" altLang="ko-KR" sz="1100" dirty="0"/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983DAD-3034-4CDC-6075-1BF5E00A8FD3}"/>
              </a:ext>
            </a:extLst>
          </p:cNvPr>
          <p:cNvGrpSpPr/>
          <p:nvPr/>
        </p:nvGrpSpPr>
        <p:grpSpPr>
          <a:xfrm>
            <a:off x="3913271" y="3351047"/>
            <a:ext cx="1270004" cy="1623403"/>
            <a:chOff x="2453042" y="4143237"/>
            <a:chExt cx="1142809" cy="13075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AE64E4-B5BF-9505-2D48-5B00168AD965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538D15-5F67-CE89-A2FC-C577E0707A2F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A37EF5-1FBC-5CCD-3402-BA6F61693D57}"/>
                </a:ext>
              </a:extLst>
            </p:cNvPr>
            <p:cNvSpPr txBox="1"/>
            <p:nvPr/>
          </p:nvSpPr>
          <p:spPr>
            <a:xfrm>
              <a:off x="2534858" y="5103759"/>
              <a:ext cx="979176" cy="34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안전관리자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851BE6-984C-7E75-0DB1-F574A5BA5BA3}"/>
              </a:ext>
            </a:extLst>
          </p:cNvPr>
          <p:cNvGrpSpPr/>
          <p:nvPr/>
        </p:nvGrpSpPr>
        <p:grpSpPr>
          <a:xfrm>
            <a:off x="5554990" y="3342670"/>
            <a:ext cx="1270004" cy="1568904"/>
            <a:chOff x="2453042" y="4143237"/>
            <a:chExt cx="1142809" cy="126368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CFB9AE-4FE9-24D5-F6B7-B22C4C3CDEB0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F61FD0-8806-9B42-DFFA-B60D84A9F1E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20C170-914A-89E9-A17D-EE72489AEFC0}"/>
                </a:ext>
              </a:extLst>
            </p:cNvPr>
            <p:cNvSpPr txBox="1"/>
            <p:nvPr/>
          </p:nvSpPr>
          <p:spPr>
            <a:xfrm>
              <a:off x="2564152" y="5107422"/>
              <a:ext cx="979176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기업운영자</a:t>
              </a:r>
              <a:r>
                <a:rPr lang="en-US" altLang="ko-KR" sz="1100" dirty="0"/>
                <a:t>?</a:t>
              </a:r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9302BC-7211-14E0-CA44-1E4AF9F0B064}"/>
              </a:ext>
            </a:extLst>
          </p:cNvPr>
          <p:cNvSpPr/>
          <p:nvPr/>
        </p:nvSpPr>
        <p:spPr>
          <a:xfrm>
            <a:off x="1996746" y="5184180"/>
            <a:ext cx="5205333" cy="98747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592F9-C3C7-42DA-774D-06C88220C778}"/>
              </a:ext>
            </a:extLst>
          </p:cNvPr>
          <p:cNvSpPr txBox="1"/>
          <p:nvPr/>
        </p:nvSpPr>
        <p:spPr>
          <a:xfrm>
            <a:off x="2100691" y="5317363"/>
            <a:ext cx="1602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서비스 핵심 가치</a:t>
            </a:r>
            <a:r>
              <a:rPr lang="en-US" altLang="ko-KR" sz="1000" dirty="0"/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83D8C6-83FE-24F7-6D7F-124FE29DCFD2}"/>
              </a:ext>
            </a:extLst>
          </p:cNvPr>
          <p:cNvSpPr/>
          <p:nvPr/>
        </p:nvSpPr>
        <p:spPr>
          <a:xfrm>
            <a:off x="1901204" y="514457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132277" y="321269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919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5334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5279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주요 기능 목록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글머리 기호로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맞춤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산재찾기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산재통계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8001-D440-132C-BBFD-C6770682E9A4}"/>
              </a:ext>
            </a:extLst>
          </p:cNvPr>
          <p:cNvSpPr txBox="1"/>
          <p:nvPr/>
        </p:nvSpPr>
        <p:spPr>
          <a:xfrm>
            <a:off x="1887074" y="3057146"/>
            <a:ext cx="447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맞춤 통계 분석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안전교육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병원</a:t>
            </a:r>
            <a:r>
              <a:rPr lang="en-US" altLang="ko-KR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주변 산재 찾기까지</a:t>
            </a:r>
            <a:br>
              <a:rPr lang="ko-KR" altLang="en-US" sz="1000" dirty="0"/>
            </a:b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산업재해 예방과 대응을 한 번에 지원하는 주요 기능 영역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F95A50-882B-0024-7961-2C5C3B8C7332}"/>
              </a:ext>
            </a:extLst>
          </p:cNvPr>
          <p:cNvSpPr/>
          <p:nvPr/>
        </p:nvSpPr>
        <p:spPr>
          <a:xfrm>
            <a:off x="1953269" y="3603421"/>
            <a:ext cx="5182821" cy="2344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기능 목록</a:t>
            </a:r>
          </a:p>
        </p:txBody>
      </p:sp>
    </p:spTree>
    <p:extLst>
      <p:ext uri="{BB962C8B-B14F-4D97-AF65-F5344CB8AC3E}">
        <p14:creationId xmlns:p14="http://schemas.microsoft.com/office/powerpoint/2010/main" val="68701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90921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162480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OAuth2.0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사용하여 소셜 로그인 처리 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회원정보 입력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611973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615439"/>
              </p:ext>
            </p:extLst>
          </p:nvPr>
        </p:nvGraphicFramePr>
        <p:xfrm>
          <a:off x="8603672" y="1180081"/>
          <a:ext cx="3588327" cy="5692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5789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122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58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검증이 끝난 후 회원 정보 입력 페이지로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이때 아이디와 비밀번호를 세션에 임시 저장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13DA3-6237-4279-A332-3E0C49F859F5}"/>
              </a:ext>
            </a:extLst>
          </p:cNvPr>
          <p:cNvSpPr/>
          <p:nvPr/>
        </p:nvSpPr>
        <p:spPr>
          <a:xfrm>
            <a:off x="2882815" y="5184304"/>
            <a:ext cx="1727023" cy="305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9978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회원정보 입력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68967"/>
              </p:ext>
            </p:extLst>
          </p:nvPr>
        </p:nvGraphicFramePr>
        <p:xfrm>
          <a:off x="8603672" y="1180084"/>
          <a:ext cx="3588327" cy="567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생년월일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가입하기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가입처리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주소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주소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876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생년월일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생년월일은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C10335B-097D-474A-B788-09D54C8D91DB}"/>
              </a:ext>
            </a:extLst>
          </p:cNvPr>
          <p:cNvSpPr/>
          <p:nvPr/>
        </p:nvSpPr>
        <p:spPr>
          <a:xfrm>
            <a:off x="4396994" y="5806901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51815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4513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147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페이지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비밀번호를 한번 더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입력받아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강화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1833"/>
              </p:ext>
            </p:extLst>
          </p:nvPr>
        </p:nvGraphicFramePr>
        <p:xfrm>
          <a:off x="150407" y="25666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회원정보수정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5F475-DADC-4201-8502-4CE1E0F30F2C}"/>
              </a:ext>
            </a:extLst>
          </p:cNvPr>
          <p:cNvSpPr/>
          <p:nvPr/>
        </p:nvSpPr>
        <p:spPr>
          <a:xfrm>
            <a:off x="0" y="2252284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771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476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정보 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922120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3640568" y="439114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비밀번호를 입력해 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615044" y="3939706"/>
            <a:ext cx="1170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비밀번호 입력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2607649" y="4365210"/>
            <a:ext cx="792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C185-7B11-49F8-87A9-C10087A26C10}"/>
              </a:ext>
            </a:extLst>
          </p:cNvPr>
          <p:cNvSpPr txBox="1"/>
          <p:nvPr/>
        </p:nvSpPr>
        <p:spPr>
          <a:xfrm>
            <a:off x="1913021" y="2953753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개인정보보호를 위하여 비밀번호 확인 후 회원정보의 관리</a:t>
            </a:r>
            <a:r>
              <a:rPr lang="en-US" altLang="ko-KR" sz="1000" dirty="0"/>
              <a:t>/</a:t>
            </a:r>
            <a:r>
              <a:rPr lang="ko-KR" altLang="en-US" sz="1000" dirty="0"/>
              <a:t>변경이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2C969-2945-4717-B0D6-64CE71C017A1}"/>
              </a:ext>
            </a:extLst>
          </p:cNvPr>
          <p:cNvSpPr txBox="1"/>
          <p:nvPr/>
        </p:nvSpPr>
        <p:spPr>
          <a:xfrm>
            <a:off x="1913021" y="3221010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아래 비밀번호 입력란에 비밀번호 입력 후 </a:t>
            </a:r>
            <a:r>
              <a:rPr lang="en-US" altLang="ko-KR" sz="1000" dirty="0"/>
              <a:t>“</a:t>
            </a:r>
            <a:r>
              <a:rPr lang="ko-KR" altLang="en-US" sz="1000" dirty="0"/>
              <a:t>비밀번호 확인</a:t>
            </a:r>
            <a:r>
              <a:rPr lang="en-US" altLang="ko-KR" sz="1000" dirty="0"/>
              <a:t>＂</a:t>
            </a:r>
            <a:r>
              <a:rPr lang="ko-KR" altLang="en-US" sz="1000" dirty="0"/>
              <a:t>을 클릭하세요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4908E-5715-42CA-870E-90E87CB5F8C5}"/>
              </a:ext>
            </a:extLst>
          </p:cNvPr>
          <p:cNvSpPr/>
          <p:nvPr/>
        </p:nvSpPr>
        <p:spPr>
          <a:xfrm>
            <a:off x="3525253" y="5143500"/>
            <a:ext cx="1822784" cy="388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확인</a:t>
            </a:r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7203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603022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 및 변경 폼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변경하기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8F802F4-A8C9-4B4E-B6F6-E38022758E7F}"/>
              </a:ext>
            </a:extLst>
          </p:cNvPr>
          <p:cNvSpPr/>
          <p:nvPr/>
        </p:nvSpPr>
        <p:spPr>
          <a:xfrm>
            <a:off x="2541016" y="27565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사람이름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75A5D-4200-4BAE-95E9-064E79E8C195}"/>
              </a:ext>
            </a:extLst>
          </p:cNvPr>
          <p:cNvSpPr txBox="1"/>
          <p:nvPr/>
        </p:nvSpPr>
        <p:spPr>
          <a:xfrm>
            <a:off x="1648658" y="1950007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4D44AB-C61A-4C49-AAB8-AEC430108C8D}"/>
              </a:ext>
            </a:extLst>
          </p:cNvPr>
          <p:cNvSpPr/>
          <p:nvPr/>
        </p:nvSpPr>
        <p:spPr>
          <a:xfrm>
            <a:off x="2535543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주소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12600E-7909-45A3-BC19-16A48B258D6B}"/>
              </a:ext>
            </a:extLst>
          </p:cNvPr>
          <p:cNvSpPr/>
          <p:nvPr/>
        </p:nvSpPr>
        <p:spPr>
          <a:xfrm>
            <a:off x="2535542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없이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r>
              <a:rPr lang="ko-KR" altLang="en-US" sz="1200" dirty="0">
                <a:solidFill>
                  <a:schemeClr val="tx1"/>
                </a:solidFill>
              </a:rPr>
              <a:t>자리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ACD65-A086-40B6-B9D2-F7A2D0BF801C}"/>
              </a:ext>
            </a:extLst>
          </p:cNvPr>
          <p:cNvSpPr txBox="1"/>
          <p:nvPr/>
        </p:nvSpPr>
        <p:spPr>
          <a:xfrm>
            <a:off x="1659237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3A32F4-231E-4B8C-A983-320F8AF9B482}"/>
              </a:ext>
            </a:extLst>
          </p:cNvPr>
          <p:cNvSpPr txBox="1"/>
          <p:nvPr/>
        </p:nvSpPr>
        <p:spPr>
          <a:xfrm>
            <a:off x="1648659" y="37351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0D253-0578-41DC-9742-6E40188DAED4}"/>
              </a:ext>
            </a:extLst>
          </p:cNvPr>
          <p:cNvSpPr txBox="1"/>
          <p:nvPr/>
        </p:nvSpPr>
        <p:spPr>
          <a:xfrm>
            <a:off x="1679460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9B0FE0B-4CBA-4999-9829-C64C832A97DD}"/>
              </a:ext>
            </a:extLst>
          </p:cNvPr>
          <p:cNvSpPr/>
          <p:nvPr/>
        </p:nvSpPr>
        <p:spPr>
          <a:xfrm>
            <a:off x="5391859" y="27526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생년월일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263F7DC-4037-47D8-803C-BD6E4F72BF65}"/>
              </a:ext>
            </a:extLst>
          </p:cNvPr>
          <p:cNvSpPr/>
          <p:nvPr/>
        </p:nvSpPr>
        <p:spPr>
          <a:xfrm>
            <a:off x="5392002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주소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9848021-6995-4E33-B4F0-8C890A8EED4C}"/>
              </a:ext>
            </a:extLst>
          </p:cNvPr>
          <p:cNvSpPr/>
          <p:nvPr/>
        </p:nvSpPr>
        <p:spPr>
          <a:xfrm>
            <a:off x="5392001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A2CE04-5E42-4A75-B15F-BB0CB8B9C88F}"/>
              </a:ext>
            </a:extLst>
          </p:cNvPr>
          <p:cNvSpPr txBox="1"/>
          <p:nvPr/>
        </p:nvSpPr>
        <p:spPr>
          <a:xfrm>
            <a:off x="4515695" y="2730638"/>
            <a:ext cx="9476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생년월일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3477B-25B0-492E-A4F0-2E99191FE305}"/>
              </a:ext>
            </a:extLst>
          </p:cNvPr>
          <p:cNvSpPr txBox="1"/>
          <p:nvPr/>
        </p:nvSpPr>
        <p:spPr>
          <a:xfrm>
            <a:off x="4505117" y="37351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195720-E57A-4D2B-9C72-0371BA12B92C}"/>
              </a:ext>
            </a:extLst>
          </p:cNvPr>
          <p:cNvSpPr txBox="1"/>
          <p:nvPr/>
        </p:nvSpPr>
        <p:spPr>
          <a:xfrm>
            <a:off x="4535919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3517B5-F8CB-42E3-B1E8-C461ED0DFE6C}"/>
              </a:ext>
            </a:extLst>
          </p:cNvPr>
          <p:cNvSpPr txBox="1"/>
          <p:nvPr/>
        </p:nvSpPr>
        <p:spPr>
          <a:xfrm>
            <a:off x="2486723" y="29978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8607E8-FF34-42C8-A626-3FBFEBECB100}"/>
              </a:ext>
            </a:extLst>
          </p:cNvPr>
          <p:cNvSpPr txBox="1"/>
          <p:nvPr/>
        </p:nvSpPr>
        <p:spPr>
          <a:xfrm>
            <a:off x="2517525" y="40177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81BE78-3DCF-4D39-BF29-C0F4B4FDEABF}"/>
              </a:ext>
            </a:extLst>
          </p:cNvPr>
          <p:cNvSpPr txBox="1"/>
          <p:nvPr/>
        </p:nvSpPr>
        <p:spPr>
          <a:xfrm>
            <a:off x="5323057" y="40142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ED9DA0B-D090-4CE0-8E66-A657DBA4D894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1E2AB2-B455-417D-8006-466B8E6C37A8}"/>
              </a:ext>
            </a:extLst>
          </p:cNvPr>
          <p:cNvSpPr txBox="1"/>
          <p:nvPr/>
        </p:nvSpPr>
        <p:spPr>
          <a:xfrm>
            <a:off x="6404146" y="507788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0F7B02-E565-4C23-B4BA-CB85E1D72D96}"/>
              </a:ext>
            </a:extLst>
          </p:cNvPr>
          <p:cNvSpPr txBox="1"/>
          <p:nvPr/>
        </p:nvSpPr>
        <p:spPr>
          <a:xfrm>
            <a:off x="4590065" y="511338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73" name="원형: 비어 있음 72">
            <a:extLst>
              <a:ext uri="{FF2B5EF4-FFF2-40B4-BE49-F238E27FC236}">
                <a16:creationId xmlns:a16="http://schemas.microsoft.com/office/drawing/2014/main" id="{D8A32403-414B-4CF2-8589-5B5412E403E7}"/>
              </a:ext>
            </a:extLst>
          </p:cNvPr>
          <p:cNvSpPr/>
          <p:nvPr/>
        </p:nvSpPr>
        <p:spPr>
          <a:xfrm>
            <a:off x="5793505" y="520199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원형: 비어 있음 73">
            <a:extLst>
              <a:ext uri="{FF2B5EF4-FFF2-40B4-BE49-F238E27FC236}">
                <a16:creationId xmlns:a16="http://schemas.microsoft.com/office/drawing/2014/main" id="{AD71D93F-603C-4BED-9603-9BB8F823C409}"/>
              </a:ext>
            </a:extLst>
          </p:cNvPr>
          <p:cNvSpPr/>
          <p:nvPr/>
        </p:nvSpPr>
        <p:spPr>
          <a:xfrm>
            <a:off x="6785710" y="520432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634AEE-7053-4544-B6DB-11130347E3C9}"/>
              </a:ext>
            </a:extLst>
          </p:cNvPr>
          <p:cNvSpPr txBox="1"/>
          <p:nvPr/>
        </p:nvSpPr>
        <p:spPr>
          <a:xfrm>
            <a:off x="5399960" y="507788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A7636D3-9752-4D85-B0CF-4E4C8618F4C9}"/>
              </a:ext>
            </a:extLst>
          </p:cNvPr>
          <p:cNvSpPr/>
          <p:nvPr/>
        </p:nvSpPr>
        <p:spPr>
          <a:xfrm>
            <a:off x="2548343" y="231300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37B149-9DD5-4C48-842D-F358323A7C73}"/>
              </a:ext>
            </a:extLst>
          </p:cNvPr>
          <p:cNvSpPr txBox="1"/>
          <p:nvPr/>
        </p:nvSpPr>
        <p:spPr>
          <a:xfrm>
            <a:off x="1666563" y="2287068"/>
            <a:ext cx="76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99B1A-FE19-458A-9F00-F2B42D180A87}"/>
              </a:ext>
            </a:extLst>
          </p:cNvPr>
          <p:cNvSpPr/>
          <p:nvPr/>
        </p:nvSpPr>
        <p:spPr>
          <a:xfrm>
            <a:off x="2163029" y="5677920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변경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5EF232-B36C-4D27-B422-714DD6C035A0}"/>
              </a:ext>
            </a:extLst>
          </p:cNvPr>
          <p:cNvSpPr/>
          <p:nvPr/>
        </p:nvSpPr>
        <p:spPr>
          <a:xfrm>
            <a:off x="4363947" y="5678481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E7A3B-08CE-4AE7-B7E4-E56C5D640F9E}"/>
              </a:ext>
            </a:extLst>
          </p:cNvPr>
          <p:cNvSpPr txBox="1"/>
          <p:nvPr/>
        </p:nvSpPr>
        <p:spPr>
          <a:xfrm>
            <a:off x="5323057" y="298688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생년월일은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4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3032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360950"/>
              </p:ext>
            </p:extLst>
          </p:nvPr>
        </p:nvGraphicFramePr>
        <p:xfrm>
          <a:off x="8603672" y="1180083"/>
          <a:ext cx="3588327" cy="569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3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354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929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정보가져와서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 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기능으로 삭제 여부 결정하기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669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리스트에서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된 목록 삭제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1825777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1675370" y="544195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1DF89397-2A0C-41C5-BF63-94BFCC09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81391"/>
              </p:ext>
            </p:extLst>
          </p:nvPr>
        </p:nvGraphicFramePr>
        <p:xfrm>
          <a:off x="1675370" y="3183933"/>
          <a:ext cx="5495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80">
                  <a:extLst>
                    <a:ext uri="{9D8B030D-6E8A-4147-A177-3AD203B41FA5}">
                      <a16:colId xmlns:a16="http://schemas.microsoft.com/office/drawing/2014/main" val="3149353794"/>
                    </a:ext>
                  </a:extLst>
                </a:gridCol>
                <a:gridCol w="471520">
                  <a:extLst>
                    <a:ext uri="{9D8B030D-6E8A-4147-A177-3AD203B41FA5}">
                      <a16:colId xmlns:a16="http://schemas.microsoft.com/office/drawing/2014/main" val="3974470729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68747978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840738960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032703914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30516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재해일자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질병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5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2024-12-30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진폐증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3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2024-09-30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2024-07-30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찢어짐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9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2024-04-30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6614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BA8D50-D7BE-4102-83D8-ABFD0740C103}"/>
              </a:ext>
            </a:extLst>
          </p:cNvPr>
          <p:cNvSpPr/>
          <p:nvPr/>
        </p:nvSpPr>
        <p:spPr>
          <a:xfrm>
            <a:off x="4455939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삭제하기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1216A5-DF98-4A5F-9688-B1DBF163D13A}"/>
              </a:ext>
            </a:extLst>
          </p:cNvPr>
          <p:cNvSpPr/>
          <p:nvPr/>
        </p:nvSpPr>
        <p:spPr>
          <a:xfrm>
            <a:off x="2652028" y="5211266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4136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867898"/>
              </p:ext>
            </p:extLst>
          </p:nvPr>
        </p:nvGraphicFramePr>
        <p:xfrm>
          <a:off x="8603672" y="1180083"/>
          <a:ext cx="3588327" cy="623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2704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46712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3540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제조업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건설업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따라 바뀜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석탄광업 및 채석업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석회석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금속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비금속광업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기타광업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모두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질병 텍스트가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disable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 되고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발생형태 텍스트가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disable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 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모두를 선택시에는 둘 다 입력해야 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다음주소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34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81462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1528194" y="468716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발생형태  카테고리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(select)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1472235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발생형태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814626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FE5CA5-578B-425C-A594-811BFD7A077D}"/>
              </a:ext>
            </a:extLst>
          </p:cNvPr>
          <p:cNvSpPr/>
          <p:nvPr/>
        </p:nvSpPr>
        <p:spPr>
          <a:xfrm>
            <a:off x="2281543" y="331696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8ADDEF-1924-41EE-9977-5C53768B90A0}"/>
              </a:ext>
            </a:extLst>
          </p:cNvPr>
          <p:cNvSpPr/>
          <p:nvPr/>
        </p:nvSpPr>
        <p:spPr>
          <a:xfrm>
            <a:off x="5137859" y="332318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C7CF6-8420-40A9-91B6-9B154B5B42EA}"/>
              </a:ext>
            </a:extLst>
          </p:cNvPr>
          <p:cNvSpPr txBox="1"/>
          <p:nvPr/>
        </p:nvSpPr>
        <p:spPr>
          <a:xfrm>
            <a:off x="4319864" y="330231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중분류</a:t>
            </a:r>
            <a:r>
              <a:rPr lang="en-US" altLang="ko-KR" sz="1000" dirty="0"/>
              <a:t>2 :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9152C-C274-4842-B44E-91F10111CA5D}"/>
              </a:ext>
            </a:extLst>
          </p:cNvPr>
          <p:cNvSpPr txBox="1"/>
          <p:nvPr/>
        </p:nvSpPr>
        <p:spPr>
          <a:xfrm>
            <a:off x="1351916" y="331696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중분류</a:t>
            </a:r>
            <a:r>
              <a:rPr lang="en-US" altLang="ko-KR" sz="1000" dirty="0"/>
              <a:t>1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CEE9-71E0-4C35-9A1C-5D190BF390B2}"/>
              </a:ext>
            </a:extLst>
          </p:cNvPr>
          <p:cNvSpPr txBox="1"/>
          <p:nvPr/>
        </p:nvSpPr>
        <p:spPr>
          <a:xfrm>
            <a:off x="2778671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질병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E5A9285-C8BC-4B5C-ACB6-FD7FBE5B1562}"/>
              </a:ext>
            </a:extLst>
          </p:cNvPr>
          <p:cNvSpPr/>
          <p:nvPr/>
        </p:nvSpPr>
        <p:spPr>
          <a:xfrm>
            <a:off x="2281543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B13C94-89F5-452E-A5F5-A9A3573347FE}"/>
              </a:ext>
            </a:extLst>
          </p:cNvPr>
          <p:cNvSpPr/>
          <p:nvPr/>
        </p:nvSpPr>
        <p:spPr>
          <a:xfrm>
            <a:off x="3323359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AFBE759-03EC-4886-A843-EA52EECC313E}"/>
              </a:ext>
            </a:extLst>
          </p:cNvPr>
          <p:cNvSpPr/>
          <p:nvPr/>
        </p:nvSpPr>
        <p:spPr>
          <a:xfrm>
            <a:off x="5157300" y="381462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F9FB7-303C-4A87-ADF1-B3C74B31FBA7}"/>
              </a:ext>
            </a:extLst>
          </p:cNvPr>
          <p:cNvSpPr txBox="1"/>
          <p:nvPr/>
        </p:nvSpPr>
        <p:spPr>
          <a:xfrm>
            <a:off x="4319864" y="3785320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발생주소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74D1D3-04FB-44D7-9B5D-07DCB85EF524}"/>
              </a:ext>
            </a:extLst>
          </p:cNvPr>
          <p:cNvSpPr txBox="1"/>
          <p:nvPr/>
        </p:nvSpPr>
        <p:spPr>
          <a:xfrm>
            <a:off x="3772490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모두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2E5DAE2-EA55-47D3-BF46-1B80185F281B}"/>
              </a:ext>
            </a:extLst>
          </p:cNvPr>
          <p:cNvSpPr/>
          <p:nvPr/>
        </p:nvSpPr>
        <p:spPr>
          <a:xfrm>
            <a:off x="4317178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83B684B-0E6A-4EDB-A38B-D6C2CDECB9CA}"/>
              </a:ext>
            </a:extLst>
          </p:cNvPr>
          <p:cNvSpPr/>
          <p:nvPr/>
        </p:nvSpPr>
        <p:spPr>
          <a:xfrm>
            <a:off x="1528193" y="5093554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질병형태 카테고리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(select) 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</a:endParaRPr>
          </a:p>
          <a:p>
            <a:endParaRPr lang="ko-KR" altLang="en-US" sz="1200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B15B32D-1D50-4498-82C5-447EFD06662F}"/>
              </a:ext>
            </a:extLst>
          </p:cNvPr>
          <p:cNvSpPr/>
          <p:nvPr/>
        </p:nvSpPr>
        <p:spPr>
          <a:xfrm>
            <a:off x="2281543" y="29906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CC3E69-3BD3-41C2-A50A-66D37AAE957D}"/>
              </a:ext>
            </a:extLst>
          </p:cNvPr>
          <p:cNvSpPr txBox="1"/>
          <p:nvPr/>
        </p:nvSpPr>
        <p:spPr>
          <a:xfrm>
            <a:off x="1351916" y="299068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 별칭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5385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60C0-231F-48B5-97C7-6C5EC2D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뉴스</a:t>
            </a:r>
          </a:p>
        </p:txBody>
      </p:sp>
    </p:spTree>
    <p:extLst>
      <p:ext uri="{BB962C8B-B14F-4D97-AF65-F5344CB8AC3E}">
        <p14:creationId xmlns:p14="http://schemas.microsoft.com/office/powerpoint/2010/main" val="3304940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1386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89154"/>
              </p:ext>
            </p:extLst>
          </p:nvPr>
        </p:nvGraphicFramePr>
        <p:xfrm>
          <a:off x="8603672" y="1180080"/>
          <a:ext cx="3588327" cy="6149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원본 뉴스 링크를 타고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간단 내용은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LLM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비동기로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684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421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689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3174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180602"/>
              </p:ext>
            </p:extLst>
          </p:nvPr>
        </p:nvGraphicFramePr>
        <p:xfrm>
          <a:off x="8603672" y="1180081"/>
          <a:ext cx="3588327" cy="5316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910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산재리스트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 Join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해서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 프로필 명시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정보선택을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클릭할때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산재 닉네임을 선택 시 산재 정보 표시하고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분석기간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관련 통계 집계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 기간에 따른 통계 자료 변경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(Button)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128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198513" y="2008787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4757392" y="2745007"/>
            <a:ext cx="275130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C2A0EA-B3AE-AEC2-CE98-2376622D571B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A71B6-598E-4F09-AF55-AECC68AE0278}"/>
              </a:ext>
            </a:extLst>
          </p:cNvPr>
          <p:cNvSpPr txBox="1"/>
          <p:nvPr/>
        </p:nvSpPr>
        <p:spPr>
          <a:xfrm>
            <a:off x="1971492" y="4304949"/>
            <a:ext cx="41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분석을 시작하려면 기간을 선택하세요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22FFAF-E532-0FA7-2D39-ACC91267F496}"/>
              </a:ext>
            </a:extLst>
          </p:cNvPr>
          <p:cNvSpPr/>
          <p:nvPr/>
        </p:nvSpPr>
        <p:spPr>
          <a:xfrm>
            <a:off x="6673212" y="2364788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정보 선택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F51771-E44A-953D-0C91-B6EE8EF0AC9C}"/>
              </a:ext>
            </a:extLst>
          </p:cNvPr>
          <p:cNvSpPr/>
          <p:nvPr/>
        </p:nvSpPr>
        <p:spPr>
          <a:xfrm>
            <a:off x="6502952" y="2244942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AD9B29-D813-20EE-3223-5ABEFF00E57D}"/>
              </a:ext>
            </a:extLst>
          </p:cNvPr>
          <p:cNvSpPr/>
          <p:nvPr/>
        </p:nvSpPr>
        <p:spPr>
          <a:xfrm>
            <a:off x="7014888" y="1324407"/>
            <a:ext cx="1258932" cy="1102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별칭 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별칭 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별칭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…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18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149F63A-B17E-6964-404B-4C602586C571}"/>
              </a:ext>
            </a:extLst>
          </p:cNvPr>
          <p:cNvSpPr/>
          <p:nvPr/>
        </p:nvSpPr>
        <p:spPr>
          <a:xfrm>
            <a:off x="336077" y="3509181"/>
            <a:ext cx="1928120" cy="28555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재해율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재해율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77588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333200"/>
              </p:ext>
            </p:extLst>
          </p:nvPr>
        </p:nvGraphicFramePr>
        <p:xfrm>
          <a:off x="8603672" y="1180081"/>
          <a:ext cx="3588327" cy="5837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(Button)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따른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통계 집계 및  시각화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보면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년도별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통계분석 가능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재해율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재해유형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사망유형 집계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198511" y="3412727"/>
            <a:ext cx="275129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DBE83A-2468-082E-E62C-120CB5D082A9}"/>
              </a:ext>
            </a:extLst>
          </p:cNvPr>
          <p:cNvSpPr/>
          <p:nvPr/>
        </p:nvSpPr>
        <p:spPr>
          <a:xfrm>
            <a:off x="2505517" y="3509182"/>
            <a:ext cx="1793000" cy="28555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사망률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사망률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5AD99E9-1106-2DE1-BFF9-4C62DCC8B6C9}"/>
              </a:ext>
            </a:extLst>
          </p:cNvPr>
          <p:cNvSpPr/>
          <p:nvPr/>
        </p:nvSpPr>
        <p:spPr>
          <a:xfrm>
            <a:off x="4491707" y="3523820"/>
            <a:ext cx="1796876" cy="284088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 재해유형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많이 다친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DF171BC-877A-C50D-B47E-1BB2EA327636}"/>
              </a:ext>
            </a:extLst>
          </p:cNvPr>
          <p:cNvSpPr/>
          <p:nvPr/>
        </p:nvSpPr>
        <p:spPr>
          <a:xfrm>
            <a:off x="6481773" y="3475693"/>
            <a:ext cx="1796877" cy="28408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사망유형 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많은 사망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772986" y="2716711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D0C3FE3-BB76-E61C-C52C-1978DD221B9E}"/>
              </a:ext>
            </a:extLst>
          </p:cNvPr>
          <p:cNvSpPr/>
          <p:nvPr/>
        </p:nvSpPr>
        <p:spPr>
          <a:xfrm>
            <a:off x="6592551" y="2345429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정보 선택 </a:t>
            </a:r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17730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재해현황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사망현황 통계시각화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3182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60F890-669F-145E-F1AB-86374C6FFF03}"/>
              </a:ext>
            </a:extLst>
          </p:cNvPr>
          <p:cNvSpPr/>
          <p:nvPr/>
        </p:nvSpPr>
        <p:spPr>
          <a:xfrm>
            <a:off x="601290" y="1925053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재해현황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5732EC-A2B8-5CCF-ACC4-8F7E33B6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93" y="2573520"/>
            <a:ext cx="2338100" cy="1242049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F467F7-275E-3FE4-8C28-6DD2949F0BFE}"/>
              </a:ext>
            </a:extLst>
          </p:cNvPr>
          <p:cNvSpPr/>
          <p:nvPr/>
        </p:nvSpPr>
        <p:spPr>
          <a:xfrm>
            <a:off x="601290" y="4421581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재해현황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D3B6F6C-DBD0-3EE0-9D60-F3C8754C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7" y="4852650"/>
            <a:ext cx="2195876" cy="183465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2D8FF1-B3A6-1ECF-1047-EDD5F84F7381}"/>
              </a:ext>
            </a:extLst>
          </p:cNvPr>
          <p:cNvSpPr/>
          <p:nvPr/>
        </p:nvSpPr>
        <p:spPr>
          <a:xfrm>
            <a:off x="4315038" y="1906408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사망현황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B2379D-2EB6-62F2-EC95-F0361605E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41" y="2554875"/>
            <a:ext cx="2338100" cy="1242049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FBF0404-5DE0-6178-4EA1-4771A8B3DC3C}"/>
              </a:ext>
            </a:extLst>
          </p:cNvPr>
          <p:cNvSpPr/>
          <p:nvPr/>
        </p:nvSpPr>
        <p:spPr>
          <a:xfrm>
            <a:off x="4315038" y="4402936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사망현황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5887E02-21D3-33DE-39B0-7D58D1DB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415" y="4834005"/>
            <a:ext cx="2195876" cy="183465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A2AB29-B621-CDC6-6FB2-22A3310C4393}"/>
              </a:ext>
            </a:extLst>
          </p:cNvPr>
          <p:cNvSpPr/>
          <p:nvPr/>
        </p:nvSpPr>
        <p:spPr>
          <a:xfrm>
            <a:off x="408031" y="190104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DA271-47A7-3329-18DD-F342DDEB1819}"/>
              </a:ext>
            </a:extLst>
          </p:cNvPr>
          <p:cNvSpPr/>
          <p:nvPr/>
        </p:nvSpPr>
        <p:spPr>
          <a:xfrm>
            <a:off x="463725" y="4343400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3499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04258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547457" y="2394792"/>
            <a:ext cx="350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 </a:t>
            </a:r>
            <a:r>
              <a:rPr lang="ko-KR" altLang="en-US" b="1" dirty="0"/>
              <a:t>유형별 사망현황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23D985-7DC2-C9A8-31B5-E6C1A3AF135E}"/>
              </a:ext>
            </a:extLst>
          </p:cNvPr>
          <p:cNvSpPr/>
          <p:nvPr/>
        </p:nvSpPr>
        <p:spPr>
          <a:xfrm>
            <a:off x="513448" y="2204914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38809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80853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재해사망현황 통계시각화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</a:t>
            </a:r>
            <a:r>
              <a:rPr lang="ko-KR" altLang="en-US" b="1" dirty="0"/>
              <a:t>재해질병 </a:t>
            </a:r>
            <a:r>
              <a:rPr lang="ko-KR" altLang="en-US" sz="1800" b="1" dirty="0">
                <a:solidFill>
                  <a:schemeClr val="tx1"/>
                </a:solidFill>
              </a:rPr>
              <a:t>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398278" y="2346996"/>
            <a:ext cx="3805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내 업종  재해</a:t>
            </a:r>
            <a:r>
              <a:rPr lang="ko-KR" altLang="en-US" sz="1600" b="1" dirty="0"/>
              <a:t>질병 유형별 사망현황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74AE9A-68F0-6A3E-7C4B-97D21FFC1BFF}"/>
              </a:ext>
            </a:extLst>
          </p:cNvPr>
          <p:cNvSpPr/>
          <p:nvPr/>
        </p:nvSpPr>
        <p:spPr>
          <a:xfrm>
            <a:off x="435753" y="220805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6716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860750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30325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요인들을 종합해서 종합위험도 지수 통계시각화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안전자료실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찾기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병원 찾기로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8B4402-1D15-A72D-601E-EEEAF4DAB682}"/>
              </a:ext>
            </a:extLst>
          </p:cNvPr>
          <p:cNvSpPr/>
          <p:nvPr/>
        </p:nvSpPr>
        <p:spPr>
          <a:xfrm>
            <a:off x="601579" y="1916637"/>
            <a:ext cx="6988627" cy="42048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종합 위험도 평가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977A8-EE81-172F-6519-02E4414C84EB}"/>
              </a:ext>
            </a:extLst>
          </p:cNvPr>
          <p:cNvSpPr/>
          <p:nvPr/>
        </p:nvSpPr>
        <p:spPr>
          <a:xfrm>
            <a:off x="601925" y="188070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B9DF86-42F0-4E7E-7F35-B4DD1D3373A7}"/>
              </a:ext>
            </a:extLst>
          </p:cNvPr>
          <p:cNvSpPr/>
          <p:nvPr/>
        </p:nvSpPr>
        <p:spPr>
          <a:xfrm>
            <a:off x="1615044" y="5413574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나에게 필요한 안전 가이드 보기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B9AC75-5911-BD25-4C2F-4EEFF9C3518C}"/>
              </a:ext>
            </a:extLst>
          </p:cNvPr>
          <p:cNvSpPr/>
          <p:nvPr/>
        </p:nvSpPr>
        <p:spPr>
          <a:xfrm>
            <a:off x="5278892" y="5316132"/>
            <a:ext cx="1489103" cy="48222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가까운 응급</a:t>
            </a:r>
            <a:r>
              <a:rPr lang="en-US" altLang="ko-KR" sz="1100" dirty="0"/>
              <a:t>·</a:t>
            </a:r>
            <a:r>
              <a:rPr lang="ko-KR" altLang="en-US" sz="1100" dirty="0"/>
              <a:t>산재병원 찾기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BCBF801-505E-A4A7-5E7B-CD6D433640CB}"/>
              </a:ext>
            </a:extLst>
          </p:cNvPr>
          <p:cNvSpPr/>
          <p:nvPr/>
        </p:nvSpPr>
        <p:spPr>
          <a:xfrm>
            <a:off x="3446968" y="5388526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내 위치 기반 위험 탐색하기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AE0BDC-C2D3-18A1-CE46-28000D14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19" y="2883397"/>
            <a:ext cx="6359706" cy="184337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8311E1-5C2E-671C-A58B-196310D778C4}"/>
              </a:ext>
            </a:extLst>
          </p:cNvPr>
          <p:cNvSpPr/>
          <p:nvPr/>
        </p:nvSpPr>
        <p:spPr>
          <a:xfrm>
            <a:off x="1304684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57C9D5-A530-E379-A23F-C36DB9D34656}"/>
              </a:ext>
            </a:extLst>
          </p:cNvPr>
          <p:cNvSpPr/>
          <p:nvPr/>
        </p:nvSpPr>
        <p:spPr>
          <a:xfrm>
            <a:off x="3152785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7F2174-AD50-34D7-DA86-D2F1541A5DB6}"/>
              </a:ext>
            </a:extLst>
          </p:cNvPr>
          <p:cNvSpPr/>
          <p:nvPr/>
        </p:nvSpPr>
        <p:spPr>
          <a:xfrm>
            <a:off x="5000886" y="5162207"/>
            <a:ext cx="411194" cy="2930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7225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945594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3088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149170995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main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2317625951"/>
              </p:ext>
            </p:extLst>
          </p:nvPr>
        </p:nvGraphicFramePr>
        <p:xfrm>
          <a:off x="8603672" y="1180081"/>
          <a:ext cx="3588325" cy="569002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15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8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main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1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default</a:t>
                      </a:r>
                      <a:r>
                        <a:rPr lang="ko-KR" sz="1100" dirty="0"/>
                        <a:t>: 업종 기반 추천 콘텐츠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자료유형 필터(체크박스)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 교재 </a:t>
                      </a:r>
                      <a:r>
                        <a:rPr lang="en-US" altLang="ko-KR" sz="1100" dirty="0"/>
                        <a:t>/ PPT </a:t>
                      </a:r>
                      <a:r>
                        <a:rPr lang="ko-KR" altLang="en-US" sz="1100" dirty="0"/>
                        <a:t>로 나누어 분류</a:t>
                      </a:r>
                      <a:r>
                        <a:rPr lang="en-US" altLang="ko-KR" sz="1100" dirty="0"/>
                        <a:t> 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검색 필터 </a:t>
                      </a:r>
                      <a:r>
                        <a:rPr lang="en-US" altLang="ko-KR" sz="1100" dirty="0"/>
                        <a:t>(selector) – </a:t>
                      </a: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키워드</a:t>
                      </a:r>
                      <a:r>
                        <a:rPr lang="en-US" altLang="ko-KR" sz="1100" dirty="0"/>
                        <a:t>(=</a:t>
                      </a:r>
                      <a:r>
                        <a:rPr lang="ko-KR" altLang="en-US" sz="1100" dirty="0"/>
                        <a:t>태그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1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텍스트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검색란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검색텍스트가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제목 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OR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키워드에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들어가있는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자료 검색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 sz="12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60199" y="6292263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2BB3AB8-E9E2-670F-53AA-4EFAB576B196}"/>
              </a:ext>
            </a:extLst>
          </p:cNvPr>
          <p:cNvGrpSpPr/>
          <p:nvPr/>
        </p:nvGrpSpPr>
        <p:grpSpPr>
          <a:xfrm>
            <a:off x="567535" y="3091161"/>
            <a:ext cx="7404379" cy="2345050"/>
            <a:chOff x="-22034" y="2332583"/>
            <a:chExt cx="8613063" cy="21233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8F642C1-AE9C-BA0C-6391-A5D10F03F320}"/>
                </a:ext>
              </a:extLst>
            </p:cNvPr>
            <p:cNvSpPr/>
            <p:nvPr/>
          </p:nvSpPr>
          <p:spPr>
            <a:xfrm>
              <a:off x="-22034" y="2332583"/>
              <a:ext cx="8613063" cy="21233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900AE3-427B-6EEE-E52F-A098DF854A06}"/>
                </a:ext>
              </a:extLst>
            </p:cNvPr>
            <p:cNvSpPr txBox="1"/>
            <p:nvPr/>
          </p:nvSpPr>
          <p:spPr>
            <a:xfrm>
              <a:off x="7815321" y="3192305"/>
              <a:ext cx="163183" cy="37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&gt;</a:t>
              </a:r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169AC0D-4588-C0A6-1A11-9C89EC82F080}"/>
                </a:ext>
              </a:extLst>
            </p:cNvPr>
            <p:cNvGrpSpPr/>
            <p:nvPr/>
          </p:nvGrpSpPr>
          <p:grpSpPr>
            <a:xfrm>
              <a:off x="1251347" y="2594261"/>
              <a:ext cx="1844382" cy="1694170"/>
              <a:chOff x="488731" y="2624754"/>
              <a:chExt cx="1844382" cy="1694170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0D1EA7D0-EC6B-9AFB-23F6-CF254C0AD2A9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EDEB38F-96BD-AA65-8B91-21CCD01CCEC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D9E8A6-C223-A79B-0F41-28DCF06C6D49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21A9C0B-ED47-E557-98E1-B75D45DE7AE3}"/>
                </a:ext>
              </a:extLst>
            </p:cNvPr>
            <p:cNvGrpSpPr/>
            <p:nvPr/>
          </p:nvGrpSpPr>
          <p:grpSpPr>
            <a:xfrm>
              <a:off x="5691591" y="2586378"/>
              <a:ext cx="1844382" cy="1694170"/>
              <a:chOff x="488731" y="2624754"/>
              <a:chExt cx="1844382" cy="1694170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4F385DA-4922-DF0C-E792-7DAAF6144865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E641C1A-2B6A-BD4E-F5B0-35D07F14E86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FFC3-0DD5-2F15-C8D0-1985980FFEDA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0304954-153D-A405-A916-1E039EBD1574}"/>
                </a:ext>
              </a:extLst>
            </p:cNvPr>
            <p:cNvGrpSpPr/>
            <p:nvPr/>
          </p:nvGrpSpPr>
          <p:grpSpPr>
            <a:xfrm>
              <a:off x="3471469" y="2608486"/>
              <a:ext cx="1844382" cy="1694170"/>
              <a:chOff x="488731" y="2624754"/>
              <a:chExt cx="1844382" cy="169417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7C6D9E7-FCA2-A6F5-84AB-A82E6DD000B3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C3627AB-8A6D-B5C0-E6BB-82BD70CB49B2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AD795A-9509-433E-0DD5-7218BCCF63DC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8F7C40-39D5-5E3A-1CDF-CF1198DEFD48}"/>
                </a:ext>
              </a:extLst>
            </p:cNvPr>
            <p:cNvSpPr txBox="1"/>
            <p:nvPr/>
          </p:nvSpPr>
          <p:spPr>
            <a:xfrm>
              <a:off x="517128" y="3201870"/>
              <a:ext cx="436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&lt;</a:t>
              </a:r>
              <a:endParaRPr lang="ko-KR" altLang="en-US" dirty="0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67645" y="5620348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484917" y="55206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14735F-6A8A-88ED-26FD-70AEC223AD40}"/>
              </a:ext>
            </a:extLst>
          </p:cNvPr>
          <p:cNvSpPr/>
          <p:nvPr/>
        </p:nvSpPr>
        <p:spPr>
          <a:xfrm>
            <a:off x="477534" y="6214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1A7A40-7C39-C7B0-8157-53F2B3A05D9D}"/>
              </a:ext>
            </a:extLst>
          </p:cNvPr>
          <p:cNvSpPr/>
          <p:nvPr/>
        </p:nvSpPr>
        <p:spPr>
          <a:xfrm>
            <a:off x="1424111" y="61636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rPr>
                <a:t>전체 자료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598290F-7F84-A1B9-3464-E20FD3BAB3C5}"/>
              </a:ext>
            </a:extLst>
          </p:cNvPr>
          <p:cNvSpPr txBox="1"/>
          <p:nvPr/>
        </p:nvSpPr>
        <p:spPr>
          <a:xfrm>
            <a:off x="6808957" y="2764856"/>
            <a:ext cx="1255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최근 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01D005-5ABD-4C06-9CF3-ED0531F5D442}"/>
              </a:ext>
            </a:extLst>
          </p:cNvPr>
          <p:cNvSpPr/>
          <p:nvPr/>
        </p:nvSpPr>
        <p:spPr>
          <a:xfrm>
            <a:off x="878305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A663A-877B-43EA-A627-E98A52E6A245}"/>
              </a:ext>
            </a:extLst>
          </p:cNvPr>
          <p:cNvSpPr txBox="1"/>
          <p:nvPr/>
        </p:nvSpPr>
        <p:spPr>
          <a:xfrm>
            <a:off x="1279425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동영상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DECD2E-8868-43C7-BBFE-F4B2D0052B72}"/>
              </a:ext>
            </a:extLst>
          </p:cNvPr>
          <p:cNvSpPr/>
          <p:nvPr/>
        </p:nvSpPr>
        <p:spPr>
          <a:xfrm>
            <a:off x="2082755" y="5839077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C872D-4934-43C9-ADBB-30B8DB8DE183}"/>
              </a:ext>
            </a:extLst>
          </p:cNvPr>
          <p:cNvSpPr txBox="1"/>
          <p:nvPr/>
        </p:nvSpPr>
        <p:spPr>
          <a:xfrm>
            <a:off x="2483875" y="5826773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OPS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070BF3-A58E-4C37-BB7E-D24756CDDA25}"/>
              </a:ext>
            </a:extLst>
          </p:cNvPr>
          <p:cNvSpPr/>
          <p:nvPr/>
        </p:nvSpPr>
        <p:spPr>
          <a:xfrm>
            <a:off x="3353039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971BC7-6A1B-4105-91AF-18413B350D6A}"/>
              </a:ext>
            </a:extLst>
          </p:cNvPr>
          <p:cNvSpPr txBox="1"/>
          <p:nvPr/>
        </p:nvSpPr>
        <p:spPr>
          <a:xfrm>
            <a:off x="3754159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교재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20973F0-4017-4C39-A468-05EB7BC3F9EC}"/>
              </a:ext>
            </a:extLst>
          </p:cNvPr>
          <p:cNvSpPr/>
          <p:nvPr/>
        </p:nvSpPr>
        <p:spPr>
          <a:xfrm>
            <a:off x="462332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AA0779-66BE-48C3-9E8D-13908399725C}"/>
              </a:ext>
            </a:extLst>
          </p:cNvPr>
          <p:cNvSpPr txBox="1"/>
          <p:nvPr/>
        </p:nvSpPr>
        <p:spPr>
          <a:xfrm>
            <a:off x="502444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PPT</a:t>
            </a:r>
            <a:endParaRPr lang="ko-KR" altLang="en-US" sz="12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D9CACA8-9093-4DC6-ABA6-A4B7F7568171}"/>
              </a:ext>
            </a:extLst>
          </p:cNvPr>
          <p:cNvSpPr/>
          <p:nvPr/>
        </p:nvSpPr>
        <p:spPr>
          <a:xfrm>
            <a:off x="582777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6EDFEC-90EE-41A1-95CB-D5875D808C19}"/>
              </a:ext>
            </a:extLst>
          </p:cNvPr>
          <p:cNvSpPr txBox="1"/>
          <p:nvPr/>
        </p:nvSpPr>
        <p:spPr>
          <a:xfrm>
            <a:off x="622889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271680491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1800507469"/>
              </p:ext>
            </p:extLst>
          </p:nvPr>
        </p:nvGraphicFramePr>
        <p:xfrm>
          <a:off x="8603672" y="1180080"/>
          <a:ext cx="3588325" cy="68639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제목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최소 </a:t>
                      </a:r>
                      <a:r>
                        <a:rPr lang="en-US" altLang="ko-KR" sz="1100" dirty="0"/>
                        <a:t>5-6</a:t>
                      </a:r>
                      <a:r>
                        <a:rPr lang="ko-KR" altLang="en-US" sz="1100" dirty="0"/>
                        <a:t>개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-&gt; </a:t>
                      </a:r>
                      <a:r>
                        <a:rPr lang="ko-KR" altLang="en-US" sz="1100" dirty="0"/>
                        <a:t>키워드 항목 사용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내용요약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내용에 따라 추가 및 제거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썸네일 이미지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02043" y="2862450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02153" y="2200514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34403" y="3429001"/>
            <a:ext cx="166072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16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814238"/>
              </p:ext>
            </p:extLst>
          </p:nvPr>
        </p:nvGraphicFramePr>
        <p:xfrm>
          <a:off x="494817" y="4051894"/>
          <a:ext cx="7404270" cy="2437102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39921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698585"/>
                  </a:ext>
                </a:extLst>
              </a:tr>
              <a:tr h="1090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교육자료 제목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94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교육자료 제목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77482" y="4773097"/>
            <a:ext cx="4041648" cy="530600"/>
            <a:chOff x="577482" y="4773097"/>
            <a:chExt cx="4041648" cy="5306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48929" y="5876592"/>
            <a:ext cx="4041648" cy="530600"/>
            <a:chOff x="577482" y="4773097"/>
            <a:chExt cx="4041648" cy="5306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383600" y="39501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679038" y="459730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679038" y="5627228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75930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44621"/>
              </p:ext>
            </p:extLst>
          </p:nvPr>
        </p:nvGraphicFramePr>
        <p:xfrm>
          <a:off x="8603672" y="1180080"/>
          <a:ext cx="3588327" cy="737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 이름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태그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키워드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OPS/PPT/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교재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내용요약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자료 </a:t>
            </a:r>
            <a:r>
              <a:rPr lang="ko-KR" altLang="en-US" b="1" dirty="0"/>
              <a:t>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048116" y="3002942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82787" y="3002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331556" y="3175728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4174709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태그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713445"/>
            <a:ext cx="2314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 PPT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22109" y="4781209"/>
            <a:ext cx="2372396" cy="686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1166600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64769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584660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연관 컨텐츠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이런콘텐츠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어떠세요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항목의 썸네일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41746" y="2458157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연관 컨텐츠</a:t>
            </a:r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491884" y="3002942"/>
            <a:ext cx="7334119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409219" y="291654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281107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211664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192670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63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C1F2-5328-4756-8968-8C07AED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산재 검색</a:t>
            </a:r>
          </a:p>
        </p:txBody>
      </p:sp>
    </p:spTree>
    <p:extLst>
      <p:ext uri="{BB962C8B-B14F-4D97-AF65-F5344CB8AC3E}">
        <p14:creationId xmlns:p14="http://schemas.microsoft.com/office/powerpoint/2010/main" val="2191167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2517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5309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5285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46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02095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사고지역은 개인 산재 데이터를 기준으로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산재위치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또는 기타 아이디어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리스트형태로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구현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162887-3326-462F-A4A7-3A7BAF7CC2C1}"/>
              </a:ext>
            </a:extLst>
          </p:cNvPr>
          <p:cNvSpPr/>
          <p:nvPr/>
        </p:nvSpPr>
        <p:spPr>
          <a:xfrm>
            <a:off x="331668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F6A1A-D5B7-4655-A199-F905BAAA6FDF}"/>
              </a:ext>
            </a:extLst>
          </p:cNvPr>
          <p:cNvSpPr/>
          <p:nvPr/>
        </p:nvSpPr>
        <p:spPr>
          <a:xfrm>
            <a:off x="6853066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ED02C6-D2C7-47CA-9A4F-EC9B17A81868}"/>
              </a:ext>
            </a:extLst>
          </p:cNvPr>
          <p:cNvSpPr/>
          <p:nvPr/>
        </p:nvSpPr>
        <p:spPr>
          <a:xfrm>
            <a:off x="2693216" y="394231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D67E2E-266C-446F-BA8E-6C00531C6B3F}"/>
              </a:ext>
            </a:extLst>
          </p:cNvPr>
          <p:cNvSpPr/>
          <p:nvPr/>
        </p:nvSpPr>
        <p:spPr>
          <a:xfrm>
            <a:off x="4410958" y="2712121"/>
            <a:ext cx="1278585" cy="1102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정보 목록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155C6-DB09-49CD-9E4A-B7F42F99F78C}"/>
              </a:ext>
            </a:extLst>
          </p:cNvPr>
          <p:cNvSpPr/>
          <p:nvPr/>
        </p:nvSpPr>
        <p:spPr>
          <a:xfrm>
            <a:off x="4302341" y="22708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6245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2691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7746F-ACE0-4C39-8831-58120F25C456}"/>
              </a:ext>
            </a:extLst>
          </p:cNvPr>
          <p:cNvSpPr/>
          <p:nvPr/>
        </p:nvSpPr>
        <p:spPr>
          <a:xfrm>
            <a:off x="359131" y="2305600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병원 검색</a:t>
            </a:r>
          </a:p>
        </p:txBody>
      </p:sp>
    </p:spTree>
    <p:extLst>
      <p:ext uri="{BB962C8B-B14F-4D97-AF65-F5344CB8AC3E}">
        <p14:creationId xmlns:p14="http://schemas.microsoft.com/office/powerpoint/2010/main" val="337208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2787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체크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342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413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86051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93521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병원 상세 페이지로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 Top 10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66A60-525D-4F6C-B665-C5C68A2237C0}"/>
              </a:ext>
            </a:extLst>
          </p:cNvPr>
          <p:cNvSpPr/>
          <p:nvPr/>
        </p:nvSpPr>
        <p:spPr>
          <a:xfrm>
            <a:off x="273075" y="182286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54A6F-3F09-4BAD-836A-FEAADB60E581}"/>
              </a:ext>
            </a:extLst>
          </p:cNvPr>
          <p:cNvSpPr/>
          <p:nvPr/>
        </p:nvSpPr>
        <p:spPr>
          <a:xfrm>
            <a:off x="273075" y="322685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10669-6DD9-452C-993B-5DDFE60726EE}"/>
              </a:ext>
            </a:extLst>
          </p:cNvPr>
          <p:cNvSpPr/>
          <p:nvPr/>
        </p:nvSpPr>
        <p:spPr>
          <a:xfrm>
            <a:off x="7356666" y="380919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5519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7897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줌 레벨 만들어보면서 체크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BFF38D-AA72-4206-BB48-55B7A5D46FD0}"/>
              </a:ext>
            </a:extLst>
          </p:cNvPr>
          <p:cNvSpPr/>
          <p:nvPr/>
        </p:nvSpPr>
        <p:spPr>
          <a:xfrm>
            <a:off x="286759" y="197859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D259DD-C29D-494F-887A-1FCD8CD4297D}"/>
              </a:ext>
            </a:extLst>
          </p:cNvPr>
          <p:cNvSpPr/>
          <p:nvPr/>
        </p:nvSpPr>
        <p:spPr>
          <a:xfrm>
            <a:off x="266226" y="451272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326681"/>
            <a:ext cx="7921373" cy="2759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sz="1200" b="0">
                <a:solidFill>
                  <a:schemeClr val="tx1"/>
                </a:solidFill>
              </a:rPr>
              <a:t>Kakao </a:t>
            </a:r>
            <a:r>
              <a:rPr lang="ko-KR" altLang="en-US" sz="1200" b="0">
                <a:solidFill>
                  <a:schemeClr val="tx1"/>
                </a:solidFill>
              </a:rPr>
              <a:t>지도 </a:t>
            </a:r>
            <a:r>
              <a:rPr lang="en-US" altLang="ko-KR" sz="1200" b="0">
                <a:solidFill>
                  <a:schemeClr val="tx1"/>
                </a:solidFill>
              </a:rPr>
              <a:t>API</a:t>
            </a:r>
            <a:r>
              <a:rPr lang="ko-KR" altLang="en-US" sz="1200" b="0">
                <a:solidFill>
                  <a:schemeClr val="tx1"/>
                </a:solidFill>
              </a:rPr>
              <a:t>를 활용하여 해당 산재 지정 의료기관 위치를 마커 표시</a:t>
            </a:r>
            <a:endParaRPr lang="en-US" altLang="ko-KR" sz="1200" b="0">
              <a:solidFill>
                <a:schemeClr val="tx1"/>
              </a:solidFill>
            </a:endParaRPr>
          </a:p>
          <a:p>
            <a:pPr latinLnBrk="1"/>
            <a:r>
              <a:rPr lang="ko-KR" altLang="en-US" sz="1200" b="0">
                <a:solidFill>
                  <a:schemeClr val="tx1"/>
                </a:solidFill>
              </a:rPr>
              <a:t>줌 레벨 만들어보면서 체크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246337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272138"/>
              </p:ext>
            </p:extLst>
          </p:nvPr>
        </p:nvGraphicFramePr>
        <p:xfrm>
          <a:off x="8603672" y="1180080"/>
          <a:ext cx="3588327" cy="6197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25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763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6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띄우고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한번더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사용자에게 인지 시키기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48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화면에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2119629"/>
            <a:ext cx="7918834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746EB-4A1B-C8C0-F101-2378BA96ABC2}"/>
              </a:ext>
            </a:extLst>
          </p:cNvPr>
          <p:cNvSpPr/>
          <p:nvPr/>
        </p:nvSpPr>
        <p:spPr>
          <a:xfrm>
            <a:off x="423186" y="28526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95EC09-4986-6F25-74F7-5EDEB9B69288}"/>
              </a:ext>
            </a:extLst>
          </p:cNvPr>
          <p:cNvSpPr/>
          <p:nvPr/>
        </p:nvSpPr>
        <p:spPr>
          <a:xfrm>
            <a:off x="423186" y="340642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037436-F1F6-B019-DC88-D5BEE9087032}"/>
              </a:ext>
            </a:extLst>
          </p:cNvPr>
          <p:cNvSpPr/>
          <p:nvPr/>
        </p:nvSpPr>
        <p:spPr>
          <a:xfrm>
            <a:off x="423186" y="394899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76387E-51E2-459B-A203-E6CA649973EC}"/>
              </a:ext>
            </a:extLst>
          </p:cNvPr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C6E47C-377F-48C3-975E-9EF52302EBB0}"/>
              </a:ext>
            </a:extLst>
          </p:cNvPr>
          <p:cNvSpPr/>
          <p:nvPr/>
        </p:nvSpPr>
        <p:spPr>
          <a:xfrm>
            <a:off x="7358474" y="4234620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76EBE1-9DBD-4248-8335-C0EBD51912D0}"/>
              </a:ext>
            </a:extLst>
          </p:cNvPr>
          <p:cNvSpPr/>
          <p:nvPr/>
        </p:nvSpPr>
        <p:spPr>
          <a:xfrm>
            <a:off x="7846577" y="4242577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1B5266-C006-4C75-827C-BCD9ABB33668}"/>
              </a:ext>
            </a:extLst>
          </p:cNvPr>
          <p:cNvSpPr/>
          <p:nvPr/>
        </p:nvSpPr>
        <p:spPr>
          <a:xfrm>
            <a:off x="3361691" y="5871614"/>
            <a:ext cx="1702676" cy="302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리뷰 작성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010DCA-4238-472C-B4A3-D7C96B9464A2}"/>
              </a:ext>
            </a:extLst>
          </p:cNvPr>
          <p:cNvSpPr/>
          <p:nvPr/>
        </p:nvSpPr>
        <p:spPr>
          <a:xfrm>
            <a:off x="3222725" y="5687518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74DABA-A602-44B5-B093-8E8983803FAA}"/>
              </a:ext>
            </a:extLst>
          </p:cNvPr>
          <p:cNvSpPr/>
          <p:nvPr/>
        </p:nvSpPr>
        <p:spPr>
          <a:xfrm>
            <a:off x="423186" y="4526367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F39268-2150-494F-B6A5-6FE11F66A6F9}"/>
              </a:ext>
            </a:extLst>
          </p:cNvPr>
          <p:cNvSpPr/>
          <p:nvPr/>
        </p:nvSpPr>
        <p:spPr>
          <a:xfrm>
            <a:off x="2572088" y="5318620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408660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💬상세 리뷰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888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43073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등록하기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후 리뷰 등록하기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로그인한 사용자 아이디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datetime auto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3187" y="2199362"/>
            <a:ext cx="7921373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2292387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등록하기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4385728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802888" y="3005259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877545-EBBA-4883-BB42-B279F1986281}"/>
              </a:ext>
            </a:extLst>
          </p:cNvPr>
          <p:cNvSpPr/>
          <p:nvPr/>
        </p:nvSpPr>
        <p:spPr>
          <a:xfrm>
            <a:off x="2168119" y="475923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00918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324827" y="2522172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💬리뷰 수정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420006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37242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후 수정하기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수정되었습니다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.alert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창 하나 띄우고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22288" y="2312874"/>
            <a:ext cx="7921374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1347819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수정하기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5436794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701990" y="3118771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48701C-5E3D-4C19-83A5-6042778997C1}"/>
              </a:ext>
            </a:extLst>
          </p:cNvPr>
          <p:cNvSpPr/>
          <p:nvPr/>
        </p:nvSpPr>
        <p:spPr>
          <a:xfrm>
            <a:off x="1236214" y="487274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186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6F99-D362-4090-AD86-DD7068DE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C2874-28AE-4ADB-94E8-446DA2F2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31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5309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983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관리자의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80081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089312"/>
              </p:ext>
            </p:extLst>
          </p:nvPr>
        </p:nvGraphicFramePr>
        <p:xfrm>
          <a:off x="-1" y="1816922"/>
          <a:ext cx="1677451" cy="5041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51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</a:tblGrid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대시보드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85076"/>
                  </a:ext>
                </a:extLst>
              </a:tr>
              <a:tr h="5514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7208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4347" y="12095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-61255" y="1426597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환영합니다</a:t>
            </a:r>
            <a:r>
              <a:rPr lang="en-US" altLang="ko-KR" sz="1400" dirty="0"/>
              <a:t>, OOO</a:t>
            </a:r>
            <a:r>
              <a:rPr lang="ko-KR" altLang="en-US" sz="1400" dirty="0"/>
              <a:t>님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49098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0240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192399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관리자가 대략적인 회원의 흐름을 한눈에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볼수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75214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B04F7A-5F4F-ACF6-4C9A-306724CD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087" y="1778617"/>
            <a:ext cx="6851787" cy="20918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BE891E-14C3-49E2-A0D3-6971D2F5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67" y="4347563"/>
            <a:ext cx="5686425" cy="226695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DA1B36-9293-5A12-FC95-955E42D29165}"/>
              </a:ext>
            </a:extLst>
          </p:cNvPr>
          <p:cNvSpPr/>
          <p:nvPr/>
        </p:nvSpPr>
        <p:spPr>
          <a:xfrm>
            <a:off x="2490950" y="3947212"/>
            <a:ext cx="1975770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월별 신규가입 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산재등록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A0615B-3117-5FDB-064C-93CDBBC888D3}"/>
              </a:ext>
            </a:extLst>
          </p:cNvPr>
          <p:cNvSpPr/>
          <p:nvPr/>
        </p:nvSpPr>
        <p:spPr>
          <a:xfrm>
            <a:off x="6638102" y="3929125"/>
            <a:ext cx="1103342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🔴 신규가입 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</a:rPr>
              <a:t>🔵 산재등록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096FEC-696D-432E-B04C-881E045C0FE2}"/>
              </a:ext>
            </a:extLst>
          </p:cNvPr>
          <p:cNvSpPr/>
          <p:nvPr/>
        </p:nvSpPr>
        <p:spPr>
          <a:xfrm>
            <a:off x="23636" y="1175214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1485F2-2C19-4113-B3C1-B643B528AFC5}"/>
              </a:ext>
            </a:extLst>
          </p:cNvPr>
          <p:cNvSpPr/>
          <p:nvPr/>
        </p:nvSpPr>
        <p:spPr>
          <a:xfrm>
            <a:off x="1559303" y="1612559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1598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0824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81969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민감한 개인정보를 제외한 회원정보 보여주기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?”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띄어주고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확인하면 회원 삭제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1677451" y="1180081"/>
            <a:ext cx="6926220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D67916ED-A79E-4F66-9CE9-813C6C03F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95321"/>
              </p:ext>
            </p:extLst>
          </p:nvPr>
        </p:nvGraphicFramePr>
        <p:xfrm>
          <a:off x="1784655" y="2522483"/>
          <a:ext cx="6690885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177">
                  <a:extLst>
                    <a:ext uri="{9D8B030D-6E8A-4147-A177-3AD203B41FA5}">
                      <a16:colId xmlns:a16="http://schemas.microsoft.com/office/drawing/2014/main" val="3571291480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401191227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3213933534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95023035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2761892074"/>
                    </a:ext>
                  </a:extLst>
                </a:gridCol>
              </a:tblGrid>
              <a:tr h="1508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가입일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1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858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68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2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8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0194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DC073A-FCB5-43F4-B7D3-D3AA6E2ABEA5}"/>
              </a:ext>
            </a:extLst>
          </p:cNvPr>
          <p:cNvSpPr txBox="1"/>
          <p:nvPr/>
        </p:nvSpPr>
        <p:spPr>
          <a:xfrm>
            <a:off x="1721594" y="2153151"/>
            <a:ext cx="13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664B6B-7608-4DA3-A674-E6889D539FB4}"/>
              </a:ext>
            </a:extLst>
          </p:cNvPr>
          <p:cNvSpPr/>
          <p:nvPr/>
        </p:nvSpPr>
        <p:spPr>
          <a:xfrm>
            <a:off x="1582628" y="190211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145F78-D50D-45BD-8856-F599F0C8E354}"/>
              </a:ext>
            </a:extLst>
          </p:cNvPr>
          <p:cNvSpPr/>
          <p:nvPr/>
        </p:nvSpPr>
        <p:spPr>
          <a:xfrm>
            <a:off x="7107128" y="233781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7CB031-D8EC-465E-8958-286F8A3123C4}"/>
              </a:ext>
            </a:extLst>
          </p:cNvPr>
          <p:cNvSpPr/>
          <p:nvPr/>
        </p:nvSpPr>
        <p:spPr>
          <a:xfrm>
            <a:off x="3104444" y="50723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559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2927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46185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산재등록 목록 검색필터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발생형태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 산재등록 목록 테이블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9B36BA-6DA8-4C53-AFEB-F4E8C821AD97}"/>
              </a:ext>
            </a:extLst>
          </p:cNvPr>
          <p:cNvSpPr txBox="1"/>
          <p:nvPr/>
        </p:nvSpPr>
        <p:spPr>
          <a:xfrm>
            <a:off x="2241103" y="2388096"/>
            <a:ext cx="1133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검색 </a:t>
            </a:r>
            <a:r>
              <a:rPr lang="en-US" altLang="ko-KR" sz="1400" b="1" dirty="0"/>
              <a:t>/ </a:t>
            </a:r>
            <a:r>
              <a:rPr lang="ko-KR" altLang="en-US" sz="1400" b="1" dirty="0"/>
              <a:t>필터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14AB4E91-C744-C53F-5941-BD8F9F4B7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57626"/>
              </p:ext>
            </p:extLst>
          </p:nvPr>
        </p:nvGraphicFramePr>
        <p:xfrm>
          <a:off x="2108199" y="4098303"/>
          <a:ext cx="6203951" cy="159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54">
                  <a:extLst>
                    <a:ext uri="{9D8B030D-6E8A-4147-A177-3AD203B41FA5}">
                      <a16:colId xmlns:a16="http://schemas.microsoft.com/office/drawing/2014/main" val="290832576"/>
                    </a:ext>
                  </a:extLst>
                </a:gridCol>
                <a:gridCol w="604130">
                  <a:extLst>
                    <a:ext uri="{9D8B030D-6E8A-4147-A177-3AD203B41FA5}">
                      <a16:colId xmlns:a16="http://schemas.microsoft.com/office/drawing/2014/main" val="102188575"/>
                    </a:ext>
                  </a:extLst>
                </a:gridCol>
                <a:gridCol w="772331">
                  <a:extLst>
                    <a:ext uri="{9D8B030D-6E8A-4147-A177-3AD203B41FA5}">
                      <a16:colId xmlns:a16="http://schemas.microsoft.com/office/drawing/2014/main" val="1300920205"/>
                    </a:ext>
                  </a:extLst>
                </a:gridCol>
                <a:gridCol w="1098149">
                  <a:extLst>
                    <a:ext uri="{9D8B030D-6E8A-4147-A177-3AD203B41FA5}">
                      <a16:colId xmlns:a16="http://schemas.microsoft.com/office/drawing/2014/main" val="878541107"/>
                    </a:ext>
                  </a:extLst>
                </a:gridCol>
                <a:gridCol w="669605">
                  <a:extLst>
                    <a:ext uri="{9D8B030D-6E8A-4147-A177-3AD203B41FA5}">
                      <a16:colId xmlns:a16="http://schemas.microsoft.com/office/drawing/2014/main" val="2804284854"/>
                    </a:ext>
                  </a:extLst>
                </a:gridCol>
                <a:gridCol w="721696">
                  <a:extLst>
                    <a:ext uri="{9D8B030D-6E8A-4147-A177-3AD203B41FA5}">
                      <a16:colId xmlns:a16="http://schemas.microsoft.com/office/drawing/2014/main" val="2733423004"/>
                    </a:ext>
                  </a:extLst>
                </a:gridCol>
                <a:gridCol w="769626">
                  <a:extLst>
                    <a:ext uri="{9D8B030D-6E8A-4147-A177-3AD203B41FA5}">
                      <a16:colId xmlns:a16="http://schemas.microsoft.com/office/drawing/2014/main" val="2614146688"/>
                    </a:ext>
                  </a:extLst>
                </a:gridCol>
                <a:gridCol w="1208260">
                  <a:extLst>
                    <a:ext uri="{9D8B030D-6E8A-4147-A177-3AD203B41FA5}">
                      <a16:colId xmlns:a16="http://schemas.microsoft.com/office/drawing/2014/main" val="1299462405"/>
                    </a:ext>
                  </a:extLst>
                </a:gridCol>
              </a:tblGrid>
              <a:tr h="238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No.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회원명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 분류</a:t>
                      </a:r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 분류</a:t>
                      </a:r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발생형태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질병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발생일자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사고지역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945175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출판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인쇄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 err="1"/>
                        <a:t>제본업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끼임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우측 손가락 골절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2023-11-01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서울시 강남구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064222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072185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3091EE4C-4CE9-4ED1-ACA7-51708CFCA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07" y="2909510"/>
            <a:ext cx="3696216" cy="2476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EEDECB-78EA-210D-B875-6E3AAE6C538E}"/>
              </a:ext>
            </a:extLst>
          </p:cNvPr>
          <p:cNvSpPr txBox="1"/>
          <p:nvPr/>
        </p:nvSpPr>
        <p:spPr>
          <a:xfrm>
            <a:off x="2241103" y="3546917"/>
            <a:ext cx="1894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회원 산재등록 목록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73300-5F5D-335F-D59D-2BA289995F27}"/>
              </a:ext>
            </a:extLst>
          </p:cNvPr>
          <p:cNvSpPr/>
          <p:nvPr/>
        </p:nvSpPr>
        <p:spPr>
          <a:xfrm>
            <a:off x="1963171" y="254198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90C704-CDD5-9225-24B0-C42371073555}"/>
              </a:ext>
            </a:extLst>
          </p:cNvPr>
          <p:cNvSpPr/>
          <p:nvPr/>
        </p:nvSpPr>
        <p:spPr>
          <a:xfrm>
            <a:off x="1952075" y="387153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7FD89E1-8FB4-4D90-AEB3-0FCB6E775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16711"/>
            <a:ext cx="240484" cy="2404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F2D5A1-ECEF-40E3-8168-83372110D37B}"/>
              </a:ext>
            </a:extLst>
          </p:cNvPr>
          <p:cNvSpPr txBox="1"/>
          <p:nvPr/>
        </p:nvSpPr>
        <p:spPr>
          <a:xfrm>
            <a:off x="1871703" y="1465441"/>
            <a:ext cx="172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회원 산재 조회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8A418D-5B87-4491-9696-BBCCEEC25654}"/>
              </a:ext>
            </a:extLst>
          </p:cNvPr>
          <p:cNvSpPr/>
          <p:nvPr/>
        </p:nvSpPr>
        <p:spPr>
          <a:xfrm>
            <a:off x="-20489" y="1180080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FC14AB-BC62-4AED-98F8-76776A6C58DF}"/>
              </a:ext>
            </a:extLst>
          </p:cNvPr>
          <p:cNvSpPr/>
          <p:nvPr/>
        </p:nvSpPr>
        <p:spPr>
          <a:xfrm>
            <a:off x="3423858" y="60225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365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8531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939568"/>
              </p:ext>
            </p:extLst>
          </p:nvPr>
        </p:nvGraphicFramePr>
        <p:xfrm>
          <a:off x="8603672" y="1180080"/>
          <a:ext cx="3588327" cy="5739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회원들이 등록한 리뷰 열람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테이블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상세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열람 하고싶은 리뷰 검색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ED75A3-C1B1-6944-2403-D1EC42282AF6}"/>
              </a:ext>
            </a:extLst>
          </p:cNvPr>
          <p:cNvGrpSpPr/>
          <p:nvPr/>
        </p:nvGrpSpPr>
        <p:grpSpPr>
          <a:xfrm>
            <a:off x="2522159" y="2319355"/>
            <a:ext cx="1932137" cy="3822366"/>
            <a:chOff x="308035" y="2064890"/>
            <a:chExt cx="2166717" cy="462150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AD4B23-8DC2-005C-4070-DF563D7B3D78}"/>
                </a:ext>
              </a:extLst>
            </p:cNvPr>
            <p:cNvSpPr/>
            <p:nvPr/>
          </p:nvSpPr>
          <p:spPr>
            <a:xfrm>
              <a:off x="30803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C568FB2-9E67-60F6-B99D-32DF7037BF65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E429D88C-05BE-F954-C287-D8E3946D3A94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85F9D515-7146-5D5C-5085-8750F36CBA2A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F28D879-ADA5-71AF-D313-BF628F642CFA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3FECF496-6E84-5B9A-43FF-5B8F22CC486D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55567B12-B9DC-3980-B9E8-86AE919F40DB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584D4EF-1071-4B10-B0CC-F73DB44CFA1D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A5A20FE6-FCEE-9217-2592-8C2FFD476869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698B42-7568-0FA7-9E24-99526805BF4E}"/>
              </a:ext>
            </a:extLst>
          </p:cNvPr>
          <p:cNvSpPr/>
          <p:nvPr/>
        </p:nvSpPr>
        <p:spPr>
          <a:xfrm>
            <a:off x="5190309" y="1806681"/>
            <a:ext cx="3040369" cy="37510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E29E2E-B92C-B987-4977-94C6A3C734F0}"/>
              </a:ext>
            </a:extLst>
          </p:cNvPr>
          <p:cNvSpPr/>
          <p:nvPr/>
        </p:nvSpPr>
        <p:spPr>
          <a:xfrm>
            <a:off x="6096000" y="1833019"/>
            <a:ext cx="2058099" cy="3123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검색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B33A41A-DAB7-80E9-153C-9DCC89077478}"/>
              </a:ext>
            </a:extLst>
          </p:cNvPr>
          <p:cNvGrpSpPr/>
          <p:nvPr/>
        </p:nvGrpSpPr>
        <p:grpSpPr>
          <a:xfrm>
            <a:off x="4451009" y="2319356"/>
            <a:ext cx="1805173" cy="3822365"/>
            <a:chOff x="2464455" y="2064890"/>
            <a:chExt cx="2166717" cy="462150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754E66E-F266-5FE2-AE79-1650855F383C}"/>
                </a:ext>
              </a:extLst>
            </p:cNvPr>
            <p:cNvSpPr/>
            <p:nvPr/>
          </p:nvSpPr>
          <p:spPr>
            <a:xfrm>
              <a:off x="246445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255BF8E-A615-DDC5-43E5-C0FE462BF9AC}"/>
                </a:ext>
              </a:extLst>
            </p:cNvPr>
            <p:cNvSpPr/>
            <p:nvPr/>
          </p:nvSpPr>
          <p:spPr>
            <a:xfrm>
              <a:off x="246636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06AE7E4-C1D4-1389-9542-88E70125085A}"/>
                </a:ext>
              </a:extLst>
            </p:cNvPr>
            <p:cNvSpPr/>
            <p:nvPr/>
          </p:nvSpPr>
          <p:spPr>
            <a:xfrm>
              <a:off x="246636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2C75C338-76F1-107F-42FE-30893B17AD0A}"/>
                </a:ext>
              </a:extLst>
            </p:cNvPr>
            <p:cNvSpPr/>
            <p:nvPr/>
          </p:nvSpPr>
          <p:spPr>
            <a:xfrm>
              <a:off x="246446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513B201C-12D7-5B94-EEC9-7577A7FFFD1B}"/>
                </a:ext>
              </a:extLst>
            </p:cNvPr>
            <p:cNvSpPr/>
            <p:nvPr/>
          </p:nvSpPr>
          <p:spPr>
            <a:xfrm>
              <a:off x="246446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9C9A893-78BC-AA39-79E7-AC119FC8A42A}"/>
                </a:ext>
              </a:extLst>
            </p:cNvPr>
            <p:cNvSpPr/>
            <p:nvPr/>
          </p:nvSpPr>
          <p:spPr>
            <a:xfrm>
              <a:off x="246446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CDDC1614-7D20-DB22-B5AB-52EC0D21EE8B}"/>
                </a:ext>
              </a:extLst>
            </p:cNvPr>
            <p:cNvSpPr/>
            <p:nvPr/>
          </p:nvSpPr>
          <p:spPr>
            <a:xfrm>
              <a:off x="246446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A1450180-0E97-EDBB-B6DB-CB2473798304}"/>
                </a:ext>
              </a:extLst>
            </p:cNvPr>
            <p:cNvSpPr/>
            <p:nvPr/>
          </p:nvSpPr>
          <p:spPr>
            <a:xfrm>
              <a:off x="246446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9FD7DF7-288F-5E0C-233E-08A33F33F418}"/>
                </a:ext>
              </a:extLst>
            </p:cNvPr>
            <p:cNvSpPr/>
            <p:nvPr/>
          </p:nvSpPr>
          <p:spPr>
            <a:xfrm>
              <a:off x="246446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19DC55-76DC-D8C9-E4DE-45000C546144}"/>
              </a:ext>
            </a:extLst>
          </p:cNvPr>
          <p:cNvGrpSpPr/>
          <p:nvPr/>
        </p:nvGrpSpPr>
        <p:grpSpPr>
          <a:xfrm>
            <a:off x="6257882" y="2319355"/>
            <a:ext cx="1974696" cy="3822366"/>
            <a:chOff x="5492884" y="2064890"/>
            <a:chExt cx="2739693" cy="462150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3DE84B6-AE7B-49EE-1F15-4D101387CB4B}"/>
                </a:ext>
              </a:extLst>
            </p:cNvPr>
            <p:cNvSpPr/>
            <p:nvPr/>
          </p:nvSpPr>
          <p:spPr>
            <a:xfrm>
              <a:off x="5492884" y="2064890"/>
              <a:ext cx="2737787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AFADA21-1195-0074-4616-8C7FC98F6562}"/>
                </a:ext>
              </a:extLst>
            </p:cNvPr>
            <p:cNvSpPr/>
            <p:nvPr/>
          </p:nvSpPr>
          <p:spPr>
            <a:xfrm>
              <a:off x="5494789" y="2334453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DB277293-6632-DFCB-C8C4-E844F28C1BEE}"/>
                </a:ext>
              </a:extLst>
            </p:cNvPr>
            <p:cNvSpPr/>
            <p:nvPr/>
          </p:nvSpPr>
          <p:spPr>
            <a:xfrm>
              <a:off x="5494789" y="2881569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849E0BE9-3CEB-3569-DA93-5B24EC5C7B8E}"/>
                </a:ext>
              </a:extLst>
            </p:cNvPr>
            <p:cNvSpPr/>
            <p:nvPr/>
          </p:nvSpPr>
          <p:spPr>
            <a:xfrm>
              <a:off x="5492890" y="3429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891CB0D1-CB53-9955-F570-197594361061}"/>
                </a:ext>
              </a:extLst>
            </p:cNvPr>
            <p:cNvSpPr/>
            <p:nvPr/>
          </p:nvSpPr>
          <p:spPr>
            <a:xfrm>
              <a:off x="5492890" y="3968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989F8A61-1A2B-9FC1-9BDF-4BDA1B70FF22}"/>
                </a:ext>
              </a:extLst>
            </p:cNvPr>
            <p:cNvSpPr/>
            <p:nvPr/>
          </p:nvSpPr>
          <p:spPr>
            <a:xfrm>
              <a:off x="5492889" y="5062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D36E6EC0-31D2-C5AA-2085-03B2D3BD3DC2}"/>
                </a:ext>
              </a:extLst>
            </p:cNvPr>
            <p:cNvSpPr/>
            <p:nvPr/>
          </p:nvSpPr>
          <p:spPr>
            <a:xfrm>
              <a:off x="5492889" y="4515431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7FE787AB-89B3-5A0E-8090-C9A1CCBEDDC9}"/>
                </a:ext>
              </a:extLst>
            </p:cNvPr>
            <p:cNvSpPr/>
            <p:nvPr/>
          </p:nvSpPr>
          <p:spPr>
            <a:xfrm>
              <a:off x="5492889" y="5601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09F39EF-3ED6-7CB6-9A31-074F8DACD801}"/>
                </a:ext>
              </a:extLst>
            </p:cNvPr>
            <p:cNvSpPr/>
            <p:nvPr/>
          </p:nvSpPr>
          <p:spPr>
            <a:xfrm>
              <a:off x="5492889" y="6138964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529F664-9076-B942-8B0D-C42136881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73" y="1866583"/>
            <a:ext cx="240484" cy="240484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6E72F8-90C8-3C96-739C-DC92FF370D93}"/>
              </a:ext>
            </a:extLst>
          </p:cNvPr>
          <p:cNvSpPr/>
          <p:nvPr/>
        </p:nvSpPr>
        <p:spPr>
          <a:xfrm>
            <a:off x="5561399" y="1833019"/>
            <a:ext cx="544709" cy="31235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필터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59136CD-7C8E-417F-9224-7C9B14E15295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ACBA26F-100D-45B0-AB33-1D16F00DA2EA}"/>
              </a:ext>
            </a:extLst>
          </p:cNvPr>
          <p:cNvGrpSpPr/>
          <p:nvPr/>
        </p:nvGrpSpPr>
        <p:grpSpPr>
          <a:xfrm>
            <a:off x="1676599" y="2319355"/>
            <a:ext cx="846407" cy="3822366"/>
            <a:chOff x="308035" y="2064890"/>
            <a:chExt cx="2166717" cy="462150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8EA786-74C0-490E-8C98-5574C0D5A021}"/>
                </a:ext>
              </a:extLst>
            </p:cNvPr>
            <p:cNvSpPr/>
            <p:nvPr/>
          </p:nvSpPr>
          <p:spPr>
            <a:xfrm>
              <a:off x="308035" y="2064890"/>
              <a:ext cx="2164810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No.</a:t>
              </a:r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B85F1D4-1E92-4B5D-9D2E-C42668C1BB23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54C1F01-5151-4799-AC1F-AFCF6F08C6FF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5AA13D4-937C-46F2-A45B-B04D116D6182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C77251-0CF0-4835-B258-E5DD4DA804E3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F7F0C23-CC3B-4B90-8EA9-C3CAEC8E0FEC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6344F7A-889E-4380-AB03-A57AA30FAE2D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4BFA119-23A3-445B-95FC-29C0BC531693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1958993-0210-432E-9364-616F70932EE4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161556C-9351-4CBC-A78A-949C462371AF}"/>
              </a:ext>
            </a:extLst>
          </p:cNvPr>
          <p:cNvSpPr/>
          <p:nvPr/>
        </p:nvSpPr>
        <p:spPr>
          <a:xfrm>
            <a:off x="1508762" y="208562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98D9849-85D3-4009-AD3F-F70A114BCF36}"/>
              </a:ext>
            </a:extLst>
          </p:cNvPr>
          <p:cNvSpPr/>
          <p:nvPr/>
        </p:nvSpPr>
        <p:spPr>
          <a:xfrm>
            <a:off x="5056217" y="163154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656F4-56E4-4455-B075-3FCEB399C5DD}"/>
              </a:ext>
            </a:extLst>
          </p:cNvPr>
          <p:cNvSpPr txBox="1"/>
          <p:nvPr/>
        </p:nvSpPr>
        <p:spPr>
          <a:xfrm>
            <a:off x="1722329" y="1465545"/>
            <a:ext cx="1233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DE143C4-36A8-48D7-BC96-BC102D6414DC}"/>
              </a:ext>
            </a:extLst>
          </p:cNvPr>
          <p:cNvSpPr/>
          <p:nvPr/>
        </p:nvSpPr>
        <p:spPr>
          <a:xfrm>
            <a:off x="2956142" y="6405224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60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8760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427804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리뷰 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리뷰에 대한 정보를 자세히 알 수 있는 페이지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관리 페이지로 이동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BAB13593-1D47-439D-0208-56CDE35154DF}"/>
              </a:ext>
            </a:extLst>
          </p:cNvPr>
          <p:cNvSpPr/>
          <p:nvPr/>
        </p:nvSpPr>
        <p:spPr>
          <a:xfrm>
            <a:off x="1544923" y="2108565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작성자 </a:t>
            </a:r>
            <a:r>
              <a:rPr lang="en-US" altLang="ko-KR" dirty="0"/>
              <a:t>ID: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1DAA5C-4A6E-0279-F7AC-903F06149C92}"/>
              </a:ext>
            </a:extLst>
          </p:cNvPr>
          <p:cNvSpPr/>
          <p:nvPr/>
        </p:nvSpPr>
        <p:spPr>
          <a:xfrm>
            <a:off x="1544923" y="2538972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병원 이름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79D7F8-E72E-D61B-AD18-A7B5423AAE47}"/>
              </a:ext>
            </a:extLst>
          </p:cNvPr>
          <p:cNvSpPr/>
          <p:nvPr/>
        </p:nvSpPr>
        <p:spPr>
          <a:xfrm>
            <a:off x="1544923" y="297373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 날짜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EF7147-F621-C3C1-7721-7AB4C78BF49B}"/>
              </a:ext>
            </a:extLst>
          </p:cNvPr>
          <p:cNvSpPr/>
          <p:nvPr/>
        </p:nvSpPr>
        <p:spPr>
          <a:xfrm>
            <a:off x="1277655" y="343159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3504B8-B2AD-E42A-C759-8FCCA5E56F53}"/>
              </a:ext>
            </a:extLst>
          </p:cNvPr>
          <p:cNvSpPr/>
          <p:nvPr/>
        </p:nvSpPr>
        <p:spPr>
          <a:xfrm>
            <a:off x="3265145" y="2058175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68325-A4C9-524A-EE62-42C7168661A5}"/>
              </a:ext>
            </a:extLst>
          </p:cNvPr>
          <p:cNvSpPr/>
          <p:nvPr/>
        </p:nvSpPr>
        <p:spPr>
          <a:xfrm>
            <a:off x="3265145" y="2488583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85B46E-9324-FED2-56F5-1B5F881F0202}"/>
              </a:ext>
            </a:extLst>
          </p:cNvPr>
          <p:cNvSpPr/>
          <p:nvPr/>
        </p:nvSpPr>
        <p:spPr>
          <a:xfrm>
            <a:off x="3265145" y="2909699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186B4-B3F4-AA7E-F0AA-51397BD4E892}"/>
              </a:ext>
            </a:extLst>
          </p:cNvPr>
          <p:cNvSpPr/>
          <p:nvPr/>
        </p:nvSpPr>
        <p:spPr>
          <a:xfrm>
            <a:off x="1697276" y="3802320"/>
            <a:ext cx="6716933" cy="23748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11BE5B9-5EA5-7522-2357-C644713B6667}"/>
              </a:ext>
            </a:extLst>
          </p:cNvPr>
          <p:cNvSpPr/>
          <p:nvPr/>
        </p:nvSpPr>
        <p:spPr>
          <a:xfrm>
            <a:off x="7529305" y="6488055"/>
            <a:ext cx="703277" cy="326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목록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9FB096-78E5-1907-8F7F-8153F6570271}"/>
              </a:ext>
            </a:extLst>
          </p:cNvPr>
          <p:cNvSpPr/>
          <p:nvPr/>
        </p:nvSpPr>
        <p:spPr>
          <a:xfrm>
            <a:off x="7396005" y="6412061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1CB8A4-912E-4F2C-86B1-22CEB349C17E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4B2BC-F342-43BC-A7C9-B1C7D5E8B2D9}"/>
              </a:ext>
            </a:extLst>
          </p:cNvPr>
          <p:cNvSpPr txBox="1"/>
          <p:nvPr/>
        </p:nvSpPr>
        <p:spPr>
          <a:xfrm>
            <a:off x="1747381" y="1421704"/>
            <a:ext cx="151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상세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2DE7B5-11F2-4664-AF9F-75F43C37C620}"/>
              </a:ext>
            </a:extLst>
          </p:cNvPr>
          <p:cNvSpPr/>
          <p:nvPr/>
        </p:nvSpPr>
        <p:spPr>
          <a:xfrm>
            <a:off x="1745274" y="1300723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1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1952</TotalTime>
  <Words>4824</Words>
  <Application>Microsoft Office PowerPoint</Application>
  <PresentationFormat>와이드스크린</PresentationFormat>
  <Paragraphs>1816</Paragraphs>
  <Slides>58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4" baseType="lpstr">
      <vt:lpstr>ui-sans-serif</vt:lpstr>
      <vt:lpstr>맑은 고딕</vt:lpstr>
      <vt:lpstr>맑은 고딕</vt:lpstr>
      <vt:lpstr>Arial</vt:lpstr>
      <vt:lpstr>Consolas</vt:lpstr>
      <vt:lpstr>Office 테마</vt:lpstr>
      <vt:lpstr>스토리보드 산재통계</vt:lpstr>
      <vt:lpstr>목차</vt:lpstr>
      <vt:lpstr>API</vt:lpstr>
      <vt:lpstr>크롤링</vt:lpstr>
      <vt:lpstr>메인 , 헤더</vt:lpstr>
      <vt:lpstr>PowerPoint 프레젠테이션</vt:lpstr>
      <vt:lpstr>PowerPoint 프레젠테이션</vt:lpstr>
      <vt:lpstr>PowerPoint 프레젠테이션</vt:lpstr>
      <vt:lpstr>소개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 뉴스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주변 산재 검색</vt:lpstr>
      <vt:lpstr>PowerPoint 프레젠테이션</vt:lpstr>
      <vt:lpstr>PowerPoint 프레젠테이션</vt:lpstr>
      <vt:lpstr>PowerPoint 프레젠테이션</vt:lpstr>
      <vt:lpstr>주변 병원 검색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관리자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User</cp:lastModifiedBy>
  <cp:revision>148</cp:revision>
  <dcterms:created xsi:type="dcterms:W3CDTF">2025-11-24T01:38:34Z</dcterms:created>
  <dcterms:modified xsi:type="dcterms:W3CDTF">2025-11-28T11:41:39Z</dcterms:modified>
</cp:coreProperties>
</file>