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0" r:id="rId2"/>
    <p:sldId id="291" r:id="rId3"/>
    <p:sldId id="299" r:id="rId4"/>
    <p:sldId id="326" r:id="rId5"/>
    <p:sldId id="300" r:id="rId6"/>
    <p:sldId id="301" r:id="rId7"/>
    <p:sldId id="305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1011" autoAdjust="0"/>
  </p:normalViewPr>
  <p:slideViewPr>
    <p:cSldViewPr snapToGrid="0">
      <p:cViewPr varScale="1">
        <p:scale>
          <a:sx n="77" d="100"/>
          <a:sy n="77" d="100"/>
        </p:scale>
        <p:origin x="82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DFF91-717C-4EE9-9C3F-09298E32B65B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F57A-A7A3-460B-A3C5-F840737745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68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46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15EB4-779A-CFE3-15B8-C6F62366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AB8CE9-37BA-BA3E-02E0-DC29B2811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7A0656-30AF-53E2-E2E8-38DB6A27F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500A1-BE92-09A8-8AE2-3A7055FDC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537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8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947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2025-11-29(Sat)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46473-6DA8-4C85-8259-70D4CA3D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 자료실</a:t>
            </a:r>
          </a:p>
        </p:txBody>
      </p:sp>
    </p:spTree>
    <p:extLst>
      <p:ext uri="{BB962C8B-B14F-4D97-AF65-F5344CB8AC3E}">
        <p14:creationId xmlns:p14="http://schemas.microsoft.com/office/powerpoint/2010/main" val="1779738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615044" y="308933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367739" y="413165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369586" y="413165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2285073" y="404526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615043" y="3002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4286920" y="405479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graphicFrame>
        <p:nvGraphicFramePr>
          <p:cNvPr id="9" name="Google Shape;17;p1">
            <a:extLst>
              <a:ext uri="{FF2B5EF4-FFF2-40B4-BE49-F238E27FC236}">
                <a16:creationId xmlns:a16="http://schemas.microsoft.com/office/drawing/2014/main" id="{34B0849F-C399-6534-2A6F-30F42BC938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813515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로그인 체크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 안전자료실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 err="1">
                          <a:solidFill>
                            <a:schemeClr val="dk1"/>
                          </a:solidFill>
                        </a:rPr>
                        <a:t>비로그인시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Google Shape;18;p1">
            <a:extLst>
              <a:ext uri="{FF2B5EF4-FFF2-40B4-BE49-F238E27FC236}">
                <a16:creationId xmlns:a16="http://schemas.microsoft.com/office/drawing/2014/main" id="{B89864D7-5632-2CB6-0A0B-E9ECA8755C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4996834"/>
              </p:ext>
            </p:extLst>
          </p:nvPr>
        </p:nvGraphicFramePr>
        <p:xfrm>
          <a:off x="8603671" y="1180086"/>
          <a:ext cx="3588325" cy="567791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50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 dirty="0" err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68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 err="1">
                          <a:solidFill>
                            <a:schemeClr val="dk1"/>
                          </a:solidFill>
                        </a:rPr>
                        <a:t>비로그인시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7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5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6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112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36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071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1299598115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3217160896"/>
              </p:ext>
            </p:extLst>
          </p:nvPr>
        </p:nvGraphicFramePr>
        <p:xfrm>
          <a:off x="8603672" y="1180079"/>
          <a:ext cx="3588325" cy="576647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50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 dirty="0" err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68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7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추천콘텐츠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영역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카드 슬라이드로 출력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dirty="0"/>
                        <a:t>Default: </a:t>
                      </a:r>
                      <a:r>
                        <a:rPr lang="ko-KR" altLang="en-US" sz="1100" dirty="0"/>
                        <a:t>최근 본 자료 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슬라이드 당 </a:t>
                      </a:r>
                      <a:r>
                        <a:rPr lang="en-US" sz="1100" dirty="0"/>
                        <a:t>3</a:t>
                      </a:r>
                      <a:r>
                        <a:rPr lang="ko-KR" altLang="en-US" sz="1100" dirty="0"/>
                        <a:t>개씩 보여줌</a:t>
                      </a:r>
                      <a:r>
                        <a:rPr lang="en-US" altLang="ko-KR" sz="1100" dirty="0"/>
                        <a:t>. </a:t>
                      </a:r>
                      <a:r>
                        <a:rPr lang="ko-KR" altLang="en-US" sz="1100" dirty="0"/>
                        <a:t>슬라이드 총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개 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총 </a:t>
                      </a:r>
                      <a:r>
                        <a:rPr lang="en-US" altLang="ko-KR" sz="1100" dirty="0"/>
                        <a:t>6</a:t>
                      </a:r>
                      <a:r>
                        <a:rPr lang="ko-KR" altLang="en-US" sz="1100" dirty="0"/>
                        <a:t>개의 카드 보여줌</a:t>
                      </a:r>
                      <a:endParaRPr lang="en-US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50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자료제목이나 이미지 클릭 시 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해당 자료 상세페이지로 이동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6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112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36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67534" y="2767233"/>
            <a:ext cx="152023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/>
              <a:t>최근 본 자료</a:t>
            </a:r>
            <a:endParaRPr sz="12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F642C1-AE9C-BA0C-6391-A5D10F03F320}"/>
              </a:ext>
            </a:extLst>
          </p:cNvPr>
          <p:cNvSpPr/>
          <p:nvPr/>
        </p:nvSpPr>
        <p:spPr>
          <a:xfrm>
            <a:off x="567536" y="3091161"/>
            <a:ext cx="7286388" cy="31505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900AE3-427B-6EEE-E52F-A098DF854A06}"/>
              </a:ext>
            </a:extLst>
          </p:cNvPr>
          <p:cNvSpPr txBox="1"/>
          <p:nvPr/>
        </p:nvSpPr>
        <p:spPr>
          <a:xfrm>
            <a:off x="7290770" y="4363948"/>
            <a:ext cx="1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8F7C40-39D5-5E3A-1CDF-CF1198DEFD48}"/>
              </a:ext>
            </a:extLst>
          </p:cNvPr>
          <p:cNvSpPr txBox="1"/>
          <p:nvPr/>
        </p:nvSpPr>
        <p:spPr>
          <a:xfrm>
            <a:off x="881746" y="4261385"/>
            <a:ext cx="36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endParaRPr lang="ko-KR" altLang="en-US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50825" y="3023050"/>
            <a:ext cx="144617" cy="184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0AFA082-8659-FA47-6C38-61FBBAA41A92}"/>
              </a:ext>
            </a:extLst>
          </p:cNvPr>
          <p:cNvGrpSpPr/>
          <p:nvPr/>
        </p:nvGrpSpPr>
        <p:grpSpPr>
          <a:xfrm>
            <a:off x="546431" y="2084894"/>
            <a:ext cx="7307492" cy="453020"/>
            <a:chOff x="567534" y="2272425"/>
            <a:chExt cx="7307492" cy="453020"/>
          </a:xfrm>
        </p:grpSpPr>
        <p:sp>
          <p:nvSpPr>
            <p:cNvPr id="67" name="Google Shape;23;p1">
              <a:extLst>
                <a:ext uri="{FF2B5EF4-FFF2-40B4-BE49-F238E27FC236}">
                  <a16:creationId xmlns:a16="http://schemas.microsoft.com/office/drawing/2014/main" id="{ECEAA6D1-1F7A-C6B3-2E9B-699C43275D87}"/>
                </a:ext>
              </a:extLst>
            </p:cNvPr>
            <p:cNvSpPr txBox="1"/>
            <p:nvPr/>
          </p:nvSpPr>
          <p:spPr>
            <a:xfrm>
              <a:off x="567534" y="2272425"/>
              <a:ext cx="176729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/>
                <a:t>안전자료실</a:t>
              </a:r>
              <a:endParaRPr b="1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264761D-8EE0-94A6-C11E-5AEC1318A2BB}"/>
                </a:ext>
              </a:extLst>
            </p:cNvPr>
            <p:cNvCxnSpPr/>
            <p:nvPr/>
          </p:nvCxnSpPr>
          <p:spPr>
            <a:xfrm>
              <a:off x="567534" y="2725445"/>
              <a:ext cx="73074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A412D06-4C4E-01E7-06FF-2599541223C7}"/>
              </a:ext>
            </a:extLst>
          </p:cNvPr>
          <p:cNvGrpSpPr/>
          <p:nvPr/>
        </p:nvGrpSpPr>
        <p:grpSpPr>
          <a:xfrm>
            <a:off x="1729772" y="3444702"/>
            <a:ext cx="1328756" cy="2577155"/>
            <a:chOff x="1331556" y="3807373"/>
            <a:chExt cx="1615045" cy="214558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B2AF8D3-A373-670C-B106-39D3D85E5E32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17DDB7-5205-1FCB-9A26-2123B472110F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82076BC-1FFD-4FF9-A824-E3CBDF8187C5}"/>
              </a:ext>
            </a:extLst>
          </p:cNvPr>
          <p:cNvGrpSpPr/>
          <p:nvPr/>
        </p:nvGrpSpPr>
        <p:grpSpPr>
          <a:xfrm>
            <a:off x="5376836" y="3444702"/>
            <a:ext cx="1328756" cy="2577155"/>
            <a:chOff x="1331556" y="3807373"/>
            <a:chExt cx="1615045" cy="214558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1F2D4DB-55B1-257F-EF76-56B41F827AF2}"/>
                </a:ext>
              </a:extLst>
            </p:cNvPr>
            <p:cNvSpPr/>
            <p:nvPr/>
          </p:nvSpPr>
          <p:spPr>
            <a:xfrm>
              <a:off x="1331556" y="3807373"/>
              <a:ext cx="1615045" cy="16601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BCE387-6B90-4034-A617-46C580385AC7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2335A72-C3F8-B494-5CF1-3B5DB06A2FDD}"/>
              </a:ext>
            </a:extLst>
          </p:cNvPr>
          <p:cNvGrpSpPr/>
          <p:nvPr/>
        </p:nvGrpSpPr>
        <p:grpSpPr>
          <a:xfrm>
            <a:off x="3553304" y="3444702"/>
            <a:ext cx="1328756" cy="2577155"/>
            <a:chOff x="1331556" y="3807373"/>
            <a:chExt cx="1615045" cy="214558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460285B-2A87-50CC-BABF-E4EEE325EEB9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DDC559-8BD1-F8E6-7B18-6A6D2DF117B3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B2CACF-145C-5AE0-B4EF-006826A02F38}"/>
              </a:ext>
            </a:extLst>
          </p:cNvPr>
          <p:cNvSpPr/>
          <p:nvPr/>
        </p:nvSpPr>
        <p:spPr>
          <a:xfrm>
            <a:off x="1665525" y="5357839"/>
            <a:ext cx="144617" cy="184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79F55903-136A-7E82-DAAC-D0A2C0DD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>
            <a:extLst>
              <a:ext uri="{FF2B5EF4-FFF2-40B4-BE49-F238E27FC236}">
                <a16:creationId xmlns:a16="http://schemas.microsoft.com/office/drawing/2014/main" id="{962684FD-169F-D7D3-EF6E-ED78710702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3212097"/>
              </p:ext>
            </p:extLst>
          </p:nvPr>
        </p:nvGraphicFramePr>
        <p:xfrm>
          <a:off x="9939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작성자</a:t>
                      </a:r>
                      <a:endParaRPr dirty="0"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필터영역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중간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>
            <a:extLst>
              <a:ext uri="{FF2B5EF4-FFF2-40B4-BE49-F238E27FC236}">
                <a16:creationId xmlns:a16="http://schemas.microsoft.com/office/drawing/2014/main" id="{4B8701D6-3978-9575-2A24-1F0363F290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7006163"/>
              </p:ext>
            </p:extLst>
          </p:nvPr>
        </p:nvGraphicFramePr>
        <p:xfrm>
          <a:off x="8603672" y="1180080"/>
          <a:ext cx="3588325" cy="569044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2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5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자료형태 유형 체크박스로 선택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동영상 </a:t>
                      </a:r>
                      <a:r>
                        <a:rPr lang="en-US" altLang="ko-KR" sz="1100" dirty="0"/>
                        <a:t>/ OPS</a:t>
                      </a:r>
                      <a:r>
                        <a:rPr lang="en-US" altLang="ko-KR" sz="11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맑은 고딕"/>
                          <a:cs typeface="맑은 고딕"/>
                        </a:rPr>
                        <a:t>(One Point Sheet)</a:t>
                      </a:r>
                      <a:r>
                        <a:rPr lang="en-US" altLang="ko-KR" sz="1100" dirty="0"/>
                        <a:t> / </a:t>
                      </a:r>
                      <a:r>
                        <a:rPr lang="ko-KR" altLang="en-US" sz="1100" dirty="0"/>
                        <a:t>책자 </a:t>
                      </a:r>
                      <a:r>
                        <a:rPr lang="en-US" altLang="ko-KR" sz="1100" dirty="0"/>
                        <a:t>/ PPT / </a:t>
                      </a:r>
                      <a:r>
                        <a:rPr lang="ko-KR" altLang="en-US" sz="1100" dirty="0"/>
                        <a:t>기타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로 나누어 분류 </a:t>
                      </a: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텍스트 </a:t>
                      </a:r>
                      <a:r>
                        <a:rPr lang="ko-KR" altLang="en-US" sz="1100" dirty="0" err="1"/>
                        <a:t>검색란</a:t>
                      </a: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 err="1"/>
                        <a:t>검색텍스트가</a:t>
                      </a:r>
                      <a:r>
                        <a:rPr lang="ko-KR" altLang="en-US" sz="1100" dirty="0"/>
                        <a:t> 자료제목에 </a:t>
                      </a:r>
                      <a:r>
                        <a:rPr lang="ko-KR" altLang="en-US" sz="1100" dirty="0" err="1"/>
                        <a:t>들어가있는</a:t>
                      </a:r>
                      <a:r>
                        <a:rPr lang="ko-KR" altLang="en-US" sz="1100" dirty="0"/>
                        <a:t> 자료 검색</a:t>
                      </a: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en-US" altLang="ko-KR" sz="1100" dirty="0"/>
                        <a:t>placeholder(‘</a:t>
                      </a:r>
                      <a:r>
                        <a:rPr lang="ko-KR" altLang="en-US" sz="1100" dirty="0"/>
                        <a:t>제목검색</a:t>
                      </a:r>
                      <a:r>
                        <a:rPr lang="en-US" altLang="ko-KR" sz="1100" dirty="0"/>
                        <a:t>’)</a:t>
                      </a: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  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검색 버튼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클릭 시 설정한 필터 및 텍스트 검색 기반으로 자료 검색함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다음페이지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)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에 검색결과 나옴 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56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>
            <a:extLst>
              <a:ext uri="{FF2B5EF4-FFF2-40B4-BE49-F238E27FC236}">
                <a16:creationId xmlns:a16="http://schemas.microsoft.com/office/drawing/2014/main" id="{87206C3A-E144-332E-07DD-745A72146465}"/>
              </a:ext>
            </a:extLst>
          </p:cNvPr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9B1D0870-C6DD-6894-9542-6AE49434A504}"/>
              </a:ext>
            </a:extLst>
          </p:cNvPr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438326" y="3411224"/>
            <a:ext cx="7486168" cy="124833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A4D6CEB-843D-CADE-0AFC-A012D4036471}"/>
              </a:ext>
            </a:extLst>
          </p:cNvPr>
          <p:cNvSpPr/>
          <p:nvPr/>
        </p:nvSpPr>
        <p:spPr>
          <a:xfrm>
            <a:off x="1828799" y="4150317"/>
            <a:ext cx="5891576" cy="3804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제목검색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C120636-A195-6CB6-2353-888DFBACCABE}"/>
              </a:ext>
            </a:extLst>
          </p:cNvPr>
          <p:cNvGrpSpPr/>
          <p:nvPr/>
        </p:nvGrpSpPr>
        <p:grpSpPr>
          <a:xfrm>
            <a:off x="6811085" y="4785198"/>
            <a:ext cx="1113409" cy="496956"/>
            <a:chOff x="7045769" y="5389880"/>
            <a:chExt cx="1113409" cy="49695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2D3E4C0-CB12-5615-832E-13DE4FB559F4}"/>
                </a:ext>
              </a:extLst>
            </p:cNvPr>
            <p:cNvSpPr/>
            <p:nvPr/>
          </p:nvSpPr>
          <p:spPr>
            <a:xfrm>
              <a:off x="7045769" y="5389880"/>
              <a:ext cx="1113409" cy="4969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tx1"/>
                  </a:solidFill>
                </a:rPr>
                <a:t>  검색</a:t>
              </a:r>
            </a:p>
          </p:txBody>
        </p:sp>
        <p:sp>
          <p:nvSpPr>
            <p:cNvPr id="32" name="그래픽 24" descr="돋보기 단색으로 채워진">
              <a:extLst>
                <a:ext uri="{FF2B5EF4-FFF2-40B4-BE49-F238E27FC236}">
                  <a16:creationId xmlns:a16="http://schemas.microsoft.com/office/drawing/2014/main" id="{C588998A-BAC5-FFA2-0C43-0ABE72E6ECD2}"/>
                </a:ext>
              </a:extLst>
            </p:cNvPr>
            <p:cNvSpPr/>
            <p:nvPr/>
          </p:nvSpPr>
          <p:spPr>
            <a:xfrm>
              <a:off x="7766218" y="5515521"/>
              <a:ext cx="237725" cy="245675"/>
            </a:xfrm>
            <a:custGeom>
              <a:avLst/>
              <a:gdLst>
                <a:gd name="connsiteX0" fmla="*/ 321806 w 330332"/>
                <a:gd name="connsiteY0" fmla="*/ 339760 h 400612"/>
                <a:gd name="connsiteX1" fmla="*/ 269497 w 330332"/>
                <a:gd name="connsiteY1" fmla="*/ 276372 h 400612"/>
                <a:gd name="connsiteX2" fmla="*/ 243551 w 330332"/>
                <a:gd name="connsiteY2" fmla="*/ 266737 h 400612"/>
                <a:gd name="connsiteX3" fmla="*/ 225138 w 330332"/>
                <a:gd name="connsiteY3" fmla="*/ 244424 h 400612"/>
                <a:gd name="connsiteX4" fmla="*/ 251084 w 330332"/>
                <a:gd name="connsiteY4" fmla="*/ 152131 h 400612"/>
                <a:gd name="connsiteX5" fmla="*/ 125542 w 330332"/>
                <a:gd name="connsiteY5" fmla="*/ 0 h 400612"/>
                <a:gd name="connsiteX6" fmla="*/ 0 w 330332"/>
                <a:gd name="connsiteY6" fmla="*/ 152131 h 400612"/>
                <a:gd name="connsiteX7" fmla="*/ 125542 w 330332"/>
                <a:gd name="connsiteY7" fmla="*/ 304263 h 400612"/>
                <a:gd name="connsiteX8" fmla="*/ 201704 w 330332"/>
                <a:gd name="connsiteY8" fmla="*/ 272822 h 400612"/>
                <a:gd name="connsiteX9" fmla="*/ 220117 w 330332"/>
                <a:gd name="connsiteY9" fmla="*/ 295135 h 400612"/>
                <a:gd name="connsiteX10" fmla="*/ 228068 w 330332"/>
                <a:gd name="connsiteY10" fmla="*/ 326575 h 400612"/>
                <a:gd name="connsiteX11" fmla="*/ 280377 w 330332"/>
                <a:gd name="connsiteY11" fmla="*/ 389963 h 400612"/>
                <a:gd name="connsiteX12" fmla="*/ 301301 w 330332"/>
                <a:gd name="connsiteY12" fmla="*/ 400612 h 400612"/>
                <a:gd name="connsiteX13" fmla="*/ 322224 w 330332"/>
                <a:gd name="connsiteY13" fmla="*/ 389963 h 400612"/>
                <a:gd name="connsiteX14" fmla="*/ 321806 w 330332"/>
                <a:gd name="connsiteY14" fmla="*/ 339760 h 400612"/>
                <a:gd name="connsiteX15" fmla="*/ 125123 w 330332"/>
                <a:gd name="connsiteY15" fmla="*/ 273329 h 400612"/>
                <a:gd name="connsiteX16" fmla="*/ 24690 w 330332"/>
                <a:gd name="connsiteY16" fmla="*/ 151624 h 400612"/>
                <a:gd name="connsiteX17" fmla="*/ 125123 w 330332"/>
                <a:gd name="connsiteY17" fmla="*/ 29919 h 400612"/>
                <a:gd name="connsiteX18" fmla="*/ 225557 w 330332"/>
                <a:gd name="connsiteY18" fmla="*/ 151624 h 400612"/>
                <a:gd name="connsiteX19" fmla="*/ 125123 w 330332"/>
                <a:gd name="connsiteY19" fmla="*/ 273329 h 40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0332" h="400612">
                  <a:moveTo>
                    <a:pt x="321806" y="339760"/>
                  </a:moveTo>
                  <a:lnTo>
                    <a:pt x="269497" y="276372"/>
                  </a:lnTo>
                  <a:cubicBezTo>
                    <a:pt x="262383" y="267751"/>
                    <a:pt x="252758" y="264708"/>
                    <a:pt x="243551" y="266737"/>
                  </a:cubicBezTo>
                  <a:lnTo>
                    <a:pt x="225138" y="244424"/>
                  </a:lnTo>
                  <a:cubicBezTo>
                    <a:pt x="241459" y="219069"/>
                    <a:pt x="251084" y="186614"/>
                    <a:pt x="251084" y="152131"/>
                  </a:cubicBezTo>
                  <a:cubicBezTo>
                    <a:pt x="251084" y="68459"/>
                    <a:pt x="194590" y="0"/>
                    <a:pt x="125542" y="0"/>
                  </a:cubicBezTo>
                  <a:cubicBezTo>
                    <a:pt x="56494" y="0"/>
                    <a:pt x="0" y="68459"/>
                    <a:pt x="0" y="152131"/>
                  </a:cubicBezTo>
                  <a:cubicBezTo>
                    <a:pt x="0" y="235803"/>
                    <a:pt x="56494" y="304263"/>
                    <a:pt x="125542" y="304263"/>
                  </a:cubicBezTo>
                  <a:cubicBezTo>
                    <a:pt x="153998" y="304263"/>
                    <a:pt x="180362" y="292599"/>
                    <a:pt x="201704" y="272822"/>
                  </a:cubicBezTo>
                  <a:lnTo>
                    <a:pt x="220117" y="295135"/>
                  </a:lnTo>
                  <a:cubicBezTo>
                    <a:pt x="218443" y="306291"/>
                    <a:pt x="220954" y="317954"/>
                    <a:pt x="228068" y="326575"/>
                  </a:cubicBezTo>
                  <a:lnTo>
                    <a:pt x="280377" y="389963"/>
                  </a:lnTo>
                  <a:cubicBezTo>
                    <a:pt x="286235" y="397063"/>
                    <a:pt x="293768" y="400612"/>
                    <a:pt x="301301" y="400612"/>
                  </a:cubicBezTo>
                  <a:cubicBezTo>
                    <a:pt x="308833" y="400612"/>
                    <a:pt x="316366" y="397063"/>
                    <a:pt x="322224" y="389963"/>
                  </a:cubicBezTo>
                  <a:cubicBezTo>
                    <a:pt x="333104" y="375764"/>
                    <a:pt x="333104" y="353452"/>
                    <a:pt x="321806" y="339760"/>
                  </a:cubicBezTo>
                  <a:close/>
                  <a:moveTo>
                    <a:pt x="125123" y="273329"/>
                  </a:moveTo>
                  <a:cubicBezTo>
                    <a:pt x="69885" y="273329"/>
                    <a:pt x="24690" y="218562"/>
                    <a:pt x="24690" y="151624"/>
                  </a:cubicBezTo>
                  <a:cubicBezTo>
                    <a:pt x="24690" y="84686"/>
                    <a:pt x="69885" y="29919"/>
                    <a:pt x="125123" y="29919"/>
                  </a:cubicBezTo>
                  <a:cubicBezTo>
                    <a:pt x="180362" y="29919"/>
                    <a:pt x="225557" y="84686"/>
                    <a:pt x="225557" y="151624"/>
                  </a:cubicBezTo>
                  <a:cubicBezTo>
                    <a:pt x="225557" y="218562"/>
                    <a:pt x="180362" y="273329"/>
                    <a:pt x="125123" y="273329"/>
                  </a:cubicBezTo>
                  <a:close/>
                </a:path>
              </a:pathLst>
            </a:custGeom>
            <a:solidFill>
              <a:srgbClr val="000000"/>
            </a:solidFill>
            <a:ln w="4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06FD5F0-9FA6-0906-C054-1CAD9D0765E5}"/>
              </a:ext>
            </a:extLst>
          </p:cNvPr>
          <p:cNvSpPr txBox="1"/>
          <p:nvPr/>
        </p:nvSpPr>
        <p:spPr>
          <a:xfrm>
            <a:off x="596858" y="4150317"/>
            <a:ext cx="1231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 검색      </a:t>
            </a:r>
            <a:r>
              <a:rPr lang="en-US" altLang="ko-KR" sz="1600" dirty="0"/>
              <a:t>|</a:t>
            </a:r>
            <a:endParaRPr lang="ko-KR" altLang="en-US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EE0FB4-53B2-3F05-7E8D-8BAAE51E3005}"/>
              </a:ext>
            </a:extLst>
          </p:cNvPr>
          <p:cNvSpPr txBox="1"/>
          <p:nvPr/>
        </p:nvSpPr>
        <p:spPr>
          <a:xfrm>
            <a:off x="633216" y="3658041"/>
            <a:ext cx="1159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자료유형 </a:t>
            </a:r>
            <a:r>
              <a:rPr lang="en-US" altLang="ko-KR" sz="1600" dirty="0"/>
              <a:t>|</a:t>
            </a:r>
            <a:endParaRPr lang="ko-KR" altLang="en-US" sz="16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5A393E8-416E-5320-1B2F-4B0DE1F2F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193" y="3561571"/>
            <a:ext cx="3531335" cy="479311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C139CA2E-BEF0-EA8C-A4AD-D9ED1130BA21}"/>
              </a:ext>
            </a:extLst>
          </p:cNvPr>
          <p:cNvSpPr/>
          <p:nvPr/>
        </p:nvSpPr>
        <p:spPr>
          <a:xfrm>
            <a:off x="1765529" y="425065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99ED4B6-D3C6-F71D-9652-D0F6DA14127D}"/>
              </a:ext>
            </a:extLst>
          </p:cNvPr>
          <p:cNvSpPr/>
          <p:nvPr/>
        </p:nvSpPr>
        <p:spPr>
          <a:xfrm>
            <a:off x="1645774" y="35716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6AED7BE-764D-0CEA-699C-AD5543DDEC46}"/>
              </a:ext>
            </a:extLst>
          </p:cNvPr>
          <p:cNvSpPr/>
          <p:nvPr/>
        </p:nvSpPr>
        <p:spPr>
          <a:xfrm>
            <a:off x="6681909" y="487720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13309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126799191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1698984881"/>
              </p:ext>
            </p:extLst>
          </p:nvPr>
        </p:nvGraphicFramePr>
        <p:xfrm>
          <a:off x="8603672" y="1180080"/>
          <a:ext cx="3588325" cy="566596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2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 dirty="0" err="1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5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검색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필터 설정 후 검색 클릭 시 나타나는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검색결과 목록 리스트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한페이지당 </a:t>
                      </a:r>
                      <a:r>
                        <a:rPr lang="en-US" altLang="ko-KR" sz="1100" dirty="0"/>
                        <a:t>6~7</a:t>
                      </a:r>
                      <a:r>
                        <a:rPr lang="ko-KR" altLang="en-US" sz="1100" dirty="0"/>
                        <a:t>개정도만 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</a:t>
                      </a:r>
                      <a:r>
                        <a:rPr lang="en-US" altLang="ko-KR" sz="1100" dirty="0"/>
                        <a:t>3~4</a:t>
                      </a:r>
                      <a:r>
                        <a:rPr lang="ko-KR" altLang="en-US" sz="1100" dirty="0"/>
                        <a:t>개만 표시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dirty="0"/>
                        <a:t>4</a:t>
                      </a:r>
                      <a:r>
                        <a:rPr lang="ko-KR" altLang="en-US" sz="1100" dirty="0"/>
                        <a:t>개보다 많을 시 </a:t>
                      </a:r>
                      <a:r>
                        <a:rPr lang="en-US" altLang="ko-KR" sz="1100" dirty="0"/>
                        <a:t>‘….’ substring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상세페이지에서만 태그 전체 보여줌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3.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자료 내용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길이가 </a:t>
                      </a:r>
                      <a:r>
                        <a:rPr lang="en-US" altLang="ko-KR" sz="1100" dirty="0"/>
                        <a:t>100</a:t>
                      </a:r>
                      <a:r>
                        <a:rPr lang="ko-KR" altLang="en-US" sz="1100" dirty="0"/>
                        <a:t>자 넘으면 자동 </a:t>
                      </a:r>
                      <a:r>
                        <a:rPr lang="en-US" altLang="ko-KR" sz="1100" dirty="0"/>
                        <a:t>‘…’ substring.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상세페이지에서만 전체 본문 제공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5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 4.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최신순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/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과거순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/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조회순 정렬기능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Select </a:t>
                      </a: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5. 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" name="Google Shape;23;p1">
            <a:extLst>
              <a:ext uri="{FF2B5EF4-FFF2-40B4-BE49-F238E27FC236}">
                <a16:creationId xmlns:a16="http://schemas.microsoft.com/office/drawing/2014/main" id="{B79359C4-C06E-B9A2-0301-7FF508A4E401}"/>
              </a:ext>
            </a:extLst>
          </p:cNvPr>
          <p:cNvSpPr txBox="1"/>
          <p:nvPr/>
        </p:nvSpPr>
        <p:spPr>
          <a:xfrm>
            <a:off x="450422" y="2814829"/>
            <a:ext cx="188141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검색결과</a:t>
            </a:r>
            <a:endParaRPr sz="2000" b="1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1C5788D-3F32-7885-9969-54E88FE52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707213"/>
              </p:ext>
            </p:extLst>
          </p:nvPr>
        </p:nvGraphicFramePr>
        <p:xfrm>
          <a:off x="450422" y="3429000"/>
          <a:ext cx="7404270" cy="2750145"/>
        </p:xfrm>
        <a:graphic>
          <a:graphicData uri="http://schemas.openxmlformats.org/drawingml/2006/table">
            <a:tbl>
              <a:tblPr firstRow="1" bandRow="1"/>
              <a:tblGrid>
                <a:gridCol w="5832831">
                  <a:extLst>
                    <a:ext uri="{9D8B030D-6E8A-4147-A177-3AD203B41FA5}">
                      <a16:colId xmlns:a16="http://schemas.microsoft.com/office/drawing/2014/main" val="610372560"/>
                    </a:ext>
                  </a:extLst>
                </a:gridCol>
                <a:gridCol w="1571439">
                  <a:extLst>
                    <a:ext uri="{9D8B030D-6E8A-4147-A177-3AD203B41FA5}">
                      <a16:colId xmlns:a16="http://schemas.microsoft.com/office/drawing/2014/main" val="1554072574"/>
                    </a:ext>
                  </a:extLst>
                </a:gridCol>
              </a:tblGrid>
              <a:tr h="13491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교육자료 제목</a:t>
                      </a:r>
                      <a:endParaRPr lang="en-US" altLang="ko-KR" sz="1600" b="1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19439"/>
                  </a:ext>
                </a:extLst>
              </a:tr>
              <a:tr h="14009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/>
                        <a:t>교육자료 제목</a:t>
                      </a:r>
                      <a:endParaRPr lang="en-US" altLang="ko-KR" sz="1600" b="1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12220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4A2782A-D3E8-898C-BD5D-F5F8F7D349EC}"/>
              </a:ext>
            </a:extLst>
          </p:cNvPr>
          <p:cNvGrpSpPr/>
          <p:nvPr/>
        </p:nvGrpSpPr>
        <p:grpSpPr>
          <a:xfrm>
            <a:off x="507830" y="3926621"/>
            <a:ext cx="2576421" cy="475466"/>
            <a:chOff x="543858" y="4764908"/>
            <a:chExt cx="2576421" cy="47546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3AA75E-8599-C0D2-C3A8-E39063397693}"/>
                </a:ext>
              </a:extLst>
            </p:cNvPr>
            <p:cNvSpPr txBox="1"/>
            <p:nvPr/>
          </p:nvSpPr>
          <p:spPr>
            <a:xfrm>
              <a:off x="552225" y="4764908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98A1D5-094B-4384-198E-09B0A5415157}"/>
                </a:ext>
              </a:extLst>
            </p:cNvPr>
            <p:cNvSpPr txBox="1"/>
            <p:nvPr/>
          </p:nvSpPr>
          <p:spPr>
            <a:xfrm>
              <a:off x="543858" y="4978764"/>
              <a:ext cx="91719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설명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CB0964-8A29-61AA-A26E-722DAB73ADB2}"/>
              </a:ext>
            </a:extLst>
          </p:cNvPr>
          <p:cNvGrpSpPr/>
          <p:nvPr/>
        </p:nvGrpSpPr>
        <p:grpSpPr>
          <a:xfrm>
            <a:off x="518009" y="5164969"/>
            <a:ext cx="2568054" cy="475239"/>
            <a:chOff x="572411" y="4758724"/>
            <a:chExt cx="2568054" cy="47523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C5AB6-873B-FAA0-789D-741BC343B241}"/>
                </a:ext>
              </a:extLst>
            </p:cNvPr>
            <p:cNvSpPr txBox="1"/>
            <p:nvPr/>
          </p:nvSpPr>
          <p:spPr>
            <a:xfrm>
              <a:off x="572411" y="4758724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1C4E66-808D-0A9C-63D1-DF3C64A6211E}"/>
                </a:ext>
              </a:extLst>
            </p:cNvPr>
            <p:cNvSpPr txBox="1"/>
            <p:nvPr/>
          </p:nvSpPr>
          <p:spPr>
            <a:xfrm>
              <a:off x="580778" y="4972353"/>
              <a:ext cx="9204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설명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1070F2-EE87-ABDA-7900-ACA0719D4C20}"/>
              </a:ext>
            </a:extLst>
          </p:cNvPr>
          <p:cNvSpPr/>
          <p:nvPr/>
        </p:nvSpPr>
        <p:spPr>
          <a:xfrm>
            <a:off x="339205" y="347047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6E267A-F00A-42B4-BE74-5F9D8D0DB3D1}"/>
              </a:ext>
            </a:extLst>
          </p:cNvPr>
          <p:cNvSpPr/>
          <p:nvPr/>
        </p:nvSpPr>
        <p:spPr>
          <a:xfrm>
            <a:off x="6597882" y="5079549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대표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D6BA85D-5EBA-4D91-6421-674E145FDFC4}"/>
              </a:ext>
            </a:extLst>
          </p:cNvPr>
          <p:cNvSpPr/>
          <p:nvPr/>
        </p:nvSpPr>
        <p:spPr>
          <a:xfrm>
            <a:off x="1995406" y="396333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C53EF2-B35C-304E-CA5B-C72EABC03E3E}"/>
              </a:ext>
            </a:extLst>
          </p:cNvPr>
          <p:cNvSpPr/>
          <p:nvPr/>
        </p:nvSpPr>
        <p:spPr>
          <a:xfrm>
            <a:off x="361047" y="416904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FCA16DB-99F6-A99F-45EF-96358E99592D}"/>
              </a:ext>
            </a:extLst>
          </p:cNvPr>
          <p:cNvGrpSpPr/>
          <p:nvPr/>
        </p:nvGrpSpPr>
        <p:grpSpPr>
          <a:xfrm>
            <a:off x="6741283" y="2065350"/>
            <a:ext cx="1113409" cy="496956"/>
            <a:chOff x="7045769" y="5389880"/>
            <a:chExt cx="1113409" cy="496956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803EE9F-C996-3151-D978-6D9A59C10219}"/>
                </a:ext>
              </a:extLst>
            </p:cNvPr>
            <p:cNvSpPr/>
            <p:nvPr/>
          </p:nvSpPr>
          <p:spPr>
            <a:xfrm>
              <a:off x="7045769" y="5389880"/>
              <a:ext cx="1113409" cy="4969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tx1"/>
                  </a:solidFill>
                </a:rPr>
                <a:t>  검색</a:t>
              </a:r>
            </a:p>
          </p:txBody>
        </p:sp>
        <p:sp>
          <p:nvSpPr>
            <p:cNvPr id="31" name="그래픽 24" descr="돋보기 단색으로 채워진">
              <a:extLst>
                <a:ext uri="{FF2B5EF4-FFF2-40B4-BE49-F238E27FC236}">
                  <a16:creationId xmlns:a16="http://schemas.microsoft.com/office/drawing/2014/main" id="{0CB08BF4-8B84-CB5C-2747-2713C5AD47F2}"/>
                </a:ext>
              </a:extLst>
            </p:cNvPr>
            <p:cNvSpPr/>
            <p:nvPr/>
          </p:nvSpPr>
          <p:spPr>
            <a:xfrm>
              <a:off x="7766218" y="5515521"/>
              <a:ext cx="237725" cy="245675"/>
            </a:xfrm>
            <a:custGeom>
              <a:avLst/>
              <a:gdLst>
                <a:gd name="connsiteX0" fmla="*/ 321806 w 330332"/>
                <a:gd name="connsiteY0" fmla="*/ 339760 h 400612"/>
                <a:gd name="connsiteX1" fmla="*/ 269497 w 330332"/>
                <a:gd name="connsiteY1" fmla="*/ 276372 h 400612"/>
                <a:gd name="connsiteX2" fmla="*/ 243551 w 330332"/>
                <a:gd name="connsiteY2" fmla="*/ 266737 h 400612"/>
                <a:gd name="connsiteX3" fmla="*/ 225138 w 330332"/>
                <a:gd name="connsiteY3" fmla="*/ 244424 h 400612"/>
                <a:gd name="connsiteX4" fmla="*/ 251084 w 330332"/>
                <a:gd name="connsiteY4" fmla="*/ 152131 h 400612"/>
                <a:gd name="connsiteX5" fmla="*/ 125542 w 330332"/>
                <a:gd name="connsiteY5" fmla="*/ 0 h 400612"/>
                <a:gd name="connsiteX6" fmla="*/ 0 w 330332"/>
                <a:gd name="connsiteY6" fmla="*/ 152131 h 400612"/>
                <a:gd name="connsiteX7" fmla="*/ 125542 w 330332"/>
                <a:gd name="connsiteY7" fmla="*/ 304263 h 400612"/>
                <a:gd name="connsiteX8" fmla="*/ 201704 w 330332"/>
                <a:gd name="connsiteY8" fmla="*/ 272822 h 400612"/>
                <a:gd name="connsiteX9" fmla="*/ 220117 w 330332"/>
                <a:gd name="connsiteY9" fmla="*/ 295135 h 400612"/>
                <a:gd name="connsiteX10" fmla="*/ 228068 w 330332"/>
                <a:gd name="connsiteY10" fmla="*/ 326575 h 400612"/>
                <a:gd name="connsiteX11" fmla="*/ 280377 w 330332"/>
                <a:gd name="connsiteY11" fmla="*/ 389963 h 400612"/>
                <a:gd name="connsiteX12" fmla="*/ 301301 w 330332"/>
                <a:gd name="connsiteY12" fmla="*/ 400612 h 400612"/>
                <a:gd name="connsiteX13" fmla="*/ 322224 w 330332"/>
                <a:gd name="connsiteY13" fmla="*/ 389963 h 400612"/>
                <a:gd name="connsiteX14" fmla="*/ 321806 w 330332"/>
                <a:gd name="connsiteY14" fmla="*/ 339760 h 400612"/>
                <a:gd name="connsiteX15" fmla="*/ 125123 w 330332"/>
                <a:gd name="connsiteY15" fmla="*/ 273329 h 400612"/>
                <a:gd name="connsiteX16" fmla="*/ 24690 w 330332"/>
                <a:gd name="connsiteY16" fmla="*/ 151624 h 400612"/>
                <a:gd name="connsiteX17" fmla="*/ 125123 w 330332"/>
                <a:gd name="connsiteY17" fmla="*/ 29919 h 400612"/>
                <a:gd name="connsiteX18" fmla="*/ 225557 w 330332"/>
                <a:gd name="connsiteY18" fmla="*/ 151624 h 400612"/>
                <a:gd name="connsiteX19" fmla="*/ 125123 w 330332"/>
                <a:gd name="connsiteY19" fmla="*/ 273329 h 40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0332" h="400612">
                  <a:moveTo>
                    <a:pt x="321806" y="339760"/>
                  </a:moveTo>
                  <a:lnTo>
                    <a:pt x="269497" y="276372"/>
                  </a:lnTo>
                  <a:cubicBezTo>
                    <a:pt x="262383" y="267751"/>
                    <a:pt x="252758" y="264708"/>
                    <a:pt x="243551" y="266737"/>
                  </a:cubicBezTo>
                  <a:lnTo>
                    <a:pt x="225138" y="244424"/>
                  </a:lnTo>
                  <a:cubicBezTo>
                    <a:pt x="241459" y="219069"/>
                    <a:pt x="251084" y="186614"/>
                    <a:pt x="251084" y="152131"/>
                  </a:cubicBezTo>
                  <a:cubicBezTo>
                    <a:pt x="251084" y="68459"/>
                    <a:pt x="194590" y="0"/>
                    <a:pt x="125542" y="0"/>
                  </a:cubicBezTo>
                  <a:cubicBezTo>
                    <a:pt x="56494" y="0"/>
                    <a:pt x="0" y="68459"/>
                    <a:pt x="0" y="152131"/>
                  </a:cubicBezTo>
                  <a:cubicBezTo>
                    <a:pt x="0" y="235803"/>
                    <a:pt x="56494" y="304263"/>
                    <a:pt x="125542" y="304263"/>
                  </a:cubicBezTo>
                  <a:cubicBezTo>
                    <a:pt x="153998" y="304263"/>
                    <a:pt x="180362" y="292599"/>
                    <a:pt x="201704" y="272822"/>
                  </a:cubicBezTo>
                  <a:lnTo>
                    <a:pt x="220117" y="295135"/>
                  </a:lnTo>
                  <a:cubicBezTo>
                    <a:pt x="218443" y="306291"/>
                    <a:pt x="220954" y="317954"/>
                    <a:pt x="228068" y="326575"/>
                  </a:cubicBezTo>
                  <a:lnTo>
                    <a:pt x="280377" y="389963"/>
                  </a:lnTo>
                  <a:cubicBezTo>
                    <a:pt x="286235" y="397063"/>
                    <a:pt x="293768" y="400612"/>
                    <a:pt x="301301" y="400612"/>
                  </a:cubicBezTo>
                  <a:cubicBezTo>
                    <a:pt x="308833" y="400612"/>
                    <a:pt x="316366" y="397063"/>
                    <a:pt x="322224" y="389963"/>
                  </a:cubicBezTo>
                  <a:cubicBezTo>
                    <a:pt x="333104" y="375764"/>
                    <a:pt x="333104" y="353452"/>
                    <a:pt x="321806" y="339760"/>
                  </a:cubicBezTo>
                  <a:close/>
                  <a:moveTo>
                    <a:pt x="125123" y="273329"/>
                  </a:moveTo>
                  <a:cubicBezTo>
                    <a:pt x="69885" y="273329"/>
                    <a:pt x="24690" y="218562"/>
                    <a:pt x="24690" y="151624"/>
                  </a:cubicBezTo>
                  <a:cubicBezTo>
                    <a:pt x="24690" y="84686"/>
                    <a:pt x="69885" y="29919"/>
                    <a:pt x="125123" y="29919"/>
                  </a:cubicBezTo>
                  <a:cubicBezTo>
                    <a:pt x="180362" y="29919"/>
                    <a:pt x="225557" y="84686"/>
                    <a:pt x="225557" y="151624"/>
                  </a:cubicBezTo>
                  <a:cubicBezTo>
                    <a:pt x="225557" y="218562"/>
                    <a:pt x="180362" y="273329"/>
                    <a:pt x="125123" y="273329"/>
                  </a:cubicBezTo>
                  <a:close/>
                </a:path>
              </a:pathLst>
            </a:custGeom>
            <a:solidFill>
              <a:srgbClr val="000000"/>
            </a:solidFill>
            <a:ln w="4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F577DE55-0DCB-B00D-B1C0-FE844C10D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25" y="2622629"/>
            <a:ext cx="990738" cy="1695687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671159-0322-FC14-8A7E-B0C4B0CEE525}"/>
              </a:ext>
            </a:extLst>
          </p:cNvPr>
          <p:cNvSpPr/>
          <p:nvPr/>
        </p:nvSpPr>
        <p:spPr>
          <a:xfrm>
            <a:off x="7349819" y="281984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B11AAA-75AE-4732-AB33-29FEA235BEB4}"/>
              </a:ext>
            </a:extLst>
          </p:cNvPr>
          <p:cNvSpPr/>
          <p:nvPr/>
        </p:nvSpPr>
        <p:spPr>
          <a:xfrm>
            <a:off x="6597882" y="3671497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대표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9F7407-E36D-E7E3-27D7-D95B248276D9}"/>
              </a:ext>
            </a:extLst>
          </p:cNvPr>
          <p:cNvSpPr/>
          <p:nvPr/>
        </p:nvSpPr>
        <p:spPr>
          <a:xfrm>
            <a:off x="2600593" y="6405439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9198801-71AB-DDBD-C774-8341372E057B}"/>
              </a:ext>
            </a:extLst>
          </p:cNvPr>
          <p:cNvSpPr/>
          <p:nvPr/>
        </p:nvSpPr>
        <p:spPr>
          <a:xfrm>
            <a:off x="5621855" y="633769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84282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679172" y="2360160"/>
            <a:ext cx="7223295" cy="44052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175930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118770"/>
              </p:ext>
            </p:extLst>
          </p:nvPr>
        </p:nvGraphicFramePr>
        <p:xfrm>
          <a:off x="8603672" y="1180079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668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823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왼쪽상단에 자료 제목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오른쪽 상단에 자료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s_created_at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조회수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s_view_count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안전교육 자료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Modal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11073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자료형태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자료의 제공 형태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키워드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태그 모두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출저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출저명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크롤링한 내용 원문 표시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전체내용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 자료일 경우만 영상플레이어로 띄움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 자료가 아닐 경우 영상플레이어 없음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영상 안 시작버튼을 눌러야 영상 시작함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823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KOSHA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상세페이지로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redirect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안되면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426876" y="193680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자료 상세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857012" y="2617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234398" y="3242203"/>
            <a:ext cx="1699755" cy="22839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6073966" y="2537215"/>
            <a:ext cx="1557311" cy="30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작성일  </a:t>
            </a:r>
            <a:r>
              <a:rPr lang="en-US" altLang="ko-KR" sz="1400" dirty="0"/>
              <a:t>| </a:t>
            </a:r>
            <a:r>
              <a:rPr lang="ko-KR" altLang="en-US" sz="1400" dirty="0"/>
              <a:t>조회수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CE361-EBE9-451A-88CB-DF32FF4ACCFC}"/>
              </a:ext>
            </a:extLst>
          </p:cNvPr>
          <p:cNvSpPr txBox="1"/>
          <p:nvPr/>
        </p:nvSpPr>
        <p:spPr>
          <a:xfrm>
            <a:off x="3230041" y="3561876"/>
            <a:ext cx="3227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키워드 </a:t>
            </a:r>
            <a:r>
              <a:rPr lang="en-US" altLang="ko-KR" sz="1400" dirty="0"/>
              <a:t>: </a:t>
            </a:r>
            <a:r>
              <a:rPr lang="ko-KR" altLang="en-US" sz="1400" dirty="0"/>
              <a:t>태그</a:t>
            </a:r>
            <a:r>
              <a:rPr lang="en-US" altLang="ko-KR" sz="1400" dirty="0"/>
              <a:t>1, </a:t>
            </a:r>
            <a:r>
              <a:rPr lang="ko-KR" altLang="en-US" sz="1400" dirty="0"/>
              <a:t>태그</a:t>
            </a:r>
            <a:r>
              <a:rPr lang="en-US" altLang="ko-KR" sz="1400" dirty="0"/>
              <a:t>2, </a:t>
            </a:r>
            <a:r>
              <a:rPr lang="ko-KR" altLang="en-US" sz="1400" dirty="0"/>
              <a:t>태그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5EAD1-4567-4613-B6A6-24BCC6A86F0C}"/>
              </a:ext>
            </a:extLst>
          </p:cNvPr>
          <p:cNvSpPr txBox="1"/>
          <p:nvPr/>
        </p:nvSpPr>
        <p:spPr>
          <a:xfrm>
            <a:off x="3230041" y="3215528"/>
            <a:ext cx="1699755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형태 </a:t>
            </a:r>
            <a:r>
              <a:rPr lang="en-US" altLang="ko-KR" sz="1400" dirty="0"/>
              <a:t>:OPS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8462B3-1C8A-4768-828F-6E576B11708A}"/>
              </a:ext>
            </a:extLst>
          </p:cNvPr>
          <p:cNvSpPr/>
          <p:nvPr/>
        </p:nvSpPr>
        <p:spPr>
          <a:xfrm>
            <a:off x="3316534" y="4366773"/>
            <a:ext cx="2546977" cy="5425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4305BED-4F5C-EFB8-C6BB-BF698EC0B8C2}"/>
              </a:ext>
            </a:extLst>
          </p:cNvPr>
          <p:cNvCxnSpPr>
            <a:cxnSpLocks/>
          </p:cNvCxnSpPr>
          <p:nvPr/>
        </p:nvCxnSpPr>
        <p:spPr>
          <a:xfrm>
            <a:off x="836620" y="2952243"/>
            <a:ext cx="68675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1213710-B3CC-228D-BB04-68305A7DD2CC}"/>
              </a:ext>
            </a:extLst>
          </p:cNvPr>
          <p:cNvSpPr txBox="1"/>
          <p:nvPr/>
        </p:nvSpPr>
        <p:spPr>
          <a:xfrm>
            <a:off x="1022341" y="2566527"/>
            <a:ext cx="1557311" cy="306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제목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CD453F-217B-F790-8337-E959ACACB2B2}"/>
              </a:ext>
            </a:extLst>
          </p:cNvPr>
          <p:cNvSpPr txBox="1"/>
          <p:nvPr/>
        </p:nvSpPr>
        <p:spPr>
          <a:xfrm>
            <a:off x="3200943" y="3869509"/>
            <a:ext cx="1699755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출저</a:t>
            </a:r>
            <a:r>
              <a:rPr lang="en-US" altLang="ko-KR" sz="1400" dirty="0"/>
              <a:t>: KOSHA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8FFC97-2F69-E899-B77D-9BE4240D7136}"/>
              </a:ext>
            </a:extLst>
          </p:cNvPr>
          <p:cNvSpPr/>
          <p:nvPr/>
        </p:nvSpPr>
        <p:spPr>
          <a:xfrm>
            <a:off x="1137186" y="462787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3BC385-234E-DB72-75D2-66B610C6F8C0}"/>
              </a:ext>
            </a:extLst>
          </p:cNvPr>
          <p:cNvSpPr/>
          <p:nvPr/>
        </p:nvSpPr>
        <p:spPr>
          <a:xfrm>
            <a:off x="5790799" y="369020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7FCDF8-5264-535F-B6B0-00962F1293EF}"/>
              </a:ext>
            </a:extLst>
          </p:cNvPr>
          <p:cNvSpPr/>
          <p:nvPr/>
        </p:nvSpPr>
        <p:spPr>
          <a:xfrm>
            <a:off x="5543574" y="445509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8E43E0A-894B-59F8-9512-2464F587A2B4}"/>
              </a:ext>
            </a:extLst>
          </p:cNvPr>
          <p:cNvSpPr/>
          <p:nvPr/>
        </p:nvSpPr>
        <p:spPr>
          <a:xfrm>
            <a:off x="4454821" y="6089252"/>
            <a:ext cx="3010429" cy="3449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원본페이지로 이동 </a:t>
            </a:r>
            <a:r>
              <a:rPr lang="en-US" altLang="ko-KR" sz="1600" dirty="0"/>
              <a:t>(KOSHA)</a:t>
            </a:r>
            <a:endParaRPr lang="ko-KR" altLang="en-US" sz="16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B0104F-3E30-687C-3353-7500424B8FDE}"/>
              </a:ext>
            </a:extLst>
          </p:cNvPr>
          <p:cNvSpPr/>
          <p:nvPr/>
        </p:nvSpPr>
        <p:spPr>
          <a:xfrm>
            <a:off x="7382585" y="59758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6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66600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64769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082518"/>
              </p:ext>
            </p:extLst>
          </p:nvPr>
        </p:nvGraphicFramePr>
        <p:xfrm>
          <a:off x="8603672" y="1180081"/>
          <a:ext cx="3588327" cy="5685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485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4204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260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b="1" dirty="0"/>
                        <a:t>연관 콘텐츠 추천 기준</a:t>
                      </a:r>
                      <a:endParaRPr lang="ko-KR" altLang="en-US" sz="1100" dirty="0"/>
                    </a:p>
                    <a:p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순위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현재 자료와 </a:t>
                      </a:r>
                      <a:r>
                        <a:rPr lang="ko-KR" altLang="en-US" sz="1100" b="1" dirty="0"/>
                        <a:t>겹치는 태그 개수가 </a:t>
                      </a:r>
                      <a:r>
                        <a:rPr lang="ko-KR" altLang="en-US" sz="1100" dirty="0"/>
                        <a:t>많은 순</a:t>
                      </a:r>
                    </a:p>
                    <a:p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순위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b="1" dirty="0"/>
                        <a:t>조회수</a:t>
                      </a:r>
                      <a:r>
                        <a:rPr lang="en-US" altLang="ko-KR" sz="1100" b="1" dirty="0"/>
                        <a:t>(</a:t>
                      </a:r>
                      <a:r>
                        <a:rPr lang="en-US" altLang="ko-KR" sz="1100" b="1" dirty="0" err="1"/>
                        <a:t>s_view_count</a:t>
                      </a:r>
                      <a:r>
                        <a:rPr lang="en-US" altLang="ko-KR" sz="1100" b="1" dirty="0"/>
                        <a:t>)</a:t>
                      </a:r>
                      <a:r>
                        <a:rPr lang="ko-KR" altLang="en-US" sz="1100" dirty="0"/>
                        <a:t> 높은 순</a:t>
                      </a:r>
                    </a:p>
                    <a:p>
                      <a:r>
                        <a:rPr lang="en-US" altLang="ko-KR" sz="1100" dirty="0"/>
                        <a:t>3</a:t>
                      </a:r>
                      <a:r>
                        <a:rPr lang="ko-KR" altLang="en-US" sz="1100" dirty="0"/>
                        <a:t>순위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최신 등록일</a:t>
                      </a:r>
                      <a:r>
                        <a:rPr lang="en-US" altLang="ko-KR" sz="1100" dirty="0"/>
                        <a:t>(</a:t>
                      </a:r>
                      <a:r>
                        <a:rPr lang="en-US" altLang="ko-KR" sz="1100" dirty="0" err="1"/>
                        <a:t>s_created_at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내림차순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동점일 경우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0930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ko-KR" alt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자료제목이나 이미지 클릭 시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해당 자료 상세페이지로 이동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4204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4204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4204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42049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441746" y="2458157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연관 컨텐츠</a:t>
            </a:r>
            <a:endParaRPr lang="ko-KR" altLang="en-US" b="1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A2C5AB-45B2-1657-4F63-B781482091C9}"/>
              </a:ext>
            </a:extLst>
          </p:cNvPr>
          <p:cNvGrpSpPr/>
          <p:nvPr/>
        </p:nvGrpSpPr>
        <p:grpSpPr>
          <a:xfrm>
            <a:off x="1331556" y="3807373"/>
            <a:ext cx="1615045" cy="2115833"/>
            <a:chOff x="1331556" y="3807373"/>
            <a:chExt cx="1615045" cy="211583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9C778B3-9477-7B90-9347-1744D206ACDE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9036009-1E84-40D9-8452-AF2B6FABE2A7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자료 제목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5C8542-72BC-4B0D-B287-7709063DF0A8}"/>
              </a:ext>
            </a:extLst>
          </p:cNvPr>
          <p:cNvSpPr/>
          <p:nvPr/>
        </p:nvSpPr>
        <p:spPr>
          <a:xfrm>
            <a:off x="3262113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9B6AC-91CE-4152-8A93-8BC40DE65638}"/>
              </a:ext>
            </a:extLst>
          </p:cNvPr>
          <p:cNvSpPr txBox="1"/>
          <p:nvPr/>
        </p:nvSpPr>
        <p:spPr>
          <a:xfrm>
            <a:off x="3557274" y="5553874"/>
            <a:ext cx="120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3AE670-FEF4-46C7-AC24-9AB108ACE4BE}"/>
              </a:ext>
            </a:extLst>
          </p:cNvPr>
          <p:cNvSpPr/>
          <p:nvPr/>
        </p:nvSpPr>
        <p:spPr>
          <a:xfrm>
            <a:off x="5243119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E1308-0BF9-4364-8DAF-5A195CD52CB8}"/>
              </a:ext>
            </a:extLst>
          </p:cNvPr>
          <p:cNvSpPr txBox="1"/>
          <p:nvPr/>
        </p:nvSpPr>
        <p:spPr>
          <a:xfrm>
            <a:off x="5538280" y="5553874"/>
            <a:ext cx="121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제목</a:t>
            </a:r>
          </a:p>
        </p:txBody>
      </p:sp>
      <p:sp>
        <p:nvSpPr>
          <p:cNvPr id="18" name="1/2 액자 17">
            <a:extLst>
              <a:ext uri="{FF2B5EF4-FFF2-40B4-BE49-F238E27FC236}">
                <a16:creationId xmlns:a16="http://schemas.microsoft.com/office/drawing/2014/main" id="{2802CFE5-1F41-4EE5-A878-114242E99261}"/>
              </a:ext>
            </a:extLst>
          </p:cNvPr>
          <p:cNvSpPr/>
          <p:nvPr/>
        </p:nvSpPr>
        <p:spPr>
          <a:xfrm rot="19002226">
            <a:off x="662152" y="4363895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1/2 액자 18">
            <a:extLst>
              <a:ext uri="{FF2B5EF4-FFF2-40B4-BE49-F238E27FC236}">
                <a16:creationId xmlns:a16="http://schemas.microsoft.com/office/drawing/2014/main" id="{69A34B69-3FFB-4757-9269-7F5CF031CA69}"/>
              </a:ext>
            </a:extLst>
          </p:cNvPr>
          <p:cNvSpPr/>
          <p:nvPr/>
        </p:nvSpPr>
        <p:spPr>
          <a:xfrm rot="8009119">
            <a:off x="7096140" y="4326002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197FC3-91D3-25BC-E48C-1D36D78E8DC3}"/>
              </a:ext>
            </a:extLst>
          </p:cNvPr>
          <p:cNvSpPr/>
          <p:nvPr/>
        </p:nvSpPr>
        <p:spPr>
          <a:xfrm>
            <a:off x="1070970" y="372098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FF257F1-19A1-C0CE-2F3A-7DF25A638ACF}"/>
              </a:ext>
            </a:extLst>
          </p:cNvPr>
          <p:cNvSpPr/>
          <p:nvPr/>
        </p:nvSpPr>
        <p:spPr>
          <a:xfrm>
            <a:off x="567536" y="3091161"/>
            <a:ext cx="7286388" cy="31505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F260A1-F691-15B3-D93D-FD3180E9F8EF}"/>
              </a:ext>
            </a:extLst>
          </p:cNvPr>
          <p:cNvSpPr txBox="1"/>
          <p:nvPr/>
        </p:nvSpPr>
        <p:spPr>
          <a:xfrm>
            <a:off x="7290770" y="4363948"/>
            <a:ext cx="13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469744-6956-2217-652F-AFB394E9E66A}"/>
              </a:ext>
            </a:extLst>
          </p:cNvPr>
          <p:cNvSpPr txBox="1"/>
          <p:nvPr/>
        </p:nvSpPr>
        <p:spPr>
          <a:xfrm>
            <a:off x="881746" y="4261385"/>
            <a:ext cx="36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7AB9D08-CD86-897C-2450-BA8FB75AA88F}"/>
              </a:ext>
            </a:extLst>
          </p:cNvPr>
          <p:cNvSpPr/>
          <p:nvPr/>
        </p:nvSpPr>
        <p:spPr>
          <a:xfrm>
            <a:off x="450825" y="3023050"/>
            <a:ext cx="144617" cy="184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99B6E-8744-29F2-6907-5855C49392E7}"/>
              </a:ext>
            </a:extLst>
          </p:cNvPr>
          <p:cNvGrpSpPr/>
          <p:nvPr/>
        </p:nvGrpSpPr>
        <p:grpSpPr>
          <a:xfrm>
            <a:off x="1729772" y="3444702"/>
            <a:ext cx="1328756" cy="2577155"/>
            <a:chOff x="1331556" y="3807373"/>
            <a:chExt cx="1615045" cy="214558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3CF4179-1D3E-F05F-E1B7-80E3590C4018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BDB8500-ED76-1D90-0655-E5E9F866E51A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A1433E4-4434-03DF-A504-A0A9094CB991}"/>
              </a:ext>
            </a:extLst>
          </p:cNvPr>
          <p:cNvGrpSpPr/>
          <p:nvPr/>
        </p:nvGrpSpPr>
        <p:grpSpPr>
          <a:xfrm>
            <a:off x="5376836" y="3444702"/>
            <a:ext cx="1328756" cy="2577155"/>
            <a:chOff x="1331556" y="3807373"/>
            <a:chExt cx="1615045" cy="2145580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C39DA83-B273-4166-9FE8-0B760FC54CDA}"/>
                </a:ext>
              </a:extLst>
            </p:cNvPr>
            <p:cNvSpPr/>
            <p:nvPr/>
          </p:nvSpPr>
          <p:spPr>
            <a:xfrm>
              <a:off x="1331556" y="3807373"/>
              <a:ext cx="1615045" cy="16601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78D7C68-DAA1-6A78-F121-2F9151040C8B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6BB3A70-4A36-9F03-5F7C-C1DCD62B30A1}"/>
              </a:ext>
            </a:extLst>
          </p:cNvPr>
          <p:cNvGrpSpPr/>
          <p:nvPr/>
        </p:nvGrpSpPr>
        <p:grpSpPr>
          <a:xfrm>
            <a:off x="3553304" y="3444702"/>
            <a:ext cx="1328756" cy="2577155"/>
            <a:chOff x="1331556" y="3807373"/>
            <a:chExt cx="1615045" cy="214558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BA67081-F92A-83D7-A189-92449D8F139E}"/>
                </a:ext>
              </a:extLst>
            </p:cNvPr>
            <p:cNvSpPr/>
            <p:nvPr/>
          </p:nvSpPr>
          <p:spPr>
            <a:xfrm>
              <a:off x="1331556" y="3807373"/>
              <a:ext cx="1615045" cy="1660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이미지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7E43925-3198-FC33-EE37-12E0B0A688D5}"/>
                </a:ext>
              </a:extLst>
            </p:cNvPr>
            <p:cNvSpPr txBox="1"/>
            <p:nvPr/>
          </p:nvSpPr>
          <p:spPr>
            <a:xfrm>
              <a:off x="1556051" y="5553874"/>
              <a:ext cx="1223554" cy="3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자료 제목</a:t>
              </a: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69351D-AD04-B591-7B29-D9BB24EC6F72}"/>
              </a:ext>
            </a:extLst>
          </p:cNvPr>
          <p:cNvSpPr/>
          <p:nvPr/>
        </p:nvSpPr>
        <p:spPr>
          <a:xfrm>
            <a:off x="1665525" y="5357839"/>
            <a:ext cx="144617" cy="1846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05163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2405</TotalTime>
  <Words>701</Words>
  <Application>Microsoft Office PowerPoint</Application>
  <PresentationFormat>와이드스크린</PresentationFormat>
  <Paragraphs>246</Paragraphs>
  <Slides>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맑은 고딕</vt:lpstr>
      <vt:lpstr>Arial</vt:lpstr>
      <vt:lpstr>Office 테마</vt:lpstr>
      <vt:lpstr>안전 자료실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소윤 박</cp:lastModifiedBy>
  <cp:revision>153</cp:revision>
  <dcterms:created xsi:type="dcterms:W3CDTF">2025-11-24T01:38:34Z</dcterms:created>
  <dcterms:modified xsi:type="dcterms:W3CDTF">2025-11-29T13:23:07Z</dcterms:modified>
</cp:coreProperties>
</file>