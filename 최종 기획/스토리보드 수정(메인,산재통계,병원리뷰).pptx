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1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0"/>
    <c:plotArea>
      <c:layout/>
      <c:pieChart>
        <c:varyColors val="1"/>
        <c:ser>
          <c:idx val="0"/>
          <c:order val="0"/>
          <c:explosion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val>
            <c:numRef>
              <c:f>Sheet1!$A$1:$A$3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</c:ser>
        <c:dLbls>
          <c:delete val="0"/>
          <c:showLegendKey val="0"/>
          <c:showVal val="0"/>
          <c:showCatName val="0"/>
          <c:showSerName val="0"/>
          <c:showPercent val="0"/>
          <c:showBubbleSize val="0"/>
        </c:dLbls>
        <c:firstSliceAng val="0"/>
      </c:pieChart>
      <c:spPr>
        <a:noFill/>
        <a:ln>
          <a:noFill/>
        </a:ln>
        <a:effectLst/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b="0" i="0" u="none"/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A45F57A-A7A3-460B-A3C5-F840737745D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구성해야함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A45F57A-A7A3-460B-A3C5-F840737745D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chart" Target="../charts/char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1.png"  /><Relationship Id="rId5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메인 </a:t>
            </a:r>
            <a:r>
              <a:rPr lang="en-US" altLang="ko-KR"/>
              <a:t>, </a:t>
            </a:r>
            <a:r>
              <a:rPr lang="ko-KR" altLang="en-US"/>
              <a:t>헤더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0" y="0"/>
          <a:ext cx="12192000" cy="116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메인 홈페이지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 gridSpan="6"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72" y="1180080"/>
          <a:ext cx="3588327" cy="5927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/>
                <a:gridCol w="3230540"/>
              </a:tblGrid>
              <a:tr h="618481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/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85277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메인 페이지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85277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발생형태별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85277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ko-KR" altLang="en-US" sz="11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518331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ko-KR" altLang="en-US" sz="11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기사 요약글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(21~23)3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년의 정보를 가져온다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연령별 재해 현황 분석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업종별 재해 현황 분석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성별 재해현황 분석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85277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헤더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푸터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히어로 이미지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200">
                <a:solidFill>
                  <a:schemeClr val="tx1"/>
                </a:solidFill>
              </a:rPr>
              <a:t>산재 통계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200">
                <a:solidFill>
                  <a:schemeClr val="tx1"/>
                </a:solidFill>
              </a:rPr>
              <a:t>산재 뉴스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이미지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요약글</a:t>
            </a: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/>
              <a:t>작성자</a:t>
            </a:r>
            <a:endParaRPr lang="ko-KR" altLang="en-US" sz="1100"/>
          </a:p>
        </p:txBody>
      </p:sp>
      <p:sp>
        <p:nvSpPr>
          <p:cNvPr id="27" name="직사각형 26"/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이미지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요약글</a:t>
            </a:r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/>
              <a:t>작성자</a:t>
            </a:r>
            <a:endParaRPr lang="ko-KR" altLang="en-US" sz="1100"/>
          </a:p>
        </p:txBody>
      </p:sp>
      <p:sp>
        <p:nvSpPr>
          <p:cNvPr id="31" name="직사각형 30"/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이미지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요약글</a:t>
            </a: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/>
              <a:t>작성자</a:t>
            </a:r>
            <a:endParaRPr lang="ko-KR" altLang="en-US" sz="1100"/>
          </a:p>
        </p:txBody>
      </p:sp>
      <p:sp>
        <p:nvSpPr>
          <p:cNvPr id="35" name="TextBox 34"/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/>
              <a:t>더보기</a:t>
            </a:r>
            <a:endParaRPr lang="ko-KR" altLang="en-US" sz="1100"/>
          </a:p>
        </p:txBody>
      </p:sp>
      <p:graphicFrame>
        <p:nvGraphicFramePr>
          <p:cNvPr id="41" name="차트 40"/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42" name="1/2 액자 41"/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>
              <a:gd name="adj1" fmla="val 33333"/>
              <a:gd name="adj2" fmla="val 33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/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>
              <a:gd name="adj1" fmla="val 33333"/>
              <a:gd name="adj2" fmla="val 33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1</a:t>
            </a:r>
            <a:r>
              <a:rPr lang="ko-KR" altLang="en-US"/>
              <a:t>위 </a:t>
            </a:r>
            <a:r>
              <a:rPr lang="en-US" altLang="ko-KR"/>
              <a:t>30</a:t>
            </a:r>
            <a:r>
              <a:rPr lang="ko-KR" altLang="en-US"/>
              <a:t>대</a:t>
            </a:r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2</a:t>
            </a:r>
            <a:r>
              <a:rPr lang="ko-KR" altLang="en-US"/>
              <a:t>위 </a:t>
            </a:r>
            <a:r>
              <a:rPr lang="en-US" altLang="ko-KR"/>
              <a:t>40</a:t>
            </a:r>
            <a:r>
              <a:rPr lang="ko-KR" altLang="en-US"/>
              <a:t>대</a:t>
            </a:r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3</a:t>
            </a:r>
            <a:r>
              <a:rPr lang="ko-KR" altLang="en-US"/>
              <a:t>위 </a:t>
            </a:r>
            <a:r>
              <a:rPr lang="en-US" altLang="ko-KR"/>
              <a:t>10</a:t>
            </a:r>
            <a:r>
              <a:rPr lang="ko-KR" altLang="en-US"/>
              <a:t>대</a:t>
            </a:r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연령대</a:t>
            </a:r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50" name="TextBox 49"/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/>
              <a:t>더보기</a:t>
            </a:r>
            <a:endParaRPr lang="ko-KR" altLang="en-US" sz="1100"/>
          </a:p>
        </p:txBody>
      </p:sp>
      <p:sp>
        <p:nvSpPr>
          <p:cNvPr id="51" name="직사각형 50"/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52" name="직사각형 51"/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3</a:t>
            </a:r>
            <a:endParaRPr lang="ko-KR" altLang="en-US" sz="1400"/>
          </a:p>
        </p:txBody>
      </p:sp>
      <p:sp>
        <p:nvSpPr>
          <p:cNvPr id="53" name="직사각형 52"/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4</a:t>
            </a:r>
            <a:endParaRPr lang="ko-KR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산재 통계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0" y="0"/>
          <a:ext cx="12192000" cy="138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김용찬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 gridSpan="6"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72" y="1180081"/>
          <a:ext cx="3584718" cy="5499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/>
                <a:gridCol w="3116579"/>
              </a:tblGrid>
              <a:tr h="460608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/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9300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91081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DB,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 산재정보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DB,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회원업종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DB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에서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정보를 찾아 회원 프로필에 이름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 업종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(2),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 나이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 성별  명시 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24757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정보선택을 클릭시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회원이 등록한 산재정보 목록 표시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업종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(2),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 발생형태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 질병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드랍다운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9300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분석 기간에 따른 통계 자료 변경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(Button)</a:t>
                      </a: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분석기간 선택시 관련 통계 집계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71281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9300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9300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헤더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2" name="사각형: 둥근 모서리 1"/>
          <p:cNvSpPr/>
          <p:nvPr/>
        </p:nvSpPr>
        <p:spPr>
          <a:xfrm>
            <a:off x="368773" y="2090944"/>
            <a:ext cx="7921374" cy="67155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   </a:t>
            </a:r>
            <a:r>
              <a:rPr lang="en-US" altLang="ko-KR" sz="1400" b="1">
                <a:solidFill>
                  <a:schemeClr val="tx1"/>
                </a:solidFill>
              </a:rPr>
              <a:t>000</a:t>
            </a:r>
            <a:r>
              <a:rPr lang="ko-KR" altLang="en-US" sz="1400" b="1">
                <a:solidFill>
                  <a:schemeClr val="tx1"/>
                </a:solidFill>
              </a:rPr>
              <a:t> 님의 프로필 </a:t>
            </a:r>
            <a:r>
              <a:rPr lang="en-US" altLang="ko-KR" sz="1400" b="1">
                <a:solidFill>
                  <a:schemeClr val="tx1"/>
                </a:solidFill>
              </a:rPr>
              <a:t>						             </a:t>
            </a: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400" b="1">
                <a:solidFill>
                  <a:schemeClr val="tx1"/>
                </a:solidFill>
              </a:rPr>
              <a:t>							        </a:t>
            </a: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900">
                <a:solidFill>
                  <a:schemeClr val="tx1"/>
                </a:solidFill>
              </a:rPr>
              <a:t>   </a:t>
            </a:r>
            <a:r>
              <a:rPr lang="ko-KR" altLang="en-US" sz="900">
                <a:solidFill>
                  <a:schemeClr val="tx1"/>
                </a:solidFill>
              </a:rPr>
              <a:t>   업종</a:t>
            </a:r>
            <a:r>
              <a:rPr lang="en-US" altLang="ko-KR" sz="900">
                <a:solidFill>
                  <a:schemeClr val="tx1"/>
                </a:solidFill>
              </a:rPr>
              <a:t>(2):             </a:t>
            </a:r>
            <a:r>
              <a:rPr lang="ko-KR" altLang="en-US" sz="900">
                <a:solidFill>
                  <a:schemeClr val="tx1"/>
                </a:solidFill>
              </a:rPr>
              <a:t>나이</a:t>
            </a:r>
            <a:r>
              <a:rPr lang="en-US" altLang="ko-KR" sz="900">
                <a:solidFill>
                  <a:schemeClr val="tx1"/>
                </a:solidFill>
              </a:rPr>
              <a:t>:           </a:t>
            </a:r>
            <a:r>
              <a:rPr lang="ko-KR" altLang="en-US" sz="900">
                <a:solidFill>
                  <a:schemeClr val="tx1"/>
                </a:solidFill>
              </a:rPr>
              <a:t>성별</a:t>
            </a:r>
            <a:r>
              <a:rPr lang="en-US" altLang="ko-KR" sz="900">
                <a:solidFill>
                  <a:schemeClr val="tx1"/>
                </a:solidFill>
              </a:rPr>
              <a:t>:                </a:t>
            </a:r>
            <a:endParaRPr lang="en-US" altLang="ko-KR" sz="900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98513" y="2008787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10" name="사각형: 둥근 모서리 9"/>
          <p:cNvSpPr/>
          <p:nvPr/>
        </p:nvSpPr>
        <p:spPr>
          <a:xfrm>
            <a:off x="368773" y="2879078"/>
            <a:ext cx="7921374" cy="304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분석 기간</a:t>
            </a:r>
            <a:r>
              <a:rPr lang="en-US" altLang="ko-KR" sz="1400" b="1">
                <a:solidFill>
                  <a:schemeClr val="tx1"/>
                </a:solidFill>
              </a:rPr>
              <a:t>:					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sp>
        <p:nvSpPr>
          <p:cNvPr id="13" name="사각형: 둥근 모서리 12"/>
          <p:cNvSpPr/>
          <p:nvPr/>
        </p:nvSpPr>
        <p:spPr>
          <a:xfrm>
            <a:off x="4894957" y="2887837"/>
            <a:ext cx="1077957" cy="304000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100">
                <a:solidFill>
                  <a:schemeClr val="bg1"/>
                </a:solidFill>
              </a:rPr>
              <a:t>최근 </a:t>
            </a:r>
            <a:r>
              <a:rPr lang="en-US" altLang="ko-KR" sz="1100">
                <a:solidFill>
                  <a:schemeClr val="bg1"/>
                </a:solidFill>
              </a:rPr>
              <a:t>1</a:t>
            </a:r>
            <a:r>
              <a:rPr lang="ko-KR" altLang="en-US" sz="1100">
                <a:solidFill>
                  <a:schemeClr val="bg1"/>
                </a:solidFill>
              </a:rPr>
              <a:t>년 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4" name="사각형: 둥근 모서리 13"/>
          <p:cNvSpPr/>
          <p:nvPr/>
        </p:nvSpPr>
        <p:spPr>
          <a:xfrm>
            <a:off x="6053573" y="2887837"/>
            <a:ext cx="1077957" cy="304000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100">
                <a:solidFill>
                  <a:schemeClr val="bg1"/>
                </a:solidFill>
              </a:rPr>
              <a:t>2</a:t>
            </a:r>
            <a:r>
              <a:rPr lang="ko-KR" altLang="en-US" sz="1100">
                <a:solidFill>
                  <a:schemeClr val="bg1"/>
                </a:solidFill>
              </a:rPr>
              <a:t>년 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6" name="사각형: 둥근 모서리 15"/>
          <p:cNvSpPr/>
          <p:nvPr/>
        </p:nvSpPr>
        <p:spPr>
          <a:xfrm>
            <a:off x="7200693" y="2890782"/>
            <a:ext cx="1077957" cy="304000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100">
                <a:solidFill>
                  <a:schemeClr val="bg1"/>
                </a:solidFill>
              </a:rPr>
              <a:t>3</a:t>
            </a:r>
            <a:r>
              <a:rPr lang="ko-KR" altLang="en-US" sz="1100">
                <a:solidFill>
                  <a:schemeClr val="bg1"/>
                </a:solidFill>
              </a:rPr>
              <a:t>년 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757392" y="2745007"/>
            <a:ext cx="275130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3</a:t>
            </a:r>
            <a:endParaRPr lang="ko-KR" altLang="en-US" sz="1400"/>
          </a:p>
        </p:txBody>
      </p:sp>
      <p:sp>
        <p:nvSpPr>
          <p:cNvPr id="3" name="직사각형 2"/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푸터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71492" y="4304949"/>
            <a:ext cx="412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bg1">
                    <a:lumMod val="65000"/>
                  </a:schemeClr>
                </a:solidFill>
              </a:rPr>
              <a:t>분석을 시작하려면 기간을 선택하세요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사각형: 둥근 모서리 8"/>
          <p:cNvSpPr/>
          <p:nvPr/>
        </p:nvSpPr>
        <p:spPr>
          <a:xfrm>
            <a:off x="6673212" y="2364788"/>
            <a:ext cx="1077957" cy="304000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100">
                <a:solidFill>
                  <a:schemeClr val="bg1"/>
                </a:solidFill>
              </a:rPr>
              <a:t>정보 선택 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502952" y="2244942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12" name="직사각형 11"/>
          <p:cNvSpPr/>
          <p:nvPr/>
        </p:nvSpPr>
        <p:spPr>
          <a:xfrm>
            <a:off x="5955159" y="1368186"/>
            <a:ext cx="2323490" cy="9485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100">
                <a:solidFill>
                  <a:schemeClr val="tx1"/>
                </a:solidFill>
              </a:rPr>
              <a:t>업종</a:t>
            </a:r>
            <a:r>
              <a:rPr lang="en-US" altLang="ko-KR" sz="1100">
                <a:solidFill>
                  <a:schemeClr val="tx1"/>
                </a:solidFill>
              </a:rPr>
              <a:t>(2)</a:t>
            </a:r>
            <a:r>
              <a:rPr lang="ko-KR" altLang="en-US" sz="1100">
                <a:solidFill>
                  <a:schemeClr val="tx1"/>
                </a:solidFill>
              </a:rPr>
              <a:t> ㅣ발생형태 ㅣ 질병</a:t>
            </a:r>
            <a:endParaRPr lang="ko-KR" altLang="en-US" sz="11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100">
                <a:solidFill>
                  <a:schemeClr val="tx1"/>
                </a:solidFill>
              </a:rPr>
              <a:t>-----------------------------------------</a:t>
            </a:r>
            <a:endParaRPr lang="en-US" altLang="ko-KR" sz="11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1100">
                <a:solidFill>
                  <a:schemeClr val="tx1"/>
                </a:solidFill>
              </a:rPr>
              <a:t>건설업</a:t>
            </a:r>
            <a:r>
              <a:rPr lang="en-US" altLang="ko-KR" sz="1100">
                <a:solidFill>
                  <a:schemeClr val="tx1"/>
                </a:solidFill>
              </a:rPr>
              <a:t>l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 </a:t>
            </a:r>
            <a:r>
              <a:rPr lang="ko-KR" altLang="en-US" sz="1100">
                <a:solidFill>
                  <a:schemeClr val="tx1"/>
                </a:solidFill>
              </a:rPr>
              <a:t>넘어짐  </a:t>
            </a:r>
            <a:r>
              <a:rPr lang="en-US" altLang="ko-KR" sz="1100">
                <a:solidFill>
                  <a:schemeClr val="tx1"/>
                </a:solidFill>
              </a:rPr>
              <a:t>l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-</a:t>
            </a:r>
            <a:endParaRPr lang="en-US" altLang="ko-KR" sz="11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1100">
                <a:solidFill>
                  <a:schemeClr val="tx1"/>
                </a:solidFill>
              </a:rPr>
              <a:t>건설업</a:t>
            </a:r>
            <a:r>
              <a:rPr lang="en-US" altLang="ko-KR" sz="1100">
                <a:solidFill>
                  <a:schemeClr val="tx1"/>
                </a:solidFill>
              </a:rPr>
              <a:t>l</a:t>
            </a:r>
            <a:r>
              <a:rPr lang="ko-KR" altLang="en-US" sz="1100">
                <a:solidFill>
                  <a:schemeClr val="tx1"/>
                </a:solidFill>
              </a:rPr>
              <a:t>  </a:t>
            </a:r>
            <a:r>
              <a:rPr lang="en-US" altLang="ko-KR" sz="1100">
                <a:solidFill>
                  <a:schemeClr val="tx1"/>
                </a:solidFill>
              </a:rPr>
              <a:t>-</a:t>
            </a:r>
            <a:r>
              <a:rPr lang="ko-KR" altLang="en-US" sz="1100">
                <a:solidFill>
                  <a:schemeClr val="tx1"/>
                </a:solidFill>
              </a:rPr>
              <a:t>ㅣ소음난청</a:t>
            </a:r>
            <a:endParaRPr lang="ko-KR" alt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/>
          <p:cNvSpPr/>
          <p:nvPr/>
        </p:nvSpPr>
        <p:spPr>
          <a:xfrm>
            <a:off x="336077" y="3509181"/>
            <a:ext cx="1928120" cy="28555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내 업종 재해율</a:t>
            </a:r>
            <a:endParaRPr lang="ko-KR" altLang="en-US" sz="1400" b="1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100" b="1">
                <a:solidFill>
                  <a:schemeClr val="tx1"/>
                </a:solidFill>
              </a:rPr>
              <a:t>-</a:t>
            </a:r>
            <a:r>
              <a:rPr lang="ko-KR" altLang="en-US" sz="1100" b="1">
                <a:solidFill>
                  <a:schemeClr val="tx1"/>
                </a:solidFill>
              </a:rPr>
              <a:t> 재해율 </a:t>
            </a:r>
            <a:r>
              <a:rPr lang="en-US" altLang="ko-KR" sz="1100" b="1">
                <a:solidFill>
                  <a:schemeClr val="tx1"/>
                </a:solidFill>
              </a:rPr>
              <a:t>%</a:t>
            </a:r>
            <a:endParaRPr lang="en-US" altLang="ko-KR" sz="11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100" b="1">
                <a:solidFill>
                  <a:schemeClr val="tx1"/>
                </a:solidFill>
              </a:rPr>
              <a:t>- </a:t>
            </a:r>
            <a:r>
              <a:rPr lang="ko-KR" altLang="en-US" sz="1100" b="1">
                <a:solidFill>
                  <a:schemeClr val="tx1"/>
                </a:solidFill>
              </a:rPr>
              <a:t>전년 대비 증감률</a:t>
            </a:r>
            <a:r>
              <a:rPr lang="en-US" altLang="ko-KR" sz="1100" b="1">
                <a:solidFill>
                  <a:schemeClr val="tx1"/>
                </a:solidFill>
              </a:rPr>
              <a:t> </a:t>
            </a:r>
            <a:r>
              <a:rPr lang="ko-KR" altLang="en-US" sz="1100" b="1">
                <a:solidFill>
                  <a:schemeClr val="tx1"/>
                </a:solidFill>
              </a:rPr>
              <a:t> </a:t>
            </a:r>
            <a:r>
              <a:rPr lang="en-US" altLang="ko-KR" sz="1400" b="1">
                <a:solidFill>
                  <a:schemeClr val="tx1"/>
                </a:solidFill>
              </a:rPr>
              <a:t>			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0" y="0"/>
          <a:ext cx="12192000" cy="138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김용찬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 gridSpan="6"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72" y="1180081"/>
          <a:ext cx="3588327" cy="5833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/>
                <a:gridCol w="3120188"/>
              </a:tblGrid>
              <a:tr h="460608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/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9300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82738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(Button)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에 따른 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통계 집계 및  시각화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고용노동통계의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 산업재해현황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를 보면  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년도별 통계분석 가능 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24757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내 업종 재해율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내 업종 사망률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내 업종 재해유형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내 업종 사망유형 집계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9300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71566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9300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59300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헤더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2" name="사각형: 둥근 모서리 1"/>
          <p:cNvSpPr/>
          <p:nvPr/>
        </p:nvSpPr>
        <p:spPr>
          <a:xfrm>
            <a:off x="368773" y="2090944"/>
            <a:ext cx="7921374" cy="67155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   </a:t>
            </a:r>
            <a:r>
              <a:rPr lang="en-US" altLang="ko-KR" sz="1400" b="1">
                <a:solidFill>
                  <a:schemeClr val="tx1"/>
                </a:solidFill>
              </a:rPr>
              <a:t>000</a:t>
            </a:r>
            <a:r>
              <a:rPr lang="ko-KR" altLang="en-US" sz="1400" b="1">
                <a:solidFill>
                  <a:schemeClr val="tx1"/>
                </a:solidFill>
              </a:rPr>
              <a:t> 님의 프로필 </a:t>
            </a:r>
            <a:r>
              <a:rPr lang="en-US" altLang="ko-KR" sz="1400" b="1">
                <a:solidFill>
                  <a:schemeClr val="tx1"/>
                </a:solidFill>
              </a:rPr>
              <a:t>						             </a:t>
            </a: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400" b="1">
                <a:solidFill>
                  <a:schemeClr val="tx1"/>
                </a:solidFill>
              </a:rPr>
              <a:t>							        </a:t>
            </a: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900">
                <a:solidFill>
                  <a:schemeClr val="tx1"/>
                </a:solidFill>
              </a:rPr>
              <a:t>   </a:t>
            </a:r>
            <a:r>
              <a:rPr lang="ko-KR" altLang="en-US" sz="900">
                <a:solidFill>
                  <a:schemeClr val="tx1"/>
                </a:solidFill>
              </a:rPr>
              <a:t>   업종</a:t>
            </a:r>
            <a:r>
              <a:rPr lang="en-US" altLang="ko-KR" sz="900">
                <a:solidFill>
                  <a:schemeClr val="tx1"/>
                </a:solidFill>
              </a:rPr>
              <a:t>(2):             </a:t>
            </a:r>
            <a:r>
              <a:rPr lang="ko-KR" altLang="en-US" sz="900">
                <a:solidFill>
                  <a:schemeClr val="tx1"/>
                </a:solidFill>
              </a:rPr>
              <a:t>나이</a:t>
            </a:r>
            <a:r>
              <a:rPr lang="en-US" altLang="ko-KR" sz="900">
                <a:solidFill>
                  <a:schemeClr val="tx1"/>
                </a:solidFill>
              </a:rPr>
              <a:t>:           </a:t>
            </a:r>
            <a:r>
              <a:rPr lang="ko-KR" altLang="en-US" sz="900">
                <a:solidFill>
                  <a:schemeClr val="tx1"/>
                </a:solidFill>
              </a:rPr>
              <a:t>성별</a:t>
            </a:r>
            <a:r>
              <a:rPr lang="en-US" altLang="ko-KR" sz="900">
                <a:solidFill>
                  <a:schemeClr val="tx1"/>
                </a:solidFill>
              </a:rPr>
              <a:t>:                </a:t>
            </a:r>
            <a:endParaRPr lang="en-US" altLang="ko-KR" sz="900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98511" y="3412727"/>
            <a:ext cx="275129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10" name="사각형: 둥근 모서리 9"/>
          <p:cNvSpPr/>
          <p:nvPr/>
        </p:nvSpPr>
        <p:spPr>
          <a:xfrm>
            <a:off x="368773" y="2879078"/>
            <a:ext cx="7921374" cy="304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분석 기간</a:t>
            </a:r>
            <a:r>
              <a:rPr lang="en-US" altLang="ko-KR" sz="1400" b="1">
                <a:solidFill>
                  <a:schemeClr val="tx1"/>
                </a:solidFill>
              </a:rPr>
              <a:t>:					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sp>
        <p:nvSpPr>
          <p:cNvPr id="13" name="사각형: 둥근 모서리 12"/>
          <p:cNvSpPr/>
          <p:nvPr/>
        </p:nvSpPr>
        <p:spPr>
          <a:xfrm>
            <a:off x="4894957" y="2887837"/>
            <a:ext cx="1077957" cy="304000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100">
                <a:solidFill>
                  <a:schemeClr val="bg1"/>
                </a:solidFill>
              </a:rPr>
              <a:t>최근 </a:t>
            </a:r>
            <a:r>
              <a:rPr lang="en-US" altLang="ko-KR" sz="1100">
                <a:solidFill>
                  <a:schemeClr val="bg1"/>
                </a:solidFill>
              </a:rPr>
              <a:t>1</a:t>
            </a:r>
            <a:r>
              <a:rPr lang="ko-KR" altLang="en-US" sz="1100">
                <a:solidFill>
                  <a:schemeClr val="bg1"/>
                </a:solidFill>
              </a:rPr>
              <a:t>년 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4" name="사각형: 둥근 모서리 13"/>
          <p:cNvSpPr/>
          <p:nvPr/>
        </p:nvSpPr>
        <p:spPr>
          <a:xfrm>
            <a:off x="6053573" y="2887837"/>
            <a:ext cx="1077957" cy="304000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100">
                <a:solidFill>
                  <a:schemeClr val="bg1"/>
                </a:solidFill>
              </a:rPr>
              <a:t>2</a:t>
            </a:r>
            <a:r>
              <a:rPr lang="ko-KR" altLang="en-US" sz="1100">
                <a:solidFill>
                  <a:schemeClr val="bg1"/>
                </a:solidFill>
              </a:rPr>
              <a:t>년 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6" name="사각형: 둥근 모서리 15"/>
          <p:cNvSpPr/>
          <p:nvPr/>
        </p:nvSpPr>
        <p:spPr>
          <a:xfrm>
            <a:off x="7200693" y="2890782"/>
            <a:ext cx="1077957" cy="304000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100">
                <a:solidFill>
                  <a:schemeClr val="bg1"/>
                </a:solidFill>
              </a:rPr>
              <a:t>3</a:t>
            </a:r>
            <a:r>
              <a:rPr lang="ko-KR" altLang="en-US" sz="1100">
                <a:solidFill>
                  <a:schemeClr val="bg1"/>
                </a:solidFill>
              </a:rPr>
              <a:t>년 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7" name="사각형: 둥근 모서리 26"/>
          <p:cNvSpPr/>
          <p:nvPr/>
        </p:nvSpPr>
        <p:spPr>
          <a:xfrm>
            <a:off x="2505517" y="3509182"/>
            <a:ext cx="1793000" cy="285552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내 업종 사망률 </a:t>
            </a:r>
            <a:r>
              <a:rPr lang="en-US" altLang="ko-KR" sz="1400" b="1">
                <a:solidFill>
                  <a:schemeClr val="tx1"/>
                </a:solidFill>
              </a:rPr>
              <a:t>	</a:t>
            </a:r>
            <a:r>
              <a:rPr lang="ko-KR" altLang="en-US" sz="1000" b="1">
                <a:solidFill>
                  <a:schemeClr val="tx1"/>
                </a:solidFill>
              </a:rPr>
              <a:t> </a:t>
            </a:r>
            <a:endParaRPr lang="ko-KR" altLang="en-US" sz="10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100" b="1">
                <a:solidFill>
                  <a:schemeClr val="tx1"/>
                </a:solidFill>
              </a:rPr>
              <a:t>-</a:t>
            </a:r>
            <a:r>
              <a:rPr lang="ko-KR" altLang="en-US" sz="1100" b="1">
                <a:solidFill>
                  <a:schemeClr val="tx1"/>
                </a:solidFill>
              </a:rPr>
              <a:t> 사망률 </a:t>
            </a:r>
            <a:r>
              <a:rPr lang="en-US" altLang="ko-KR" sz="1100" b="1">
                <a:solidFill>
                  <a:schemeClr val="tx1"/>
                </a:solidFill>
              </a:rPr>
              <a:t>%</a:t>
            </a:r>
            <a:endParaRPr lang="en-US" altLang="ko-KR" sz="11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100" b="1">
                <a:solidFill>
                  <a:schemeClr val="tx1"/>
                </a:solidFill>
              </a:rPr>
              <a:t>-</a:t>
            </a:r>
            <a:r>
              <a:rPr lang="ko-KR" altLang="en-US" sz="1100" b="1">
                <a:solidFill>
                  <a:schemeClr val="tx1"/>
                </a:solidFill>
              </a:rPr>
              <a:t> 전년 대비 증감률</a:t>
            </a:r>
            <a:r>
              <a:rPr lang="en-US" altLang="ko-KR" sz="1100" b="1">
                <a:solidFill>
                  <a:schemeClr val="tx1"/>
                </a:solidFill>
              </a:rPr>
              <a:t> </a:t>
            </a:r>
            <a:r>
              <a:rPr lang="en-US" altLang="ko-KR" sz="1400" b="1">
                <a:solidFill>
                  <a:schemeClr val="tx1"/>
                </a:solidFill>
              </a:rPr>
              <a:t>				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sp>
        <p:nvSpPr>
          <p:cNvPr id="28" name="사각형: 둥근 모서리 27"/>
          <p:cNvSpPr/>
          <p:nvPr/>
        </p:nvSpPr>
        <p:spPr>
          <a:xfrm>
            <a:off x="4491707" y="3523820"/>
            <a:ext cx="1796876" cy="28408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내 업종  재해유형</a:t>
            </a:r>
            <a:endParaRPr lang="ko-KR" altLang="en-US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400" b="1">
                <a:solidFill>
                  <a:schemeClr val="tx1"/>
                </a:solidFill>
              </a:rPr>
              <a:t> </a:t>
            </a:r>
            <a:endParaRPr lang="en-US" altLang="ko-KR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100" b="1">
                <a:solidFill>
                  <a:schemeClr val="tx1"/>
                </a:solidFill>
              </a:rPr>
              <a:t>- </a:t>
            </a:r>
            <a:r>
              <a:rPr lang="ko-KR" altLang="en-US" sz="1100" b="1">
                <a:solidFill>
                  <a:schemeClr val="tx1"/>
                </a:solidFill>
              </a:rPr>
              <a:t>가장 많이 다친 유형</a:t>
            </a:r>
            <a:endParaRPr lang="ko-KR" altLang="en-US" sz="11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100" b="1">
                <a:solidFill>
                  <a:schemeClr val="tx1"/>
                </a:solidFill>
              </a:rPr>
              <a:t>-</a:t>
            </a:r>
            <a:r>
              <a:rPr lang="ko-KR" altLang="en-US" sz="1100" b="1">
                <a:solidFill>
                  <a:schemeClr val="tx1"/>
                </a:solidFill>
              </a:rPr>
              <a:t> 전년 대비 증감률 </a:t>
            </a:r>
            <a:r>
              <a:rPr lang="en-US" altLang="ko-KR" sz="1400" b="1">
                <a:solidFill>
                  <a:schemeClr val="tx1"/>
                </a:solidFill>
              </a:rPr>
              <a:t>			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sp>
        <p:nvSpPr>
          <p:cNvPr id="29" name="사각형: 둥근 모서리 28"/>
          <p:cNvSpPr/>
          <p:nvPr/>
        </p:nvSpPr>
        <p:spPr>
          <a:xfrm>
            <a:off x="6481773" y="3475693"/>
            <a:ext cx="1796877" cy="284088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내 업종 사망유형  </a:t>
            </a:r>
            <a:r>
              <a:rPr lang="en-US" altLang="ko-KR" sz="1400" b="1">
                <a:solidFill>
                  <a:schemeClr val="tx1"/>
                </a:solidFill>
              </a:rPr>
              <a:t>	</a:t>
            </a:r>
            <a:r>
              <a:rPr lang="ko-KR" altLang="en-US" sz="1400" b="1">
                <a:solidFill>
                  <a:schemeClr val="tx1"/>
                </a:solidFill>
              </a:rPr>
              <a:t> </a:t>
            </a:r>
            <a:endParaRPr lang="ko-KR" altLang="en-US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100" b="1">
                <a:solidFill>
                  <a:schemeClr val="tx1"/>
                </a:solidFill>
              </a:rPr>
              <a:t>- </a:t>
            </a:r>
            <a:r>
              <a:rPr lang="ko-KR" altLang="en-US" sz="1100" b="1">
                <a:solidFill>
                  <a:schemeClr val="tx1"/>
                </a:solidFill>
              </a:rPr>
              <a:t>가장 많은 사망 유형</a:t>
            </a:r>
            <a:endParaRPr lang="ko-KR" altLang="en-US" sz="11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100" b="1">
                <a:solidFill>
                  <a:schemeClr val="tx1"/>
                </a:solidFill>
              </a:rPr>
              <a:t>- </a:t>
            </a:r>
            <a:r>
              <a:rPr lang="ko-KR" altLang="en-US" sz="1100" b="1">
                <a:solidFill>
                  <a:schemeClr val="tx1"/>
                </a:solidFill>
              </a:rPr>
              <a:t>전년 대비 증감률 </a:t>
            </a:r>
            <a:r>
              <a:rPr lang="en-US" altLang="ko-KR" sz="1400" b="1">
                <a:solidFill>
                  <a:schemeClr val="tx1"/>
                </a:solidFill>
              </a:rPr>
              <a:t>				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772986" y="2716711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3" name="사각형: 둥근 모서리 2"/>
          <p:cNvSpPr/>
          <p:nvPr/>
        </p:nvSpPr>
        <p:spPr>
          <a:xfrm>
            <a:off x="6592551" y="2345429"/>
            <a:ext cx="1077957" cy="304000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100">
                <a:solidFill>
                  <a:schemeClr val="bg1"/>
                </a:solidFill>
              </a:rPr>
              <a:t>정보 선택 </a:t>
            </a:r>
            <a:endParaRPr lang="ko-KR" altLang="en-US" sz="11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0" y="0"/>
          <a:ext cx="12192000" cy="138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김용찬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 gridSpan="6"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/>
                <a:gridCol w="3230540"/>
              </a:tblGrid>
              <a:tr h="515256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/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성별 재해현황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성별 사망현황 통계시각화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연령별 재해현황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연령별 사망현황 통계시각화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615044" y="1183182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헤더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11" name="사각형: 둥근 모서리 10"/>
          <p:cNvSpPr/>
          <p:nvPr/>
        </p:nvSpPr>
        <p:spPr>
          <a:xfrm>
            <a:off x="601290" y="1925053"/>
            <a:ext cx="3008184" cy="241834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남 </a:t>
            </a:r>
            <a:r>
              <a:rPr lang="en-US" altLang="ko-KR" sz="1400" b="1">
                <a:solidFill>
                  <a:schemeClr val="tx1"/>
                </a:solidFill>
              </a:rPr>
              <a:t> vs </a:t>
            </a:r>
            <a:r>
              <a:rPr lang="ko-KR" altLang="en-US" sz="1400" b="1">
                <a:solidFill>
                  <a:schemeClr val="tx1"/>
                </a:solidFill>
              </a:rPr>
              <a:t>여 </a:t>
            </a:r>
            <a:endParaRPr lang="ko-KR" altLang="en-US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000">
                <a:solidFill>
                  <a:schemeClr val="tx1"/>
                </a:solidFill>
              </a:rPr>
              <a:t>재해현황</a:t>
            </a:r>
            <a:endParaRPr lang="ko-KR" altLang="en-US" sz="1000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000" b="1">
                <a:solidFill>
                  <a:schemeClr val="tx1"/>
                </a:solidFill>
              </a:rPr>
              <a:t>남 </a:t>
            </a:r>
            <a:r>
              <a:rPr lang="en-US" altLang="ko-KR" sz="1000" b="1">
                <a:solidFill>
                  <a:schemeClr val="tx1"/>
                </a:solidFill>
              </a:rPr>
              <a:t>: </a:t>
            </a:r>
            <a:r>
              <a:rPr lang="ko-KR" altLang="en-US" sz="1000" b="1">
                <a:solidFill>
                  <a:schemeClr val="tx1"/>
                </a:solidFill>
              </a:rPr>
              <a:t>건수 및 퍼센트</a:t>
            </a:r>
            <a:endParaRPr lang="ko-KR" altLang="en-US" sz="10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000" b="1">
                <a:solidFill>
                  <a:schemeClr val="tx1"/>
                </a:solidFill>
              </a:rPr>
              <a:t>여 </a:t>
            </a:r>
            <a:r>
              <a:rPr lang="en-US" altLang="ko-KR" sz="1000" b="1">
                <a:solidFill>
                  <a:schemeClr val="tx1"/>
                </a:solidFill>
              </a:rPr>
              <a:t>: </a:t>
            </a:r>
            <a:r>
              <a:rPr lang="ko-KR" altLang="en-US" sz="1000" b="1">
                <a:solidFill>
                  <a:schemeClr val="tx1"/>
                </a:solidFill>
              </a:rPr>
              <a:t>건수 및 퍼센트</a:t>
            </a:r>
            <a:r>
              <a:rPr lang="en-US" altLang="ko-KR" sz="1000" b="1">
                <a:solidFill>
                  <a:schemeClr val="tx1"/>
                </a:solidFill>
              </a:rPr>
              <a:t>             </a:t>
            </a:r>
            <a:endParaRPr lang="en-US" altLang="ko-KR" sz="1000" b="1">
              <a:solidFill>
                <a:schemeClr val="tx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4693" y="2573520"/>
            <a:ext cx="2338100" cy="1242049"/>
          </a:xfrm>
          <a:prstGeom prst="rect">
            <a:avLst/>
          </a:prstGeom>
        </p:spPr>
      </p:pic>
      <p:sp>
        <p:nvSpPr>
          <p:cNvPr id="16" name="사각형: 둥근 모서리 15"/>
          <p:cNvSpPr/>
          <p:nvPr/>
        </p:nvSpPr>
        <p:spPr>
          <a:xfrm>
            <a:off x="601290" y="4421581"/>
            <a:ext cx="3008184" cy="237461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 sz="1000" b="1">
                <a:solidFill>
                  <a:schemeClr val="tx1"/>
                </a:solidFill>
              </a:rPr>
              <a:t> 연령대별 재해현황</a:t>
            </a:r>
            <a:endParaRPr lang="ko-KR" altLang="en-US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0667" y="4852650"/>
            <a:ext cx="2195876" cy="1834656"/>
          </a:xfrm>
          <a:prstGeom prst="rect">
            <a:avLst/>
          </a:prstGeom>
        </p:spPr>
      </p:pic>
      <p:sp>
        <p:nvSpPr>
          <p:cNvPr id="25" name="사각형: 둥근 모서리 24"/>
          <p:cNvSpPr/>
          <p:nvPr/>
        </p:nvSpPr>
        <p:spPr>
          <a:xfrm>
            <a:off x="4315038" y="1906408"/>
            <a:ext cx="3008184" cy="241834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남 </a:t>
            </a:r>
            <a:r>
              <a:rPr lang="en-US" altLang="ko-KR" sz="1400" b="1">
                <a:solidFill>
                  <a:schemeClr val="tx1"/>
                </a:solidFill>
              </a:rPr>
              <a:t> vs </a:t>
            </a:r>
            <a:r>
              <a:rPr lang="ko-KR" altLang="en-US" sz="1400" b="1">
                <a:solidFill>
                  <a:schemeClr val="tx1"/>
                </a:solidFill>
              </a:rPr>
              <a:t>여 </a:t>
            </a:r>
            <a:endParaRPr lang="ko-KR" altLang="en-US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000">
                <a:solidFill>
                  <a:schemeClr val="tx1"/>
                </a:solidFill>
              </a:rPr>
              <a:t>사망현황</a:t>
            </a:r>
            <a:endParaRPr lang="ko-KR" altLang="en-US" sz="1000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000" b="1">
                <a:solidFill>
                  <a:schemeClr val="tx1"/>
                </a:solidFill>
              </a:rPr>
              <a:t>남 </a:t>
            </a:r>
            <a:r>
              <a:rPr lang="en-US" altLang="ko-KR" sz="1000" b="1">
                <a:solidFill>
                  <a:schemeClr val="tx1"/>
                </a:solidFill>
              </a:rPr>
              <a:t>: </a:t>
            </a:r>
            <a:r>
              <a:rPr lang="ko-KR" altLang="en-US" sz="1000" b="1">
                <a:solidFill>
                  <a:schemeClr val="tx1"/>
                </a:solidFill>
              </a:rPr>
              <a:t>건수 및 퍼센트</a:t>
            </a:r>
            <a:endParaRPr lang="ko-KR" altLang="en-US" sz="10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000" b="1">
                <a:solidFill>
                  <a:schemeClr val="tx1"/>
                </a:solidFill>
              </a:rPr>
              <a:t>여 </a:t>
            </a:r>
            <a:r>
              <a:rPr lang="en-US" altLang="ko-KR" sz="1000" b="1">
                <a:solidFill>
                  <a:schemeClr val="tx1"/>
                </a:solidFill>
              </a:rPr>
              <a:t>: </a:t>
            </a:r>
            <a:r>
              <a:rPr lang="ko-KR" altLang="en-US" sz="1000" b="1">
                <a:solidFill>
                  <a:schemeClr val="tx1"/>
                </a:solidFill>
              </a:rPr>
              <a:t>건수 및 퍼센트</a:t>
            </a:r>
            <a:r>
              <a:rPr lang="en-US" altLang="ko-KR" sz="1000" b="1">
                <a:solidFill>
                  <a:schemeClr val="tx1"/>
                </a:solidFill>
              </a:rPr>
              <a:t>             </a:t>
            </a:r>
            <a:endParaRPr lang="en-US" altLang="ko-KR" sz="1000" b="1">
              <a:solidFill>
                <a:schemeClr val="tx1"/>
              </a:solidFill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28441" y="2554875"/>
            <a:ext cx="2338100" cy="1242049"/>
          </a:xfrm>
          <a:prstGeom prst="rect">
            <a:avLst/>
          </a:prstGeom>
        </p:spPr>
      </p:pic>
      <p:sp>
        <p:nvSpPr>
          <p:cNvPr id="27" name="사각형: 둥근 모서리 26"/>
          <p:cNvSpPr/>
          <p:nvPr/>
        </p:nvSpPr>
        <p:spPr>
          <a:xfrm>
            <a:off x="4315038" y="4402936"/>
            <a:ext cx="3008184" cy="237461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 sz="1000" b="1">
                <a:solidFill>
                  <a:schemeClr val="tx1"/>
                </a:solidFill>
              </a:rPr>
              <a:t> 연령대별 사망현황</a:t>
            </a:r>
            <a:endParaRPr lang="ko-KR" altLang="en-US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000" b="1">
              <a:solidFill>
                <a:schemeClr val="tx1"/>
              </a:solidFill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624415" y="4834005"/>
            <a:ext cx="2195876" cy="1834656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408031" y="190104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30" name="직사각형 29"/>
          <p:cNvSpPr/>
          <p:nvPr/>
        </p:nvSpPr>
        <p:spPr>
          <a:xfrm>
            <a:off x="463725" y="4343400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2</a:t>
            </a:r>
            <a:endParaRPr lang="ko-KR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0" y="0"/>
          <a:ext cx="12192000" cy="138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김용찬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 gridSpan="6"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72" y="1180080"/>
          <a:ext cx="3588666" cy="5765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/>
                <a:gridCol w="3230879"/>
              </a:tblGrid>
              <a:tr h="515256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/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발생형태별 재해현황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발생형태별 재해사망현황 통계시각화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회원이 부상으로 재해를 당했을떄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헤더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13" name="사각형: 둥근 모서리 12"/>
          <p:cNvSpPr/>
          <p:nvPr/>
        </p:nvSpPr>
        <p:spPr>
          <a:xfrm>
            <a:off x="509164" y="2213991"/>
            <a:ext cx="3805225" cy="428306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400" b="1">
                <a:solidFill>
                  <a:schemeClr val="tx1"/>
                </a:solidFill>
              </a:rPr>
              <a:t>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sp>
        <p:nvSpPr>
          <p:cNvPr id="14" name="사각형: 둥근 모서리 13"/>
          <p:cNvSpPr/>
          <p:nvPr/>
        </p:nvSpPr>
        <p:spPr>
          <a:xfrm>
            <a:off x="4398278" y="2213992"/>
            <a:ext cx="3805227" cy="42830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400" b="1">
                <a:solidFill>
                  <a:schemeClr val="tx1"/>
                </a:solidFill>
              </a:rPr>
              <a:t>			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6225" y="2376656"/>
            <a:ext cx="2849165" cy="36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800" b="1">
                <a:solidFill>
                  <a:schemeClr val="tx1"/>
                </a:solidFill>
              </a:rPr>
              <a:t>내 업종  재해유형별 </a:t>
            </a:r>
            <a:r>
              <a:rPr lang="en-US" altLang="ko-KR" sz="1800" b="1">
                <a:solidFill>
                  <a:schemeClr val="tx1"/>
                </a:solidFill>
              </a:rPr>
              <a:t> </a:t>
            </a:r>
            <a:r>
              <a:rPr lang="ko-KR" altLang="en-US" sz="1800" b="1">
                <a:solidFill>
                  <a:schemeClr val="tx1"/>
                </a:solidFill>
              </a:rPr>
              <a:t>현황</a:t>
            </a:r>
            <a:endParaRPr lang="ko-KR" altLang="en-US" sz="1800" b="1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47457" y="2394792"/>
            <a:ext cx="350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800" b="1">
                <a:solidFill>
                  <a:schemeClr val="tx1"/>
                </a:solidFill>
              </a:rPr>
              <a:t>내 업종  재해</a:t>
            </a:r>
            <a:r>
              <a:rPr lang="ko-KR" altLang="en-US" b="1"/>
              <a:t>유형별 사망현황</a:t>
            </a:r>
            <a:endParaRPr lang="en-US" altLang="ko-KR" sz="1800" b="1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13448" y="2204914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1</a:t>
            </a:r>
            <a:endParaRPr lang="ko-KR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0" y="0"/>
          <a:ext cx="12192000" cy="138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김용찬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 gridSpan="6"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72" y="1180080"/>
          <a:ext cx="3588327" cy="5765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/>
                <a:gridCol w="3230540"/>
              </a:tblGrid>
              <a:tr h="515256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/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질병별 재해현황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질병별 재해사망현황 통계시각화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회원이 질병으로 재해를 당했을떄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헤더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13" name="사각형: 둥근 모서리 12"/>
          <p:cNvSpPr/>
          <p:nvPr/>
        </p:nvSpPr>
        <p:spPr>
          <a:xfrm>
            <a:off x="509164" y="2213991"/>
            <a:ext cx="3805225" cy="428306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400" b="1">
                <a:solidFill>
                  <a:schemeClr val="tx1"/>
                </a:solidFill>
              </a:rPr>
              <a:t>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sp>
        <p:nvSpPr>
          <p:cNvPr id="14" name="사각형: 둥근 모서리 13"/>
          <p:cNvSpPr/>
          <p:nvPr/>
        </p:nvSpPr>
        <p:spPr>
          <a:xfrm>
            <a:off x="4398278" y="2213992"/>
            <a:ext cx="3805227" cy="42830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400" b="1">
                <a:solidFill>
                  <a:schemeClr val="tx1"/>
                </a:solidFill>
              </a:rPr>
              <a:t>			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7522" y="2376656"/>
            <a:ext cx="3167867" cy="36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800" b="1">
                <a:solidFill>
                  <a:schemeClr val="tx1"/>
                </a:solidFill>
              </a:rPr>
              <a:t>내 업종  </a:t>
            </a:r>
            <a:r>
              <a:rPr lang="ko-KR" altLang="en-US" b="1"/>
              <a:t>재해질병</a:t>
            </a:r>
            <a:r>
              <a:rPr lang="ko-KR" altLang="en-US" sz="1800" b="1">
                <a:solidFill>
                  <a:schemeClr val="tx1"/>
                </a:solidFill>
              </a:rPr>
              <a:t>유형별 현황</a:t>
            </a:r>
            <a:endParaRPr lang="ko-KR" altLang="en-US" sz="1800" b="1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98278" y="2346996"/>
            <a:ext cx="3805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b="1">
                <a:solidFill>
                  <a:schemeClr val="tx1"/>
                </a:solidFill>
              </a:rPr>
              <a:t>내 업종  재해</a:t>
            </a:r>
            <a:r>
              <a:rPr lang="ko-KR" altLang="en-US" sz="1600" b="1"/>
              <a:t>질병유형별 사망현황</a:t>
            </a:r>
            <a:endParaRPr lang="en-US" altLang="ko-KR" sz="1600" b="1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35753" y="220805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1</a:t>
            </a:r>
            <a:endParaRPr lang="ko-KR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0" y="0"/>
          <a:ext cx="12192000" cy="138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김용찬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 gridSpan="6"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72" y="1180080"/>
          <a:ext cx="3588666" cy="670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/>
                <a:gridCol w="3230879"/>
              </a:tblGrid>
              <a:tr h="515256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/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요인들을 종합해서 종합위험도 지수 통계시각화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위험도 계산 로직을 직접 구현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이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가지 요인을 종합평가하여 위험도 추출 예정 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재해율 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 해당 업종의 평균 재해 발생 빈도	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사망률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 해당 업종의 평균 사망 발생 빈도	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위험 재해 유형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 해당 회원의 주요 재해 유형이 해당 업종에서 차지하는 비율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취약성 지표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 해당 회원의 성별, 연령대에서 재해/사망이 발생하는 비율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안전자료실 페이지로 이동한다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주변 산재 찾기 페이지로 이동한다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주변 산재 병원 찾기로 이동한다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5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헤더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푸터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/>
          <p:cNvSpPr/>
          <p:nvPr/>
        </p:nvSpPr>
        <p:spPr>
          <a:xfrm>
            <a:off x="601579" y="1916637"/>
            <a:ext cx="6988627" cy="420480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종합 위험도 평가 </a:t>
            </a:r>
            <a:endParaRPr lang="ko-KR" altLang="en-US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400" b="1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400" b="1">
                <a:solidFill>
                  <a:schemeClr val="tx1"/>
                </a:solidFill>
              </a:rPr>
              <a:t>	             </a:t>
            </a:r>
            <a:endParaRPr lang="en-US" altLang="ko-KR" sz="1400" b="1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01925" y="188070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17" name="사각형: 둥근 모서리 16"/>
          <p:cNvSpPr/>
          <p:nvPr/>
        </p:nvSpPr>
        <p:spPr>
          <a:xfrm>
            <a:off x="1615044" y="5413574"/>
            <a:ext cx="1489103" cy="429422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100"/>
              <a:t>나에게 필요한 안전 가이드 보기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8" name="사각형: 둥근 모서리 17"/>
          <p:cNvSpPr/>
          <p:nvPr/>
        </p:nvSpPr>
        <p:spPr>
          <a:xfrm>
            <a:off x="5278892" y="5316132"/>
            <a:ext cx="1489103" cy="482223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100"/>
              <a:t>가까운 응급</a:t>
            </a:r>
            <a:r>
              <a:rPr lang="en-US" altLang="ko-KR" sz="1100"/>
              <a:t>·</a:t>
            </a:r>
            <a:r>
              <a:rPr lang="ko-KR" altLang="en-US" sz="1100"/>
              <a:t>산재병원 찾기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9" name="사각형: 둥근 모서리 18"/>
          <p:cNvSpPr/>
          <p:nvPr/>
        </p:nvSpPr>
        <p:spPr>
          <a:xfrm>
            <a:off x="3446968" y="5388526"/>
            <a:ext cx="1489103" cy="429422"/>
          </a:xfrm>
          <a:prstGeom prst="roundRect">
            <a:avLst>
              <a:gd name="adj" fmla="val 16667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100"/>
              <a:t>내 위치 기반 위험 탐색하기</a:t>
            </a:r>
            <a:endParaRPr lang="ko-KR" altLang="en-US" sz="1100">
              <a:solidFill>
                <a:schemeClr val="bg1"/>
              </a:solidFill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3119" y="2883397"/>
            <a:ext cx="6359706" cy="1843378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1304684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23" name="직사각형 22"/>
          <p:cNvSpPr/>
          <p:nvPr/>
        </p:nvSpPr>
        <p:spPr>
          <a:xfrm>
            <a:off x="3152785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3</a:t>
            </a:r>
            <a:endParaRPr lang="ko-KR" altLang="en-US" sz="1400"/>
          </a:p>
        </p:txBody>
      </p:sp>
      <p:sp>
        <p:nvSpPr>
          <p:cNvPr id="24" name="직사각형 23"/>
          <p:cNvSpPr/>
          <p:nvPr/>
        </p:nvSpPr>
        <p:spPr>
          <a:xfrm>
            <a:off x="5000886" y="5162207"/>
            <a:ext cx="411194" cy="2930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4</a:t>
            </a:r>
            <a:endParaRPr lang="ko-KR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주변 병원 검색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425725" y="2326681"/>
            <a:ext cx="7921373" cy="13251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latinLnBrk="1">
              <a:defRPr/>
            </a:pPr>
            <a:endParaRPr lang="ko-KR" altLang="en-US" sz="1200" b="0">
              <a:solidFill>
                <a:schemeClr val="tx1"/>
              </a:solidFill>
            </a:endParaRPr>
          </a:p>
        </p:txBody>
      </p:sp>
      <p:graphicFrame>
        <p:nvGraphicFramePr>
          <p:cNvPr id="4" name="표 4"/>
          <p:cNvGraphicFramePr>
            <a:graphicFrameLocks noGrp="1"/>
          </p:cNvGraphicFramePr>
          <p:nvPr/>
        </p:nvGraphicFramePr>
        <p:xfrm>
          <a:off x="-22034" y="0"/>
          <a:ext cx="12192000" cy="138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화면코드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 vert="horz" lIns="91440" tIns="90000" rIns="91440" bIns="9000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병원 상세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일자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90000" rIns="91440" bIns="90000" anchor="t" anchorCtr="0"/>
                    <a:p>
                      <a:pPr lvl="0" algn="ctr" latinLnBrk="1"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 gridSpan="6">
                  <a:txBody>
                    <a:bodyPr vert="horz" lIns="91440" tIns="90000" rIns="91440" bIns="9000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8603672" y="1180080"/>
          <a:ext cx="3588327" cy="6199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/>
                <a:gridCol w="3230540"/>
              </a:tblGrid>
              <a:tr h="472520">
                <a:tc gridSpan="2"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/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76351">
                <a:tc gridSpan="2"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160005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수정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리뷰 수정 모달 출력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 : </a:t>
                      </a: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? Alert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창 띄우고 한번더 사용자에게 인지 시키기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4877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리뷰 작성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en-US" altLang="ko-KR" sz="1100" b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리뷰 작성후 등록하면 </a:t>
                      </a:r>
                      <a:br>
                        <a:rPr lang="ko-KR" altLang="en-US" sz="1100" b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리뷰 목록에 작성글 바로 업데이트 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76351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76351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76351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latinLnBrk="1">
                        <a:defRPr/>
                      </a:pP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헤더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로고</a:t>
            </a: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푸터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사각형: 둥근 모서리 25"/>
          <p:cNvSpPr/>
          <p:nvPr/>
        </p:nvSpPr>
        <p:spPr>
          <a:xfrm>
            <a:off x="425725" y="2119629"/>
            <a:ext cx="7918834" cy="32962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리뷰</a:t>
            </a:r>
            <a:endParaRPr lang="en-US" altLang="ko-KR" sz="1050" b="1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21561" y="38150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1….. 					              2025-10-23   	             </a:t>
            </a:r>
            <a:endParaRPr lang="en-US" altLang="ko-KR" sz="100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21561" y="437487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2….. 				  	              2023-10-23 	             </a:t>
            </a:r>
            <a:endParaRPr lang="en-US" altLang="ko-KR" sz="100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23185" y="493471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3….. 					              2022-10-23 	             </a:t>
            </a:r>
            <a:endParaRPr lang="en-US" altLang="ko-KR" sz="100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3" name="직사각형 2"/>
          <p:cNvSpPr/>
          <p:nvPr/>
        </p:nvSpPr>
        <p:spPr>
          <a:xfrm>
            <a:off x="7358474" y="4529895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000">
                <a:solidFill>
                  <a:schemeClr val="tx1"/>
                </a:solidFill>
              </a:rPr>
              <a:t>수정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846577" y="4528327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000">
                <a:solidFill>
                  <a:schemeClr val="tx1"/>
                </a:solidFill>
              </a:rPr>
              <a:t>삭제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21562" y="549455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2….. 				  	              2023-10-23 	             </a:t>
            </a:r>
            <a:endParaRPr lang="en-US" altLang="ko-KR" sz="100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749872" y="6117039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200">
                <a:solidFill>
                  <a:schemeClr val="tx1"/>
                </a:solidFill>
              </a:rPr>
              <a:t>더보기 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0" name="사각형: 둥근 모서리 11"/>
          <p:cNvSpPr/>
          <p:nvPr/>
        </p:nvSpPr>
        <p:spPr>
          <a:xfrm>
            <a:off x="6714108" y="3277000"/>
            <a:ext cx="1535260" cy="304000"/>
          </a:xfrm>
          <a:prstGeom prst="roundRect">
            <a:avLst>
              <a:gd name="adj" fmla="val 16667"/>
            </a:avLst>
          </a:prstGeom>
          <a:solidFill>
            <a:srgbClr val="0d0d0d">
              <a:alpha val="100000"/>
            </a:srgbClr>
          </a:solidFill>
          <a:ln w="19050" cap="flat" cmpd="sng" algn="ctr">
            <a:solidFill>
              <a:srgbClr val="475e9c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리뷰 등록하기  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사각형: 둥근 모서리 12"/>
          <p:cNvSpPr/>
          <p:nvPr/>
        </p:nvSpPr>
        <p:spPr>
          <a:xfrm>
            <a:off x="592017" y="2756290"/>
            <a:ext cx="5904298" cy="824709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475e9c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a6a6a6"/>
                </a:solidFill>
                <a:latin typeface="Calibri"/>
                <a:ea typeface="맑은 고딕"/>
                <a:cs typeface="맑은 고딕"/>
              </a:rPr>
              <a:t>리뷰를 남기려면 로그인이 필요합니다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1200" cap="none" spc="0" normalizeH="0" baseline="0" mc:Ignorable="hp" hp:hslEmbossed="0">
                <a:solidFill>
                  <a:srgbClr val="a6a6a6"/>
                </a:solidFill>
                <a:latin typeface="Calibri"/>
                <a:ea typeface="맑은 고딕"/>
                <a:cs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500" b="0" i="0" u="none" strike="noStrike" kern="1200" cap="none" spc="0" normalizeH="0" baseline="0" mc:Ignorable="hp" hp:hslEmbossed="0">
              <a:solidFill>
                <a:srgbClr val="a6a6a6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592017" y="2491495"/>
            <a:ext cx="6096000" cy="2688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💬리뷰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791</ep:Words>
  <ep:PresentationFormat>화면 슬라이드 쇼(4:3)</ep:PresentationFormat>
  <ep:Paragraphs>127</ep:Paragraphs>
  <ep:Slides>11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메인 , 헤더</vt:lpstr>
      <vt:lpstr>슬라이드 2</vt:lpstr>
      <vt:lpstr>산재 통계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주변 병원 검색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2025-11-29T14:15:38.136</dcterms:created>
  <dc:creator>user</dc:creator>
  <cp:lastModifiedBy>user</cp:lastModifiedBy>
  <dcterms:modified xsi:type="dcterms:W3CDTF">2025-11-29T15:27:05.881</dcterms:modified>
  <cp:revision>13</cp:revision>
  <dc:title>메인 , 헤더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