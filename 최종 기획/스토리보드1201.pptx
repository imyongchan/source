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332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317" r:id="rId30"/>
    <p:sldId id="258" r:id="rId31"/>
    <p:sldId id="318" r:id="rId32"/>
    <p:sldId id="319" r:id="rId33"/>
    <p:sldId id="320" r:id="rId34"/>
    <p:sldId id="321" r:id="rId35"/>
    <p:sldId id="280" r:id="rId36"/>
    <p:sldId id="291" r:id="rId37"/>
    <p:sldId id="326" r:id="rId38"/>
    <p:sldId id="327" r:id="rId39"/>
    <p:sldId id="300" r:id="rId40"/>
    <p:sldId id="328" r:id="rId41"/>
    <p:sldId id="333" r:id="rId42"/>
    <p:sldId id="329" r:id="rId43"/>
    <p:sldId id="286" r:id="rId44"/>
    <p:sldId id="292" r:id="rId45"/>
    <p:sldId id="287" r:id="rId46"/>
    <p:sldId id="288" r:id="rId47"/>
    <p:sldId id="290" r:id="rId48"/>
    <p:sldId id="293" r:id="rId49"/>
    <p:sldId id="289" r:id="rId50"/>
    <p:sldId id="302" r:id="rId51"/>
    <p:sldId id="264" r:id="rId52"/>
    <p:sldId id="314" r:id="rId53"/>
    <p:sldId id="315" r:id="rId54"/>
    <p:sldId id="323" r:id="rId55"/>
    <p:sldId id="322" r:id="rId56"/>
    <p:sldId id="325" r:id="rId57"/>
    <p:sldId id="324" r:id="rId58"/>
    <p:sldId id="297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90209" autoAdjust="0"/>
  </p:normalViewPr>
  <p:slideViewPr>
    <p:cSldViewPr snapToGrid="0">
      <p:cViewPr varScale="1">
        <p:scale>
          <a:sx n="90" d="100"/>
          <a:sy n="90" d="100"/>
        </p:scale>
        <p:origin x="6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751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5EB4-779A-CFE3-15B8-C6F623665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AB8CE9-37BA-BA3E-02E0-DC29B2811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7A0656-30AF-53E2-E2E8-38DB6A27F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500A1-BE92-09A8-8AE2-3A7055FDC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37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947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84428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3715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wel.or.kr/comwel/medi/orsc.js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544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874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72296"/>
              </p:ext>
            </p:extLst>
          </p:nvPr>
        </p:nvGraphicFramePr>
        <p:xfrm>
          <a:off x="351394" y="2687320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74192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graphicFrame>
        <p:nvGraphicFramePr>
          <p:cNvPr id="3" name="표 57">
            <a:extLst>
              <a:ext uri="{FF2B5EF4-FFF2-40B4-BE49-F238E27FC236}">
                <a16:creationId xmlns:a16="http://schemas.microsoft.com/office/drawing/2014/main" id="{259FD06B-23EF-0599-4590-327A5C86C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754310"/>
              </p:ext>
            </p:extLst>
          </p:nvPr>
        </p:nvGraphicFramePr>
        <p:xfrm>
          <a:off x="238125" y="3002942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56320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181123"/>
              </p:ext>
            </p:extLst>
          </p:nvPr>
        </p:nvGraphicFramePr>
        <p:xfrm>
          <a:off x="8603672" y="1180080"/>
          <a:ext cx="3588327" cy="6129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(21~23)3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년의 정보를 가져온다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t_</a:t>
                      </a:r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썸네일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137F5-25C4-47E8-9076-F86F4A43A415}"/>
              </a:ext>
            </a:extLst>
          </p:cNvPr>
          <p:cNvSpPr txBox="1"/>
          <p:nvPr/>
        </p:nvSpPr>
        <p:spPr>
          <a:xfrm>
            <a:off x="6876138" y="3288288"/>
            <a:ext cx="920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2021~2023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89198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070155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35105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28790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35334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527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맞춤 통계 분석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안전교육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90921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119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615439"/>
              </p:ext>
            </p:extLst>
          </p:nvPr>
        </p:nvGraphicFramePr>
        <p:xfrm>
          <a:off x="8603672" y="1180081"/>
          <a:ext cx="3588327" cy="5692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78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12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586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978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153321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홍길동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example@gmail.com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5181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2451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5035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3476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92212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546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404524"/>
              </p:ext>
            </p:extLst>
          </p:nvPr>
        </p:nvGraphicFramePr>
        <p:xfrm>
          <a:off x="8603672" y="1180084"/>
          <a:ext cx="3588327" cy="58955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아이디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불가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홍길동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141663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example@gmail.com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5FB0AFC-2401-4203-BA63-96F7416B705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EF6BA32-8CD4-4509-9F95-07CD2166869C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6C5D475-3B41-475E-B4E2-A2E5BEFBD37A}"/>
              </a:ext>
            </a:extLst>
          </p:cNvPr>
          <p:cNvSpPr/>
          <p:nvPr/>
        </p:nvSpPr>
        <p:spPr>
          <a:xfrm>
            <a:off x="2307339" y="268159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example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182F90-6FAE-453F-BCAF-82732D612ECD}"/>
              </a:ext>
            </a:extLst>
          </p:cNvPr>
          <p:cNvSpPr txBox="1"/>
          <p:nvPr/>
        </p:nvSpPr>
        <p:spPr>
          <a:xfrm>
            <a:off x="1425559" y="2655661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8286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3032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335068"/>
              </p:ext>
            </p:extLst>
          </p:nvPr>
        </p:nvGraphicFramePr>
        <p:xfrm>
          <a:off x="8603672" y="1180083"/>
          <a:ext cx="3588327" cy="5690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9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546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9290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사용자가 입력하는 제목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상의 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669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513567" y="1924248"/>
            <a:ext cx="760956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47866"/>
              </p:ext>
            </p:extLst>
          </p:nvPr>
        </p:nvGraphicFramePr>
        <p:xfrm>
          <a:off x="1008579" y="3056933"/>
          <a:ext cx="658651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904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662487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777139">
                  <a:extLst>
                    <a:ext uri="{9D8B030D-6E8A-4147-A177-3AD203B41FA5}">
                      <a16:colId xmlns:a16="http://schemas.microsoft.com/office/drawing/2014/main" val="2384146492"/>
                    </a:ext>
                  </a:extLst>
                </a:gridCol>
                <a:gridCol w="1005737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  <a:gridCol w="1630044">
                  <a:extLst>
                    <a:ext uri="{9D8B030D-6E8A-4147-A177-3AD203B41FA5}">
                      <a16:colId xmlns:a16="http://schemas.microsoft.com/office/drawing/2014/main" val="578233999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제목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주소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다리다침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서울특별시 강남구 테헤란로 </a:t>
                      </a:r>
                      <a:r>
                        <a:rPr lang="en-US" altLang="ko-KR" sz="900" dirty="0"/>
                        <a:t>152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뼈뿌러짐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부산광역시 해운대구 </a:t>
                      </a:r>
                      <a:r>
                        <a:rPr lang="ko-KR" altLang="en-US" sz="900" dirty="0" err="1"/>
                        <a:t>센텀동로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45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아프다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대구광역시 수성구 </a:t>
                      </a:r>
                      <a:r>
                        <a:rPr lang="ko-KR" altLang="en-US" sz="900" dirty="0" err="1"/>
                        <a:t>달구벌대로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2340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아니이게왜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심장질환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경기도 성남시 분당구 </a:t>
                      </a:r>
                      <a:r>
                        <a:rPr lang="ko-KR" altLang="en-US" sz="900" dirty="0" err="1"/>
                        <a:t>판교역로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166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74136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3294254"/>
              </p:ext>
            </p:extLst>
          </p:nvPr>
        </p:nvGraphicFramePr>
        <p:xfrm>
          <a:off x="8603672" y="1180083"/>
          <a:ext cx="3588327" cy="59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2393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595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3289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사용자가 입력하는 산재 리스트 제목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글자 제한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dirty="0"/>
                        <a:t>업종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선택 시 그에 대응하는 상위 업종 분류 을 자동으로 설정하여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사용자가 업종을 선택할 때 스크립트가 </a:t>
                      </a:r>
                      <a:r>
                        <a:rPr lang="ko-KR" altLang="en-US" sz="900" b="0" dirty="0"/>
                        <a:t>해당 상위 카테고리를 자동으로 선택하도록 </a:t>
                      </a:r>
                      <a:r>
                        <a:rPr lang="ko-KR" altLang="en-US" sz="900" dirty="0"/>
                        <a:t>구현한다</a:t>
                      </a:r>
                      <a:r>
                        <a:rPr lang="en-US" altLang="ko-KR" sz="900" dirty="0"/>
                        <a:t>.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질병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되고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발생형태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모두를 선택시에는 둘 다 입력해야 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Default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4122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81462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81462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32318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30231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업종</a:t>
            </a:r>
            <a:r>
              <a:rPr lang="en-US" altLang="ko-KR" sz="1000" dirty="0"/>
              <a:t> :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388522"/>
            <a:ext cx="121122" cy="1208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388522"/>
            <a:ext cx="121122" cy="1208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81462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2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78532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74D1D3-04FB-44D7-9B5D-07DCB85EF524}"/>
              </a:ext>
            </a:extLst>
          </p:cNvPr>
          <p:cNvSpPr txBox="1"/>
          <p:nvPr/>
        </p:nvSpPr>
        <p:spPr>
          <a:xfrm>
            <a:off x="3772490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모두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2E5DAE2-EA55-47D3-BF46-1B80185F281B}"/>
              </a:ext>
            </a:extLst>
          </p:cNvPr>
          <p:cNvSpPr/>
          <p:nvPr/>
        </p:nvSpPr>
        <p:spPr>
          <a:xfrm>
            <a:off x="4317178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B15B32D-1D50-4498-82C5-447EFD06662F}"/>
              </a:ext>
            </a:extLst>
          </p:cNvPr>
          <p:cNvSpPr/>
          <p:nvPr/>
        </p:nvSpPr>
        <p:spPr>
          <a:xfrm>
            <a:off x="2281543" y="335394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CC3E69-3BD3-41C2-A50A-66D37AAE957D}"/>
              </a:ext>
            </a:extLst>
          </p:cNvPr>
          <p:cNvSpPr txBox="1"/>
          <p:nvPr/>
        </p:nvSpPr>
        <p:spPr>
          <a:xfrm>
            <a:off x="1351916" y="3353941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 제목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0" name="Rect 0">
            <a:extLst>
              <a:ext uri="{FF2B5EF4-FFF2-40B4-BE49-F238E27FC236}">
                <a16:creationId xmlns:a16="http://schemas.microsoft.com/office/drawing/2014/main" id="{520684DD-EB2E-405A-9AB9-240CC24931F2}"/>
              </a:ext>
            </a:extLst>
          </p:cNvPr>
          <p:cNvSpPr>
            <a:spLocks/>
          </p:cNvSpPr>
          <p:nvPr/>
        </p:nvSpPr>
        <p:spPr>
          <a:xfrm>
            <a:off x="1528445" y="46869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발생형태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1" name="Rect 0">
            <a:extLst>
              <a:ext uri="{FF2B5EF4-FFF2-40B4-BE49-F238E27FC236}">
                <a16:creationId xmlns:a16="http://schemas.microsoft.com/office/drawing/2014/main" id="{0D6B436B-7B9F-41F3-8993-301B1F5CD14B}"/>
              </a:ext>
            </a:extLst>
          </p:cNvPr>
          <p:cNvSpPr>
            <a:spLocks/>
          </p:cNvSpPr>
          <p:nvPr/>
        </p:nvSpPr>
        <p:spPr>
          <a:xfrm>
            <a:off x="1528445" y="50933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질병</a:t>
            </a:r>
            <a:r>
              <a:rPr sz="1000" dirty="0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 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endParaRPr lang="ko-KR" altLang="en-US" sz="1200" dirty="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5C43EABA-EFE0-4F89-B65C-FEBAF6B6F9D7}"/>
              </a:ext>
            </a:extLst>
          </p:cNvPr>
          <p:cNvSpPr/>
          <p:nvPr/>
        </p:nvSpPr>
        <p:spPr>
          <a:xfrm rot="10800000">
            <a:off x="3152189" y="4738249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>
            <a:extLst>
              <a:ext uri="{FF2B5EF4-FFF2-40B4-BE49-F238E27FC236}">
                <a16:creationId xmlns:a16="http://schemas.microsoft.com/office/drawing/2014/main" id="{325079FF-D950-4D14-BC2C-A599139A2031}"/>
              </a:ext>
            </a:extLst>
          </p:cNvPr>
          <p:cNvSpPr/>
          <p:nvPr/>
        </p:nvSpPr>
        <p:spPr>
          <a:xfrm rot="10800000">
            <a:off x="3164916" y="5138354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이등변 삼각형 40">
            <a:extLst>
              <a:ext uri="{FF2B5EF4-FFF2-40B4-BE49-F238E27FC236}">
                <a16:creationId xmlns:a16="http://schemas.microsoft.com/office/drawing/2014/main" id="{8882DA39-DE1F-4723-ACCE-A691ADBCF91E}"/>
              </a:ext>
            </a:extLst>
          </p:cNvPr>
          <p:cNvSpPr/>
          <p:nvPr/>
        </p:nvSpPr>
        <p:spPr>
          <a:xfrm rot="10800000">
            <a:off x="6736553" y="3353941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65385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41386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89154"/>
              </p:ext>
            </p:extLst>
          </p:nvPr>
        </p:nvGraphicFramePr>
        <p:xfrm>
          <a:off x="8603672" y="1180080"/>
          <a:ext cx="3588327" cy="6149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간단 내용은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LLM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비동기로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8421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63174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29120"/>
              </p:ext>
            </p:extLst>
          </p:nvPr>
        </p:nvGraphicFramePr>
        <p:xfrm>
          <a:off x="8603672" y="1180081"/>
          <a:ext cx="3588327" cy="5499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910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산재정보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정보를 찾아 회원 프로필에 이름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나이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성별  명시 </a:t>
                      </a: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정보선택을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회원이 등록한 산재정보 목록 표시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질병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분석기간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관련 통계 집계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128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122FFAF-E532-0FA7-2D39-ACC91267F496}"/>
              </a:ext>
            </a:extLst>
          </p:cNvPr>
          <p:cNvSpPr/>
          <p:nvPr/>
        </p:nvSpPr>
        <p:spPr>
          <a:xfrm>
            <a:off x="6673212" y="2364788"/>
            <a:ext cx="144991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나의 산재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F51771-E44A-953D-0C91-B6EE8EF0AC9C}"/>
              </a:ext>
            </a:extLst>
          </p:cNvPr>
          <p:cNvSpPr/>
          <p:nvPr/>
        </p:nvSpPr>
        <p:spPr>
          <a:xfrm>
            <a:off x="6502952" y="2244942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FD3B7601-77D2-4E09-90AF-22986F605070}"/>
              </a:ext>
            </a:extLst>
          </p:cNvPr>
          <p:cNvSpPr/>
          <p:nvPr/>
        </p:nvSpPr>
        <p:spPr>
          <a:xfrm rot="10800000">
            <a:off x="7859042" y="2417716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2" name="표 14">
            <a:extLst>
              <a:ext uri="{FF2B5EF4-FFF2-40B4-BE49-F238E27FC236}">
                <a16:creationId xmlns:a16="http://schemas.microsoft.com/office/drawing/2014/main" id="{94F5C816-1615-4D28-AE45-086D01A09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824289"/>
              </p:ext>
            </p:extLst>
          </p:nvPr>
        </p:nvGraphicFramePr>
        <p:xfrm>
          <a:off x="6439943" y="2649593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7588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333200"/>
              </p:ext>
            </p:extLst>
          </p:nvPr>
        </p:nvGraphicFramePr>
        <p:xfrm>
          <a:off x="8603672" y="1180081"/>
          <a:ext cx="3588327" cy="58372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보면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년도별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통계분석 가능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D0C3FE3-BB76-E61C-C52C-1978DD221B9E}"/>
              </a:ext>
            </a:extLst>
          </p:cNvPr>
          <p:cNvSpPr/>
          <p:nvPr/>
        </p:nvSpPr>
        <p:spPr>
          <a:xfrm>
            <a:off x="6592551" y="2345429"/>
            <a:ext cx="137477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나의 산재 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95BA94C4-BAA5-4C85-84BA-C70C70576889}"/>
              </a:ext>
            </a:extLst>
          </p:cNvPr>
          <p:cNvSpPr/>
          <p:nvPr/>
        </p:nvSpPr>
        <p:spPr>
          <a:xfrm rot="10800000">
            <a:off x="7635870" y="2406672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7730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30425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026669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부상으로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0853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825341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질병으로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86075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69185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위험도 계산 로직을 직접 구현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요인을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종합평가하여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위험도 추출 예정 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재해율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재해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사망률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사망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 재해 유형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주요 재해 유형이 해당 업종에서 차지하는 비율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취약성 지표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성별, 연령대에서 재해/사망이 발생하는 비율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94559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/>
              <a:t>최근 본 자료</a:t>
            </a:r>
            <a:endParaRPr sz="1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F642C1-AE9C-BA0C-6391-A5D10F03F320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900AE3-427B-6EEE-E52F-A098DF854A06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8F7C40-39D5-5E3A-1CDF-CF1198DEFD48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/>
                <a:t>안전자료실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1A412D06-4C4E-01E7-06FF-2599541223C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B2AF8D3-A373-670C-B106-39D3D85E5E3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17DDB7-5205-1FCB-9A26-2123B472110F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82076BC-1FFD-4FF9-A824-E3CBDF8187C5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1F2D4DB-55B1-257F-EF76-56B41F827AF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BCE387-6B90-4034-A617-46C580385AC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2335A72-C3F8-B494-5CF1-3B5DB06A2FDD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460285B-2A87-50CC-BABF-E4EEE325EEB9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DDC559-8BD1-F8E6-7B18-6A6D2DF117B3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1665525" y="5357839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2" name="표 5">
            <a:extLst>
              <a:ext uri="{FF2B5EF4-FFF2-40B4-BE49-F238E27FC236}">
                <a16:creationId xmlns:a16="http://schemas.microsoft.com/office/drawing/2014/main" id="{3412397D-5DBB-2CCF-4814-92BB2AE51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59583"/>
              </p:ext>
            </p:extLst>
          </p:nvPr>
        </p:nvGraphicFramePr>
        <p:xfrm>
          <a:off x="8603673" y="1198698"/>
          <a:ext cx="3588327" cy="5640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9736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687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0711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dirty="0"/>
                        <a:t>Default: </a:t>
                      </a:r>
                      <a:r>
                        <a:rPr lang="ko-KR" altLang="en-US" sz="1100" dirty="0"/>
                        <a:t>최근 본 자료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슬라이드 당 </a:t>
                      </a:r>
                      <a:r>
                        <a:rPr lang="en-US" sz="1100" dirty="0"/>
                        <a:t>3</a:t>
                      </a:r>
                      <a:r>
                        <a:rPr lang="ko-KR" altLang="en-US" sz="1100" dirty="0"/>
                        <a:t>개씩 보여줌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슬라이드 총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총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개의 카드 보여줌</a:t>
                      </a:r>
                      <a:endParaRPr lang="en-US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937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9231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6C5C871E-97A2-18D0-D83C-F992D0B0A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385219"/>
              </p:ext>
            </p:extLst>
          </p:nvPr>
        </p:nvGraphicFramePr>
        <p:xfrm>
          <a:off x="0" y="18619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작성자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 err="1">
                          <a:solidFill>
                            <a:schemeClr val="dk1"/>
                          </a:solidFill>
                        </a:rPr>
                        <a:t>박소윤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일자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>
          <a:extLst>
            <a:ext uri="{FF2B5EF4-FFF2-40B4-BE49-F238E27FC236}">
              <a16:creationId xmlns:a16="http://schemas.microsoft.com/office/drawing/2014/main" id="{79F55903-136A-7E82-DAAC-D0A2C0DD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>
            <a:extLst>
              <a:ext uri="{FF2B5EF4-FFF2-40B4-BE49-F238E27FC236}">
                <a16:creationId xmlns:a16="http://schemas.microsoft.com/office/drawing/2014/main" id="{87206C3A-E144-332E-07DD-745A72146465}"/>
              </a:ext>
            </a:extLst>
          </p:cNvPr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>
            <a:extLst>
              <a:ext uri="{FF2B5EF4-FFF2-40B4-BE49-F238E27FC236}">
                <a16:creationId xmlns:a16="http://schemas.microsoft.com/office/drawing/2014/main" id="{9B1D0870-C6DD-6894-9542-6AE49434A504}"/>
              </a:ext>
            </a:extLst>
          </p:cNvPr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438326" y="3411224"/>
            <a:ext cx="7486168" cy="124833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1A4D6CEB-843D-CADE-0AFC-A012D4036471}"/>
              </a:ext>
            </a:extLst>
          </p:cNvPr>
          <p:cNvSpPr/>
          <p:nvPr/>
        </p:nvSpPr>
        <p:spPr>
          <a:xfrm>
            <a:off x="1828799" y="4150317"/>
            <a:ext cx="5891576" cy="38048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제목검색</a:t>
            </a:r>
            <a:endParaRPr lang="ko-KR" altLang="en-US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C120636-A195-6CB6-2353-888DFBACCABE}"/>
              </a:ext>
            </a:extLst>
          </p:cNvPr>
          <p:cNvGrpSpPr/>
          <p:nvPr/>
        </p:nvGrpSpPr>
        <p:grpSpPr>
          <a:xfrm>
            <a:off x="6811085" y="4785198"/>
            <a:ext cx="1113409" cy="496956"/>
            <a:chOff x="7045769" y="5389880"/>
            <a:chExt cx="1113409" cy="49695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2D3E4C0-CB12-5615-832E-13DE4FB559F4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2" name="그래픽 24" descr="돋보기 단색으로 채워진">
              <a:extLst>
                <a:ext uri="{FF2B5EF4-FFF2-40B4-BE49-F238E27FC236}">
                  <a16:creationId xmlns:a16="http://schemas.microsoft.com/office/drawing/2014/main" id="{C588998A-BAC5-FFA2-0C43-0ABE72E6ECD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C06FD5F0-9FA6-0906-C054-1CAD9D0765E5}"/>
              </a:ext>
            </a:extLst>
          </p:cNvPr>
          <p:cNvSpPr txBox="1"/>
          <p:nvPr/>
        </p:nvSpPr>
        <p:spPr>
          <a:xfrm>
            <a:off x="596858" y="4150317"/>
            <a:ext cx="1231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검색     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EE0FB4-53B2-3F05-7E8D-8BAAE51E3005}"/>
              </a:ext>
            </a:extLst>
          </p:cNvPr>
          <p:cNvSpPr txBox="1"/>
          <p:nvPr/>
        </p:nvSpPr>
        <p:spPr>
          <a:xfrm>
            <a:off x="633216" y="3658041"/>
            <a:ext cx="1159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자료유형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5A393E8-416E-5320-1B2F-4B0DE1F2F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193" y="3561571"/>
            <a:ext cx="3531335" cy="479311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C139CA2E-BEF0-EA8C-A4AD-D9ED1130BA21}"/>
              </a:ext>
            </a:extLst>
          </p:cNvPr>
          <p:cNvSpPr/>
          <p:nvPr/>
        </p:nvSpPr>
        <p:spPr>
          <a:xfrm>
            <a:off x="1765529" y="425065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99ED4B6-D3C6-F71D-9652-D0F6DA14127D}"/>
              </a:ext>
            </a:extLst>
          </p:cNvPr>
          <p:cNvSpPr/>
          <p:nvPr/>
        </p:nvSpPr>
        <p:spPr>
          <a:xfrm>
            <a:off x="1645774" y="35716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6AED7BE-764D-0CEA-699C-AD5543DDEC46}"/>
              </a:ext>
            </a:extLst>
          </p:cNvPr>
          <p:cNvSpPr/>
          <p:nvPr/>
        </p:nvSpPr>
        <p:spPr>
          <a:xfrm>
            <a:off x="6728420" y="468260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graphicFrame>
        <p:nvGraphicFramePr>
          <p:cNvPr id="2" name="표 5">
            <a:extLst>
              <a:ext uri="{FF2B5EF4-FFF2-40B4-BE49-F238E27FC236}">
                <a16:creationId xmlns:a16="http://schemas.microsoft.com/office/drawing/2014/main" id="{55910F65-AA5F-E24E-9870-8EA37D21A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07537"/>
              </p:ext>
            </p:extLst>
          </p:nvPr>
        </p:nvGraphicFramePr>
        <p:xfrm>
          <a:off x="8613612" y="1179954"/>
          <a:ext cx="3588327" cy="5675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9983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7231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필터영역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중간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1400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자료형태 유형 체크박스로 선택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en-US" altLang="ko-KR" sz="1100" dirty="0"/>
                        <a:t> / </a:t>
                      </a:r>
                      <a:r>
                        <a:rPr lang="ko-KR" altLang="en-US" sz="1100" dirty="0"/>
                        <a:t>책자 </a:t>
                      </a:r>
                      <a:r>
                        <a:rPr lang="en-US" altLang="ko-KR" sz="1100" dirty="0"/>
                        <a:t>/ PPT / </a:t>
                      </a:r>
                      <a:r>
                        <a:rPr lang="ko-KR" altLang="en-US" sz="1100" dirty="0"/>
                        <a:t>기타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로 나누어 분류 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94381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텍스트 </a:t>
                      </a:r>
                      <a:r>
                        <a:rPr lang="ko-KR" altLang="en-US" sz="1100" dirty="0" err="1"/>
                        <a:t>검색란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 err="1"/>
                        <a:t>검색텍스트가</a:t>
                      </a:r>
                      <a:r>
                        <a:rPr lang="ko-KR" altLang="en-US" sz="1100" dirty="0"/>
                        <a:t> 자료제목에 </a:t>
                      </a:r>
                      <a:r>
                        <a:rPr lang="ko-KR" altLang="en-US" sz="1100" dirty="0" err="1"/>
                        <a:t>들어가있는</a:t>
                      </a:r>
                      <a:r>
                        <a:rPr lang="ko-KR" altLang="en-US" sz="1100" dirty="0"/>
                        <a:t> 자료 검색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en-US" altLang="ko-KR" sz="1100" dirty="0"/>
                        <a:t>placeholder(‘</a:t>
                      </a:r>
                      <a:r>
                        <a:rPr lang="ko-KR" altLang="en-US" sz="1100" dirty="0"/>
                        <a:t>제목검색</a:t>
                      </a:r>
                      <a:r>
                        <a:rPr lang="en-US" altLang="ko-KR" sz="1100" dirty="0"/>
                        <a:t>’)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9288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 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검색 버튼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클릭 시 설정한 필터 및 텍스트 검색 기반으로 자료 검색함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다음페이지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)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에 검색결과 나옴 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C0632DCC-EC31-6859-99CF-3B3AEF39D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823384"/>
              </p:ext>
            </p:extLst>
          </p:nvPr>
        </p:nvGraphicFramePr>
        <p:xfrm>
          <a:off x="0" y="18619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작성자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 err="1">
                          <a:solidFill>
                            <a:schemeClr val="dk1"/>
                          </a:solidFill>
                        </a:rPr>
                        <a:t>박소윤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필터영역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중간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309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50422" y="2814829"/>
            <a:ext cx="1881414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0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20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/>
        </p:nvGraphicFramePr>
        <p:xfrm>
          <a:off x="450422" y="3429000"/>
          <a:ext cx="7404270" cy="2750145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13491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14009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07830" y="3926621"/>
            <a:ext cx="2576421" cy="475466"/>
            <a:chOff x="543858" y="4764908"/>
            <a:chExt cx="2576421" cy="47546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52225" y="4764908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43858" y="4978764"/>
              <a:ext cx="91719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18009" y="5164969"/>
            <a:ext cx="2568054" cy="475239"/>
            <a:chOff x="572411" y="4758724"/>
            <a:chExt cx="2568054" cy="47523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2411" y="4758724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80778" y="4972353"/>
              <a:ext cx="92049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342501" y="330401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597882" y="5079549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D6BA85D-5EBA-4D91-6421-674E145FDFC4}"/>
              </a:ext>
            </a:extLst>
          </p:cNvPr>
          <p:cNvSpPr/>
          <p:nvPr/>
        </p:nvSpPr>
        <p:spPr>
          <a:xfrm>
            <a:off x="474178" y="38442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CA16DB-99F6-A99F-45EF-96358E99592D}"/>
              </a:ext>
            </a:extLst>
          </p:cNvPr>
          <p:cNvGrpSpPr/>
          <p:nvPr/>
        </p:nvGrpSpPr>
        <p:grpSpPr>
          <a:xfrm>
            <a:off x="6741283" y="2065350"/>
            <a:ext cx="1113409" cy="496956"/>
            <a:chOff x="7045769" y="5389880"/>
            <a:chExt cx="1113409" cy="496956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A803EE9F-C996-3151-D978-6D9A59C10219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1" name="그래픽 24" descr="돋보기 단색으로 채워진">
              <a:extLst>
                <a:ext uri="{FF2B5EF4-FFF2-40B4-BE49-F238E27FC236}">
                  <a16:creationId xmlns:a16="http://schemas.microsoft.com/office/drawing/2014/main" id="{0CB08BF4-8B84-CB5C-2747-2713C5AD47F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F577DE55-0DCB-B00D-B1C0-FE844C10D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2125" y="2622629"/>
            <a:ext cx="990738" cy="16956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07671159-0322-FC14-8A7E-B0C4B0CEE525}"/>
              </a:ext>
            </a:extLst>
          </p:cNvPr>
          <p:cNvSpPr/>
          <p:nvPr/>
        </p:nvSpPr>
        <p:spPr>
          <a:xfrm>
            <a:off x="7392122" y="271841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597882" y="367149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9F7407-E36D-E7E3-27D7-D95B248276D9}"/>
              </a:ext>
            </a:extLst>
          </p:cNvPr>
          <p:cNvSpPr/>
          <p:nvPr/>
        </p:nvSpPr>
        <p:spPr>
          <a:xfrm>
            <a:off x="2600593" y="64054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9198801-71AB-DDBD-C774-8341372E057B}"/>
              </a:ext>
            </a:extLst>
          </p:cNvPr>
          <p:cNvSpPr/>
          <p:nvPr/>
        </p:nvSpPr>
        <p:spPr>
          <a:xfrm>
            <a:off x="5621855" y="633769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C53EF2-B35C-304E-CA5B-C72EABC03E3E}"/>
              </a:ext>
            </a:extLst>
          </p:cNvPr>
          <p:cNvSpPr/>
          <p:nvPr/>
        </p:nvSpPr>
        <p:spPr>
          <a:xfrm>
            <a:off x="6515154" y="358510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3C93A47B-4C59-6E6A-F329-451C695C8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842917"/>
              </p:ext>
            </p:extLst>
          </p:nvPr>
        </p:nvGraphicFramePr>
        <p:xfrm>
          <a:off x="13256" y="-1312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4" name="표 5">
            <a:extLst>
              <a:ext uri="{FF2B5EF4-FFF2-40B4-BE49-F238E27FC236}">
                <a16:creationId xmlns:a16="http://schemas.microsoft.com/office/drawing/2014/main" id="{B09EE046-95CA-9AD1-CD1F-D468880F5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549331"/>
              </p:ext>
            </p:extLst>
          </p:nvPr>
        </p:nvGraphicFramePr>
        <p:xfrm>
          <a:off x="8603673" y="1188046"/>
          <a:ext cx="3588327" cy="566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53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485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필터 설정 후 검색 클릭 시 나타나는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목록 리스트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한페이지당 </a:t>
                      </a:r>
                      <a:r>
                        <a:rPr lang="en-US" altLang="ko-KR" sz="1100" dirty="0"/>
                        <a:t>6~7</a:t>
                      </a:r>
                      <a:r>
                        <a:rPr lang="ko-KR" altLang="en-US" sz="1100" dirty="0"/>
                        <a:t>개정도만 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32690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3~4</a:t>
                      </a:r>
                      <a:r>
                        <a:rPr lang="ko-KR" altLang="en-US" sz="1100" dirty="0"/>
                        <a:t>개만 표시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개보다 많을 시 </a:t>
                      </a:r>
                      <a:r>
                        <a:rPr lang="en-US" altLang="ko-KR" sz="1100" dirty="0"/>
                        <a:t>‘….’ substring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태그 전체 보여줌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자료 내용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길이가 </a:t>
                      </a:r>
                      <a:r>
                        <a:rPr lang="en-US" altLang="ko-KR" sz="1100" dirty="0"/>
                        <a:t>100</a:t>
                      </a:r>
                      <a:r>
                        <a:rPr lang="ko-KR" altLang="en-US" sz="1100" dirty="0"/>
                        <a:t>자 넘으면 자동 </a:t>
                      </a:r>
                      <a:r>
                        <a:rPr lang="en-US" altLang="ko-KR" sz="1100" dirty="0"/>
                        <a:t>‘…’ substring.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전체 본문 제공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523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안전교육 자료 썸네일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 4.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최신순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과거순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조회순 정렬기능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Select 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5.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페이징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처리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679172" y="2360160"/>
            <a:ext cx="7223295" cy="44052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67773"/>
              </p:ext>
            </p:extLst>
          </p:nvPr>
        </p:nvGraphicFramePr>
        <p:xfrm>
          <a:off x="-1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846491"/>
              </p:ext>
            </p:extLst>
          </p:nvPr>
        </p:nvGraphicFramePr>
        <p:xfrm>
          <a:off x="8603672" y="1180079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668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23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왼쪽상단에 자료 제목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오른쪽 상단에 자료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s_created_at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조회수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s_view_count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Modal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11073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자료의 제공 형태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키워드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태그 모두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출처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출처명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크롤링한 내용 원문 표시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자료일 경우만 영상플레이어로 띄움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자료가 아닐 경우 영상플레이어 없음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영상 안 시작버튼을 눌러야 영상 시작함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KOSHA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상세페이지로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redirect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26876" y="193680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자료 상세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57012" y="2617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234398" y="3242203"/>
            <a:ext cx="1699755" cy="22839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6073966" y="2537215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작성일  </a:t>
            </a:r>
            <a:r>
              <a:rPr lang="en-US" altLang="ko-KR" sz="1400" dirty="0"/>
              <a:t>| </a:t>
            </a:r>
            <a:r>
              <a:rPr lang="ko-KR" altLang="en-US" sz="1400" dirty="0"/>
              <a:t>조회수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3561876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키워드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215528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:OPS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16534" y="4366773"/>
            <a:ext cx="4148716" cy="115937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4305BED-4F5C-EFB8-C6BB-BF698EC0B8C2}"/>
              </a:ext>
            </a:extLst>
          </p:cNvPr>
          <p:cNvCxnSpPr>
            <a:cxnSpLocks/>
          </p:cNvCxnSpPr>
          <p:nvPr/>
        </p:nvCxnSpPr>
        <p:spPr>
          <a:xfrm>
            <a:off x="836620" y="2952243"/>
            <a:ext cx="68675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213710-B3CC-228D-BB04-68305A7DD2CC}"/>
              </a:ext>
            </a:extLst>
          </p:cNvPr>
          <p:cNvSpPr txBox="1"/>
          <p:nvPr/>
        </p:nvSpPr>
        <p:spPr>
          <a:xfrm>
            <a:off x="1022341" y="2566527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제목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CD453F-217B-F790-8337-E959ACACB2B2}"/>
              </a:ext>
            </a:extLst>
          </p:cNvPr>
          <p:cNvSpPr txBox="1"/>
          <p:nvPr/>
        </p:nvSpPr>
        <p:spPr>
          <a:xfrm>
            <a:off x="3200943" y="3869509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KOSHA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18FFC97-2F69-E899-B77D-9BE4240D7136}"/>
              </a:ext>
            </a:extLst>
          </p:cNvPr>
          <p:cNvSpPr/>
          <p:nvPr/>
        </p:nvSpPr>
        <p:spPr>
          <a:xfrm>
            <a:off x="1151733" y="31146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63BC385-234E-DB72-75D2-66B610C6F8C0}"/>
              </a:ext>
            </a:extLst>
          </p:cNvPr>
          <p:cNvSpPr/>
          <p:nvPr/>
        </p:nvSpPr>
        <p:spPr>
          <a:xfrm>
            <a:off x="3187988" y="309064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77FCDF8-5264-535F-B6B0-00962F1293EF}"/>
              </a:ext>
            </a:extLst>
          </p:cNvPr>
          <p:cNvSpPr/>
          <p:nvPr/>
        </p:nvSpPr>
        <p:spPr>
          <a:xfrm>
            <a:off x="3230041" y="426156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E43E0A-894B-59F8-9512-2464F587A2B4}"/>
              </a:ext>
            </a:extLst>
          </p:cNvPr>
          <p:cNvSpPr/>
          <p:nvPr/>
        </p:nvSpPr>
        <p:spPr>
          <a:xfrm>
            <a:off x="4454821" y="6089252"/>
            <a:ext cx="3010429" cy="344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원본페이지로 이동 </a:t>
            </a:r>
            <a:r>
              <a:rPr lang="en-US" altLang="ko-KR" sz="1600" dirty="0"/>
              <a:t>(KOSHA)</a:t>
            </a:r>
            <a:endParaRPr lang="ko-KR" altLang="en-US" sz="16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5B0104F-3E30-687C-3353-7500424B8FDE}"/>
              </a:ext>
            </a:extLst>
          </p:cNvPr>
          <p:cNvSpPr/>
          <p:nvPr/>
        </p:nvSpPr>
        <p:spPr>
          <a:xfrm>
            <a:off x="4372156" y="59758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6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5A5645-EBE5-463D-B2E1-ECB32B473B38}"/>
              </a:ext>
            </a:extLst>
          </p:cNvPr>
          <p:cNvSpPr/>
          <p:nvPr/>
        </p:nvSpPr>
        <p:spPr>
          <a:xfrm>
            <a:off x="3270652" y="588945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55863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679172" y="2360160"/>
            <a:ext cx="7223295" cy="44052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20329"/>
              </p:ext>
            </p:extLst>
          </p:nvPr>
        </p:nvGraphicFramePr>
        <p:xfrm>
          <a:off x="-1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있을 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556224"/>
              </p:ext>
            </p:extLst>
          </p:nvPr>
        </p:nvGraphicFramePr>
        <p:xfrm>
          <a:off x="8603672" y="1180079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668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23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있을시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이미지와 내용 하단에 동영상이 제공된다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110738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26876" y="193680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자료 상세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234398" y="2360160"/>
            <a:ext cx="1699755" cy="16490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16534" y="2849868"/>
            <a:ext cx="4055373" cy="11815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CD453F-217B-F790-8337-E959ACACB2B2}"/>
              </a:ext>
            </a:extLst>
          </p:cNvPr>
          <p:cNvSpPr txBox="1"/>
          <p:nvPr/>
        </p:nvSpPr>
        <p:spPr>
          <a:xfrm>
            <a:off x="3200943" y="2352604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KOSHA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F4A98F-3389-474A-8F85-B49FB61D40EB}"/>
              </a:ext>
            </a:extLst>
          </p:cNvPr>
          <p:cNvSpPr/>
          <p:nvPr/>
        </p:nvSpPr>
        <p:spPr>
          <a:xfrm>
            <a:off x="1234398" y="4394791"/>
            <a:ext cx="6137509" cy="181462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5A5645-EBE5-463D-B2E1-ECB32B473B38}"/>
              </a:ext>
            </a:extLst>
          </p:cNvPr>
          <p:cNvSpPr/>
          <p:nvPr/>
        </p:nvSpPr>
        <p:spPr>
          <a:xfrm>
            <a:off x="1120984" y="429252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A9A3104-36B1-4F6C-85CD-C51F012EEB7F}"/>
              </a:ext>
            </a:extLst>
          </p:cNvPr>
          <p:cNvSpPr/>
          <p:nvPr/>
        </p:nvSpPr>
        <p:spPr>
          <a:xfrm>
            <a:off x="4361478" y="6685506"/>
            <a:ext cx="3010429" cy="798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520878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8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85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42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260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b="1" dirty="0"/>
                        <a:t>연관 콘텐츠 추천 기준</a:t>
                      </a:r>
                      <a:endParaRPr lang="ko-KR" altLang="en-US" sz="1100" dirty="0"/>
                    </a:p>
                    <a:p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현재 자료와 </a:t>
                      </a:r>
                      <a:r>
                        <a:rPr lang="ko-KR" altLang="en-US" sz="1100" b="1" dirty="0"/>
                        <a:t>겹치는 태그 개수가 </a:t>
                      </a:r>
                      <a:r>
                        <a:rPr lang="ko-KR" altLang="en-US" sz="1100" dirty="0"/>
                        <a:t>많은 순</a:t>
                      </a:r>
                    </a:p>
                    <a:p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b="1" dirty="0"/>
                        <a:t>조회수</a:t>
                      </a:r>
                      <a:r>
                        <a:rPr lang="en-US" altLang="ko-KR" sz="1100" b="1" dirty="0"/>
                        <a:t>(</a:t>
                      </a:r>
                      <a:r>
                        <a:rPr lang="en-US" altLang="ko-KR" sz="1100" b="1" dirty="0" err="1"/>
                        <a:t>s_view_count</a:t>
                      </a:r>
                      <a:r>
                        <a:rPr lang="en-US" altLang="ko-KR" sz="1100" b="1" dirty="0"/>
                        <a:t>)</a:t>
                      </a:r>
                      <a:r>
                        <a:rPr lang="ko-KR" altLang="en-US" sz="1100" dirty="0"/>
                        <a:t> 높은 순</a:t>
                      </a:r>
                    </a:p>
                    <a:p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최신 등록일</a:t>
                      </a:r>
                      <a:r>
                        <a:rPr lang="en-US" altLang="ko-KR" sz="1100" dirty="0"/>
                        <a:t>(</a:t>
                      </a:r>
                      <a:r>
                        <a:rPr lang="en-US" altLang="ko-KR" sz="1100" dirty="0" err="1"/>
                        <a:t>s_created_at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내림차순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동점일 경우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0930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ko-KR" alt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41746" y="2458157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연관 컨텐츠</a:t>
            </a:r>
            <a:endParaRPr lang="ko-KR" altLang="en-US" b="1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A2C5AB-45B2-1657-4F63-B781482091C9}"/>
              </a:ext>
            </a:extLst>
          </p:cNvPr>
          <p:cNvGrpSpPr/>
          <p:nvPr/>
        </p:nvGrpSpPr>
        <p:grpSpPr>
          <a:xfrm>
            <a:off x="1331556" y="3807373"/>
            <a:ext cx="1615045" cy="2115833"/>
            <a:chOff x="1331556" y="3807373"/>
            <a:chExt cx="1615045" cy="21158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9C778B3-9477-7B90-9347-1744D206ACD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9036009-1E84-40D9-8452-AF2B6FABE2A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자료 제목</a:t>
              </a: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557274" y="5553874"/>
            <a:ext cx="1203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538280" y="5553874"/>
            <a:ext cx="1218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제목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197FC3-91D3-25BC-E48C-1D36D78E8DC3}"/>
              </a:ext>
            </a:extLst>
          </p:cNvPr>
          <p:cNvSpPr/>
          <p:nvPr/>
        </p:nvSpPr>
        <p:spPr>
          <a:xfrm>
            <a:off x="1070970" y="372098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FF257F1-19A1-C0CE-2F3A-7DF25A638ACF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F260A1-F691-15B3-D93D-FD3180E9F8EF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469744-6956-2217-652F-AFB394E9E66A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7AB9D08-CD86-897C-2450-BA8FB75AA88F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D899B6E-8744-29F2-6907-5855C49392E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CF4179-1D3E-F05F-E1B7-80E3590C4018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DB8500-ED76-1D90-0655-E5E9F866E51A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A1433E4-4434-03DF-A504-A0A9094CB991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C39DA83-B273-4166-9FE8-0B760FC54CDA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8D7C68-DAA1-6A78-F121-2F9151040C8B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66BB3A70-4A36-9F03-5F7C-C1DCD62B30A1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9BA67081-F92A-83D7-A189-92449D8F139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7E43925-3198-FC33-EE37-12E0B0A688D5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669351D-AD04-B591-7B29-D9BB24EC6F72}"/>
              </a:ext>
            </a:extLst>
          </p:cNvPr>
          <p:cNvSpPr/>
          <p:nvPr/>
        </p:nvSpPr>
        <p:spPr>
          <a:xfrm>
            <a:off x="1657155" y="3370451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1706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62517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4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971484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별칭과 발생주소를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A0EA5E64-0586-4DA8-B95A-F94729752059}"/>
              </a:ext>
            </a:extLst>
          </p:cNvPr>
          <p:cNvSpPr/>
          <p:nvPr/>
        </p:nvSpPr>
        <p:spPr>
          <a:xfrm rot="10800000">
            <a:off x="5462260" y="2454057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3" name="표 14">
            <a:extLst>
              <a:ext uri="{FF2B5EF4-FFF2-40B4-BE49-F238E27FC236}">
                <a16:creationId xmlns:a16="http://schemas.microsoft.com/office/drawing/2014/main" id="{455B40BC-B974-4599-946B-FA07EAFC2C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64994"/>
              </p:ext>
            </p:extLst>
          </p:nvPr>
        </p:nvGraphicFramePr>
        <p:xfrm>
          <a:off x="4088841" y="2752329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6245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62787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체크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0536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605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2260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의료기관 정렬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평점순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거리순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많은 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23" name="표 14">
            <a:extLst>
              <a:ext uri="{FF2B5EF4-FFF2-40B4-BE49-F238E27FC236}">
                <a16:creationId xmlns:a16="http://schemas.microsoft.com/office/drawing/2014/main" id="{70D8A47E-C330-4A92-8C4B-4BFFA59DD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027812"/>
              </p:ext>
            </p:extLst>
          </p:nvPr>
        </p:nvGraphicFramePr>
        <p:xfrm>
          <a:off x="5232373" y="2471071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  <p:sp>
        <p:nvSpPr>
          <p:cNvPr id="24" name="이등변 삼각형 23">
            <a:extLst>
              <a:ext uri="{FF2B5EF4-FFF2-40B4-BE49-F238E27FC236}">
                <a16:creationId xmlns:a16="http://schemas.microsoft.com/office/drawing/2014/main" id="{D67245AC-2750-49DF-A41E-2AE8660FAA0D}"/>
              </a:ext>
            </a:extLst>
          </p:cNvPr>
          <p:cNvSpPr/>
          <p:nvPr/>
        </p:nvSpPr>
        <p:spPr>
          <a:xfrm rot="10800000">
            <a:off x="6592125" y="2262626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14">
            <a:extLst>
              <a:ext uri="{FF2B5EF4-FFF2-40B4-BE49-F238E27FC236}">
                <a16:creationId xmlns:a16="http://schemas.microsoft.com/office/drawing/2014/main" id="{240AE56F-8A99-43C2-9C7B-19193E8D6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515276"/>
              </p:ext>
            </p:extLst>
          </p:nvPr>
        </p:nvGraphicFramePr>
        <p:xfrm>
          <a:off x="6650224" y="3714822"/>
          <a:ext cx="168318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평점순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거리순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리뷰 많은 순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12A04CF7-BC27-4D9B-B385-D7ECC3E9C0A6}"/>
              </a:ext>
            </a:extLst>
          </p:cNvPr>
          <p:cNvSpPr/>
          <p:nvPr/>
        </p:nvSpPr>
        <p:spPr>
          <a:xfrm>
            <a:off x="7781859" y="3429000"/>
            <a:ext cx="551551" cy="2862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구분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7715C2D-0FCF-4086-8826-8528EE069F37}"/>
              </a:ext>
            </a:extLst>
          </p:cNvPr>
          <p:cNvSpPr/>
          <p:nvPr/>
        </p:nvSpPr>
        <p:spPr>
          <a:xfrm>
            <a:off x="7342718" y="544337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8194445" y="32566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55195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876276"/>
              </p:ext>
            </p:extLst>
          </p:nvPr>
        </p:nvGraphicFramePr>
        <p:xfrm>
          <a:off x="8603672" y="1180081"/>
          <a:ext cx="3588327" cy="5820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78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5388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8511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3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 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거리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평점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의료기관에 대한 평점 평균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의료기관에 대한 리뷰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갯수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8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5768858" y="2227965"/>
            <a:ext cx="831133" cy="196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F97AC42-3832-4A81-88B7-9DEF225B43A8}"/>
              </a:ext>
            </a:extLst>
          </p:cNvPr>
          <p:cNvSpPr/>
          <p:nvPr/>
        </p:nvSpPr>
        <p:spPr>
          <a:xfrm>
            <a:off x="7356972" y="2222919"/>
            <a:ext cx="831133" cy="196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  <a:latin typeface="ui-sans-serif"/>
              </a:rPr>
              <a:t>리뷰 </a:t>
            </a:r>
            <a:r>
              <a:rPr lang="en-US" altLang="ko-KR" sz="800" b="1" dirty="0">
                <a:solidFill>
                  <a:schemeClr val="tx1"/>
                </a:solidFill>
                <a:latin typeface="ui-sans-serif"/>
              </a:rPr>
              <a:t>444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368EFE4-7DFB-4653-A679-0847BEB8CE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8580" y="2255733"/>
            <a:ext cx="739802" cy="14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42867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92287"/>
              </p:ext>
            </p:extLst>
          </p:nvPr>
        </p:nvGraphicFramePr>
        <p:xfrm>
          <a:off x="8603672" y="1180080"/>
          <a:ext cx="3588327" cy="6532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평점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점 만점을 기준으로 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반개당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점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사용자가 클릭해서 수정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현재 체크한 점수가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몇점인지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개만 보여주고 더보기를 누르면 인피니티 스크롤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0D4F2ED-1259-46B0-939F-32EF7E4E7E3C}"/>
              </a:ext>
            </a:extLst>
          </p:cNvPr>
          <p:cNvSpPr/>
          <p:nvPr/>
        </p:nvSpPr>
        <p:spPr>
          <a:xfrm>
            <a:off x="425725" y="2326681"/>
            <a:ext cx="7921373" cy="13251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latinLnBrk="1">
              <a:defRPr/>
            </a:pPr>
            <a:endParaRPr lang="ko-KR" altLang="en-US" sz="1200" b="0">
              <a:solidFill>
                <a:schemeClr val="tx1"/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2341EFB-79CA-45A7-8884-BA6F5A0E4DEA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400" b="1">
                <a:solidFill>
                  <a:schemeClr val="tx1"/>
                </a:solidFill>
              </a:rPr>
              <a:t>리뷰</a:t>
            </a:r>
            <a:endParaRPr lang="en-US" altLang="ko-KR" sz="1050" b="1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DBF3232-4698-4ED0-B40B-34503B402032}"/>
              </a:ext>
            </a:extLst>
          </p:cNvPr>
          <p:cNvSpPr/>
          <p:nvPr/>
        </p:nvSpPr>
        <p:spPr>
          <a:xfrm>
            <a:off x="421561" y="38150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FFB851B-F391-481E-9FB2-15B8A639D684}"/>
              </a:ext>
            </a:extLst>
          </p:cNvPr>
          <p:cNvSpPr/>
          <p:nvPr/>
        </p:nvSpPr>
        <p:spPr>
          <a:xfrm>
            <a:off x="421561" y="437487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39516F0-D188-49F6-BCDD-6A4829E4AB43}"/>
              </a:ext>
            </a:extLst>
          </p:cNvPr>
          <p:cNvSpPr/>
          <p:nvPr/>
        </p:nvSpPr>
        <p:spPr>
          <a:xfrm>
            <a:off x="423185" y="493471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B0E3C1E-5323-4936-BE23-C4FE71FABC10}"/>
              </a:ext>
            </a:extLst>
          </p:cNvPr>
          <p:cNvSpPr/>
          <p:nvPr/>
        </p:nvSpPr>
        <p:spPr>
          <a:xfrm>
            <a:off x="7613497" y="4662191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2659AD7-7A5F-47B2-9FE2-4CBC9D9AE313}"/>
              </a:ext>
            </a:extLst>
          </p:cNvPr>
          <p:cNvSpPr/>
          <p:nvPr/>
        </p:nvSpPr>
        <p:spPr>
          <a:xfrm>
            <a:off x="421562" y="54945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EA88DB4-2845-4B4D-B0D3-E8186E0D2F31}"/>
              </a:ext>
            </a:extLst>
          </p:cNvPr>
          <p:cNvSpPr/>
          <p:nvPr/>
        </p:nvSpPr>
        <p:spPr>
          <a:xfrm>
            <a:off x="2749872" y="61170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200">
                <a:solidFill>
                  <a:schemeClr val="tx1"/>
                </a:solidFill>
              </a:rPr>
              <a:t>더보기 </a:t>
            </a:r>
          </a:p>
        </p:txBody>
      </p:sp>
      <p:sp>
        <p:nvSpPr>
          <p:cNvPr id="59" name="사각형: 둥근 모서리 11">
            <a:extLst>
              <a:ext uri="{FF2B5EF4-FFF2-40B4-BE49-F238E27FC236}">
                <a16:creationId xmlns:a16="http://schemas.microsoft.com/office/drawing/2014/main" id="{F7C5D9AF-AE27-4B5A-B2B3-E63E7644E76C}"/>
              </a:ext>
            </a:extLst>
          </p:cNvPr>
          <p:cNvSpPr/>
          <p:nvPr/>
        </p:nvSpPr>
        <p:spPr>
          <a:xfrm>
            <a:off x="6714108" y="3277000"/>
            <a:ext cx="1535260" cy="304000"/>
          </a:xfrm>
          <a:prstGeom prst="roundRect">
            <a:avLst>
              <a:gd name="adj" fmla="val 16667"/>
            </a:avLst>
          </a:prstGeom>
          <a:solidFill>
            <a:srgbClr val="0D0D0D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1100" b="0" i="0" u="none" strike="noStrike" kern="1200" cap="none" spc="0" normalizeH="0" baseline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리뷰 등록하기  </a:t>
            </a:r>
          </a:p>
        </p:txBody>
      </p:sp>
      <p:sp>
        <p:nvSpPr>
          <p:cNvPr id="60" name="사각형: 둥근 모서리 12">
            <a:extLst>
              <a:ext uri="{FF2B5EF4-FFF2-40B4-BE49-F238E27FC236}">
                <a16:creationId xmlns:a16="http://schemas.microsoft.com/office/drawing/2014/main" id="{9A64C0CD-DC8B-42BC-B4D0-9876CC898D6E}"/>
              </a:ext>
            </a:extLst>
          </p:cNvPr>
          <p:cNvSpPr/>
          <p:nvPr/>
        </p:nvSpPr>
        <p:spPr>
          <a:xfrm>
            <a:off x="592017" y="2967397"/>
            <a:ext cx="5904298" cy="613602"/>
          </a:xfrm>
          <a:prstGeom prst="roundRect">
            <a:avLst>
              <a:gd name="adj" fmla="val 16667"/>
            </a:avLst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kumimoji="0" lang="en-US" altLang="ko-KR" sz="1500" b="0" i="0" u="none" strike="noStrike" kern="1200" cap="none" spc="0" normalizeH="0" baseline="0" dirty="0">
              <a:solidFill>
                <a:srgbClr val="A6A6A6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61" name="가로 글상자 31">
            <a:extLst>
              <a:ext uri="{FF2B5EF4-FFF2-40B4-BE49-F238E27FC236}">
                <a16:creationId xmlns:a16="http://schemas.microsoft.com/office/drawing/2014/main" id="{1784BA1C-52D5-473B-858B-4D3E15ACE74D}"/>
              </a:ext>
            </a:extLst>
          </p:cNvPr>
          <p:cNvSpPr txBox="1"/>
          <p:nvPr/>
        </p:nvSpPr>
        <p:spPr>
          <a:xfrm>
            <a:off x="592017" y="2491495"/>
            <a:ext cx="6096000" cy="2688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>
                <a:solidFill>
                  <a:schemeClr val="tx1"/>
                </a:solidFill>
              </a:rPr>
              <a:t>💬리뷰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D8F795-7FE6-442A-BE77-12F9DAA4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65" y="2511553"/>
            <a:ext cx="1644935" cy="330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C16B860-94CA-4705-B6DE-DE2B7B5343DD}"/>
              </a:ext>
            </a:extLst>
          </p:cNvPr>
          <p:cNvSpPr txBox="1"/>
          <p:nvPr/>
        </p:nvSpPr>
        <p:spPr>
          <a:xfrm>
            <a:off x="2813915" y="2484082"/>
            <a:ext cx="61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10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A3EEFA1-2D3E-4CA0-A39E-2B1CB7D76F84}"/>
              </a:ext>
            </a:extLst>
          </p:cNvPr>
          <p:cNvSpPr/>
          <p:nvPr/>
        </p:nvSpPr>
        <p:spPr>
          <a:xfrm>
            <a:off x="2609283" y="590916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15309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240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082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985560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시 회원 테이블에 탈퇴 상태로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0292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651084"/>
              </p:ext>
            </p:extLst>
          </p:nvPr>
        </p:nvGraphicFramePr>
        <p:xfrm>
          <a:off x="8603672" y="1180080"/>
          <a:ext cx="3588327" cy="5946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질병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재해일자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지역은 사용자가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지역명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일부를 입력만 해도 목록으로 보여주어 선택하는 방식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650908"/>
              </p:ext>
            </p:extLst>
          </p:nvPr>
        </p:nvGraphicFramePr>
        <p:xfrm>
          <a:off x="1963171" y="4098303"/>
          <a:ext cx="6380728" cy="1386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086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709695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1290037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906941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841170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130299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No.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/>
                        <a:t>회원명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업종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발생형태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질병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재해일자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사고지역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출판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인쇄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 err="1"/>
                        <a:t>제본업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2023-11-01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786221" y="38708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0626" y="2893355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6F59C7-8BE9-49A6-9A6D-C051D4A3D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636" y="2796408"/>
            <a:ext cx="1653683" cy="43437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4FFD33D-35BE-4E8E-9580-F10CD6D32CDB}"/>
              </a:ext>
            </a:extLst>
          </p:cNvPr>
          <p:cNvSpPr txBox="1"/>
          <p:nvPr/>
        </p:nvSpPr>
        <p:spPr>
          <a:xfrm>
            <a:off x="6366833" y="2883929"/>
            <a:ext cx="17250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지역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06709A-57BD-4D9A-8175-3431A6B76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703" y="2847756"/>
            <a:ext cx="4452095" cy="35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8531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176882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구분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57" name="표 14">
            <a:extLst>
              <a:ext uri="{FF2B5EF4-FFF2-40B4-BE49-F238E27FC236}">
                <a16:creationId xmlns:a16="http://schemas.microsoft.com/office/drawing/2014/main" id="{D4FE5F2C-471E-4F4B-88EB-63BA81521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73957"/>
              </p:ext>
            </p:extLst>
          </p:nvPr>
        </p:nvGraphicFramePr>
        <p:xfrm>
          <a:off x="4452698" y="2127800"/>
          <a:ext cx="168318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전체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287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2324</TotalTime>
  <Words>5232</Words>
  <Application>Microsoft Office PowerPoint</Application>
  <PresentationFormat>와이드스크린</PresentationFormat>
  <Paragraphs>1896</Paragraphs>
  <Slides>58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ui-sans-serif</vt:lpstr>
      <vt:lpstr>Malgun Gothic</vt:lpstr>
      <vt:lpstr>Malgun Gothic</vt:lpstr>
      <vt:lpstr>Arial</vt:lpstr>
      <vt:lpstr>Calibri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179</cp:revision>
  <dcterms:created xsi:type="dcterms:W3CDTF">2025-11-24T01:38:34Z</dcterms:created>
  <dcterms:modified xsi:type="dcterms:W3CDTF">2025-12-01T03:01:25Z</dcterms:modified>
</cp:coreProperties>
</file>