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311" r:id="rId3"/>
    <p:sldId id="312" r:id="rId4"/>
    <p:sldId id="313" r:id="rId5"/>
    <p:sldId id="262" r:id="rId6"/>
    <p:sldId id="257" r:id="rId7"/>
    <p:sldId id="266" r:id="rId8"/>
    <p:sldId id="261" r:id="rId9"/>
    <p:sldId id="296" r:id="rId10"/>
    <p:sldId id="306" r:id="rId11"/>
    <p:sldId id="307" r:id="rId12"/>
    <p:sldId id="308" r:id="rId13"/>
    <p:sldId id="267" r:id="rId14"/>
    <p:sldId id="268" r:id="rId15"/>
    <p:sldId id="270" r:id="rId16"/>
    <p:sldId id="271" r:id="rId17"/>
    <p:sldId id="273" r:id="rId18"/>
    <p:sldId id="274" r:id="rId19"/>
    <p:sldId id="310" r:id="rId20"/>
    <p:sldId id="285" r:id="rId21"/>
    <p:sldId id="283" r:id="rId22"/>
    <p:sldId id="278" r:id="rId23"/>
    <p:sldId id="282" r:id="rId24"/>
    <p:sldId id="281" r:id="rId25"/>
    <p:sldId id="294" r:id="rId26"/>
    <p:sldId id="295" r:id="rId27"/>
    <p:sldId id="263" r:id="rId28"/>
    <p:sldId id="265" r:id="rId29"/>
    <p:sldId id="317" r:id="rId30"/>
    <p:sldId id="258" r:id="rId31"/>
    <p:sldId id="318" r:id="rId32"/>
    <p:sldId id="319" r:id="rId33"/>
    <p:sldId id="320" r:id="rId34"/>
    <p:sldId id="321" r:id="rId35"/>
    <p:sldId id="280" r:id="rId36"/>
    <p:sldId id="291" r:id="rId37"/>
    <p:sldId id="326" r:id="rId38"/>
    <p:sldId id="327" r:id="rId39"/>
    <p:sldId id="300" r:id="rId40"/>
    <p:sldId id="328" r:id="rId41"/>
    <p:sldId id="329" r:id="rId42"/>
    <p:sldId id="286" r:id="rId43"/>
    <p:sldId id="292" r:id="rId44"/>
    <p:sldId id="287" r:id="rId45"/>
    <p:sldId id="288" r:id="rId46"/>
    <p:sldId id="290" r:id="rId47"/>
    <p:sldId id="293" r:id="rId48"/>
    <p:sldId id="289" r:id="rId49"/>
    <p:sldId id="302" r:id="rId50"/>
    <p:sldId id="264" r:id="rId51"/>
    <p:sldId id="304" r:id="rId52"/>
    <p:sldId id="314" r:id="rId53"/>
    <p:sldId id="315" r:id="rId54"/>
    <p:sldId id="323" r:id="rId55"/>
    <p:sldId id="322" r:id="rId56"/>
    <p:sldId id="325" r:id="rId57"/>
    <p:sldId id="324" r:id="rId58"/>
    <p:sldId id="297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1011" autoAdjust="0"/>
  </p:normalViewPr>
  <p:slideViewPr>
    <p:cSldViewPr snapToGrid="0">
      <p:cViewPr varScale="1">
        <p:scale>
          <a:sx n="102" d="100"/>
          <a:sy n="102" d="100"/>
        </p:scale>
        <p:origin x="29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09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15EB4-779A-CFE3-15B8-C6F623665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AB8CE9-37BA-BA3E-02E0-DC29B2811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7A0656-30AF-53E2-E2E8-38DB6A27F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500A1-BE92-09A8-8AE2-3A7055FDC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5374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947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2121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17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r>
              <a:rPr lang="ko-KR" altLang="en-US" dirty="0"/>
              <a:t>관리자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544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7874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472296"/>
              </p:ext>
            </p:extLst>
          </p:nvPr>
        </p:nvGraphicFramePr>
        <p:xfrm>
          <a:off x="351394" y="2687320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74192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graphicFrame>
        <p:nvGraphicFramePr>
          <p:cNvPr id="3" name="표 57">
            <a:extLst>
              <a:ext uri="{FF2B5EF4-FFF2-40B4-BE49-F238E27FC236}">
                <a16:creationId xmlns:a16="http://schemas.microsoft.com/office/drawing/2014/main" id="{259FD06B-23EF-0599-4590-327A5C86C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754310"/>
              </p:ext>
            </p:extLst>
          </p:nvPr>
        </p:nvGraphicFramePr>
        <p:xfrm>
          <a:off x="238125" y="3002942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56320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181123"/>
              </p:ext>
            </p:extLst>
          </p:nvPr>
        </p:nvGraphicFramePr>
        <p:xfrm>
          <a:off x="8603672" y="1180080"/>
          <a:ext cx="3588327" cy="6129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(21~23)3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년의 정보를 가져온다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연령별 재해 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업종별 재해 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t_</a:t>
                      </a:r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썸네일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137F5-25C4-47E8-9076-F86F4A43A415}"/>
              </a:ext>
            </a:extLst>
          </p:cNvPr>
          <p:cNvSpPr txBox="1"/>
          <p:nvPr/>
        </p:nvSpPr>
        <p:spPr>
          <a:xfrm>
            <a:off x="6876138" y="3288288"/>
            <a:ext cx="920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2021~2023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89198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070155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35105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28790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35334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95279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맞춤 통계 분석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안전교육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90921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6119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615439"/>
              </p:ext>
            </p:extLst>
          </p:nvPr>
        </p:nvGraphicFramePr>
        <p:xfrm>
          <a:off x="8603672" y="1180081"/>
          <a:ext cx="3588327" cy="5692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5789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122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586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99780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068967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생년월일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주소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주소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8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5181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24513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5035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3476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922120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72030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603022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주소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생년월일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주소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5" y="2730638"/>
            <a:ext cx="9476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3032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360950"/>
              </p:ext>
            </p:extLst>
          </p:nvPr>
        </p:nvGraphicFramePr>
        <p:xfrm>
          <a:off x="8603672" y="1180083"/>
          <a:ext cx="3588327" cy="5690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395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3546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9290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669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74136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458135"/>
              </p:ext>
            </p:extLst>
          </p:nvPr>
        </p:nvGraphicFramePr>
        <p:xfrm>
          <a:off x="8603672" y="1180082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5187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0777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2704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9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9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질병 텍스트가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이 되고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발생형태 텍스트가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이 된다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모두를 선택시에는 둘 다 입력해야 한다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4478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81462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81462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31696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32318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30231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 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31696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81462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78532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74D1D3-04FB-44D7-9B5D-07DCB85EF524}"/>
              </a:ext>
            </a:extLst>
          </p:cNvPr>
          <p:cNvSpPr txBox="1"/>
          <p:nvPr/>
        </p:nvSpPr>
        <p:spPr>
          <a:xfrm>
            <a:off x="3772490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모두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52E5DAE2-EA55-47D3-BF46-1B80185F281B}"/>
              </a:ext>
            </a:extLst>
          </p:cNvPr>
          <p:cNvSpPr/>
          <p:nvPr/>
        </p:nvSpPr>
        <p:spPr>
          <a:xfrm>
            <a:off x="4317178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B15B32D-1D50-4498-82C5-447EFD06662F}"/>
              </a:ext>
            </a:extLst>
          </p:cNvPr>
          <p:cNvSpPr/>
          <p:nvPr/>
        </p:nvSpPr>
        <p:spPr>
          <a:xfrm>
            <a:off x="2281543" y="29906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CC3E69-3BD3-41C2-A50A-66D37AAE957D}"/>
              </a:ext>
            </a:extLst>
          </p:cNvPr>
          <p:cNvSpPr txBox="1"/>
          <p:nvPr/>
        </p:nvSpPr>
        <p:spPr>
          <a:xfrm>
            <a:off x="1351916" y="299068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 별칭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30" name="Rect 0">
            <a:extLst>
              <a:ext uri="{FF2B5EF4-FFF2-40B4-BE49-F238E27FC236}">
                <a16:creationId xmlns:a16="http://schemas.microsoft.com/office/drawing/2014/main" id="{520684DD-EB2E-405A-9AB9-240CC24931F2}"/>
              </a:ext>
            </a:extLst>
          </p:cNvPr>
          <p:cNvSpPr>
            <a:spLocks/>
          </p:cNvSpPr>
          <p:nvPr/>
        </p:nvSpPr>
        <p:spPr>
          <a:xfrm>
            <a:off x="1528445" y="4686935"/>
            <a:ext cx="1878330" cy="21780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defTabSz="914400" rtl="0" eaLnBrk="1" latinLnBrk="1" hangingPunct="1">
              <a:buFontTx/>
              <a:buNone/>
            </a:pPr>
            <a:r>
              <a:rPr sz="1000" dirty="0" err="1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발생형태</a:t>
            </a:r>
            <a:r>
              <a:rPr sz="1000" dirty="0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  </a:t>
            </a:r>
            <a:r>
              <a:rPr sz="1000" dirty="0" err="1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카테고리</a:t>
            </a:r>
            <a:r>
              <a:rPr sz="1000" dirty="0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(select)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31" name="Rect 0">
            <a:extLst>
              <a:ext uri="{FF2B5EF4-FFF2-40B4-BE49-F238E27FC236}">
                <a16:creationId xmlns:a16="http://schemas.microsoft.com/office/drawing/2014/main" id="{0D6B436B-7B9F-41F3-8993-301B1F5CD14B}"/>
              </a:ext>
            </a:extLst>
          </p:cNvPr>
          <p:cNvSpPr>
            <a:spLocks/>
          </p:cNvSpPr>
          <p:nvPr/>
        </p:nvSpPr>
        <p:spPr>
          <a:xfrm>
            <a:off x="1528445" y="5093335"/>
            <a:ext cx="1878330" cy="21780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defTabSz="914400" rtl="0" eaLnBrk="1" latinLnBrk="1" hangingPunct="1">
              <a:buFontTx/>
              <a:buNone/>
            </a:pPr>
            <a:endParaRPr lang="ko-KR" altLang="en-US" sz="100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l" defTabSz="914400" rtl="0" eaLnBrk="1" latinLnBrk="1" hangingPunct="1">
              <a:buFontTx/>
              <a:buNone/>
            </a:pPr>
            <a:r>
              <a:rPr sz="1000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질병형태 카테고리(select) </a:t>
            </a:r>
            <a:endParaRPr lang="ko-KR" altLang="en-US" sz="100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l" defTabSz="914400" rtl="0" eaLnBrk="1" latinLnBrk="1" hangingPunct="1">
              <a:buFontTx/>
              <a:buNone/>
            </a:pPr>
            <a:endParaRPr lang="ko-KR" altLang="en-US" sz="1200">
              <a:latin typeface="맑은 고딕" charset="0"/>
              <a:ea typeface="맑은 고딕" charset="0"/>
              <a:sym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65385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41386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789154"/>
              </p:ext>
            </p:extLst>
          </p:nvPr>
        </p:nvGraphicFramePr>
        <p:xfrm>
          <a:off x="8603672" y="1180080"/>
          <a:ext cx="3588327" cy="61497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간단 내용은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LLM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비동기로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8421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63174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873343"/>
              </p:ext>
            </p:extLst>
          </p:nvPr>
        </p:nvGraphicFramePr>
        <p:xfrm>
          <a:off x="8603672" y="1180081"/>
          <a:ext cx="3588327" cy="5499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910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산재정보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회원업종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에서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정보를 찾아 회원 프로필에 이름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업종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(2),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나이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성별  명시 </a:t>
                      </a: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정보선택을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회원이 등록한 산재정보 목록 표시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(2),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질병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드랍다운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 기간에 따른 통계 자료 변경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(Button)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분석기간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관련 통계 집계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128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198513" y="2008787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4757392" y="2745007"/>
            <a:ext cx="275130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C2A0EA-B3AE-AEC2-CE98-2376622D571B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A71B6-598E-4F09-AF55-AECC68AE0278}"/>
              </a:ext>
            </a:extLst>
          </p:cNvPr>
          <p:cNvSpPr txBox="1"/>
          <p:nvPr/>
        </p:nvSpPr>
        <p:spPr>
          <a:xfrm>
            <a:off x="1971492" y="4304949"/>
            <a:ext cx="4124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분석을 시작하려면 기간을 선택하세요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122FFAF-E532-0FA7-2D39-ACC91267F496}"/>
              </a:ext>
            </a:extLst>
          </p:cNvPr>
          <p:cNvSpPr/>
          <p:nvPr/>
        </p:nvSpPr>
        <p:spPr>
          <a:xfrm>
            <a:off x="6673212" y="2364788"/>
            <a:ext cx="144991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bg1"/>
                </a:solidFill>
              </a:rPr>
              <a:t>나의 산재 선택하기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F51771-E44A-953D-0C91-B6EE8EF0AC9C}"/>
              </a:ext>
            </a:extLst>
          </p:cNvPr>
          <p:cNvSpPr/>
          <p:nvPr/>
        </p:nvSpPr>
        <p:spPr>
          <a:xfrm>
            <a:off x="6502952" y="2244942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5603588-83E3-4A6D-A5D8-CB95D5D6551D}"/>
              </a:ext>
            </a:extLst>
          </p:cNvPr>
          <p:cNvSpPr/>
          <p:nvPr/>
        </p:nvSpPr>
        <p:spPr>
          <a:xfrm>
            <a:off x="5972914" y="1423667"/>
            <a:ext cx="2323490" cy="9485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100" dirty="0">
                <a:solidFill>
                  <a:schemeClr val="tx1"/>
                </a:solidFill>
              </a:rPr>
              <a:t>업종</a:t>
            </a:r>
            <a:r>
              <a:rPr lang="en-US" altLang="ko-KR" sz="1100" dirty="0">
                <a:solidFill>
                  <a:schemeClr val="tx1"/>
                </a:solidFill>
              </a:rPr>
              <a:t>(2)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ㅣ발생형태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ㅣ</a:t>
            </a:r>
            <a:r>
              <a:rPr lang="ko-KR" altLang="en-US" sz="1100" dirty="0">
                <a:solidFill>
                  <a:schemeClr val="tx1"/>
                </a:solidFill>
              </a:rPr>
              <a:t> 질병</a:t>
            </a:r>
          </a:p>
          <a:p>
            <a:pPr lvl="0" algn="ctr">
              <a:defRPr/>
            </a:pPr>
            <a:r>
              <a:rPr lang="en-US" altLang="ko-KR" sz="1100" dirty="0">
                <a:solidFill>
                  <a:schemeClr val="tx1"/>
                </a:solidFill>
              </a:rPr>
              <a:t>-----------------------------------------</a:t>
            </a:r>
          </a:p>
          <a:p>
            <a:pPr lvl="0" algn="ctr">
              <a:defRPr/>
            </a:pPr>
            <a:r>
              <a:rPr lang="ko-KR" altLang="en-US" sz="1100" dirty="0">
                <a:solidFill>
                  <a:schemeClr val="tx1"/>
                </a:solidFill>
              </a:rPr>
              <a:t>건설업</a:t>
            </a:r>
            <a:r>
              <a:rPr lang="en-US" altLang="ko-KR" sz="1100" dirty="0">
                <a:solidFill>
                  <a:schemeClr val="tx1"/>
                </a:solidFill>
              </a:rPr>
              <a:t>l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en-US" altLang="ko-KR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>
                <a:solidFill>
                  <a:schemeClr val="tx1"/>
                </a:solidFill>
              </a:rPr>
              <a:t>넘어짐  </a:t>
            </a:r>
            <a:r>
              <a:rPr lang="en-US" altLang="ko-KR" sz="1100" dirty="0">
                <a:solidFill>
                  <a:schemeClr val="tx1"/>
                </a:solidFill>
              </a:rPr>
              <a:t>l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en-US" altLang="ko-KR" sz="1100" dirty="0">
                <a:solidFill>
                  <a:schemeClr val="tx1"/>
                </a:solidFill>
              </a:rPr>
              <a:t>-</a:t>
            </a:r>
          </a:p>
          <a:p>
            <a:pPr lvl="0" algn="ctr">
              <a:defRPr/>
            </a:pPr>
            <a:r>
              <a:rPr lang="ko-KR" altLang="en-US" sz="1100" dirty="0">
                <a:solidFill>
                  <a:schemeClr val="tx1"/>
                </a:solidFill>
              </a:rPr>
              <a:t>건설업</a:t>
            </a:r>
            <a:r>
              <a:rPr lang="en-US" altLang="ko-KR" sz="1100" dirty="0">
                <a:solidFill>
                  <a:schemeClr val="tx1"/>
                </a:solidFill>
              </a:rPr>
              <a:t>l</a:t>
            </a:r>
            <a:r>
              <a:rPr lang="ko-KR" altLang="en-US" sz="1100" dirty="0">
                <a:solidFill>
                  <a:schemeClr val="tx1"/>
                </a:solidFill>
              </a:rPr>
              <a:t>  </a:t>
            </a:r>
            <a:r>
              <a:rPr lang="en-US" altLang="ko-KR" sz="1100" dirty="0">
                <a:solidFill>
                  <a:schemeClr val="tx1"/>
                </a:solidFill>
              </a:rPr>
              <a:t>-</a:t>
            </a:r>
            <a:r>
              <a:rPr lang="ko-KR" altLang="en-US" sz="1100" dirty="0" err="1">
                <a:solidFill>
                  <a:schemeClr val="tx1"/>
                </a:solidFill>
              </a:rPr>
              <a:t>ㅣ소음난청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818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149F63A-B17E-6964-404B-4C602586C571}"/>
              </a:ext>
            </a:extLst>
          </p:cNvPr>
          <p:cNvSpPr/>
          <p:nvPr/>
        </p:nvSpPr>
        <p:spPr>
          <a:xfrm>
            <a:off x="336077" y="3509181"/>
            <a:ext cx="1928120" cy="28555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재해율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재해율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7588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333200"/>
              </p:ext>
            </p:extLst>
          </p:nvPr>
        </p:nvGraphicFramePr>
        <p:xfrm>
          <a:off x="8603672" y="1180081"/>
          <a:ext cx="3588327" cy="58372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최근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(Button)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따른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통계 집계 및  시각화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를 보면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년도별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통계분석 가능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재해율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재해유형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사망유형 집계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198511" y="3412727"/>
            <a:ext cx="275129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DBE83A-2468-082E-E62C-120CB5D082A9}"/>
              </a:ext>
            </a:extLst>
          </p:cNvPr>
          <p:cNvSpPr/>
          <p:nvPr/>
        </p:nvSpPr>
        <p:spPr>
          <a:xfrm>
            <a:off x="2505517" y="3509182"/>
            <a:ext cx="1793000" cy="28555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사망률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</a:rPr>
              <a:t>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사망률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5AD99E9-1106-2DE1-BFF9-4C62DCC8B6C9}"/>
              </a:ext>
            </a:extLst>
          </p:cNvPr>
          <p:cNvSpPr/>
          <p:nvPr/>
        </p:nvSpPr>
        <p:spPr>
          <a:xfrm>
            <a:off x="4491707" y="3523820"/>
            <a:ext cx="1796876" cy="284088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 재해유형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많이 다친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DF171BC-877A-C50D-B47E-1BB2EA327636}"/>
              </a:ext>
            </a:extLst>
          </p:cNvPr>
          <p:cNvSpPr/>
          <p:nvPr/>
        </p:nvSpPr>
        <p:spPr>
          <a:xfrm>
            <a:off x="6481773" y="3475693"/>
            <a:ext cx="1796877" cy="28408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사망유형 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많은 사망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772986" y="2716711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D0C3FE3-BB76-E61C-C52C-1978DD221B9E}"/>
              </a:ext>
            </a:extLst>
          </p:cNvPr>
          <p:cNvSpPr/>
          <p:nvPr/>
        </p:nvSpPr>
        <p:spPr>
          <a:xfrm>
            <a:off x="6592551" y="2345429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정보 선택 </a:t>
            </a:r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17730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재해현황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사망현황 통계시각화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3182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760F890-669F-145E-F1AB-86374C6FFF03}"/>
              </a:ext>
            </a:extLst>
          </p:cNvPr>
          <p:cNvSpPr/>
          <p:nvPr/>
        </p:nvSpPr>
        <p:spPr>
          <a:xfrm>
            <a:off x="601290" y="1925053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재해현황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55732EC-A2B8-5CCF-ACC4-8F7E33B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93" y="2573520"/>
            <a:ext cx="2338100" cy="1242049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2F467F7-275E-3FE4-8C28-6DD2949F0BFE}"/>
              </a:ext>
            </a:extLst>
          </p:cNvPr>
          <p:cNvSpPr/>
          <p:nvPr/>
        </p:nvSpPr>
        <p:spPr>
          <a:xfrm>
            <a:off x="601290" y="4421581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재해현황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D3B6F6C-DBD0-3EE0-9D60-F3C8754CF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67" y="4852650"/>
            <a:ext cx="2195876" cy="183465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72D8FF1-B3A6-1ECF-1047-EDD5F84F7381}"/>
              </a:ext>
            </a:extLst>
          </p:cNvPr>
          <p:cNvSpPr/>
          <p:nvPr/>
        </p:nvSpPr>
        <p:spPr>
          <a:xfrm>
            <a:off x="4315038" y="1906408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사망현황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4B2379D-2EB6-62F2-EC95-F0361605E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441" y="2554875"/>
            <a:ext cx="2338100" cy="1242049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FBF0404-5DE0-6178-4EA1-4771A8B3DC3C}"/>
              </a:ext>
            </a:extLst>
          </p:cNvPr>
          <p:cNvSpPr/>
          <p:nvPr/>
        </p:nvSpPr>
        <p:spPr>
          <a:xfrm>
            <a:off x="4315038" y="4402936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사망현황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5887E02-21D3-33DE-39B0-7D58D1DB9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415" y="4834005"/>
            <a:ext cx="2195876" cy="183465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A2AB29-B621-CDC6-6FB2-22A3310C4393}"/>
              </a:ext>
            </a:extLst>
          </p:cNvPr>
          <p:cNvSpPr/>
          <p:nvPr/>
        </p:nvSpPr>
        <p:spPr>
          <a:xfrm>
            <a:off x="408031" y="190104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DA271-47A7-3329-18DD-F342DDEB1819}"/>
              </a:ext>
            </a:extLst>
          </p:cNvPr>
          <p:cNvSpPr/>
          <p:nvPr/>
        </p:nvSpPr>
        <p:spPr>
          <a:xfrm>
            <a:off x="463725" y="4343400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34999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530425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5026669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재해사망현황 통계시각화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회원이 부상으로 재해를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당했을떄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547457" y="2394792"/>
            <a:ext cx="3506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 </a:t>
            </a:r>
            <a:r>
              <a:rPr lang="ko-KR" altLang="en-US" b="1" dirty="0"/>
              <a:t>유형별 사망현황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F23D985-7DC2-C9A8-31B5-E6C1A3AF135E}"/>
              </a:ext>
            </a:extLst>
          </p:cNvPr>
          <p:cNvSpPr/>
          <p:nvPr/>
        </p:nvSpPr>
        <p:spPr>
          <a:xfrm>
            <a:off x="513448" y="2204914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8092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80853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825341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재해사망현황 통계시각화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회원이 질병으로 재해를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당했을떄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</a:t>
            </a:r>
            <a:r>
              <a:rPr lang="ko-KR" altLang="en-US" b="1" dirty="0"/>
              <a:t>재해질병 </a:t>
            </a:r>
            <a:r>
              <a:rPr lang="ko-KR" altLang="en-US" sz="1800" b="1" dirty="0">
                <a:solidFill>
                  <a:schemeClr val="tx1"/>
                </a:solidFill>
              </a:rPr>
              <a:t>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398278" y="2346996"/>
            <a:ext cx="38052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내 업종  재해</a:t>
            </a:r>
            <a:r>
              <a:rPr lang="ko-KR" altLang="en-US" sz="1600" b="1" dirty="0"/>
              <a:t>질병 유형별 사망현황</a:t>
            </a:r>
            <a:endParaRPr lang="en-US" altLang="ko-KR" sz="160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74AE9A-68F0-6A3E-7C4B-97D21FFC1BFF}"/>
              </a:ext>
            </a:extLst>
          </p:cNvPr>
          <p:cNvSpPr/>
          <p:nvPr/>
        </p:nvSpPr>
        <p:spPr>
          <a:xfrm>
            <a:off x="435753" y="220805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36716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86075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69185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요인들을 종합해서 종합위험도 지수 통계시각화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위험도 계산 로직을 직접 구현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vl="0" latinLnBrk="1"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요인을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종합평가하여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위험도 추출 예정 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재해율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업종의 평균 재해 발생 빈도	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사망률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업종의 평균 사망 발생 빈도	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위험 재해 유형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회원의 주요 재해 유형이 해당 업종에서 차지하는 비율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취약성 지표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회원의 성별, 연령대에서 재해/사망이 발생하는 비율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안전자료실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찾기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병원 찾기로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8B4402-1D15-A72D-601E-EEEAF4DAB682}"/>
              </a:ext>
            </a:extLst>
          </p:cNvPr>
          <p:cNvSpPr/>
          <p:nvPr/>
        </p:nvSpPr>
        <p:spPr>
          <a:xfrm>
            <a:off x="601579" y="1916637"/>
            <a:ext cx="6988627" cy="42048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종합 위험도 평가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977A8-EE81-172F-6519-02E4414C84EB}"/>
              </a:ext>
            </a:extLst>
          </p:cNvPr>
          <p:cNvSpPr/>
          <p:nvPr/>
        </p:nvSpPr>
        <p:spPr>
          <a:xfrm>
            <a:off x="601925" y="188070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2B9DF86-42F0-4E7E-7F35-B4DD1D3373A7}"/>
              </a:ext>
            </a:extLst>
          </p:cNvPr>
          <p:cNvSpPr/>
          <p:nvPr/>
        </p:nvSpPr>
        <p:spPr>
          <a:xfrm>
            <a:off x="1615044" y="5413574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나에게 필요한 안전 가이드 보기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B9AC75-5911-BD25-4C2F-4EEFF9C3518C}"/>
              </a:ext>
            </a:extLst>
          </p:cNvPr>
          <p:cNvSpPr/>
          <p:nvPr/>
        </p:nvSpPr>
        <p:spPr>
          <a:xfrm>
            <a:off x="5278892" y="5316132"/>
            <a:ext cx="1489103" cy="48222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가까운 응급</a:t>
            </a:r>
            <a:r>
              <a:rPr lang="en-US" altLang="ko-KR" sz="1100" dirty="0"/>
              <a:t>·</a:t>
            </a:r>
            <a:r>
              <a:rPr lang="ko-KR" altLang="en-US" sz="1100" dirty="0"/>
              <a:t>산재병원 찾기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BCBF801-505E-A4A7-5E7B-CD6D433640CB}"/>
              </a:ext>
            </a:extLst>
          </p:cNvPr>
          <p:cNvSpPr/>
          <p:nvPr/>
        </p:nvSpPr>
        <p:spPr>
          <a:xfrm>
            <a:off x="3446968" y="5388526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 위치 기반 위험 탐색하기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7AE0BDC-C2D3-18A1-CE46-28000D14E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19" y="2883397"/>
            <a:ext cx="6359706" cy="184337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D8311E1-5C2E-671C-A58B-196310D778C4}"/>
              </a:ext>
            </a:extLst>
          </p:cNvPr>
          <p:cNvSpPr/>
          <p:nvPr/>
        </p:nvSpPr>
        <p:spPr>
          <a:xfrm>
            <a:off x="1304684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7C9D5-A530-E379-A23F-C36DB9D34656}"/>
              </a:ext>
            </a:extLst>
          </p:cNvPr>
          <p:cNvSpPr/>
          <p:nvPr/>
        </p:nvSpPr>
        <p:spPr>
          <a:xfrm>
            <a:off x="3152785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87F2174-AD50-34D7-DA86-D2F1541A5DB6}"/>
              </a:ext>
            </a:extLst>
          </p:cNvPr>
          <p:cNvSpPr/>
          <p:nvPr/>
        </p:nvSpPr>
        <p:spPr>
          <a:xfrm>
            <a:off x="5000886" y="5162207"/>
            <a:ext cx="411194" cy="29302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87225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94559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/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/>
        </p:nvGraphicFramePr>
        <p:xfrm>
          <a:off x="8603672" y="1180079"/>
          <a:ext cx="3588325" cy="5766474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050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6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873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dirty="0"/>
                        <a:t>Default: </a:t>
                      </a:r>
                      <a:r>
                        <a:rPr lang="ko-KR" altLang="en-US" sz="1100" dirty="0"/>
                        <a:t>최근 본 자료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슬라이드 당 </a:t>
                      </a:r>
                      <a:r>
                        <a:rPr lang="en-US" sz="1100" dirty="0"/>
                        <a:t>3</a:t>
                      </a:r>
                      <a:r>
                        <a:rPr lang="ko-KR" altLang="en-US" sz="1100" dirty="0"/>
                        <a:t>개씩 보여줌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슬라이드 총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개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총 </a:t>
                      </a:r>
                      <a:r>
                        <a:rPr lang="en-US" altLang="ko-KR" sz="1100" dirty="0"/>
                        <a:t>6</a:t>
                      </a:r>
                      <a:r>
                        <a:rPr lang="ko-KR" altLang="en-US" sz="1100" dirty="0"/>
                        <a:t>개의 카드 보여줌</a:t>
                      </a:r>
                      <a:endParaRPr lang="en-US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650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자료제목이나 이미지 클릭 시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해당 자료 상세페이지로 이동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368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112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7368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dirty="0"/>
              <a:t>최근 본 자료</a:t>
            </a:r>
            <a:endParaRPr sz="12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F642C1-AE9C-BA0C-6391-A5D10F03F320}"/>
              </a:ext>
            </a:extLst>
          </p:cNvPr>
          <p:cNvSpPr/>
          <p:nvPr/>
        </p:nvSpPr>
        <p:spPr>
          <a:xfrm>
            <a:off x="567536" y="3091161"/>
            <a:ext cx="7286388" cy="31505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D900AE3-427B-6EEE-E52F-A098DF854A06}"/>
              </a:ext>
            </a:extLst>
          </p:cNvPr>
          <p:cNvSpPr txBox="1"/>
          <p:nvPr/>
        </p:nvSpPr>
        <p:spPr>
          <a:xfrm>
            <a:off x="7290770" y="4363948"/>
            <a:ext cx="1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8F7C40-39D5-5E3A-1CDF-CF1198DEFD48}"/>
              </a:ext>
            </a:extLst>
          </p:cNvPr>
          <p:cNvSpPr txBox="1"/>
          <p:nvPr/>
        </p:nvSpPr>
        <p:spPr>
          <a:xfrm>
            <a:off x="881746" y="4261385"/>
            <a:ext cx="36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&lt;</a:t>
            </a:r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/>
                <a:t>안전자료실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1A412D06-4C4E-01E7-06FF-2599541223C7}"/>
              </a:ext>
            </a:extLst>
          </p:cNvPr>
          <p:cNvGrpSpPr/>
          <p:nvPr/>
        </p:nvGrpSpPr>
        <p:grpSpPr>
          <a:xfrm>
            <a:off x="1729772" y="3444702"/>
            <a:ext cx="1328756" cy="2577155"/>
            <a:chOff x="1331556" y="3807373"/>
            <a:chExt cx="1615045" cy="2145580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B2AF8D3-A373-670C-B106-39D3D85E5E32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17DDB7-5205-1FCB-9A26-2123B472110F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82076BC-1FFD-4FF9-A824-E3CBDF8187C5}"/>
              </a:ext>
            </a:extLst>
          </p:cNvPr>
          <p:cNvGrpSpPr/>
          <p:nvPr/>
        </p:nvGrpSpPr>
        <p:grpSpPr>
          <a:xfrm>
            <a:off x="5376836" y="3444702"/>
            <a:ext cx="1328756" cy="2577155"/>
            <a:chOff x="1331556" y="3807373"/>
            <a:chExt cx="1615045" cy="2145580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1F2D4DB-55B1-257F-EF76-56B41F827AF2}"/>
                </a:ext>
              </a:extLst>
            </p:cNvPr>
            <p:cNvSpPr/>
            <p:nvPr/>
          </p:nvSpPr>
          <p:spPr>
            <a:xfrm>
              <a:off x="1331556" y="3807373"/>
              <a:ext cx="1615045" cy="16601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BCE387-6B90-4034-A617-46C580385AC7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2335A72-C3F8-B494-5CF1-3B5DB06A2FDD}"/>
              </a:ext>
            </a:extLst>
          </p:cNvPr>
          <p:cNvGrpSpPr/>
          <p:nvPr/>
        </p:nvGrpSpPr>
        <p:grpSpPr>
          <a:xfrm>
            <a:off x="3553304" y="3444702"/>
            <a:ext cx="1328756" cy="2577155"/>
            <a:chOff x="1331556" y="3807373"/>
            <a:chExt cx="1615045" cy="21455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D460285B-2A87-50CC-BABF-E4EEE325EEB9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DDC559-8BD1-F8E6-7B18-6A6D2DF117B3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1665525" y="5357839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>
          <a:extLst>
            <a:ext uri="{FF2B5EF4-FFF2-40B4-BE49-F238E27FC236}">
              <a16:creationId xmlns:a16="http://schemas.microsoft.com/office/drawing/2014/main" id="{79F55903-136A-7E82-DAAC-D0A2C0DDD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>
            <a:extLst>
              <a:ext uri="{FF2B5EF4-FFF2-40B4-BE49-F238E27FC236}">
                <a16:creationId xmlns:a16="http://schemas.microsoft.com/office/drawing/2014/main" id="{962684FD-169F-D7D3-EF6E-ED787107022D}"/>
              </a:ext>
            </a:extLst>
          </p:cNvPr>
          <p:cNvGraphicFramePr/>
          <p:nvPr/>
        </p:nvGraphicFramePr>
        <p:xfrm>
          <a:off x="9939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작성자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필터영역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중간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>
            <a:extLst>
              <a:ext uri="{FF2B5EF4-FFF2-40B4-BE49-F238E27FC236}">
                <a16:creationId xmlns:a16="http://schemas.microsoft.com/office/drawing/2014/main" id="{4B8701D6-3978-9575-2A24-1F0363F29072}"/>
              </a:ext>
            </a:extLst>
          </p:cNvPr>
          <p:cNvGraphicFramePr/>
          <p:nvPr/>
        </p:nvGraphicFramePr>
        <p:xfrm>
          <a:off x="8603672" y="1180080"/>
          <a:ext cx="3588325" cy="569044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자료형태 유형 체크박스로 선택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en-US" altLang="ko-KR" sz="1100" dirty="0"/>
                        <a:t> / </a:t>
                      </a:r>
                      <a:r>
                        <a:rPr lang="ko-KR" altLang="en-US" sz="1100" dirty="0"/>
                        <a:t>책자 </a:t>
                      </a:r>
                      <a:r>
                        <a:rPr lang="en-US" altLang="ko-KR" sz="1100" dirty="0"/>
                        <a:t>/ PPT / </a:t>
                      </a:r>
                      <a:r>
                        <a:rPr lang="ko-KR" altLang="en-US" sz="1100" dirty="0"/>
                        <a:t>기타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로 나누어 분류 </a:t>
                      </a: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텍스트 </a:t>
                      </a:r>
                      <a:r>
                        <a:rPr lang="ko-KR" altLang="en-US" sz="1100" dirty="0" err="1"/>
                        <a:t>검색란</a:t>
                      </a: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 err="1"/>
                        <a:t>검색텍스트가</a:t>
                      </a:r>
                      <a:r>
                        <a:rPr lang="ko-KR" altLang="en-US" sz="1100" dirty="0"/>
                        <a:t> 자료제목에 </a:t>
                      </a:r>
                      <a:r>
                        <a:rPr lang="ko-KR" altLang="en-US" sz="1100" dirty="0" err="1"/>
                        <a:t>들어가있는</a:t>
                      </a:r>
                      <a:r>
                        <a:rPr lang="ko-KR" altLang="en-US" sz="1100" dirty="0"/>
                        <a:t> 자료 검색</a:t>
                      </a: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en-US" altLang="ko-KR" sz="1100" dirty="0"/>
                        <a:t>placeholder(‘</a:t>
                      </a:r>
                      <a:r>
                        <a:rPr lang="ko-KR" altLang="en-US" sz="1100" dirty="0"/>
                        <a:t>제목검색</a:t>
                      </a:r>
                      <a:r>
                        <a:rPr lang="en-US" altLang="ko-KR" sz="1100" dirty="0"/>
                        <a:t>’)</a:t>
                      </a: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  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검색 버튼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클릭 시 설정한 필터 및 텍스트 검색 기반으로 자료 검색함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다음페이지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)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에 검색결과 나옴 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>
            <a:extLst>
              <a:ext uri="{FF2B5EF4-FFF2-40B4-BE49-F238E27FC236}">
                <a16:creationId xmlns:a16="http://schemas.microsoft.com/office/drawing/2014/main" id="{87206C3A-E144-332E-07DD-745A72146465}"/>
              </a:ext>
            </a:extLst>
          </p:cNvPr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>
            <a:extLst>
              <a:ext uri="{FF2B5EF4-FFF2-40B4-BE49-F238E27FC236}">
                <a16:creationId xmlns:a16="http://schemas.microsoft.com/office/drawing/2014/main" id="{9B1D0870-C6DD-6894-9542-6AE49434A504}"/>
              </a:ext>
            </a:extLst>
          </p:cNvPr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438326" y="3411224"/>
            <a:ext cx="7486168" cy="124833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1A4D6CEB-843D-CADE-0AFC-A012D4036471}"/>
              </a:ext>
            </a:extLst>
          </p:cNvPr>
          <p:cNvSpPr/>
          <p:nvPr/>
        </p:nvSpPr>
        <p:spPr>
          <a:xfrm>
            <a:off x="1828799" y="4150317"/>
            <a:ext cx="5891576" cy="38048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제목검색</a:t>
            </a:r>
            <a:endParaRPr lang="ko-KR" altLang="en-US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C120636-A195-6CB6-2353-888DFBACCABE}"/>
              </a:ext>
            </a:extLst>
          </p:cNvPr>
          <p:cNvGrpSpPr/>
          <p:nvPr/>
        </p:nvGrpSpPr>
        <p:grpSpPr>
          <a:xfrm>
            <a:off x="6811085" y="4785198"/>
            <a:ext cx="1113409" cy="496956"/>
            <a:chOff x="7045769" y="5389880"/>
            <a:chExt cx="1113409" cy="496956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2D3E4C0-CB12-5615-832E-13DE4FB559F4}"/>
                </a:ext>
              </a:extLst>
            </p:cNvPr>
            <p:cNvSpPr/>
            <p:nvPr/>
          </p:nvSpPr>
          <p:spPr>
            <a:xfrm>
              <a:off x="7045769" y="5389880"/>
              <a:ext cx="1113409" cy="49695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600" dirty="0">
                  <a:solidFill>
                    <a:schemeClr val="tx1"/>
                  </a:solidFill>
                </a:rPr>
                <a:t>  검색</a:t>
              </a:r>
            </a:p>
          </p:txBody>
        </p:sp>
        <p:sp>
          <p:nvSpPr>
            <p:cNvPr id="32" name="그래픽 24" descr="돋보기 단색으로 채워진">
              <a:extLst>
                <a:ext uri="{FF2B5EF4-FFF2-40B4-BE49-F238E27FC236}">
                  <a16:creationId xmlns:a16="http://schemas.microsoft.com/office/drawing/2014/main" id="{C588998A-BAC5-FFA2-0C43-0ABE72E6ECD2}"/>
                </a:ext>
              </a:extLst>
            </p:cNvPr>
            <p:cNvSpPr/>
            <p:nvPr/>
          </p:nvSpPr>
          <p:spPr>
            <a:xfrm>
              <a:off x="7766218" y="5515521"/>
              <a:ext cx="237725" cy="245675"/>
            </a:xfrm>
            <a:custGeom>
              <a:avLst/>
              <a:gdLst>
                <a:gd name="connsiteX0" fmla="*/ 321806 w 330332"/>
                <a:gd name="connsiteY0" fmla="*/ 339760 h 400612"/>
                <a:gd name="connsiteX1" fmla="*/ 269497 w 330332"/>
                <a:gd name="connsiteY1" fmla="*/ 276372 h 400612"/>
                <a:gd name="connsiteX2" fmla="*/ 243551 w 330332"/>
                <a:gd name="connsiteY2" fmla="*/ 266737 h 400612"/>
                <a:gd name="connsiteX3" fmla="*/ 225138 w 330332"/>
                <a:gd name="connsiteY3" fmla="*/ 244424 h 400612"/>
                <a:gd name="connsiteX4" fmla="*/ 251084 w 330332"/>
                <a:gd name="connsiteY4" fmla="*/ 152131 h 400612"/>
                <a:gd name="connsiteX5" fmla="*/ 125542 w 330332"/>
                <a:gd name="connsiteY5" fmla="*/ 0 h 400612"/>
                <a:gd name="connsiteX6" fmla="*/ 0 w 330332"/>
                <a:gd name="connsiteY6" fmla="*/ 152131 h 400612"/>
                <a:gd name="connsiteX7" fmla="*/ 125542 w 330332"/>
                <a:gd name="connsiteY7" fmla="*/ 304263 h 400612"/>
                <a:gd name="connsiteX8" fmla="*/ 201704 w 330332"/>
                <a:gd name="connsiteY8" fmla="*/ 272822 h 400612"/>
                <a:gd name="connsiteX9" fmla="*/ 220117 w 330332"/>
                <a:gd name="connsiteY9" fmla="*/ 295135 h 400612"/>
                <a:gd name="connsiteX10" fmla="*/ 228068 w 330332"/>
                <a:gd name="connsiteY10" fmla="*/ 326575 h 400612"/>
                <a:gd name="connsiteX11" fmla="*/ 280377 w 330332"/>
                <a:gd name="connsiteY11" fmla="*/ 389963 h 400612"/>
                <a:gd name="connsiteX12" fmla="*/ 301301 w 330332"/>
                <a:gd name="connsiteY12" fmla="*/ 400612 h 400612"/>
                <a:gd name="connsiteX13" fmla="*/ 322224 w 330332"/>
                <a:gd name="connsiteY13" fmla="*/ 389963 h 400612"/>
                <a:gd name="connsiteX14" fmla="*/ 321806 w 330332"/>
                <a:gd name="connsiteY14" fmla="*/ 339760 h 400612"/>
                <a:gd name="connsiteX15" fmla="*/ 125123 w 330332"/>
                <a:gd name="connsiteY15" fmla="*/ 273329 h 400612"/>
                <a:gd name="connsiteX16" fmla="*/ 24690 w 330332"/>
                <a:gd name="connsiteY16" fmla="*/ 151624 h 400612"/>
                <a:gd name="connsiteX17" fmla="*/ 125123 w 330332"/>
                <a:gd name="connsiteY17" fmla="*/ 29919 h 400612"/>
                <a:gd name="connsiteX18" fmla="*/ 225557 w 330332"/>
                <a:gd name="connsiteY18" fmla="*/ 151624 h 400612"/>
                <a:gd name="connsiteX19" fmla="*/ 125123 w 330332"/>
                <a:gd name="connsiteY19" fmla="*/ 273329 h 400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332" h="400612">
                  <a:moveTo>
                    <a:pt x="321806" y="339760"/>
                  </a:moveTo>
                  <a:lnTo>
                    <a:pt x="269497" y="276372"/>
                  </a:lnTo>
                  <a:cubicBezTo>
                    <a:pt x="262383" y="267751"/>
                    <a:pt x="252758" y="264708"/>
                    <a:pt x="243551" y="266737"/>
                  </a:cubicBezTo>
                  <a:lnTo>
                    <a:pt x="225138" y="244424"/>
                  </a:lnTo>
                  <a:cubicBezTo>
                    <a:pt x="241459" y="219069"/>
                    <a:pt x="251084" y="186614"/>
                    <a:pt x="251084" y="152131"/>
                  </a:cubicBezTo>
                  <a:cubicBezTo>
                    <a:pt x="251084" y="68459"/>
                    <a:pt x="194590" y="0"/>
                    <a:pt x="125542" y="0"/>
                  </a:cubicBezTo>
                  <a:cubicBezTo>
                    <a:pt x="56494" y="0"/>
                    <a:pt x="0" y="68459"/>
                    <a:pt x="0" y="152131"/>
                  </a:cubicBezTo>
                  <a:cubicBezTo>
                    <a:pt x="0" y="235803"/>
                    <a:pt x="56494" y="304263"/>
                    <a:pt x="125542" y="304263"/>
                  </a:cubicBezTo>
                  <a:cubicBezTo>
                    <a:pt x="153998" y="304263"/>
                    <a:pt x="180362" y="292599"/>
                    <a:pt x="201704" y="272822"/>
                  </a:cubicBezTo>
                  <a:lnTo>
                    <a:pt x="220117" y="295135"/>
                  </a:lnTo>
                  <a:cubicBezTo>
                    <a:pt x="218443" y="306291"/>
                    <a:pt x="220954" y="317954"/>
                    <a:pt x="228068" y="326575"/>
                  </a:cubicBezTo>
                  <a:lnTo>
                    <a:pt x="280377" y="389963"/>
                  </a:lnTo>
                  <a:cubicBezTo>
                    <a:pt x="286235" y="397063"/>
                    <a:pt x="293768" y="400612"/>
                    <a:pt x="301301" y="400612"/>
                  </a:cubicBezTo>
                  <a:cubicBezTo>
                    <a:pt x="308833" y="400612"/>
                    <a:pt x="316366" y="397063"/>
                    <a:pt x="322224" y="389963"/>
                  </a:cubicBezTo>
                  <a:cubicBezTo>
                    <a:pt x="333104" y="375764"/>
                    <a:pt x="333104" y="353452"/>
                    <a:pt x="321806" y="339760"/>
                  </a:cubicBezTo>
                  <a:close/>
                  <a:moveTo>
                    <a:pt x="125123" y="273329"/>
                  </a:moveTo>
                  <a:cubicBezTo>
                    <a:pt x="69885" y="273329"/>
                    <a:pt x="24690" y="218562"/>
                    <a:pt x="24690" y="151624"/>
                  </a:cubicBezTo>
                  <a:cubicBezTo>
                    <a:pt x="24690" y="84686"/>
                    <a:pt x="69885" y="29919"/>
                    <a:pt x="125123" y="29919"/>
                  </a:cubicBezTo>
                  <a:cubicBezTo>
                    <a:pt x="180362" y="29919"/>
                    <a:pt x="225557" y="84686"/>
                    <a:pt x="225557" y="151624"/>
                  </a:cubicBezTo>
                  <a:cubicBezTo>
                    <a:pt x="225557" y="218562"/>
                    <a:pt x="180362" y="273329"/>
                    <a:pt x="125123" y="273329"/>
                  </a:cubicBezTo>
                  <a:close/>
                </a:path>
              </a:pathLst>
            </a:custGeom>
            <a:solidFill>
              <a:srgbClr val="000000"/>
            </a:solidFill>
            <a:ln w="41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C06FD5F0-9FA6-0906-C054-1CAD9D0765E5}"/>
              </a:ext>
            </a:extLst>
          </p:cNvPr>
          <p:cNvSpPr txBox="1"/>
          <p:nvPr/>
        </p:nvSpPr>
        <p:spPr>
          <a:xfrm>
            <a:off x="596858" y="4150317"/>
            <a:ext cx="1231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검색      </a:t>
            </a:r>
            <a:r>
              <a:rPr lang="en-US" altLang="ko-KR" sz="1600" dirty="0"/>
              <a:t>|</a:t>
            </a:r>
            <a:endParaRPr lang="ko-KR" altLang="en-US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EE0FB4-53B2-3F05-7E8D-8BAAE51E3005}"/>
              </a:ext>
            </a:extLst>
          </p:cNvPr>
          <p:cNvSpPr txBox="1"/>
          <p:nvPr/>
        </p:nvSpPr>
        <p:spPr>
          <a:xfrm>
            <a:off x="633216" y="3658041"/>
            <a:ext cx="1159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자료유형 </a:t>
            </a:r>
            <a:r>
              <a:rPr lang="en-US" altLang="ko-KR" sz="1600" dirty="0"/>
              <a:t>|</a:t>
            </a:r>
            <a:endParaRPr lang="ko-KR" altLang="en-US" sz="16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C5A393E8-416E-5320-1B2F-4B0DE1F2F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193" y="3561571"/>
            <a:ext cx="3531335" cy="479311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C139CA2E-BEF0-EA8C-A4AD-D9ED1130BA21}"/>
              </a:ext>
            </a:extLst>
          </p:cNvPr>
          <p:cNvSpPr/>
          <p:nvPr/>
        </p:nvSpPr>
        <p:spPr>
          <a:xfrm>
            <a:off x="1765529" y="425065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99ED4B6-D3C6-F71D-9652-D0F6DA14127D}"/>
              </a:ext>
            </a:extLst>
          </p:cNvPr>
          <p:cNvSpPr/>
          <p:nvPr/>
        </p:nvSpPr>
        <p:spPr>
          <a:xfrm>
            <a:off x="1645774" y="35716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6AED7BE-764D-0CEA-699C-AD5543DDEC46}"/>
              </a:ext>
            </a:extLst>
          </p:cNvPr>
          <p:cNvSpPr/>
          <p:nvPr/>
        </p:nvSpPr>
        <p:spPr>
          <a:xfrm>
            <a:off x="6728420" y="468260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133097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/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591467789"/>
              </p:ext>
            </p:extLst>
          </p:nvPr>
        </p:nvGraphicFramePr>
        <p:xfrm>
          <a:off x="8603672" y="1180080"/>
          <a:ext cx="3588325" cy="619336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필터 설정 후 검색 클릭 시 나타나는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목록 리스트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한페이지당 </a:t>
                      </a:r>
                      <a:r>
                        <a:rPr lang="en-US" altLang="ko-KR" sz="1100" dirty="0"/>
                        <a:t>6~7</a:t>
                      </a:r>
                      <a:r>
                        <a:rPr lang="ko-KR" altLang="en-US" sz="1100" dirty="0"/>
                        <a:t>개정도만 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3~4</a:t>
                      </a:r>
                      <a:r>
                        <a:rPr lang="ko-KR" altLang="en-US" sz="1100" dirty="0"/>
                        <a:t>개만 표시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개보다 많을 시 </a:t>
                      </a:r>
                      <a:r>
                        <a:rPr lang="en-US" altLang="ko-KR" sz="1100" dirty="0"/>
                        <a:t>‘….’ substring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상세페이지에서만 태그 전체 보여줌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자료 내용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길이가 </a:t>
                      </a:r>
                      <a:r>
                        <a:rPr lang="en-US" altLang="ko-KR" sz="1100" dirty="0"/>
                        <a:t>100</a:t>
                      </a:r>
                      <a:r>
                        <a:rPr lang="ko-KR" altLang="en-US" sz="1100" dirty="0"/>
                        <a:t>자 넘으면 자동 </a:t>
                      </a:r>
                      <a:r>
                        <a:rPr lang="en-US" altLang="ko-KR" sz="1100" dirty="0"/>
                        <a:t>‘…’ substring.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상세페이지에서만 전체 본문 제공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안전교육 자료 썸네일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 4.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최신순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/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과거순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조회순 정렬기능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Select </a:t>
                      </a: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5. 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페이징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처리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50422" y="2814829"/>
            <a:ext cx="1881414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0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20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/>
        </p:nvGraphicFramePr>
        <p:xfrm>
          <a:off x="450422" y="3429000"/>
          <a:ext cx="7404270" cy="2750145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13491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/>
                        <a:t>교육자료 제목</a:t>
                      </a:r>
                      <a:endParaRPr lang="en-US" altLang="ko-KR" sz="1600" b="1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14009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/>
                        <a:t>교육자료 제목</a:t>
                      </a:r>
                      <a:endParaRPr lang="en-US" altLang="ko-KR" sz="1600" b="1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07830" y="3926621"/>
            <a:ext cx="2576421" cy="475466"/>
            <a:chOff x="543858" y="4764908"/>
            <a:chExt cx="2576421" cy="47546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52225" y="4764908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43858" y="4978764"/>
              <a:ext cx="91719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설명</a:t>
              </a: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18009" y="5164969"/>
            <a:ext cx="2568054" cy="475239"/>
            <a:chOff x="572411" y="4758724"/>
            <a:chExt cx="2568054" cy="47523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2411" y="4758724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80778" y="4972353"/>
              <a:ext cx="92049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설명</a:t>
              </a:r>
            </a:p>
          </p:txBody>
        </p:sp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342501" y="330401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597882" y="5079549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대표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D6BA85D-5EBA-4D91-6421-674E145FDFC4}"/>
              </a:ext>
            </a:extLst>
          </p:cNvPr>
          <p:cNvSpPr/>
          <p:nvPr/>
        </p:nvSpPr>
        <p:spPr>
          <a:xfrm>
            <a:off x="474178" y="38442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FCA16DB-99F6-A99F-45EF-96358E99592D}"/>
              </a:ext>
            </a:extLst>
          </p:cNvPr>
          <p:cNvGrpSpPr/>
          <p:nvPr/>
        </p:nvGrpSpPr>
        <p:grpSpPr>
          <a:xfrm>
            <a:off x="6741283" y="2065350"/>
            <a:ext cx="1113409" cy="496956"/>
            <a:chOff x="7045769" y="5389880"/>
            <a:chExt cx="1113409" cy="496956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A803EE9F-C996-3151-D978-6D9A59C10219}"/>
                </a:ext>
              </a:extLst>
            </p:cNvPr>
            <p:cNvSpPr/>
            <p:nvPr/>
          </p:nvSpPr>
          <p:spPr>
            <a:xfrm>
              <a:off x="7045769" y="5389880"/>
              <a:ext cx="1113409" cy="49695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600" dirty="0">
                  <a:solidFill>
                    <a:schemeClr val="tx1"/>
                  </a:solidFill>
                </a:rPr>
                <a:t>  검색</a:t>
              </a:r>
            </a:p>
          </p:txBody>
        </p:sp>
        <p:sp>
          <p:nvSpPr>
            <p:cNvPr id="31" name="그래픽 24" descr="돋보기 단색으로 채워진">
              <a:extLst>
                <a:ext uri="{FF2B5EF4-FFF2-40B4-BE49-F238E27FC236}">
                  <a16:creationId xmlns:a16="http://schemas.microsoft.com/office/drawing/2014/main" id="{0CB08BF4-8B84-CB5C-2747-2713C5AD47F2}"/>
                </a:ext>
              </a:extLst>
            </p:cNvPr>
            <p:cNvSpPr/>
            <p:nvPr/>
          </p:nvSpPr>
          <p:spPr>
            <a:xfrm>
              <a:off x="7766218" y="5515521"/>
              <a:ext cx="237725" cy="245675"/>
            </a:xfrm>
            <a:custGeom>
              <a:avLst/>
              <a:gdLst>
                <a:gd name="connsiteX0" fmla="*/ 321806 w 330332"/>
                <a:gd name="connsiteY0" fmla="*/ 339760 h 400612"/>
                <a:gd name="connsiteX1" fmla="*/ 269497 w 330332"/>
                <a:gd name="connsiteY1" fmla="*/ 276372 h 400612"/>
                <a:gd name="connsiteX2" fmla="*/ 243551 w 330332"/>
                <a:gd name="connsiteY2" fmla="*/ 266737 h 400612"/>
                <a:gd name="connsiteX3" fmla="*/ 225138 w 330332"/>
                <a:gd name="connsiteY3" fmla="*/ 244424 h 400612"/>
                <a:gd name="connsiteX4" fmla="*/ 251084 w 330332"/>
                <a:gd name="connsiteY4" fmla="*/ 152131 h 400612"/>
                <a:gd name="connsiteX5" fmla="*/ 125542 w 330332"/>
                <a:gd name="connsiteY5" fmla="*/ 0 h 400612"/>
                <a:gd name="connsiteX6" fmla="*/ 0 w 330332"/>
                <a:gd name="connsiteY6" fmla="*/ 152131 h 400612"/>
                <a:gd name="connsiteX7" fmla="*/ 125542 w 330332"/>
                <a:gd name="connsiteY7" fmla="*/ 304263 h 400612"/>
                <a:gd name="connsiteX8" fmla="*/ 201704 w 330332"/>
                <a:gd name="connsiteY8" fmla="*/ 272822 h 400612"/>
                <a:gd name="connsiteX9" fmla="*/ 220117 w 330332"/>
                <a:gd name="connsiteY9" fmla="*/ 295135 h 400612"/>
                <a:gd name="connsiteX10" fmla="*/ 228068 w 330332"/>
                <a:gd name="connsiteY10" fmla="*/ 326575 h 400612"/>
                <a:gd name="connsiteX11" fmla="*/ 280377 w 330332"/>
                <a:gd name="connsiteY11" fmla="*/ 389963 h 400612"/>
                <a:gd name="connsiteX12" fmla="*/ 301301 w 330332"/>
                <a:gd name="connsiteY12" fmla="*/ 400612 h 400612"/>
                <a:gd name="connsiteX13" fmla="*/ 322224 w 330332"/>
                <a:gd name="connsiteY13" fmla="*/ 389963 h 400612"/>
                <a:gd name="connsiteX14" fmla="*/ 321806 w 330332"/>
                <a:gd name="connsiteY14" fmla="*/ 339760 h 400612"/>
                <a:gd name="connsiteX15" fmla="*/ 125123 w 330332"/>
                <a:gd name="connsiteY15" fmla="*/ 273329 h 400612"/>
                <a:gd name="connsiteX16" fmla="*/ 24690 w 330332"/>
                <a:gd name="connsiteY16" fmla="*/ 151624 h 400612"/>
                <a:gd name="connsiteX17" fmla="*/ 125123 w 330332"/>
                <a:gd name="connsiteY17" fmla="*/ 29919 h 400612"/>
                <a:gd name="connsiteX18" fmla="*/ 225557 w 330332"/>
                <a:gd name="connsiteY18" fmla="*/ 151624 h 400612"/>
                <a:gd name="connsiteX19" fmla="*/ 125123 w 330332"/>
                <a:gd name="connsiteY19" fmla="*/ 273329 h 400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332" h="400612">
                  <a:moveTo>
                    <a:pt x="321806" y="339760"/>
                  </a:moveTo>
                  <a:lnTo>
                    <a:pt x="269497" y="276372"/>
                  </a:lnTo>
                  <a:cubicBezTo>
                    <a:pt x="262383" y="267751"/>
                    <a:pt x="252758" y="264708"/>
                    <a:pt x="243551" y="266737"/>
                  </a:cubicBezTo>
                  <a:lnTo>
                    <a:pt x="225138" y="244424"/>
                  </a:lnTo>
                  <a:cubicBezTo>
                    <a:pt x="241459" y="219069"/>
                    <a:pt x="251084" y="186614"/>
                    <a:pt x="251084" y="152131"/>
                  </a:cubicBezTo>
                  <a:cubicBezTo>
                    <a:pt x="251084" y="68459"/>
                    <a:pt x="194590" y="0"/>
                    <a:pt x="125542" y="0"/>
                  </a:cubicBezTo>
                  <a:cubicBezTo>
                    <a:pt x="56494" y="0"/>
                    <a:pt x="0" y="68459"/>
                    <a:pt x="0" y="152131"/>
                  </a:cubicBezTo>
                  <a:cubicBezTo>
                    <a:pt x="0" y="235803"/>
                    <a:pt x="56494" y="304263"/>
                    <a:pt x="125542" y="304263"/>
                  </a:cubicBezTo>
                  <a:cubicBezTo>
                    <a:pt x="153998" y="304263"/>
                    <a:pt x="180362" y="292599"/>
                    <a:pt x="201704" y="272822"/>
                  </a:cubicBezTo>
                  <a:lnTo>
                    <a:pt x="220117" y="295135"/>
                  </a:lnTo>
                  <a:cubicBezTo>
                    <a:pt x="218443" y="306291"/>
                    <a:pt x="220954" y="317954"/>
                    <a:pt x="228068" y="326575"/>
                  </a:cubicBezTo>
                  <a:lnTo>
                    <a:pt x="280377" y="389963"/>
                  </a:lnTo>
                  <a:cubicBezTo>
                    <a:pt x="286235" y="397063"/>
                    <a:pt x="293768" y="400612"/>
                    <a:pt x="301301" y="400612"/>
                  </a:cubicBezTo>
                  <a:cubicBezTo>
                    <a:pt x="308833" y="400612"/>
                    <a:pt x="316366" y="397063"/>
                    <a:pt x="322224" y="389963"/>
                  </a:cubicBezTo>
                  <a:cubicBezTo>
                    <a:pt x="333104" y="375764"/>
                    <a:pt x="333104" y="353452"/>
                    <a:pt x="321806" y="339760"/>
                  </a:cubicBezTo>
                  <a:close/>
                  <a:moveTo>
                    <a:pt x="125123" y="273329"/>
                  </a:moveTo>
                  <a:cubicBezTo>
                    <a:pt x="69885" y="273329"/>
                    <a:pt x="24690" y="218562"/>
                    <a:pt x="24690" y="151624"/>
                  </a:cubicBezTo>
                  <a:cubicBezTo>
                    <a:pt x="24690" y="84686"/>
                    <a:pt x="69885" y="29919"/>
                    <a:pt x="125123" y="29919"/>
                  </a:cubicBezTo>
                  <a:cubicBezTo>
                    <a:pt x="180362" y="29919"/>
                    <a:pt x="225557" y="84686"/>
                    <a:pt x="225557" y="151624"/>
                  </a:cubicBezTo>
                  <a:cubicBezTo>
                    <a:pt x="225557" y="218562"/>
                    <a:pt x="180362" y="273329"/>
                    <a:pt x="125123" y="273329"/>
                  </a:cubicBezTo>
                  <a:close/>
                </a:path>
              </a:pathLst>
            </a:custGeom>
            <a:solidFill>
              <a:srgbClr val="000000"/>
            </a:solidFill>
            <a:ln w="41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F577DE55-0DCB-B00D-B1C0-FE844C10D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2125" y="2622629"/>
            <a:ext cx="990738" cy="169568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07671159-0322-FC14-8A7E-B0C4B0CEE525}"/>
              </a:ext>
            </a:extLst>
          </p:cNvPr>
          <p:cNvSpPr/>
          <p:nvPr/>
        </p:nvSpPr>
        <p:spPr>
          <a:xfrm>
            <a:off x="7392122" y="271841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597882" y="367149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대표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9F7407-E36D-E7E3-27D7-D95B248276D9}"/>
              </a:ext>
            </a:extLst>
          </p:cNvPr>
          <p:cNvSpPr/>
          <p:nvPr/>
        </p:nvSpPr>
        <p:spPr>
          <a:xfrm>
            <a:off x="2600593" y="6405439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9198801-71AB-DDBD-C774-8341372E057B}"/>
              </a:ext>
            </a:extLst>
          </p:cNvPr>
          <p:cNvSpPr/>
          <p:nvPr/>
        </p:nvSpPr>
        <p:spPr>
          <a:xfrm>
            <a:off x="5621855" y="633769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1C53EF2-B35C-304E-CA5B-C72EABC03E3E}"/>
              </a:ext>
            </a:extLst>
          </p:cNvPr>
          <p:cNvSpPr/>
          <p:nvPr/>
        </p:nvSpPr>
        <p:spPr>
          <a:xfrm>
            <a:off x="6515154" y="358510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679172" y="2360160"/>
            <a:ext cx="7223295" cy="44052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21294"/>
              </p:ext>
            </p:extLst>
          </p:nvPr>
        </p:nvGraphicFramePr>
        <p:xfrm>
          <a:off x="8603672" y="1180079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668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23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왼쪽상단에 자료 제목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오른쪽 상단에 자료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s_created_at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조회수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s_view_count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Modal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11073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자료의 제공 형태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키워드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태그 모두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출처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출처명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크롤링한 내용 원문 표시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전체내용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 자료일 경우만 영상플레이어로 띄움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 자료가 아닐 경우 영상플레이어 없음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영상 안 시작버튼을 눌러야 영상 시작함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KOSHA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상세페이지로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redirect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안되면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26876" y="193680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자료 상세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57012" y="2617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234398" y="3242203"/>
            <a:ext cx="1699755" cy="22839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6073966" y="2537215"/>
            <a:ext cx="1557311" cy="30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작성일  </a:t>
            </a:r>
            <a:r>
              <a:rPr lang="en-US" altLang="ko-KR" sz="1400" dirty="0"/>
              <a:t>| </a:t>
            </a:r>
            <a:r>
              <a:rPr lang="ko-KR" altLang="en-US" sz="1400" dirty="0"/>
              <a:t>조회수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3561876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키워드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215528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:OPS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16534" y="4366773"/>
            <a:ext cx="2546977" cy="54250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4305BED-4F5C-EFB8-C6BB-BF698EC0B8C2}"/>
              </a:ext>
            </a:extLst>
          </p:cNvPr>
          <p:cNvCxnSpPr>
            <a:cxnSpLocks/>
          </p:cNvCxnSpPr>
          <p:nvPr/>
        </p:nvCxnSpPr>
        <p:spPr>
          <a:xfrm>
            <a:off x="836620" y="2952243"/>
            <a:ext cx="68675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1213710-B3CC-228D-BB04-68305A7DD2CC}"/>
              </a:ext>
            </a:extLst>
          </p:cNvPr>
          <p:cNvSpPr txBox="1"/>
          <p:nvPr/>
        </p:nvSpPr>
        <p:spPr>
          <a:xfrm>
            <a:off x="1022341" y="2566527"/>
            <a:ext cx="1557311" cy="30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제목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CD453F-217B-F790-8337-E959ACACB2B2}"/>
              </a:ext>
            </a:extLst>
          </p:cNvPr>
          <p:cNvSpPr txBox="1"/>
          <p:nvPr/>
        </p:nvSpPr>
        <p:spPr>
          <a:xfrm>
            <a:off x="3200943" y="3869509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출처</a:t>
            </a:r>
            <a:r>
              <a:rPr lang="en-US" altLang="ko-KR" sz="1400" dirty="0"/>
              <a:t>: KOSHA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18FFC97-2F69-E899-B77D-9BE4240D7136}"/>
              </a:ext>
            </a:extLst>
          </p:cNvPr>
          <p:cNvSpPr/>
          <p:nvPr/>
        </p:nvSpPr>
        <p:spPr>
          <a:xfrm>
            <a:off x="1151733" y="31146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63BC385-234E-DB72-75D2-66B610C6F8C0}"/>
              </a:ext>
            </a:extLst>
          </p:cNvPr>
          <p:cNvSpPr/>
          <p:nvPr/>
        </p:nvSpPr>
        <p:spPr>
          <a:xfrm>
            <a:off x="3187988" y="309064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77FCDF8-5264-535F-B6B0-00962F1293EF}"/>
              </a:ext>
            </a:extLst>
          </p:cNvPr>
          <p:cNvSpPr/>
          <p:nvPr/>
        </p:nvSpPr>
        <p:spPr>
          <a:xfrm>
            <a:off x="3230041" y="426156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E43E0A-894B-59F8-9512-2464F587A2B4}"/>
              </a:ext>
            </a:extLst>
          </p:cNvPr>
          <p:cNvSpPr/>
          <p:nvPr/>
        </p:nvSpPr>
        <p:spPr>
          <a:xfrm>
            <a:off x="4454821" y="6089252"/>
            <a:ext cx="3010429" cy="344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원본페이지로 이동 </a:t>
            </a:r>
            <a:r>
              <a:rPr lang="en-US" altLang="ko-KR" sz="1600" dirty="0"/>
              <a:t>(KOSHA)</a:t>
            </a:r>
            <a:endParaRPr lang="ko-KR" altLang="en-US" sz="16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5B0104F-3E30-687C-3353-7500424B8FDE}"/>
              </a:ext>
            </a:extLst>
          </p:cNvPr>
          <p:cNvSpPr/>
          <p:nvPr/>
        </p:nvSpPr>
        <p:spPr>
          <a:xfrm>
            <a:off x="7382585" y="59758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6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85A5645-EBE5-463D-B2E1-ECB32B473B38}"/>
              </a:ext>
            </a:extLst>
          </p:cNvPr>
          <p:cNvSpPr/>
          <p:nvPr/>
        </p:nvSpPr>
        <p:spPr>
          <a:xfrm>
            <a:off x="6292227" y="331675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558633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1"/>
          <a:ext cx="3588327" cy="568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85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42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260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b="1" dirty="0"/>
                        <a:t>연관 콘텐츠 추천 기준</a:t>
                      </a:r>
                      <a:endParaRPr lang="ko-KR" altLang="en-US" sz="1100" dirty="0"/>
                    </a:p>
                    <a:p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현재 자료와 </a:t>
                      </a:r>
                      <a:r>
                        <a:rPr lang="ko-KR" altLang="en-US" sz="1100" b="1" dirty="0"/>
                        <a:t>겹치는 태그 개수가 </a:t>
                      </a:r>
                      <a:r>
                        <a:rPr lang="ko-KR" altLang="en-US" sz="1100" dirty="0"/>
                        <a:t>많은 순</a:t>
                      </a:r>
                    </a:p>
                    <a:p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b="1" dirty="0"/>
                        <a:t>조회수</a:t>
                      </a:r>
                      <a:r>
                        <a:rPr lang="en-US" altLang="ko-KR" sz="1100" b="1" dirty="0"/>
                        <a:t>(</a:t>
                      </a:r>
                      <a:r>
                        <a:rPr lang="en-US" altLang="ko-KR" sz="1100" b="1" dirty="0" err="1"/>
                        <a:t>s_view_count</a:t>
                      </a:r>
                      <a:r>
                        <a:rPr lang="en-US" altLang="ko-KR" sz="1100" b="1" dirty="0"/>
                        <a:t>)</a:t>
                      </a:r>
                      <a:r>
                        <a:rPr lang="ko-KR" altLang="en-US" sz="1100" dirty="0"/>
                        <a:t> 높은 순</a:t>
                      </a:r>
                    </a:p>
                    <a:p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최신 등록일</a:t>
                      </a:r>
                      <a:r>
                        <a:rPr lang="en-US" altLang="ko-KR" sz="1100" dirty="0"/>
                        <a:t>(</a:t>
                      </a:r>
                      <a:r>
                        <a:rPr lang="en-US" altLang="ko-KR" sz="1100" dirty="0" err="1"/>
                        <a:t>s_created_at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내림차순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동점일 경우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0930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ko-KR" alt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자료제목이나 이미지 클릭 시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해당 자료 상세페이지로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41746" y="2458157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/>
              <a:t>연관 컨텐츠</a:t>
            </a:r>
            <a:endParaRPr lang="ko-KR" altLang="en-US" b="1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4A2C5AB-45B2-1657-4F63-B781482091C9}"/>
              </a:ext>
            </a:extLst>
          </p:cNvPr>
          <p:cNvGrpSpPr/>
          <p:nvPr/>
        </p:nvGrpSpPr>
        <p:grpSpPr>
          <a:xfrm>
            <a:off x="1331556" y="3807373"/>
            <a:ext cx="1615045" cy="2115833"/>
            <a:chOff x="1331556" y="3807373"/>
            <a:chExt cx="1615045" cy="2115833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99C778B3-9477-7B90-9347-1744D206ACDE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9036009-1E84-40D9-8452-AF2B6FABE2A7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자료 제목</a:t>
              </a: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557274" y="5553874"/>
            <a:ext cx="1203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538280" y="5553874"/>
            <a:ext cx="1218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제목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197FC3-91D3-25BC-E48C-1D36D78E8DC3}"/>
              </a:ext>
            </a:extLst>
          </p:cNvPr>
          <p:cNvSpPr/>
          <p:nvPr/>
        </p:nvSpPr>
        <p:spPr>
          <a:xfrm>
            <a:off x="1070970" y="372098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FF257F1-19A1-C0CE-2F3A-7DF25A638ACF}"/>
              </a:ext>
            </a:extLst>
          </p:cNvPr>
          <p:cNvSpPr/>
          <p:nvPr/>
        </p:nvSpPr>
        <p:spPr>
          <a:xfrm>
            <a:off x="567536" y="3091161"/>
            <a:ext cx="7286388" cy="31505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F260A1-F691-15B3-D93D-FD3180E9F8EF}"/>
              </a:ext>
            </a:extLst>
          </p:cNvPr>
          <p:cNvSpPr txBox="1"/>
          <p:nvPr/>
        </p:nvSpPr>
        <p:spPr>
          <a:xfrm>
            <a:off x="7290770" y="4363948"/>
            <a:ext cx="1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469744-6956-2217-652F-AFB394E9E66A}"/>
              </a:ext>
            </a:extLst>
          </p:cNvPr>
          <p:cNvSpPr txBox="1"/>
          <p:nvPr/>
        </p:nvSpPr>
        <p:spPr>
          <a:xfrm>
            <a:off x="881746" y="4261385"/>
            <a:ext cx="36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&lt;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7AB9D08-CD86-897C-2450-BA8FB75AA88F}"/>
              </a:ext>
            </a:extLst>
          </p:cNvPr>
          <p:cNvSpPr/>
          <p:nvPr/>
        </p:nvSpPr>
        <p:spPr>
          <a:xfrm>
            <a:off x="450825" y="3023050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D899B6E-8744-29F2-6907-5855C49392E7}"/>
              </a:ext>
            </a:extLst>
          </p:cNvPr>
          <p:cNvGrpSpPr/>
          <p:nvPr/>
        </p:nvGrpSpPr>
        <p:grpSpPr>
          <a:xfrm>
            <a:off x="1729772" y="3444702"/>
            <a:ext cx="1328756" cy="2577155"/>
            <a:chOff x="1331556" y="3807373"/>
            <a:chExt cx="1615045" cy="214558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3CF4179-1D3E-F05F-E1B7-80E3590C4018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BDB8500-ED76-1D90-0655-E5E9F866E51A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A1433E4-4434-03DF-A504-A0A9094CB991}"/>
              </a:ext>
            </a:extLst>
          </p:cNvPr>
          <p:cNvGrpSpPr/>
          <p:nvPr/>
        </p:nvGrpSpPr>
        <p:grpSpPr>
          <a:xfrm>
            <a:off x="5376836" y="3444702"/>
            <a:ext cx="1328756" cy="2577155"/>
            <a:chOff x="1331556" y="3807373"/>
            <a:chExt cx="1615045" cy="2145580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C39DA83-B273-4166-9FE8-0B760FC54CDA}"/>
                </a:ext>
              </a:extLst>
            </p:cNvPr>
            <p:cNvSpPr/>
            <p:nvPr/>
          </p:nvSpPr>
          <p:spPr>
            <a:xfrm>
              <a:off x="1331556" y="3807373"/>
              <a:ext cx="1615045" cy="16601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78D7C68-DAA1-6A78-F121-2F9151040C8B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66BB3A70-4A36-9F03-5F7C-C1DCD62B30A1}"/>
              </a:ext>
            </a:extLst>
          </p:cNvPr>
          <p:cNvGrpSpPr/>
          <p:nvPr/>
        </p:nvGrpSpPr>
        <p:grpSpPr>
          <a:xfrm>
            <a:off x="3553304" y="3444702"/>
            <a:ext cx="1328756" cy="2577155"/>
            <a:chOff x="1331556" y="3807373"/>
            <a:chExt cx="1615045" cy="2145580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9BA67081-F92A-83D7-A189-92449D8F139E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7E43925-3198-FC33-EE37-12E0B0A688D5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669351D-AD04-B591-7B29-D9BB24EC6F72}"/>
              </a:ext>
            </a:extLst>
          </p:cNvPr>
          <p:cNvSpPr/>
          <p:nvPr/>
        </p:nvSpPr>
        <p:spPr>
          <a:xfrm>
            <a:off x="1665525" y="5357839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17067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62517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44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971484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별칭과 발생주소를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2" name="Rect 0">
            <a:extLst>
              <a:ext uri="{FF2B5EF4-FFF2-40B4-BE49-F238E27FC236}">
                <a16:creationId xmlns:a16="http://schemas.microsoft.com/office/drawing/2014/main" id="{F676084E-2B43-4A91-BF9F-B87B4F91C468}"/>
              </a:ext>
            </a:extLst>
          </p:cNvPr>
          <p:cNvSpPr>
            <a:spLocks/>
          </p:cNvSpPr>
          <p:nvPr/>
        </p:nvSpPr>
        <p:spPr>
          <a:xfrm>
            <a:off x="4410710" y="2712085"/>
            <a:ext cx="1279525" cy="110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defTabSz="914400" rtl="0" eaLnBrk="1" latinLnBrk="1" hangingPunct="1">
              <a:buFontTx/>
              <a:buNone/>
            </a:pPr>
            <a:r>
              <a:rPr sz="1200" b="1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산재 정보 목록</a:t>
            </a:r>
            <a:endParaRPr lang="ko-KR" altLang="en-US" sz="1200" b="1">
              <a:solidFill>
                <a:schemeClr val="tx1"/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ctr" defTabSz="914400" rtl="0" eaLnBrk="1" latinLnBrk="1" hangingPunct="1">
              <a:buFontTx/>
              <a:buNone/>
            </a:pPr>
            <a:r>
              <a:rPr lang="ko-KR" sz="1100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별칭1  발생주소</a:t>
            </a:r>
            <a:r>
              <a:rPr sz="1100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별칭2 </a:t>
            </a:r>
            <a:r>
              <a:rPr lang="ko-KR" sz="1100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 </a:t>
            </a:r>
            <a:r>
              <a:rPr sz="1100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발생주소</a:t>
            </a:r>
            <a:endParaRPr lang="ko-KR" altLang="en-US" sz="1100">
              <a:solidFill>
                <a:schemeClr val="tx1"/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ctr" defTabSz="914400" rtl="0" eaLnBrk="1" latinLnBrk="1" hangingPunct="1">
              <a:buFontTx/>
              <a:buNone/>
            </a:pPr>
            <a:r>
              <a:rPr sz="1100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별칭3 </a:t>
            </a:r>
            <a:r>
              <a:rPr lang="ko-KR" sz="1100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 </a:t>
            </a:r>
            <a:r>
              <a:rPr sz="1100">
                <a:solidFill>
                  <a:schemeClr val="tx1"/>
                </a:solidFill>
                <a:latin typeface="맑은 고딕" charset="0"/>
                <a:ea typeface="맑은 고딕" charset="0"/>
                <a:sym typeface="맑은 고딕" charset="0"/>
              </a:rPr>
              <a:t>발생주소</a:t>
            </a:r>
            <a:endParaRPr lang="ko-KR" altLang="en-US" sz="1100">
              <a:solidFill>
                <a:schemeClr val="tx1"/>
              </a:solidFill>
              <a:latin typeface="맑은 고딕" charset="0"/>
              <a:ea typeface="맑은 고딕" charset="0"/>
              <a:sym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6245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62787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체크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0536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486051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551950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7897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66226" y="451272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42867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991116"/>
              </p:ext>
            </p:extLst>
          </p:nvPr>
        </p:nvGraphicFramePr>
        <p:xfrm>
          <a:off x="8603672" y="1180080"/>
          <a:ext cx="3588327" cy="6868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작성시 로그인 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이용가능하게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로그인하라고 사용자에게 인지시키기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띄우고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한번더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사용자에게 인지 시키기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0D4F2ED-1259-46B0-939F-32EF7E4E7E3C}"/>
              </a:ext>
            </a:extLst>
          </p:cNvPr>
          <p:cNvSpPr/>
          <p:nvPr/>
        </p:nvSpPr>
        <p:spPr>
          <a:xfrm>
            <a:off x="425725" y="2326681"/>
            <a:ext cx="7921373" cy="13251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latinLnBrk="1">
              <a:defRPr/>
            </a:pPr>
            <a:endParaRPr lang="ko-KR" altLang="en-US" sz="1200" b="0">
              <a:solidFill>
                <a:schemeClr val="tx1"/>
              </a:solidFill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2341EFB-79CA-45A7-8884-BA6F5A0E4DEA}"/>
              </a:ext>
            </a:extLst>
          </p:cNvPr>
          <p:cNvSpPr/>
          <p:nvPr/>
        </p:nvSpPr>
        <p:spPr>
          <a:xfrm>
            <a:off x="425725" y="2119629"/>
            <a:ext cx="7918834" cy="329629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400" b="1">
                <a:solidFill>
                  <a:schemeClr val="tx1"/>
                </a:solidFill>
              </a:rPr>
              <a:t>리뷰</a:t>
            </a:r>
            <a:endParaRPr lang="en-US" altLang="ko-KR" sz="1050" b="1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DBF3232-4698-4ED0-B40B-34503B402032}"/>
              </a:ext>
            </a:extLst>
          </p:cNvPr>
          <p:cNvSpPr/>
          <p:nvPr/>
        </p:nvSpPr>
        <p:spPr>
          <a:xfrm>
            <a:off x="421561" y="381503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FFB851B-F391-481E-9FB2-15B8A639D684}"/>
              </a:ext>
            </a:extLst>
          </p:cNvPr>
          <p:cNvSpPr/>
          <p:nvPr/>
        </p:nvSpPr>
        <p:spPr>
          <a:xfrm>
            <a:off x="421561" y="437487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39516F0-D188-49F6-BCDD-6A4829E4AB43}"/>
              </a:ext>
            </a:extLst>
          </p:cNvPr>
          <p:cNvSpPr/>
          <p:nvPr/>
        </p:nvSpPr>
        <p:spPr>
          <a:xfrm>
            <a:off x="423185" y="493471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DA00495-5280-4BD8-8B5B-F026814D42CE}"/>
              </a:ext>
            </a:extLst>
          </p:cNvPr>
          <p:cNvSpPr/>
          <p:nvPr/>
        </p:nvSpPr>
        <p:spPr>
          <a:xfrm>
            <a:off x="7358474" y="4680207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B0E3C1E-5323-4936-BE23-C4FE71FABC10}"/>
              </a:ext>
            </a:extLst>
          </p:cNvPr>
          <p:cNvSpPr/>
          <p:nvPr/>
        </p:nvSpPr>
        <p:spPr>
          <a:xfrm>
            <a:off x="7846577" y="467863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00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2659AD7-7A5F-47B2-9FE2-4CBC9D9AE313}"/>
              </a:ext>
            </a:extLst>
          </p:cNvPr>
          <p:cNvSpPr/>
          <p:nvPr/>
        </p:nvSpPr>
        <p:spPr>
          <a:xfrm>
            <a:off x="421562" y="54945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EA88DB4-2845-4B4D-B0D3-E8186E0D2F31}"/>
              </a:ext>
            </a:extLst>
          </p:cNvPr>
          <p:cNvSpPr/>
          <p:nvPr/>
        </p:nvSpPr>
        <p:spPr>
          <a:xfrm>
            <a:off x="2749872" y="6117039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200">
                <a:solidFill>
                  <a:schemeClr val="tx1"/>
                </a:solidFill>
              </a:rPr>
              <a:t>더보기 </a:t>
            </a:r>
          </a:p>
        </p:txBody>
      </p:sp>
      <p:sp>
        <p:nvSpPr>
          <p:cNvPr id="59" name="사각형: 둥근 모서리 11">
            <a:extLst>
              <a:ext uri="{FF2B5EF4-FFF2-40B4-BE49-F238E27FC236}">
                <a16:creationId xmlns:a16="http://schemas.microsoft.com/office/drawing/2014/main" id="{F7C5D9AF-AE27-4B5A-B2B3-E63E7644E76C}"/>
              </a:ext>
            </a:extLst>
          </p:cNvPr>
          <p:cNvSpPr/>
          <p:nvPr/>
        </p:nvSpPr>
        <p:spPr>
          <a:xfrm>
            <a:off x="6714108" y="3277000"/>
            <a:ext cx="1535260" cy="304000"/>
          </a:xfrm>
          <a:prstGeom prst="roundRect">
            <a:avLst>
              <a:gd name="adj" fmla="val 16667"/>
            </a:avLst>
          </a:prstGeom>
          <a:solidFill>
            <a:srgbClr val="0D0D0D">
              <a:alpha val="100000"/>
            </a:srgbClr>
          </a:solidFill>
          <a:ln w="19050" cap="flat" cmpd="sng" algn="ctr">
            <a:solidFill>
              <a:srgbClr val="475E9C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1100" b="0" i="0" u="none" strike="noStrike" kern="1200" cap="none" spc="0" normalizeH="0" baseline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리뷰 등록하기  </a:t>
            </a:r>
          </a:p>
        </p:txBody>
      </p:sp>
      <p:sp>
        <p:nvSpPr>
          <p:cNvPr id="60" name="사각형: 둥근 모서리 12">
            <a:extLst>
              <a:ext uri="{FF2B5EF4-FFF2-40B4-BE49-F238E27FC236}">
                <a16:creationId xmlns:a16="http://schemas.microsoft.com/office/drawing/2014/main" id="{9A64C0CD-DC8B-42BC-B4D0-9876CC898D6E}"/>
              </a:ext>
            </a:extLst>
          </p:cNvPr>
          <p:cNvSpPr/>
          <p:nvPr/>
        </p:nvSpPr>
        <p:spPr>
          <a:xfrm>
            <a:off x="592017" y="2756290"/>
            <a:ext cx="5904298" cy="824709"/>
          </a:xfrm>
          <a:prstGeom prst="roundRect">
            <a:avLst>
              <a:gd name="adj" fmla="val 16667"/>
            </a:avLst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475E9C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lvl="0" indent="0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1500" b="0" i="0" u="none" strike="noStrike" kern="1200" cap="none" spc="0" normalizeH="0" baseline="0">
                <a:solidFill>
                  <a:srgbClr val="A6A6A6"/>
                </a:solidFill>
                <a:latin typeface="Calibri"/>
                <a:ea typeface="맑은 고딕"/>
                <a:cs typeface="맑은 고딕"/>
              </a:rPr>
              <a:t>리뷰를 남기려면 로그인이 필요합니다</a:t>
            </a:r>
            <a:r>
              <a:rPr kumimoji="0" lang="en-US" altLang="ko-KR" sz="1500" b="0" i="0" u="none" strike="noStrike" kern="1200" cap="none" spc="0" normalizeH="0" baseline="0">
                <a:solidFill>
                  <a:srgbClr val="A6A6A6"/>
                </a:solidFill>
                <a:latin typeface="Calibri"/>
                <a:ea typeface="맑은 고딕"/>
                <a:cs typeface="맑은 고딕"/>
              </a:rPr>
              <a:t>.</a:t>
            </a:r>
          </a:p>
        </p:txBody>
      </p:sp>
      <p:sp>
        <p:nvSpPr>
          <p:cNvPr id="61" name="가로 글상자 31">
            <a:extLst>
              <a:ext uri="{FF2B5EF4-FFF2-40B4-BE49-F238E27FC236}">
                <a16:creationId xmlns:a16="http://schemas.microsoft.com/office/drawing/2014/main" id="{1784BA1C-52D5-473B-858B-4D3E15ACE74D}"/>
              </a:ext>
            </a:extLst>
          </p:cNvPr>
          <p:cNvSpPr txBox="1"/>
          <p:nvPr/>
        </p:nvSpPr>
        <p:spPr>
          <a:xfrm>
            <a:off x="592017" y="2491495"/>
            <a:ext cx="6096000" cy="2688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>
                <a:solidFill>
                  <a:schemeClr val="tx1"/>
                </a:solidFill>
              </a:rPr>
              <a:t>💬리뷰</a:t>
            </a:r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19364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324827" y="2522172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42000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637242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수정되었습니다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.alert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창 하나 띄우고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322288" y="2312874"/>
            <a:ext cx="7921374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347819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436794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701990" y="3118771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236214" y="487274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06F99-D362-4090-AD86-DD7068DE8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관리자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7C2874-28AE-4ADB-94E8-446DA2F24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3319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15309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983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관리자의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80081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089312"/>
              </p:ext>
            </p:extLst>
          </p:nvPr>
        </p:nvGraphicFramePr>
        <p:xfrm>
          <a:off x="-1" y="1816922"/>
          <a:ext cx="1677451" cy="5041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451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</a:tblGrid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대시보드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85076"/>
                  </a:ext>
                </a:extLst>
              </a:tr>
              <a:tr h="5514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7208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4347" y="12095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-61255" y="1426597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환영합니다</a:t>
            </a:r>
            <a:r>
              <a:rPr lang="en-US" altLang="ko-KR" sz="1400" dirty="0"/>
              <a:t>, OOO</a:t>
            </a:r>
            <a:r>
              <a:rPr lang="ko-KR" altLang="en-US" sz="1400" dirty="0"/>
              <a:t>님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49098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20240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19239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관리자가 대략적인 회원의 흐름을 한눈에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볼수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있는 페이지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75214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B04F7A-5F4F-ACF6-4C9A-306724CDF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087" y="1778617"/>
            <a:ext cx="6851787" cy="20918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0BE891E-14C3-49E2-A0D3-6971D2F5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767" y="4347563"/>
            <a:ext cx="5686425" cy="2266950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DA1B36-9293-5A12-FC95-955E42D29165}"/>
              </a:ext>
            </a:extLst>
          </p:cNvPr>
          <p:cNvSpPr/>
          <p:nvPr/>
        </p:nvSpPr>
        <p:spPr>
          <a:xfrm>
            <a:off x="2490950" y="3947212"/>
            <a:ext cx="1975770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월별 신규가입 </a:t>
            </a:r>
            <a:r>
              <a:rPr lang="en-US" altLang="ko-KR" sz="1100" b="1" dirty="0">
                <a:solidFill>
                  <a:schemeClr val="tx1"/>
                </a:solidFill>
              </a:rPr>
              <a:t>, </a:t>
            </a:r>
            <a:r>
              <a:rPr lang="ko-KR" altLang="en-US" sz="1100" b="1" dirty="0">
                <a:solidFill>
                  <a:schemeClr val="tx1"/>
                </a:solidFill>
              </a:rPr>
              <a:t>산재등록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5A0615B-3117-5FDB-064C-93CDBBC888D3}"/>
              </a:ext>
            </a:extLst>
          </p:cNvPr>
          <p:cNvSpPr/>
          <p:nvPr/>
        </p:nvSpPr>
        <p:spPr>
          <a:xfrm>
            <a:off x="6638102" y="3929125"/>
            <a:ext cx="1103342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🔴 신규가입 </a:t>
            </a:r>
            <a:endParaRPr lang="en-US" altLang="ko-KR" sz="9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 </a:t>
            </a:r>
            <a:r>
              <a:rPr lang="ko-KR" altLang="en-US" sz="900" b="1" dirty="0">
                <a:solidFill>
                  <a:schemeClr val="tx1"/>
                </a:solidFill>
              </a:rPr>
              <a:t>🔵 산재등록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096FEC-696D-432E-B04C-881E045C0FE2}"/>
              </a:ext>
            </a:extLst>
          </p:cNvPr>
          <p:cNvSpPr/>
          <p:nvPr/>
        </p:nvSpPr>
        <p:spPr>
          <a:xfrm>
            <a:off x="23636" y="1175214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485F2-2C19-4113-B3C1-B643B528AFC5}"/>
              </a:ext>
            </a:extLst>
          </p:cNvPr>
          <p:cNvSpPr/>
          <p:nvPr/>
        </p:nvSpPr>
        <p:spPr>
          <a:xfrm>
            <a:off x="1559303" y="1612559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15983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082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985560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민감한 개인정보를 제외한 회원정보 보여주기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?”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띄어주고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확인하면 회원 삭제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 시 회원 테이블에 탈퇴 상태로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1677451" y="1180081"/>
            <a:ext cx="6926220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5">
            <a:extLst>
              <a:ext uri="{FF2B5EF4-FFF2-40B4-BE49-F238E27FC236}">
                <a16:creationId xmlns:a16="http://schemas.microsoft.com/office/drawing/2014/main" id="{D67916ED-A79E-4F66-9CE9-813C6C03FE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95321"/>
              </p:ext>
            </p:extLst>
          </p:nvPr>
        </p:nvGraphicFramePr>
        <p:xfrm>
          <a:off x="1784655" y="2522483"/>
          <a:ext cx="6690885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177">
                  <a:extLst>
                    <a:ext uri="{9D8B030D-6E8A-4147-A177-3AD203B41FA5}">
                      <a16:colId xmlns:a16="http://schemas.microsoft.com/office/drawing/2014/main" val="3571291480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401191227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3213933534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95023035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2761892074"/>
                    </a:ext>
                  </a:extLst>
                </a:gridCol>
              </a:tblGrid>
              <a:tr h="1508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가입일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216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858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68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2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785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194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DC073A-FCB5-43F4-B7D3-D3AA6E2ABEA5}"/>
              </a:ext>
            </a:extLst>
          </p:cNvPr>
          <p:cNvSpPr txBox="1"/>
          <p:nvPr/>
        </p:nvSpPr>
        <p:spPr>
          <a:xfrm>
            <a:off x="1721594" y="2153151"/>
            <a:ext cx="133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관리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664B6B-7608-4DA3-A674-E6889D539FB4}"/>
              </a:ext>
            </a:extLst>
          </p:cNvPr>
          <p:cNvSpPr/>
          <p:nvPr/>
        </p:nvSpPr>
        <p:spPr>
          <a:xfrm>
            <a:off x="1582628" y="190211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C145F78-D50D-45BD-8856-F599F0C8E354}"/>
              </a:ext>
            </a:extLst>
          </p:cNvPr>
          <p:cNvSpPr/>
          <p:nvPr/>
        </p:nvSpPr>
        <p:spPr>
          <a:xfrm>
            <a:off x="7107128" y="233781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7CB031-D8EC-465E-8958-286F8A3123C4}"/>
              </a:ext>
            </a:extLst>
          </p:cNvPr>
          <p:cNvSpPr/>
          <p:nvPr/>
        </p:nvSpPr>
        <p:spPr>
          <a:xfrm>
            <a:off x="3104444" y="50723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5592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02927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782080"/>
              </p:ext>
            </p:extLst>
          </p:nvPr>
        </p:nvGraphicFramePr>
        <p:xfrm>
          <a:off x="8603672" y="1180080"/>
          <a:ext cx="3588327" cy="5946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산재등록 목록 검색필터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업종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 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업종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발생형태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지역은 사용자가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지역명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일부를 입력만 해도 목록으로 보여주어 선택하는 방식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산재등록 목록 테이블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09B36BA-6DA8-4C53-AFEB-F4E8C821AD97}"/>
              </a:ext>
            </a:extLst>
          </p:cNvPr>
          <p:cNvSpPr txBox="1"/>
          <p:nvPr/>
        </p:nvSpPr>
        <p:spPr>
          <a:xfrm>
            <a:off x="2241103" y="2388096"/>
            <a:ext cx="11338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검색 </a:t>
            </a:r>
            <a:r>
              <a:rPr lang="en-US" altLang="ko-KR" sz="1400" b="1" dirty="0"/>
              <a:t>/ </a:t>
            </a:r>
            <a:r>
              <a:rPr lang="ko-KR" altLang="en-US" sz="1400" b="1" dirty="0"/>
              <a:t>필터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14AB4E91-C744-C53F-5941-BD8F9F4B76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378091"/>
              </p:ext>
            </p:extLst>
          </p:nvPr>
        </p:nvGraphicFramePr>
        <p:xfrm>
          <a:off x="2108199" y="4098303"/>
          <a:ext cx="6203951" cy="1592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154">
                  <a:extLst>
                    <a:ext uri="{9D8B030D-6E8A-4147-A177-3AD203B41FA5}">
                      <a16:colId xmlns:a16="http://schemas.microsoft.com/office/drawing/2014/main" val="290832576"/>
                    </a:ext>
                  </a:extLst>
                </a:gridCol>
                <a:gridCol w="604130">
                  <a:extLst>
                    <a:ext uri="{9D8B030D-6E8A-4147-A177-3AD203B41FA5}">
                      <a16:colId xmlns:a16="http://schemas.microsoft.com/office/drawing/2014/main" val="102188575"/>
                    </a:ext>
                  </a:extLst>
                </a:gridCol>
                <a:gridCol w="772331">
                  <a:extLst>
                    <a:ext uri="{9D8B030D-6E8A-4147-A177-3AD203B41FA5}">
                      <a16:colId xmlns:a16="http://schemas.microsoft.com/office/drawing/2014/main" val="1300920205"/>
                    </a:ext>
                  </a:extLst>
                </a:gridCol>
                <a:gridCol w="1098149">
                  <a:extLst>
                    <a:ext uri="{9D8B030D-6E8A-4147-A177-3AD203B41FA5}">
                      <a16:colId xmlns:a16="http://schemas.microsoft.com/office/drawing/2014/main" val="878541107"/>
                    </a:ext>
                  </a:extLst>
                </a:gridCol>
                <a:gridCol w="669605">
                  <a:extLst>
                    <a:ext uri="{9D8B030D-6E8A-4147-A177-3AD203B41FA5}">
                      <a16:colId xmlns:a16="http://schemas.microsoft.com/office/drawing/2014/main" val="2804284854"/>
                    </a:ext>
                  </a:extLst>
                </a:gridCol>
                <a:gridCol w="721696">
                  <a:extLst>
                    <a:ext uri="{9D8B030D-6E8A-4147-A177-3AD203B41FA5}">
                      <a16:colId xmlns:a16="http://schemas.microsoft.com/office/drawing/2014/main" val="2733423004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614146688"/>
                    </a:ext>
                  </a:extLst>
                </a:gridCol>
                <a:gridCol w="1208260">
                  <a:extLst>
                    <a:ext uri="{9D8B030D-6E8A-4147-A177-3AD203B41FA5}">
                      <a16:colId xmlns:a16="http://schemas.microsoft.com/office/drawing/2014/main" val="1299462405"/>
                    </a:ext>
                  </a:extLst>
                </a:gridCol>
              </a:tblGrid>
              <a:tr h="2383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No.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회원명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</a:t>
                      </a:r>
                      <a:r>
                        <a:rPr lang="en-US" altLang="ko-KR" sz="1100" dirty="0"/>
                        <a:t>1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</a:t>
                      </a:r>
                      <a:r>
                        <a:rPr lang="en-US" altLang="ko-KR" sz="1100" dirty="0"/>
                        <a:t>2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발생형태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질병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발생일자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사고지역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8945175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출판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인쇄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 err="1"/>
                        <a:t>제본업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끼임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우측 손가락 골절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2023-11-01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서울시 강남구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064222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007218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0EEDECB-78EA-210D-B875-6E3AAE6C538E}"/>
              </a:ext>
            </a:extLst>
          </p:cNvPr>
          <p:cNvSpPr txBox="1"/>
          <p:nvPr/>
        </p:nvSpPr>
        <p:spPr>
          <a:xfrm>
            <a:off x="2241103" y="3546917"/>
            <a:ext cx="1894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회원 산재등록 목록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4973300-5F5D-335F-D59D-2BA289995F27}"/>
              </a:ext>
            </a:extLst>
          </p:cNvPr>
          <p:cNvSpPr/>
          <p:nvPr/>
        </p:nvSpPr>
        <p:spPr>
          <a:xfrm>
            <a:off x="1963171" y="254198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90C704-CDD5-9225-24B0-C42371073555}"/>
              </a:ext>
            </a:extLst>
          </p:cNvPr>
          <p:cNvSpPr/>
          <p:nvPr/>
        </p:nvSpPr>
        <p:spPr>
          <a:xfrm>
            <a:off x="1952075" y="387153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FD89E1-8FB4-4D90-AEB3-0FCB6E7756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0626" y="2893355"/>
            <a:ext cx="240484" cy="2404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F2D5A1-ECEF-40E3-8168-83372110D37B}"/>
              </a:ext>
            </a:extLst>
          </p:cNvPr>
          <p:cNvSpPr txBox="1"/>
          <p:nvPr/>
        </p:nvSpPr>
        <p:spPr>
          <a:xfrm>
            <a:off x="1871703" y="1465441"/>
            <a:ext cx="1725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회원 산재 조회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8A418D-5B87-4491-9696-BBCCEEC25654}"/>
              </a:ext>
            </a:extLst>
          </p:cNvPr>
          <p:cNvSpPr/>
          <p:nvPr/>
        </p:nvSpPr>
        <p:spPr>
          <a:xfrm>
            <a:off x="-20489" y="1180080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C14AB-BC62-4AED-98F8-76776A6C58DF}"/>
              </a:ext>
            </a:extLst>
          </p:cNvPr>
          <p:cNvSpPr/>
          <p:nvPr/>
        </p:nvSpPr>
        <p:spPr>
          <a:xfrm>
            <a:off x="3423858" y="60225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76F59C7-8BE9-49A6-9A6D-C051D4A3D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636" y="2796408"/>
            <a:ext cx="1653683" cy="43437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2865650-1794-48C0-AFD8-9204CDDEE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2198" y="2842132"/>
            <a:ext cx="4252328" cy="38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3659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8531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939568"/>
              </p:ext>
            </p:extLst>
          </p:nvPr>
        </p:nvGraphicFramePr>
        <p:xfrm>
          <a:off x="8603672" y="1180080"/>
          <a:ext cx="3588327" cy="5739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회원들이 등록한 리뷰 열람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테이블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상세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열람 하고싶은 리뷰 검색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D2ED75A3-C1B1-6944-2403-D1EC42282AF6}"/>
              </a:ext>
            </a:extLst>
          </p:cNvPr>
          <p:cNvGrpSpPr/>
          <p:nvPr/>
        </p:nvGrpSpPr>
        <p:grpSpPr>
          <a:xfrm>
            <a:off x="2522159" y="2319355"/>
            <a:ext cx="1932137" cy="3822366"/>
            <a:chOff x="308035" y="2064890"/>
            <a:chExt cx="2166717" cy="4621505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DAAD4B23-8DC2-005C-4070-DF563D7B3D78}"/>
                </a:ext>
              </a:extLst>
            </p:cNvPr>
            <p:cNvSpPr/>
            <p:nvPr/>
          </p:nvSpPr>
          <p:spPr>
            <a:xfrm>
              <a:off x="30803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C568FB2-9E67-60F6-B99D-32DF7037BF65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429D88C-05BE-F954-C287-D8E3946D3A94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5F9D515-7146-5D5C-5085-8750F36CBA2A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CF28D879-ADA5-71AF-D313-BF628F642CFA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3FECF496-6E84-5B9A-43FF-5B8F22CC486D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55567B12-B9DC-3980-B9E8-86AE919F40DB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584D4EF-1071-4B10-B0CC-F73DB44CFA1D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A5A20FE6-FCEE-9217-2592-8C2FFD476869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</p:grp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9698B42-7568-0FA7-9E24-99526805BF4E}"/>
              </a:ext>
            </a:extLst>
          </p:cNvPr>
          <p:cNvSpPr/>
          <p:nvPr/>
        </p:nvSpPr>
        <p:spPr>
          <a:xfrm>
            <a:off x="5190309" y="1806681"/>
            <a:ext cx="3040369" cy="37510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E29E2E-B92C-B987-4977-94C6A3C734F0}"/>
              </a:ext>
            </a:extLst>
          </p:cNvPr>
          <p:cNvSpPr/>
          <p:nvPr/>
        </p:nvSpPr>
        <p:spPr>
          <a:xfrm>
            <a:off x="6096000" y="1833019"/>
            <a:ext cx="2058099" cy="31235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검색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B33A41A-DAB7-80E9-153C-9DCC89077478}"/>
              </a:ext>
            </a:extLst>
          </p:cNvPr>
          <p:cNvGrpSpPr/>
          <p:nvPr/>
        </p:nvGrpSpPr>
        <p:grpSpPr>
          <a:xfrm>
            <a:off x="4451009" y="2319356"/>
            <a:ext cx="1805173" cy="3822365"/>
            <a:chOff x="2464455" y="2064890"/>
            <a:chExt cx="2166717" cy="4621505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754E66E-F266-5FE2-AE79-1650855F383C}"/>
                </a:ext>
              </a:extLst>
            </p:cNvPr>
            <p:cNvSpPr/>
            <p:nvPr/>
          </p:nvSpPr>
          <p:spPr>
            <a:xfrm>
              <a:off x="246445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255BF8E-A615-DDC5-43E5-C0FE462BF9AC}"/>
                </a:ext>
              </a:extLst>
            </p:cNvPr>
            <p:cNvSpPr/>
            <p:nvPr/>
          </p:nvSpPr>
          <p:spPr>
            <a:xfrm>
              <a:off x="246636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06AE7E4-C1D4-1389-9542-88E70125085A}"/>
                </a:ext>
              </a:extLst>
            </p:cNvPr>
            <p:cNvSpPr/>
            <p:nvPr/>
          </p:nvSpPr>
          <p:spPr>
            <a:xfrm>
              <a:off x="246636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2C75C338-76F1-107F-42FE-30893B17AD0A}"/>
                </a:ext>
              </a:extLst>
            </p:cNvPr>
            <p:cNvSpPr/>
            <p:nvPr/>
          </p:nvSpPr>
          <p:spPr>
            <a:xfrm>
              <a:off x="246446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513B201C-12D7-5B94-EEC9-7577A7FFFD1B}"/>
                </a:ext>
              </a:extLst>
            </p:cNvPr>
            <p:cNvSpPr/>
            <p:nvPr/>
          </p:nvSpPr>
          <p:spPr>
            <a:xfrm>
              <a:off x="246446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9C9A893-78BC-AA39-79E7-AC119FC8A42A}"/>
                </a:ext>
              </a:extLst>
            </p:cNvPr>
            <p:cNvSpPr/>
            <p:nvPr/>
          </p:nvSpPr>
          <p:spPr>
            <a:xfrm>
              <a:off x="246446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CDDC1614-7D20-DB22-B5AB-52EC0D21EE8B}"/>
                </a:ext>
              </a:extLst>
            </p:cNvPr>
            <p:cNvSpPr/>
            <p:nvPr/>
          </p:nvSpPr>
          <p:spPr>
            <a:xfrm>
              <a:off x="246446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A1450180-0E97-EDBB-B6DB-CB2473798304}"/>
                </a:ext>
              </a:extLst>
            </p:cNvPr>
            <p:cNvSpPr/>
            <p:nvPr/>
          </p:nvSpPr>
          <p:spPr>
            <a:xfrm>
              <a:off x="246446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9FD7DF7-288F-5E0C-233E-08A33F33F418}"/>
                </a:ext>
              </a:extLst>
            </p:cNvPr>
            <p:cNvSpPr/>
            <p:nvPr/>
          </p:nvSpPr>
          <p:spPr>
            <a:xfrm>
              <a:off x="246446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019DC55-76DC-D8C9-E4DE-45000C546144}"/>
              </a:ext>
            </a:extLst>
          </p:cNvPr>
          <p:cNvGrpSpPr/>
          <p:nvPr/>
        </p:nvGrpSpPr>
        <p:grpSpPr>
          <a:xfrm>
            <a:off x="6257882" y="2319355"/>
            <a:ext cx="1974696" cy="3822366"/>
            <a:chOff x="5492884" y="2064890"/>
            <a:chExt cx="2739693" cy="4621505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3DE84B6-AE7B-49EE-1F15-4D101387CB4B}"/>
                </a:ext>
              </a:extLst>
            </p:cNvPr>
            <p:cNvSpPr/>
            <p:nvPr/>
          </p:nvSpPr>
          <p:spPr>
            <a:xfrm>
              <a:off x="5492884" y="2064890"/>
              <a:ext cx="2737787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AFADA21-1195-0074-4616-8C7FC98F6562}"/>
                </a:ext>
              </a:extLst>
            </p:cNvPr>
            <p:cNvSpPr/>
            <p:nvPr/>
          </p:nvSpPr>
          <p:spPr>
            <a:xfrm>
              <a:off x="5494789" y="2334453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DB277293-6632-DFCB-C8C4-E844F28C1BEE}"/>
                </a:ext>
              </a:extLst>
            </p:cNvPr>
            <p:cNvSpPr/>
            <p:nvPr/>
          </p:nvSpPr>
          <p:spPr>
            <a:xfrm>
              <a:off x="5494789" y="2881569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849E0BE9-3CEB-3569-DA93-5B24EC5C7B8E}"/>
                </a:ext>
              </a:extLst>
            </p:cNvPr>
            <p:cNvSpPr/>
            <p:nvPr/>
          </p:nvSpPr>
          <p:spPr>
            <a:xfrm>
              <a:off x="5492890" y="3429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891CB0D1-CB53-9955-F570-197594361061}"/>
                </a:ext>
              </a:extLst>
            </p:cNvPr>
            <p:cNvSpPr/>
            <p:nvPr/>
          </p:nvSpPr>
          <p:spPr>
            <a:xfrm>
              <a:off x="5492890" y="3968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989F8A61-1A2B-9FC1-9BDF-4BDA1B70FF22}"/>
                </a:ext>
              </a:extLst>
            </p:cNvPr>
            <p:cNvSpPr/>
            <p:nvPr/>
          </p:nvSpPr>
          <p:spPr>
            <a:xfrm>
              <a:off x="5492889" y="5062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36E6EC0-31D2-C5AA-2085-03B2D3BD3DC2}"/>
                </a:ext>
              </a:extLst>
            </p:cNvPr>
            <p:cNvSpPr/>
            <p:nvPr/>
          </p:nvSpPr>
          <p:spPr>
            <a:xfrm>
              <a:off x="5492889" y="4515431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7FE787AB-89B3-5A0E-8090-C9A1CCBEDDC9}"/>
                </a:ext>
              </a:extLst>
            </p:cNvPr>
            <p:cNvSpPr/>
            <p:nvPr/>
          </p:nvSpPr>
          <p:spPr>
            <a:xfrm>
              <a:off x="5492889" y="5601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009F39EF-3ED6-7CB6-9A31-074F8DACD801}"/>
                </a:ext>
              </a:extLst>
            </p:cNvPr>
            <p:cNvSpPr/>
            <p:nvPr/>
          </p:nvSpPr>
          <p:spPr>
            <a:xfrm>
              <a:off x="5492889" y="6138964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F529F664-9076-B942-8B0D-C42136881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73" y="1866583"/>
            <a:ext cx="240484" cy="240484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56E72F8-90C8-3C96-739C-DC92FF370D93}"/>
              </a:ext>
            </a:extLst>
          </p:cNvPr>
          <p:cNvSpPr/>
          <p:nvPr/>
        </p:nvSpPr>
        <p:spPr>
          <a:xfrm>
            <a:off x="5561399" y="1833019"/>
            <a:ext cx="544709" cy="312351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필터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59136CD-7C8E-417F-9224-7C9B14E15295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ACBA26F-100D-45B0-AB33-1D16F00DA2EA}"/>
              </a:ext>
            </a:extLst>
          </p:cNvPr>
          <p:cNvGrpSpPr/>
          <p:nvPr/>
        </p:nvGrpSpPr>
        <p:grpSpPr>
          <a:xfrm>
            <a:off x="1676599" y="2319355"/>
            <a:ext cx="846407" cy="3822366"/>
            <a:chOff x="308035" y="2064890"/>
            <a:chExt cx="2166717" cy="4621505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8EA786-74C0-490E-8C98-5574C0D5A021}"/>
                </a:ext>
              </a:extLst>
            </p:cNvPr>
            <p:cNvSpPr/>
            <p:nvPr/>
          </p:nvSpPr>
          <p:spPr>
            <a:xfrm>
              <a:off x="308035" y="2064890"/>
              <a:ext cx="2164810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No.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8B85F1D4-1E92-4B5D-9D2E-C42668C1BB23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954C1F01-5151-4799-AC1F-AFCF6F08C6FF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5AA13D4-937C-46F2-A45B-B04D116D6182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C77251-0CF0-4835-B258-E5DD4DA804E3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F7F0C23-CC3B-4B90-8EA9-C3CAEC8E0FEC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6344F7A-889E-4380-AB03-A57AA30FAE2D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84BFA119-23A3-445B-95FC-29C0BC531693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1958993-0210-432E-9364-616F70932EE4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161556C-9351-4CBC-A78A-949C462371AF}"/>
              </a:ext>
            </a:extLst>
          </p:cNvPr>
          <p:cNvSpPr/>
          <p:nvPr/>
        </p:nvSpPr>
        <p:spPr>
          <a:xfrm>
            <a:off x="1508762" y="208562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98D9849-85D3-4009-AD3F-F70A114BCF36}"/>
              </a:ext>
            </a:extLst>
          </p:cNvPr>
          <p:cNvSpPr/>
          <p:nvPr/>
        </p:nvSpPr>
        <p:spPr>
          <a:xfrm>
            <a:off x="5056217" y="163154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1656F4-56E4-4455-B075-3FCEB399C5DD}"/>
              </a:ext>
            </a:extLst>
          </p:cNvPr>
          <p:cNvSpPr txBox="1"/>
          <p:nvPr/>
        </p:nvSpPr>
        <p:spPr>
          <a:xfrm>
            <a:off x="1722329" y="1465545"/>
            <a:ext cx="1233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DE143C4-36A8-48D7-BC96-BC102D6414DC}"/>
              </a:ext>
            </a:extLst>
          </p:cNvPr>
          <p:cNvSpPr/>
          <p:nvPr/>
        </p:nvSpPr>
        <p:spPr>
          <a:xfrm>
            <a:off x="2956142" y="6405224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60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287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427804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리뷰에 대한 정보를 자세히 알 수 있는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관리 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BAB13593-1D47-439D-0208-56CDE35154DF}"/>
              </a:ext>
            </a:extLst>
          </p:cNvPr>
          <p:cNvSpPr/>
          <p:nvPr/>
        </p:nvSpPr>
        <p:spPr>
          <a:xfrm>
            <a:off x="1544923" y="2108565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ID: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1DAA5C-4A6E-0279-F7AC-903F06149C92}"/>
              </a:ext>
            </a:extLst>
          </p:cNvPr>
          <p:cNvSpPr/>
          <p:nvPr/>
        </p:nvSpPr>
        <p:spPr>
          <a:xfrm>
            <a:off x="1544923" y="2538972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79D7F8-E72E-D61B-AD18-A7B5423AAE47}"/>
              </a:ext>
            </a:extLst>
          </p:cNvPr>
          <p:cNvSpPr/>
          <p:nvPr/>
        </p:nvSpPr>
        <p:spPr>
          <a:xfrm>
            <a:off x="1544923" y="297373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F7147-F621-C3C1-7721-7AB4C78BF49B}"/>
              </a:ext>
            </a:extLst>
          </p:cNvPr>
          <p:cNvSpPr/>
          <p:nvPr/>
        </p:nvSpPr>
        <p:spPr>
          <a:xfrm>
            <a:off x="1277655" y="343159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3504B8-B2AD-E42A-C759-8FCCA5E56F53}"/>
              </a:ext>
            </a:extLst>
          </p:cNvPr>
          <p:cNvSpPr/>
          <p:nvPr/>
        </p:nvSpPr>
        <p:spPr>
          <a:xfrm>
            <a:off x="3265145" y="2058175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68325-A4C9-524A-EE62-42C7168661A5}"/>
              </a:ext>
            </a:extLst>
          </p:cNvPr>
          <p:cNvSpPr/>
          <p:nvPr/>
        </p:nvSpPr>
        <p:spPr>
          <a:xfrm>
            <a:off x="3265145" y="2488583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85B46E-9324-FED2-56F5-1B5F881F0202}"/>
              </a:ext>
            </a:extLst>
          </p:cNvPr>
          <p:cNvSpPr/>
          <p:nvPr/>
        </p:nvSpPr>
        <p:spPr>
          <a:xfrm>
            <a:off x="3265145" y="2909699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186B4-B3F4-AA7E-F0AA-51397BD4E892}"/>
              </a:ext>
            </a:extLst>
          </p:cNvPr>
          <p:cNvSpPr/>
          <p:nvPr/>
        </p:nvSpPr>
        <p:spPr>
          <a:xfrm>
            <a:off x="1697276" y="3802320"/>
            <a:ext cx="6716933" cy="23748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11BE5B9-5EA5-7522-2357-C644713B6667}"/>
              </a:ext>
            </a:extLst>
          </p:cNvPr>
          <p:cNvSpPr/>
          <p:nvPr/>
        </p:nvSpPr>
        <p:spPr>
          <a:xfrm>
            <a:off x="7529305" y="6488055"/>
            <a:ext cx="703277" cy="3266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C9FB096-78E5-1907-8F7F-8153F6570271}"/>
              </a:ext>
            </a:extLst>
          </p:cNvPr>
          <p:cNvSpPr/>
          <p:nvPr/>
        </p:nvSpPr>
        <p:spPr>
          <a:xfrm>
            <a:off x="7396005" y="6412061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1CB8A4-912E-4F2C-86B1-22CEB349C17E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4B2BC-F342-43BC-A7C9-B1C7D5E8B2D9}"/>
              </a:ext>
            </a:extLst>
          </p:cNvPr>
          <p:cNvSpPr txBox="1"/>
          <p:nvPr/>
        </p:nvSpPr>
        <p:spPr>
          <a:xfrm>
            <a:off x="1747381" y="1421704"/>
            <a:ext cx="1517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상세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02DE7B5-11F2-4664-AF9F-75F43C37C620}"/>
              </a:ext>
            </a:extLst>
          </p:cNvPr>
          <p:cNvSpPr/>
          <p:nvPr/>
        </p:nvSpPr>
        <p:spPr>
          <a:xfrm>
            <a:off x="1745274" y="1300723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815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2163</TotalTime>
  <Words>5095</Words>
  <Application>Microsoft Office PowerPoint</Application>
  <PresentationFormat>와이드스크린</PresentationFormat>
  <Paragraphs>1856</Paragraphs>
  <Slides>58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5" baseType="lpstr">
      <vt:lpstr>ui-sans-serif</vt:lpstr>
      <vt:lpstr>맑은 고딕</vt:lpstr>
      <vt:lpstr>맑은 고딕</vt:lpstr>
      <vt:lpstr>Arial</vt:lpstr>
      <vt:lpstr>Calibri</vt:lpstr>
      <vt:lpstr>Consolas</vt:lpstr>
      <vt:lpstr>Office 테마</vt:lpstr>
      <vt:lpstr>스토리보드 산재통계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관리자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157</cp:revision>
  <dcterms:created xsi:type="dcterms:W3CDTF">2025-11-24T01:38:34Z</dcterms:created>
  <dcterms:modified xsi:type="dcterms:W3CDTF">2025-11-30T16:22:32Z</dcterms:modified>
</cp:coreProperties>
</file>