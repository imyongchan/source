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311" r:id="rId3"/>
    <p:sldId id="312" r:id="rId4"/>
    <p:sldId id="313" r:id="rId5"/>
    <p:sldId id="262" r:id="rId6"/>
    <p:sldId id="257" r:id="rId7"/>
    <p:sldId id="266" r:id="rId8"/>
    <p:sldId id="261" r:id="rId9"/>
    <p:sldId id="296" r:id="rId10"/>
    <p:sldId id="306" r:id="rId11"/>
    <p:sldId id="307" r:id="rId12"/>
    <p:sldId id="308" r:id="rId13"/>
    <p:sldId id="267" r:id="rId14"/>
    <p:sldId id="268" r:id="rId15"/>
    <p:sldId id="270" r:id="rId16"/>
    <p:sldId id="271" r:id="rId17"/>
    <p:sldId id="273" r:id="rId18"/>
    <p:sldId id="274" r:id="rId19"/>
    <p:sldId id="310" r:id="rId20"/>
    <p:sldId id="285" r:id="rId21"/>
    <p:sldId id="283" r:id="rId22"/>
    <p:sldId id="278" r:id="rId23"/>
    <p:sldId id="282" r:id="rId24"/>
    <p:sldId id="281" r:id="rId25"/>
    <p:sldId id="294" r:id="rId26"/>
    <p:sldId id="295" r:id="rId27"/>
    <p:sldId id="263" r:id="rId28"/>
    <p:sldId id="265" r:id="rId29"/>
    <p:sldId id="317" r:id="rId30"/>
    <p:sldId id="258" r:id="rId31"/>
    <p:sldId id="318" r:id="rId32"/>
    <p:sldId id="319" r:id="rId33"/>
    <p:sldId id="320" r:id="rId34"/>
    <p:sldId id="321" r:id="rId35"/>
    <p:sldId id="280" r:id="rId36"/>
    <p:sldId id="291" r:id="rId37"/>
    <p:sldId id="326" r:id="rId38"/>
    <p:sldId id="327" r:id="rId39"/>
    <p:sldId id="300" r:id="rId40"/>
    <p:sldId id="328" r:id="rId41"/>
    <p:sldId id="329" r:id="rId42"/>
    <p:sldId id="286" r:id="rId43"/>
    <p:sldId id="292" r:id="rId44"/>
    <p:sldId id="287" r:id="rId45"/>
    <p:sldId id="288" r:id="rId46"/>
    <p:sldId id="290" r:id="rId47"/>
    <p:sldId id="293" r:id="rId48"/>
    <p:sldId id="289" r:id="rId49"/>
    <p:sldId id="302" r:id="rId50"/>
    <p:sldId id="264" r:id="rId51"/>
    <p:sldId id="304" r:id="rId52"/>
    <p:sldId id="314" r:id="rId53"/>
    <p:sldId id="315" r:id="rId54"/>
    <p:sldId id="323" r:id="rId55"/>
    <p:sldId id="322" r:id="rId56"/>
    <p:sldId id="325" r:id="rId57"/>
    <p:sldId id="324" r:id="rId58"/>
    <p:sldId id="297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1011" autoAdjust="0"/>
  </p:normalViewPr>
  <p:slideViewPr>
    <p:cSldViewPr snapToGrid="0">
      <p:cViewPr varScale="1">
        <p:scale>
          <a:sx n="82" d="100"/>
          <a:sy n="82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69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Ref : </a:t>
            </a:r>
            <a:r>
              <a:rPr lang="ko-KR" altLang="en-US" dirty="0" err="1"/>
              <a:t>쿠팡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53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7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56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56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1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0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51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0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5EB4-779A-CFE3-15B8-C6F62366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AB8CE9-37BA-BA3E-02E0-DC29B2811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7A0656-30AF-53E2-E2E8-38DB6A27F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500A1-BE92-09A8-8AE2-3A7055FDC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537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947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2121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7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code.map.daum.net/gui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kosha.or.kr/archive/cent-archive/indust-arch/indust-page1" TargetMode="External"/><Relationship Id="rId2" Type="http://schemas.openxmlformats.org/officeDocument/2006/relationships/hyperlink" Target="http://sanjaenew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wel.or.kr/comwel/medi/orsc.jsp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comwel.or.kr/comwel/medi/orsc.jsp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A063F-D905-4937-8ABC-3A50C4DF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11D5-FA4D-468B-9D94-5167DC12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API</a:t>
            </a:r>
          </a:p>
          <a:p>
            <a:r>
              <a:rPr lang="ko-KR" altLang="en-US" dirty="0" err="1"/>
              <a:t>크롤링</a:t>
            </a:r>
            <a:endParaRPr lang="en-US" altLang="ko-KR" dirty="0"/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메인</a:t>
            </a:r>
            <a:endParaRPr lang="en-US" altLang="ko-KR" dirty="0"/>
          </a:p>
          <a:p>
            <a:r>
              <a:rPr lang="ko-KR" altLang="en-US" dirty="0"/>
              <a:t>소개</a:t>
            </a:r>
            <a:endParaRPr lang="en-US" altLang="ko-KR" dirty="0"/>
          </a:p>
          <a:p>
            <a:r>
              <a:rPr lang="ko-KR" altLang="en-US" dirty="0"/>
              <a:t>회원가입</a:t>
            </a:r>
            <a:endParaRPr lang="en-US" altLang="ko-KR" dirty="0"/>
          </a:p>
          <a:p>
            <a:r>
              <a:rPr lang="ko-KR" altLang="en-US" dirty="0"/>
              <a:t>마이페이지</a:t>
            </a:r>
            <a:endParaRPr lang="en-US" altLang="ko-KR" dirty="0"/>
          </a:p>
          <a:p>
            <a:r>
              <a:rPr lang="ko-KR" altLang="en-US" dirty="0"/>
              <a:t>산재 뉴스</a:t>
            </a:r>
            <a:endParaRPr lang="en-US" altLang="ko-KR" dirty="0"/>
          </a:p>
          <a:p>
            <a:r>
              <a:rPr lang="ko-KR" altLang="en-US" dirty="0"/>
              <a:t>산재 통계</a:t>
            </a:r>
            <a:endParaRPr lang="en-US" altLang="ko-KR" dirty="0"/>
          </a:p>
          <a:p>
            <a:r>
              <a:rPr lang="ko-KR" altLang="en-US" dirty="0"/>
              <a:t>안전 자료실</a:t>
            </a:r>
            <a:endParaRPr lang="en-US" altLang="ko-KR" dirty="0"/>
          </a:p>
          <a:p>
            <a:r>
              <a:rPr lang="ko-KR" altLang="en-US" dirty="0"/>
              <a:t>주변 산재 검색</a:t>
            </a:r>
            <a:endParaRPr lang="en-US" altLang="ko-KR" dirty="0"/>
          </a:p>
          <a:p>
            <a:r>
              <a:rPr lang="ko-KR" altLang="en-US" dirty="0"/>
              <a:t>주변 병원 검색</a:t>
            </a:r>
            <a:endParaRPr lang="en-US" altLang="ko-KR" dirty="0"/>
          </a:p>
          <a:p>
            <a:r>
              <a:rPr lang="ko-KR" altLang="en-US" dirty="0"/>
              <a:t>관리자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2BFFE-C749-4DA6-89A4-9465C7BA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EACF3-F952-44E5-A6E6-8E02014F2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44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1800" dirty="0" err="1"/>
              <a:t>Daum</a:t>
            </a:r>
            <a:r>
              <a:rPr lang="en-US" altLang="ko-KR" sz="1800" dirty="0"/>
              <a:t> </a:t>
            </a:r>
            <a:r>
              <a:rPr lang="ko-KR" altLang="en-US" sz="1800" dirty="0"/>
              <a:t>주소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800" dirty="0">
                <a:hlinkClick r:id="rId2"/>
              </a:rPr>
              <a:t>https://postcode.map.daum.net/guide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 err="1"/>
              <a:t>KakaoMap</a:t>
            </a:r>
            <a:r>
              <a:rPr lang="en-US" altLang="ko-KR" sz="1800" dirty="0"/>
              <a:t> 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https://dapi.kakao.com/v2/local/search/address.json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 err="1"/>
              <a:t>산업재해수</a:t>
            </a:r>
            <a:r>
              <a:rPr lang="ko-KR" altLang="en-US" sz="1800" dirty="0"/>
              <a:t>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https://safemap.go.kr/opna/data/dataView.do?objtId=178</a:t>
            </a:r>
          </a:p>
          <a:p>
            <a:endParaRPr lang="en-US" altLang="ko-KR" sz="1800" dirty="0"/>
          </a:p>
          <a:p>
            <a:r>
              <a:rPr lang="en-US" altLang="ko-KR" sz="1800" dirty="0" err="1"/>
              <a:t>Kosis</a:t>
            </a:r>
            <a:r>
              <a:rPr lang="en-US" altLang="ko-KR" sz="1800" dirty="0"/>
              <a:t> API(</a:t>
            </a:r>
            <a:r>
              <a:rPr lang="ko-KR" altLang="en-US" sz="1800" dirty="0"/>
              <a:t>고용노동통계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dirty="0"/>
              <a:t>ttps://laborstat.moel.go.kr/hmp/tblInfo/TblInfoList.do?menuId=0010001100101102&amp;leftMenuId=0010001100101&amp;vwCdVal=MT_PTITLE&amp;upListVal=118_905</a:t>
            </a:r>
          </a:p>
          <a:p>
            <a:endParaRPr lang="en-US" altLang="ko-KR" sz="1800" dirty="0"/>
          </a:p>
          <a:p>
            <a:r>
              <a:rPr lang="ko-KR" altLang="en-US" sz="1800" dirty="0"/>
              <a:t>산재지정병원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https://www.safemap.go.kr/</a:t>
            </a:r>
          </a:p>
        </p:txBody>
      </p:sp>
    </p:spTree>
    <p:extLst>
      <p:ext uri="{BB962C8B-B14F-4D97-AF65-F5344CB8AC3E}">
        <p14:creationId xmlns:p14="http://schemas.microsoft.com/office/powerpoint/2010/main" val="34163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8C647-197F-472C-8D93-CE75798E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2527-23FB-4DE3-B932-CAEAC3F5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산재뉴스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2"/>
              </a:rPr>
              <a:t>http://sanjaenews.co.kr/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산업안전포털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https://portal.kosha.or.kr/archive/cent-archive/indust-arch/indust-page1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산재지정 의료기관 찾기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https://www.comwel.or.kr/comwel/medi/orsc.jsp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2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3FC1E-53BF-41EE-A318-AAEAA378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</a:t>
            </a:r>
            <a:r>
              <a:rPr lang="en-US" altLang="ko-KR" dirty="0"/>
              <a:t>, </a:t>
            </a:r>
            <a:r>
              <a:rPr lang="ko-KR" altLang="en-US" dirty="0"/>
              <a:t>헤더</a:t>
            </a:r>
          </a:p>
        </p:txBody>
      </p:sp>
    </p:spTree>
    <p:extLst>
      <p:ext uri="{BB962C8B-B14F-4D97-AF65-F5344CB8AC3E}">
        <p14:creationId xmlns:p14="http://schemas.microsoft.com/office/powerpoint/2010/main" val="36065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8745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8532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72296"/>
              </p:ext>
            </p:extLst>
          </p:nvPr>
        </p:nvGraphicFramePr>
        <p:xfrm>
          <a:off x="351394" y="2687320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4192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42645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aphicFrame>
        <p:nvGraphicFramePr>
          <p:cNvPr id="3" name="표 57">
            <a:extLst>
              <a:ext uri="{FF2B5EF4-FFF2-40B4-BE49-F238E27FC236}">
                <a16:creationId xmlns:a16="http://schemas.microsoft.com/office/drawing/2014/main" id="{259FD06B-23EF-0599-4590-327A5C86C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54310"/>
              </p:ext>
            </p:extLst>
          </p:nvPr>
        </p:nvGraphicFramePr>
        <p:xfrm>
          <a:off x="238125" y="3002942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5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6320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홈페이지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181123"/>
              </p:ext>
            </p:extLst>
          </p:nvPr>
        </p:nvGraphicFramePr>
        <p:xfrm>
          <a:off x="8603672" y="1180080"/>
          <a:ext cx="3588327" cy="6129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연령대별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(21~23)3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년의 정보를 가져온다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연령별 재해 현황 분석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업종별 재해 현황 분석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재해현황 분석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t_</a:t>
                      </a:r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</a:t>
            </a:r>
            <a:r>
              <a:rPr lang="en-US" altLang="ko-KR" dirty="0"/>
              <a:t>30</a:t>
            </a:r>
            <a:r>
              <a:rPr lang="ko-KR" altLang="en-US" dirty="0"/>
              <a:t>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</a:t>
            </a:r>
            <a:r>
              <a:rPr lang="en-US" altLang="ko-KR" dirty="0"/>
              <a:t>40</a:t>
            </a:r>
            <a:r>
              <a:rPr lang="ko-KR" altLang="en-US" dirty="0"/>
              <a:t>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</a:t>
            </a:r>
            <a:r>
              <a:rPr lang="en-US" altLang="ko-KR" dirty="0"/>
              <a:t>10</a:t>
            </a:r>
            <a:r>
              <a:rPr lang="ko-KR" altLang="en-US" dirty="0"/>
              <a:t>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137F5-25C4-47E8-9076-F86F4A43A415}"/>
              </a:ext>
            </a:extLst>
          </p:cNvPr>
          <p:cNvSpPr txBox="1"/>
          <p:nvPr/>
        </p:nvSpPr>
        <p:spPr>
          <a:xfrm>
            <a:off x="6876138" y="3288288"/>
            <a:ext cx="9206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2021~2023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F29B-5EAE-4EF4-B67A-285B6D13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9992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891987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070155"/>
              </p:ext>
            </p:extLst>
          </p:nvPr>
        </p:nvGraphicFramePr>
        <p:xfrm>
          <a:off x="8603672" y="1180080"/>
          <a:ext cx="3588327" cy="6205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문제점 제기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산재지정병원 탐색 필요성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공공 데이터들이 흩어져 있어서 일반인이 한눈에 보기 쉽지 않음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D7493-845A-5A34-EDD4-CE1F2AE0D169}"/>
              </a:ext>
            </a:extLst>
          </p:cNvPr>
          <p:cNvSpPr txBox="1"/>
          <p:nvPr/>
        </p:nvSpPr>
        <p:spPr>
          <a:xfrm>
            <a:off x="1988709" y="3199895"/>
            <a:ext cx="510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/>
              <a:t>“</a:t>
            </a:r>
            <a:r>
              <a:rPr lang="ko-KR" altLang="en-US" sz="1200" i="1" dirty="0"/>
              <a:t>상단 히어로 메시지</a:t>
            </a:r>
            <a:r>
              <a:rPr lang="en-US" altLang="ko-KR" i="1" dirty="0"/>
              <a:t>”</a:t>
            </a:r>
            <a:endParaRPr lang="ko-KR" alt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988709" y="3880539"/>
            <a:ext cx="1778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문제점 제기 및 필요성</a:t>
            </a:r>
            <a:r>
              <a:rPr lang="en-US" altLang="ko-KR" sz="1200" dirty="0"/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F22088-3EF5-3EE3-1326-11B0FAA08CB0}"/>
              </a:ext>
            </a:extLst>
          </p:cNvPr>
          <p:cNvSpPr/>
          <p:nvPr/>
        </p:nvSpPr>
        <p:spPr>
          <a:xfrm>
            <a:off x="218122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AF7D5B-2D91-E6F2-9869-197009B5EB1A}"/>
              </a:ext>
            </a:extLst>
          </p:cNvPr>
          <p:cNvSpPr/>
          <p:nvPr/>
        </p:nvSpPr>
        <p:spPr>
          <a:xfrm>
            <a:off x="556760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F4B62-0D36-B8F2-7937-ECF51238964A}"/>
              </a:ext>
            </a:extLst>
          </p:cNvPr>
          <p:cNvSpPr/>
          <p:nvPr/>
        </p:nvSpPr>
        <p:spPr>
          <a:xfrm>
            <a:off x="387441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5AF1F-57ED-D7D1-E81A-F464B44AF0CE}"/>
              </a:ext>
            </a:extLst>
          </p:cNvPr>
          <p:cNvSpPr txBox="1"/>
          <p:nvPr/>
        </p:nvSpPr>
        <p:spPr>
          <a:xfrm>
            <a:off x="6800689" y="3019927"/>
            <a:ext cx="79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상단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95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35105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28790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그룹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텍스트로  사용자 그룹 표현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사용자의 니즈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서비스의 핵심 가치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정도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846640" y="2975301"/>
            <a:ext cx="1467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사용자 그룹</a:t>
            </a:r>
            <a:r>
              <a:rPr lang="en-US" altLang="ko-KR" sz="1200" dirty="0"/>
              <a:t>)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DECF4B-FB88-DEAA-6A8B-93CB7F31512A}"/>
              </a:ext>
            </a:extLst>
          </p:cNvPr>
          <p:cNvGrpSpPr/>
          <p:nvPr/>
        </p:nvGrpSpPr>
        <p:grpSpPr>
          <a:xfrm>
            <a:off x="2228526" y="3349810"/>
            <a:ext cx="1270004" cy="1561764"/>
            <a:chOff x="2453042" y="4143237"/>
            <a:chExt cx="1142809" cy="125793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14A3C1B-CB6D-902D-61AB-E3D84E668A8C}"/>
                </a:ext>
              </a:extLst>
            </p:cNvPr>
            <p:cNvSpPr/>
            <p:nvPr/>
          </p:nvSpPr>
          <p:spPr>
            <a:xfrm>
              <a:off x="2453042" y="4143237"/>
              <a:ext cx="1142809" cy="1257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852921-ABFD-1500-4C8B-86236D7D141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94DBB3-A2FA-694A-E55D-1D7E895863CE}"/>
                </a:ext>
              </a:extLst>
            </p:cNvPr>
            <p:cNvSpPr txBox="1"/>
            <p:nvPr/>
          </p:nvSpPr>
          <p:spPr>
            <a:xfrm>
              <a:off x="2557444" y="5091946"/>
              <a:ext cx="970977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현장근로자</a:t>
              </a:r>
              <a:endParaRPr lang="en-US" altLang="ko-KR" sz="1100" dirty="0"/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983DAD-3034-4CDC-6075-1BF5E00A8FD3}"/>
              </a:ext>
            </a:extLst>
          </p:cNvPr>
          <p:cNvGrpSpPr/>
          <p:nvPr/>
        </p:nvGrpSpPr>
        <p:grpSpPr>
          <a:xfrm>
            <a:off x="3913271" y="3351047"/>
            <a:ext cx="1270004" cy="1623403"/>
            <a:chOff x="2453042" y="4143237"/>
            <a:chExt cx="1142809" cy="13075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AE64E4-B5BF-9505-2D48-5B00168AD965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538D15-5F67-CE89-A2FC-C577E0707A2F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A37EF5-1FBC-5CCD-3402-BA6F61693D57}"/>
                </a:ext>
              </a:extLst>
            </p:cNvPr>
            <p:cNvSpPr txBox="1"/>
            <p:nvPr/>
          </p:nvSpPr>
          <p:spPr>
            <a:xfrm>
              <a:off x="2534858" y="5103759"/>
              <a:ext cx="979176" cy="347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안전관리자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851BE6-984C-7E75-0DB1-F574A5BA5BA3}"/>
              </a:ext>
            </a:extLst>
          </p:cNvPr>
          <p:cNvGrpSpPr/>
          <p:nvPr/>
        </p:nvGrpSpPr>
        <p:grpSpPr>
          <a:xfrm>
            <a:off x="5554990" y="3342670"/>
            <a:ext cx="1270004" cy="1568904"/>
            <a:chOff x="2453042" y="4143237"/>
            <a:chExt cx="1142809" cy="126368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CFB9AE-4FE9-24D5-F6B7-B22C4C3CDEB0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0F61FD0-8806-9B42-DFFA-B60D84A9F1E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20C170-914A-89E9-A17D-EE72489AEFC0}"/>
                </a:ext>
              </a:extLst>
            </p:cNvPr>
            <p:cNvSpPr txBox="1"/>
            <p:nvPr/>
          </p:nvSpPr>
          <p:spPr>
            <a:xfrm>
              <a:off x="2564152" y="5107422"/>
              <a:ext cx="979176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기업운영자</a:t>
              </a:r>
              <a:r>
                <a:rPr lang="en-US" altLang="ko-KR" sz="1100" dirty="0"/>
                <a:t>?</a:t>
              </a:r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E9302BC-7211-14E0-CA44-1E4AF9F0B064}"/>
              </a:ext>
            </a:extLst>
          </p:cNvPr>
          <p:cNvSpPr/>
          <p:nvPr/>
        </p:nvSpPr>
        <p:spPr>
          <a:xfrm>
            <a:off x="1996746" y="5184180"/>
            <a:ext cx="5205333" cy="98747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1592F9-C3C7-42DA-774D-06C88220C778}"/>
              </a:ext>
            </a:extLst>
          </p:cNvPr>
          <p:cNvSpPr txBox="1"/>
          <p:nvPr/>
        </p:nvSpPr>
        <p:spPr>
          <a:xfrm>
            <a:off x="2100691" y="5317363"/>
            <a:ext cx="1602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서비스 핵심 가치</a:t>
            </a:r>
            <a:r>
              <a:rPr lang="en-US" altLang="ko-KR" sz="1000" dirty="0"/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83D8C6-83FE-24F7-6D7F-124FE29DCFD2}"/>
              </a:ext>
            </a:extLst>
          </p:cNvPr>
          <p:cNvSpPr/>
          <p:nvPr/>
        </p:nvSpPr>
        <p:spPr>
          <a:xfrm>
            <a:off x="1901204" y="514457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2132277" y="321269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9919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5334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5279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주요 기능 목록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글머리 기호로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맞춤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산재찾기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산재통계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핵심기능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58001-D440-132C-BBFD-C6770682E9A4}"/>
              </a:ext>
            </a:extLst>
          </p:cNvPr>
          <p:cNvSpPr txBox="1"/>
          <p:nvPr/>
        </p:nvSpPr>
        <p:spPr>
          <a:xfrm>
            <a:off x="1887074" y="3057146"/>
            <a:ext cx="447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맞춤 통계 분석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안전교육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병원</a:t>
            </a:r>
            <a:r>
              <a:rPr lang="en-US" altLang="ko-KR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주변 산재 찾기까지</a:t>
            </a:r>
            <a:br>
              <a:rPr lang="ko-KR" altLang="en-US" sz="1000" dirty="0"/>
            </a:b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산업재해 예방과 대응을 한 번에 지원하는 주요 기능 영역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F95A50-882B-0024-7961-2C5C3B8C7332}"/>
              </a:ext>
            </a:extLst>
          </p:cNvPr>
          <p:cNvSpPr/>
          <p:nvPr/>
        </p:nvSpPr>
        <p:spPr>
          <a:xfrm>
            <a:off x="1953269" y="3603421"/>
            <a:ext cx="5182821" cy="23448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주요 기능 목록</a:t>
            </a:r>
          </a:p>
        </p:txBody>
      </p:sp>
    </p:spTree>
    <p:extLst>
      <p:ext uri="{BB962C8B-B14F-4D97-AF65-F5344CB8AC3E}">
        <p14:creationId xmlns:p14="http://schemas.microsoft.com/office/powerpoint/2010/main" val="68701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778E-7188-4F1F-AB93-AD3E279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67874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90921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69559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필수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형식 불일치시 경고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불일치시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검증 및 경고 처리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Aouth2.0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사용하여 소셜 로그인 처리 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회원정보 입력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3" y="2477648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3" y="311293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16918" y="3876993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425371"/>
            <a:ext cx="3732952" cy="1197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44D87-566B-4E30-809D-CA99A406C50A}"/>
              </a:ext>
            </a:extLst>
          </p:cNvPr>
          <p:cNvSpPr/>
          <p:nvPr/>
        </p:nvSpPr>
        <p:spPr>
          <a:xfrm>
            <a:off x="1469738" y="200084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6C8EB-8B40-4603-9E57-BE9B8EB002FB}"/>
              </a:ext>
            </a:extLst>
          </p:cNvPr>
          <p:cNvSpPr/>
          <p:nvPr/>
        </p:nvSpPr>
        <p:spPr>
          <a:xfrm>
            <a:off x="2334253" y="37950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21DCC-A22D-46F1-9C1D-F366349E0EEE}"/>
              </a:ext>
            </a:extLst>
          </p:cNvPr>
          <p:cNvSpPr/>
          <p:nvPr/>
        </p:nvSpPr>
        <p:spPr>
          <a:xfrm>
            <a:off x="3412838" y="48092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C9E68D-AFE1-4BFC-AEE7-DAF47391613F}"/>
              </a:ext>
            </a:extLst>
          </p:cNvPr>
          <p:cNvSpPr/>
          <p:nvPr/>
        </p:nvSpPr>
        <p:spPr>
          <a:xfrm>
            <a:off x="3146138" y="549919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6D7D3-4A83-414D-9820-9F79F25387D7}"/>
              </a:ext>
            </a:extLst>
          </p:cNvPr>
          <p:cNvSpPr txBox="1"/>
          <p:nvPr/>
        </p:nvSpPr>
        <p:spPr>
          <a:xfrm>
            <a:off x="2344849" y="2794449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AB1AD-7B38-4FE5-AC2C-C4AA756355A4}"/>
              </a:ext>
            </a:extLst>
          </p:cNvPr>
          <p:cNvSpPr txBox="1"/>
          <p:nvPr/>
        </p:nvSpPr>
        <p:spPr>
          <a:xfrm>
            <a:off x="2325799" y="3390628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</p:spTree>
    <p:extLst>
      <p:ext uri="{BB962C8B-B14F-4D97-AF65-F5344CB8AC3E}">
        <p14:creationId xmlns:p14="http://schemas.microsoft.com/office/powerpoint/2010/main" val="237242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611973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615439"/>
              </p:ext>
            </p:extLst>
          </p:nvPr>
        </p:nvGraphicFramePr>
        <p:xfrm>
          <a:off x="8603672" y="1180081"/>
          <a:ext cx="3588327" cy="5692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5789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122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58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입력과 일치하는지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검증이 끝난 후 회원 정보 입력 페이지로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이때 아이디와 비밀번호를 세션에 임시 저장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766926" y="3047266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766926" y="3604689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766926" y="4139950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A5394-222E-4B20-990B-4B80333505B6}"/>
              </a:ext>
            </a:extLst>
          </p:cNvPr>
          <p:cNvSpPr txBox="1"/>
          <p:nvPr/>
        </p:nvSpPr>
        <p:spPr>
          <a:xfrm>
            <a:off x="3646114" y="2325222"/>
            <a:ext cx="131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6A91C-B512-49AC-8A5D-62BBD3B8871A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로그인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A042A-CDDB-4C42-BC10-28E8BB579AD8}"/>
              </a:ext>
            </a:extLst>
          </p:cNvPr>
          <p:cNvSpPr txBox="1"/>
          <p:nvPr/>
        </p:nvSpPr>
        <p:spPr>
          <a:xfrm>
            <a:off x="1479883" y="3024800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E41F9-0CE6-486D-B12C-250CF15C4FF7}"/>
              </a:ext>
            </a:extLst>
          </p:cNvPr>
          <p:cNvSpPr txBox="1"/>
          <p:nvPr/>
        </p:nvSpPr>
        <p:spPr>
          <a:xfrm>
            <a:off x="1479883" y="3573863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45AC5-BE13-4D3D-B1EC-BB53E135AAB8}"/>
              </a:ext>
            </a:extLst>
          </p:cNvPr>
          <p:cNvSpPr txBox="1"/>
          <p:nvPr/>
        </p:nvSpPr>
        <p:spPr>
          <a:xfrm>
            <a:off x="1479883" y="4129294"/>
            <a:ext cx="1221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확인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86AEC-BACE-4E9F-98D3-A76BA8A8AD37}"/>
              </a:ext>
            </a:extLst>
          </p:cNvPr>
          <p:cNvSpPr txBox="1"/>
          <p:nvPr/>
        </p:nvSpPr>
        <p:spPr>
          <a:xfrm>
            <a:off x="2664489" y="3243367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D37CE4-2181-44AD-8775-60E8CE18EF2B}"/>
              </a:ext>
            </a:extLst>
          </p:cNvPr>
          <p:cNvSpPr txBox="1"/>
          <p:nvPr/>
        </p:nvSpPr>
        <p:spPr>
          <a:xfrm>
            <a:off x="2672508" y="3833671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EED28-96FC-4ACF-AE39-1A1432668DC5}"/>
              </a:ext>
            </a:extLst>
          </p:cNvPr>
          <p:cNvSpPr txBox="1"/>
          <p:nvPr/>
        </p:nvSpPr>
        <p:spPr>
          <a:xfrm>
            <a:off x="2664038" y="437082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비밀번호와 일치하지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D009AD-B77E-4DEB-9190-6ECEFD60B17A}"/>
              </a:ext>
            </a:extLst>
          </p:cNvPr>
          <p:cNvSpPr/>
          <p:nvPr/>
        </p:nvSpPr>
        <p:spPr>
          <a:xfrm>
            <a:off x="1291765" y="1924248"/>
            <a:ext cx="604148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013DA3-6237-4279-A332-3E0C49F859F5}"/>
              </a:ext>
            </a:extLst>
          </p:cNvPr>
          <p:cNvSpPr/>
          <p:nvPr/>
        </p:nvSpPr>
        <p:spPr>
          <a:xfrm>
            <a:off x="2882815" y="5184304"/>
            <a:ext cx="1727023" cy="3057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53071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9978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회원정보 입력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68967"/>
              </p:ext>
            </p:extLst>
          </p:nvPr>
        </p:nvGraphicFramePr>
        <p:xfrm>
          <a:off x="8603672" y="1180084"/>
          <a:ext cx="3588327" cy="567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66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35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567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생년월일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가입하기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가입처리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주소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주소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8761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생년월일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150146" y="494357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336065" y="497907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539505" y="506768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531710" y="507001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145960" y="494357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68DD7-4E8B-4BBD-A857-DD37D146E612}"/>
              </a:ext>
            </a:extLst>
          </p:cNvPr>
          <p:cNvSpPr txBox="1"/>
          <p:nvPr/>
        </p:nvSpPr>
        <p:spPr>
          <a:xfrm>
            <a:off x="5109357" y="3320399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C10335B-097D-474A-B788-09D54C8D91DB}"/>
              </a:ext>
            </a:extLst>
          </p:cNvPr>
          <p:cNvSpPr/>
          <p:nvPr/>
        </p:nvSpPr>
        <p:spPr>
          <a:xfrm>
            <a:off x="4396994" y="5806901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</p:spTree>
    <p:extLst>
      <p:ext uri="{BB962C8B-B14F-4D97-AF65-F5344CB8AC3E}">
        <p14:creationId xmlns:p14="http://schemas.microsoft.com/office/powerpoint/2010/main" val="15380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51815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29771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안내메시지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회원가입이 완료되었습니다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2958960" y="3692625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2876294" y="360623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6410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1769-84F3-4125-BF36-06860012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252675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4513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8147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페이지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비밀번호를 한번 더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입력받아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보안 강화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11833"/>
              </p:ext>
            </p:extLst>
          </p:nvPr>
        </p:nvGraphicFramePr>
        <p:xfrm>
          <a:off x="150407" y="25666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회원정보수정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725F475-DADC-4201-8502-4CE1E0F30F2C}"/>
              </a:ext>
            </a:extLst>
          </p:cNvPr>
          <p:cNvSpPr/>
          <p:nvPr/>
        </p:nvSpPr>
        <p:spPr>
          <a:xfrm>
            <a:off x="0" y="2252284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0771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476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정보 수정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922120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3640568" y="439114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비밀번호를 입력해 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615044" y="3939706"/>
            <a:ext cx="1170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비밀번호 입력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2607649" y="4365210"/>
            <a:ext cx="792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비밀번호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6C185-7B11-49F8-87A9-C10087A26C10}"/>
              </a:ext>
            </a:extLst>
          </p:cNvPr>
          <p:cNvSpPr txBox="1"/>
          <p:nvPr/>
        </p:nvSpPr>
        <p:spPr>
          <a:xfrm>
            <a:off x="1913021" y="2953753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개인정보보호를 위하여 비밀번호 확인 후 회원정보의 관리</a:t>
            </a:r>
            <a:r>
              <a:rPr lang="en-US" altLang="ko-KR" sz="1000" dirty="0"/>
              <a:t>/</a:t>
            </a:r>
            <a:r>
              <a:rPr lang="ko-KR" altLang="en-US" sz="1000" dirty="0"/>
              <a:t>변경이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2C969-2945-4717-B0D6-64CE71C017A1}"/>
              </a:ext>
            </a:extLst>
          </p:cNvPr>
          <p:cNvSpPr txBox="1"/>
          <p:nvPr/>
        </p:nvSpPr>
        <p:spPr>
          <a:xfrm>
            <a:off x="1913021" y="3221010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아래 비밀번호 입력란에 비밀번호 입력 후 </a:t>
            </a:r>
            <a:r>
              <a:rPr lang="en-US" altLang="ko-KR" sz="1000" dirty="0"/>
              <a:t>“</a:t>
            </a:r>
            <a:r>
              <a:rPr lang="ko-KR" altLang="en-US" sz="1000" dirty="0"/>
              <a:t>비밀번호 확인</a:t>
            </a:r>
            <a:r>
              <a:rPr lang="en-US" altLang="ko-KR" sz="1000" dirty="0"/>
              <a:t>＂</a:t>
            </a:r>
            <a:r>
              <a:rPr lang="ko-KR" altLang="en-US" sz="1000" dirty="0"/>
              <a:t>을 클릭하세요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4908E-5715-42CA-870E-90E87CB5F8C5}"/>
              </a:ext>
            </a:extLst>
          </p:cNvPr>
          <p:cNvSpPr/>
          <p:nvPr/>
        </p:nvSpPr>
        <p:spPr>
          <a:xfrm>
            <a:off x="3525253" y="5143500"/>
            <a:ext cx="1822784" cy="388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확인</a:t>
            </a:r>
          </a:p>
        </p:txBody>
      </p:sp>
    </p:spTree>
    <p:extLst>
      <p:ext uri="{BB962C8B-B14F-4D97-AF65-F5344CB8AC3E}">
        <p14:creationId xmlns:p14="http://schemas.microsoft.com/office/powerpoint/2010/main" val="239092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7203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603022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 및 변경 폼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변경하기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반영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8F802F4-A8C9-4B4E-B6F6-E38022758E7F}"/>
              </a:ext>
            </a:extLst>
          </p:cNvPr>
          <p:cNvSpPr/>
          <p:nvPr/>
        </p:nvSpPr>
        <p:spPr>
          <a:xfrm>
            <a:off x="2541016" y="27565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사람이름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675A5D-4200-4BAE-95E9-064E79E8C195}"/>
              </a:ext>
            </a:extLst>
          </p:cNvPr>
          <p:cNvSpPr txBox="1"/>
          <p:nvPr/>
        </p:nvSpPr>
        <p:spPr>
          <a:xfrm>
            <a:off x="1648658" y="1950007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4D44AB-C61A-4C49-AAB8-AEC430108C8D}"/>
              </a:ext>
            </a:extLst>
          </p:cNvPr>
          <p:cNvSpPr/>
          <p:nvPr/>
        </p:nvSpPr>
        <p:spPr>
          <a:xfrm>
            <a:off x="2535543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주소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12600E-7909-45A3-BC19-16A48B258D6B}"/>
              </a:ext>
            </a:extLst>
          </p:cNvPr>
          <p:cNvSpPr/>
          <p:nvPr/>
        </p:nvSpPr>
        <p:spPr>
          <a:xfrm>
            <a:off x="2535542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없이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r>
              <a:rPr lang="ko-KR" altLang="en-US" sz="1200" dirty="0">
                <a:solidFill>
                  <a:schemeClr val="tx1"/>
                </a:solidFill>
              </a:rPr>
              <a:t>자리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ACD65-A086-40B6-B9D2-F7A2D0BF801C}"/>
              </a:ext>
            </a:extLst>
          </p:cNvPr>
          <p:cNvSpPr txBox="1"/>
          <p:nvPr/>
        </p:nvSpPr>
        <p:spPr>
          <a:xfrm>
            <a:off x="1659237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3A32F4-231E-4B8C-A983-320F8AF9B482}"/>
              </a:ext>
            </a:extLst>
          </p:cNvPr>
          <p:cNvSpPr txBox="1"/>
          <p:nvPr/>
        </p:nvSpPr>
        <p:spPr>
          <a:xfrm>
            <a:off x="1648659" y="37351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70D253-0578-41DC-9742-6E40188DAED4}"/>
              </a:ext>
            </a:extLst>
          </p:cNvPr>
          <p:cNvSpPr txBox="1"/>
          <p:nvPr/>
        </p:nvSpPr>
        <p:spPr>
          <a:xfrm>
            <a:off x="1679460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9B0FE0B-4CBA-4999-9829-C64C832A97DD}"/>
              </a:ext>
            </a:extLst>
          </p:cNvPr>
          <p:cNvSpPr/>
          <p:nvPr/>
        </p:nvSpPr>
        <p:spPr>
          <a:xfrm>
            <a:off x="5391859" y="27526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생년월일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263F7DC-4037-47D8-803C-BD6E4F72BF65}"/>
              </a:ext>
            </a:extLst>
          </p:cNvPr>
          <p:cNvSpPr/>
          <p:nvPr/>
        </p:nvSpPr>
        <p:spPr>
          <a:xfrm>
            <a:off x="5392002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주소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9848021-6995-4E33-B4F0-8C890A8EED4C}"/>
              </a:ext>
            </a:extLst>
          </p:cNvPr>
          <p:cNvSpPr/>
          <p:nvPr/>
        </p:nvSpPr>
        <p:spPr>
          <a:xfrm>
            <a:off x="5392001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A2CE04-5E42-4A75-B15F-BB0CB8B9C88F}"/>
              </a:ext>
            </a:extLst>
          </p:cNvPr>
          <p:cNvSpPr txBox="1"/>
          <p:nvPr/>
        </p:nvSpPr>
        <p:spPr>
          <a:xfrm>
            <a:off x="4515695" y="2730638"/>
            <a:ext cx="9476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생년월일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3477B-25B0-492E-A4F0-2E99191FE305}"/>
              </a:ext>
            </a:extLst>
          </p:cNvPr>
          <p:cNvSpPr txBox="1"/>
          <p:nvPr/>
        </p:nvSpPr>
        <p:spPr>
          <a:xfrm>
            <a:off x="4505117" y="37351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195720-E57A-4D2B-9C72-0371BA12B92C}"/>
              </a:ext>
            </a:extLst>
          </p:cNvPr>
          <p:cNvSpPr txBox="1"/>
          <p:nvPr/>
        </p:nvSpPr>
        <p:spPr>
          <a:xfrm>
            <a:off x="4535919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3517B5-F8CB-42E3-B1E8-C461ED0DFE6C}"/>
              </a:ext>
            </a:extLst>
          </p:cNvPr>
          <p:cNvSpPr txBox="1"/>
          <p:nvPr/>
        </p:nvSpPr>
        <p:spPr>
          <a:xfrm>
            <a:off x="2486723" y="29978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8607E8-FF34-42C8-A626-3FBFEBECB100}"/>
              </a:ext>
            </a:extLst>
          </p:cNvPr>
          <p:cNvSpPr txBox="1"/>
          <p:nvPr/>
        </p:nvSpPr>
        <p:spPr>
          <a:xfrm>
            <a:off x="2517525" y="40177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81BE78-3DCF-4D39-BF29-C0F4B4FDEABF}"/>
              </a:ext>
            </a:extLst>
          </p:cNvPr>
          <p:cNvSpPr txBox="1"/>
          <p:nvPr/>
        </p:nvSpPr>
        <p:spPr>
          <a:xfrm>
            <a:off x="5323057" y="40142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ED9DA0B-D090-4CE0-8E66-A657DBA4D894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1E2AB2-B455-417D-8006-466B8E6C37A8}"/>
              </a:ext>
            </a:extLst>
          </p:cNvPr>
          <p:cNvSpPr txBox="1"/>
          <p:nvPr/>
        </p:nvSpPr>
        <p:spPr>
          <a:xfrm>
            <a:off x="6404146" y="507788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0F7B02-E565-4C23-B4BA-CB85E1D72D96}"/>
              </a:ext>
            </a:extLst>
          </p:cNvPr>
          <p:cNvSpPr txBox="1"/>
          <p:nvPr/>
        </p:nvSpPr>
        <p:spPr>
          <a:xfrm>
            <a:off x="4590065" y="511338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73" name="원형: 비어 있음 72">
            <a:extLst>
              <a:ext uri="{FF2B5EF4-FFF2-40B4-BE49-F238E27FC236}">
                <a16:creationId xmlns:a16="http://schemas.microsoft.com/office/drawing/2014/main" id="{D8A32403-414B-4CF2-8589-5B5412E403E7}"/>
              </a:ext>
            </a:extLst>
          </p:cNvPr>
          <p:cNvSpPr/>
          <p:nvPr/>
        </p:nvSpPr>
        <p:spPr>
          <a:xfrm>
            <a:off x="5793505" y="520199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원형: 비어 있음 73">
            <a:extLst>
              <a:ext uri="{FF2B5EF4-FFF2-40B4-BE49-F238E27FC236}">
                <a16:creationId xmlns:a16="http://schemas.microsoft.com/office/drawing/2014/main" id="{AD71D93F-603C-4BED-9603-9BB8F823C409}"/>
              </a:ext>
            </a:extLst>
          </p:cNvPr>
          <p:cNvSpPr/>
          <p:nvPr/>
        </p:nvSpPr>
        <p:spPr>
          <a:xfrm>
            <a:off x="6785710" y="520432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634AEE-7053-4544-B6DB-11130347E3C9}"/>
              </a:ext>
            </a:extLst>
          </p:cNvPr>
          <p:cNvSpPr txBox="1"/>
          <p:nvPr/>
        </p:nvSpPr>
        <p:spPr>
          <a:xfrm>
            <a:off x="5399960" y="507788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A7636D3-9752-4D85-B0CF-4E4C8618F4C9}"/>
              </a:ext>
            </a:extLst>
          </p:cNvPr>
          <p:cNvSpPr/>
          <p:nvPr/>
        </p:nvSpPr>
        <p:spPr>
          <a:xfrm>
            <a:off x="2548343" y="231300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37B149-9DD5-4C48-842D-F358323A7C73}"/>
              </a:ext>
            </a:extLst>
          </p:cNvPr>
          <p:cNvSpPr txBox="1"/>
          <p:nvPr/>
        </p:nvSpPr>
        <p:spPr>
          <a:xfrm>
            <a:off x="1666563" y="2287068"/>
            <a:ext cx="76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899B1A-FE19-458A-9F00-F2B42D180A87}"/>
              </a:ext>
            </a:extLst>
          </p:cNvPr>
          <p:cNvSpPr/>
          <p:nvPr/>
        </p:nvSpPr>
        <p:spPr>
          <a:xfrm>
            <a:off x="2163029" y="5677920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변경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5EF232-B36C-4D27-B422-714DD6C035A0}"/>
              </a:ext>
            </a:extLst>
          </p:cNvPr>
          <p:cNvSpPr/>
          <p:nvPr/>
        </p:nvSpPr>
        <p:spPr>
          <a:xfrm>
            <a:off x="4363947" y="5678481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E7A3B-08CE-4AE7-B7E4-E56C5D640F9E}"/>
              </a:ext>
            </a:extLst>
          </p:cNvPr>
          <p:cNvSpPr txBox="1"/>
          <p:nvPr/>
        </p:nvSpPr>
        <p:spPr>
          <a:xfrm>
            <a:off x="5323057" y="298688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24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30328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360950"/>
              </p:ext>
            </p:extLst>
          </p:nvPr>
        </p:nvGraphicFramePr>
        <p:xfrm>
          <a:off x="8603672" y="1180083"/>
          <a:ext cx="3588327" cy="5690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43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354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929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정보가져와서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 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기능으로 삭제 여부 결정하기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669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추가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리스트에서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된 목록 삭제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1825777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추가하기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1675370" y="544195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1DF89397-2A0C-41C5-BF63-94BFCC09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81391"/>
              </p:ext>
            </p:extLst>
          </p:nvPr>
        </p:nvGraphicFramePr>
        <p:xfrm>
          <a:off x="1675370" y="3183933"/>
          <a:ext cx="5495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80">
                  <a:extLst>
                    <a:ext uri="{9D8B030D-6E8A-4147-A177-3AD203B41FA5}">
                      <a16:colId xmlns:a16="http://schemas.microsoft.com/office/drawing/2014/main" val="3149353794"/>
                    </a:ext>
                  </a:extLst>
                </a:gridCol>
                <a:gridCol w="471520">
                  <a:extLst>
                    <a:ext uri="{9D8B030D-6E8A-4147-A177-3AD203B41FA5}">
                      <a16:colId xmlns:a16="http://schemas.microsoft.com/office/drawing/2014/main" val="3974470729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68747978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840738960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032703914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30516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재해일자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질병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5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2024-12-30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진폐증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3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2024-09-30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2024-07-30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찢어짐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9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2024-04-30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76614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EBA8D50-D7BE-4102-83D8-ABFD0740C103}"/>
              </a:ext>
            </a:extLst>
          </p:cNvPr>
          <p:cNvSpPr/>
          <p:nvPr/>
        </p:nvSpPr>
        <p:spPr>
          <a:xfrm>
            <a:off x="4455939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삭제하기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F1216A5-DF98-4A5F-9688-B1DBF163D13A}"/>
              </a:ext>
            </a:extLst>
          </p:cNvPr>
          <p:cNvSpPr/>
          <p:nvPr/>
        </p:nvSpPr>
        <p:spPr>
          <a:xfrm>
            <a:off x="2652028" y="5211266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4136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입력 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458135"/>
              </p:ext>
            </p:extLst>
          </p:nvPr>
        </p:nvGraphicFramePr>
        <p:xfrm>
          <a:off x="8603672" y="1180082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5187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0777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270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1: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광업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제조업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건설업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2: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중분류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에 따라 바뀜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광업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석탄광업 및 채석업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석회석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금속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비금속광업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9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기타광업</a:t>
                      </a:r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질병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모두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Radio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질병 텍스트가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disable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되고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질병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발생형태 텍스트가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disable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 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모두를 선택시에는 둘 다 입력해야 한다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발생주소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다음주소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447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1202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</a:t>
            </a:r>
            <a:r>
              <a:rPr lang="ko-KR" altLang="en-US" sz="1100" b="1"/>
              <a:t>정보 입력</a:t>
            </a:r>
            <a:endParaRPr lang="ko-KR" altLang="en-US" sz="1100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81462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1472235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발생형태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814626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EFE5CA5-578B-425C-A594-811BFD7A077D}"/>
              </a:ext>
            </a:extLst>
          </p:cNvPr>
          <p:cNvSpPr/>
          <p:nvPr/>
        </p:nvSpPr>
        <p:spPr>
          <a:xfrm>
            <a:off x="2281543" y="331696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78ADDEF-1924-41EE-9977-5C53768B90A0}"/>
              </a:ext>
            </a:extLst>
          </p:cNvPr>
          <p:cNvSpPr/>
          <p:nvPr/>
        </p:nvSpPr>
        <p:spPr>
          <a:xfrm>
            <a:off x="5137859" y="332318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C7CF6-8420-40A9-91B6-9B154B5B42EA}"/>
              </a:ext>
            </a:extLst>
          </p:cNvPr>
          <p:cNvSpPr txBox="1"/>
          <p:nvPr/>
        </p:nvSpPr>
        <p:spPr>
          <a:xfrm>
            <a:off x="4319864" y="330231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중분류</a:t>
            </a:r>
            <a:r>
              <a:rPr lang="en-US" altLang="ko-KR" sz="1000" dirty="0"/>
              <a:t>2 :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9152C-C274-4842-B44E-91F10111CA5D}"/>
              </a:ext>
            </a:extLst>
          </p:cNvPr>
          <p:cNvSpPr txBox="1"/>
          <p:nvPr/>
        </p:nvSpPr>
        <p:spPr>
          <a:xfrm>
            <a:off x="1351916" y="331696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중분류</a:t>
            </a:r>
            <a:r>
              <a:rPr lang="en-US" altLang="ko-KR" sz="1000" dirty="0"/>
              <a:t>1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CEE9-71E0-4C35-9A1C-5D190BF390B2}"/>
              </a:ext>
            </a:extLst>
          </p:cNvPr>
          <p:cNvSpPr txBox="1"/>
          <p:nvPr/>
        </p:nvSpPr>
        <p:spPr>
          <a:xfrm>
            <a:off x="2778671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질병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E5A9285-C8BC-4B5C-ACB6-FD7FBE5B1562}"/>
              </a:ext>
            </a:extLst>
          </p:cNvPr>
          <p:cNvSpPr/>
          <p:nvPr/>
        </p:nvSpPr>
        <p:spPr>
          <a:xfrm>
            <a:off x="2281543" y="438852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B13C94-89F5-452E-A5F5-A9A3573347FE}"/>
              </a:ext>
            </a:extLst>
          </p:cNvPr>
          <p:cNvSpPr/>
          <p:nvPr/>
        </p:nvSpPr>
        <p:spPr>
          <a:xfrm>
            <a:off x="3323359" y="438852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AFBE759-03EC-4886-A843-EA52EECC313E}"/>
              </a:ext>
            </a:extLst>
          </p:cNvPr>
          <p:cNvSpPr/>
          <p:nvPr/>
        </p:nvSpPr>
        <p:spPr>
          <a:xfrm>
            <a:off x="5157300" y="381462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F9FB7-303C-4A87-ADF1-B3C74B31FBA7}"/>
              </a:ext>
            </a:extLst>
          </p:cNvPr>
          <p:cNvSpPr txBox="1"/>
          <p:nvPr/>
        </p:nvSpPr>
        <p:spPr>
          <a:xfrm>
            <a:off x="4319864" y="3785320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발생주소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74D1D3-04FB-44D7-9B5D-07DCB85EF524}"/>
              </a:ext>
            </a:extLst>
          </p:cNvPr>
          <p:cNvSpPr txBox="1"/>
          <p:nvPr/>
        </p:nvSpPr>
        <p:spPr>
          <a:xfrm>
            <a:off x="3772490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모두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2E5DAE2-EA55-47D3-BF46-1B80185F281B}"/>
              </a:ext>
            </a:extLst>
          </p:cNvPr>
          <p:cNvSpPr/>
          <p:nvPr/>
        </p:nvSpPr>
        <p:spPr>
          <a:xfrm>
            <a:off x="4317178" y="438852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B15B32D-1D50-4498-82C5-447EFD06662F}"/>
              </a:ext>
            </a:extLst>
          </p:cNvPr>
          <p:cNvSpPr/>
          <p:nvPr/>
        </p:nvSpPr>
        <p:spPr>
          <a:xfrm>
            <a:off x="2281543" y="299068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CC3E69-3BD3-41C2-A50A-66D37AAE957D}"/>
              </a:ext>
            </a:extLst>
          </p:cNvPr>
          <p:cNvSpPr txBox="1"/>
          <p:nvPr/>
        </p:nvSpPr>
        <p:spPr>
          <a:xfrm>
            <a:off x="1351916" y="299068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 별칭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30" name="Rect 0">
            <a:extLst>
              <a:ext uri="{FF2B5EF4-FFF2-40B4-BE49-F238E27FC236}">
                <a16:creationId xmlns:a16="http://schemas.microsoft.com/office/drawing/2014/main" id="{520684DD-EB2E-405A-9AB9-240CC24931F2}"/>
              </a:ext>
            </a:extLst>
          </p:cNvPr>
          <p:cNvSpPr>
            <a:spLocks/>
          </p:cNvSpPr>
          <p:nvPr/>
        </p:nvSpPr>
        <p:spPr>
          <a:xfrm>
            <a:off x="1528445" y="4686935"/>
            <a:ext cx="1878330" cy="2178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sz="1000" dirty="0" err="1">
                <a:solidFill>
                  <a:schemeClr val="bg2">
                    <a:lumMod val="75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발생형태</a:t>
            </a:r>
            <a:r>
              <a:rPr sz="1000" dirty="0">
                <a:solidFill>
                  <a:schemeClr val="bg2">
                    <a:lumMod val="75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  </a:t>
            </a:r>
            <a:r>
              <a:rPr sz="1000" dirty="0" err="1">
                <a:solidFill>
                  <a:schemeClr val="bg2">
                    <a:lumMod val="75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카테고리</a:t>
            </a:r>
            <a:r>
              <a:rPr sz="1000" dirty="0">
                <a:solidFill>
                  <a:schemeClr val="bg2">
                    <a:lumMod val="75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(select)</a:t>
            </a:r>
            <a:endParaRPr lang="ko-KR" altLang="en-US" sz="1000" dirty="0">
              <a:solidFill>
                <a:schemeClr val="bg2">
                  <a:lumMod val="75000"/>
                </a:schemeClr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1" name="Rect 0">
            <a:extLst>
              <a:ext uri="{FF2B5EF4-FFF2-40B4-BE49-F238E27FC236}">
                <a16:creationId xmlns:a16="http://schemas.microsoft.com/office/drawing/2014/main" id="{0D6B436B-7B9F-41F3-8993-301B1F5CD14B}"/>
              </a:ext>
            </a:extLst>
          </p:cNvPr>
          <p:cNvSpPr>
            <a:spLocks/>
          </p:cNvSpPr>
          <p:nvPr/>
        </p:nvSpPr>
        <p:spPr>
          <a:xfrm>
            <a:off x="1528445" y="5093335"/>
            <a:ext cx="1878330" cy="2178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endParaRPr lang="ko-KR" altLang="en-US" sz="1000">
              <a:solidFill>
                <a:schemeClr val="bg2">
                  <a:lumMod val="75000"/>
                </a:schemeClr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algn="l" defTabSz="914400" rtl="0" eaLnBrk="1" latinLnBrk="1" hangingPunct="1">
              <a:buFontTx/>
              <a:buNone/>
            </a:pPr>
            <a:r>
              <a:rPr sz="1000">
                <a:solidFill>
                  <a:schemeClr val="bg2">
                    <a:lumMod val="75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질병형태 카테고리(select) </a:t>
            </a:r>
            <a:endParaRPr lang="ko-KR" altLang="en-US" sz="1000">
              <a:solidFill>
                <a:schemeClr val="bg2">
                  <a:lumMod val="75000"/>
                </a:schemeClr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algn="l" defTabSz="914400" rtl="0" eaLnBrk="1" latinLnBrk="1" hangingPunct="1">
              <a:buFontTx/>
              <a:buNone/>
            </a:pPr>
            <a:endParaRPr lang="ko-KR" altLang="en-US" sz="1200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342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65385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96336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탈퇴 안내 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탈퇴시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초기화 및 세션처리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탈퇴하기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3788F-0E37-44EA-A62E-A555E27F6F69}"/>
              </a:ext>
            </a:extLst>
          </p:cNvPr>
          <p:cNvSpPr txBox="1"/>
          <p:nvPr/>
        </p:nvSpPr>
        <p:spPr>
          <a:xfrm>
            <a:off x="2249905" y="2803358"/>
            <a:ext cx="40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탈퇴 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37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060C0-231F-48B5-97C7-6C5EC2DF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뉴스</a:t>
            </a:r>
          </a:p>
        </p:txBody>
      </p:sp>
    </p:spTree>
    <p:extLst>
      <p:ext uri="{BB962C8B-B14F-4D97-AF65-F5344CB8AC3E}">
        <p14:creationId xmlns:p14="http://schemas.microsoft.com/office/powerpoint/2010/main" val="3304940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1386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89154"/>
              </p:ext>
            </p:extLst>
          </p:nvPr>
        </p:nvGraphicFramePr>
        <p:xfrm>
          <a:off x="8603672" y="1180080"/>
          <a:ext cx="3588327" cy="6149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70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41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226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기사이미지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뉴스 링크 저장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정보 가져와 화면에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원본 뉴스 링크를 타고 페이지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간단 내용은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LLM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비동기로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기사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145624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329286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4A70A1D-A872-3F76-0E98-5DB1B4239256}"/>
              </a:ext>
            </a:extLst>
          </p:cNvPr>
          <p:cNvSpPr/>
          <p:nvPr/>
        </p:nvSpPr>
        <p:spPr>
          <a:xfrm>
            <a:off x="518562" y="3408107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202031-CF92-B844-8F4F-D42B89D773B0}"/>
              </a:ext>
            </a:extLst>
          </p:cNvPr>
          <p:cNvSpPr/>
          <p:nvPr/>
        </p:nvSpPr>
        <p:spPr>
          <a:xfrm>
            <a:off x="518562" y="4601148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16DA03-25A6-4438-B5D8-9E3264DCE2F3}"/>
              </a:ext>
            </a:extLst>
          </p:cNvPr>
          <p:cNvSpPr/>
          <p:nvPr/>
        </p:nvSpPr>
        <p:spPr>
          <a:xfrm>
            <a:off x="138553" y="1829520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0CD243-7955-4DE0-A39E-B3D903DD0F75}"/>
              </a:ext>
            </a:extLst>
          </p:cNvPr>
          <p:cNvSpPr/>
          <p:nvPr/>
        </p:nvSpPr>
        <p:spPr>
          <a:xfrm>
            <a:off x="439368" y="2143903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845C53-3EB1-4749-A31C-BFE34420A83E}"/>
              </a:ext>
            </a:extLst>
          </p:cNvPr>
          <p:cNvSpPr/>
          <p:nvPr/>
        </p:nvSpPr>
        <p:spPr>
          <a:xfrm>
            <a:off x="439368" y="3328974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F2C791-417C-4781-962A-60D7AB8A5A33}"/>
              </a:ext>
            </a:extLst>
          </p:cNvPr>
          <p:cNvSpPr/>
          <p:nvPr/>
        </p:nvSpPr>
        <p:spPr>
          <a:xfrm>
            <a:off x="424649" y="4499500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D4480C-E441-46C0-B4C5-CA6D606E9EBD}"/>
              </a:ext>
            </a:extLst>
          </p:cNvPr>
          <p:cNvSpPr/>
          <p:nvPr/>
        </p:nvSpPr>
        <p:spPr>
          <a:xfrm>
            <a:off x="2601216" y="5625122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684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9E5A-9610-427A-A1C0-C72FDD0A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통계</a:t>
            </a:r>
          </a:p>
        </p:txBody>
      </p:sp>
    </p:spTree>
    <p:extLst>
      <p:ext uri="{BB962C8B-B14F-4D97-AF65-F5344CB8AC3E}">
        <p14:creationId xmlns:p14="http://schemas.microsoft.com/office/powerpoint/2010/main" val="338383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4212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6891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416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3174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873343"/>
              </p:ext>
            </p:extLst>
          </p:nvPr>
        </p:nvGraphicFramePr>
        <p:xfrm>
          <a:off x="8603672" y="1180081"/>
          <a:ext cx="3588327" cy="5499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910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DB,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산재정보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회원업종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에서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정보를 찾아 회원 프로필에 이름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업종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(2),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성별  명시 </a:t>
                      </a: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정보선택을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회원이 등록한 산재정보 목록 표시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(2),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발생형태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질병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드랍다운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 기간에 따른 통계 자료 변경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(Button)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분석기간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관련 통계 집계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128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198513" y="2008787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4757392" y="2745007"/>
            <a:ext cx="275130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C2A0EA-B3AE-AEC2-CE98-2376622D571B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A71B6-598E-4F09-AF55-AECC68AE0278}"/>
              </a:ext>
            </a:extLst>
          </p:cNvPr>
          <p:cNvSpPr txBox="1"/>
          <p:nvPr/>
        </p:nvSpPr>
        <p:spPr>
          <a:xfrm>
            <a:off x="1971492" y="4304949"/>
            <a:ext cx="41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분석을 시작하려면 기간을 선택하세요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22FFAF-E532-0FA7-2D39-ACC91267F496}"/>
              </a:ext>
            </a:extLst>
          </p:cNvPr>
          <p:cNvSpPr/>
          <p:nvPr/>
        </p:nvSpPr>
        <p:spPr>
          <a:xfrm>
            <a:off x="6673212" y="2364788"/>
            <a:ext cx="144991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나의 산재 선택하기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F51771-E44A-953D-0C91-B6EE8EF0AC9C}"/>
              </a:ext>
            </a:extLst>
          </p:cNvPr>
          <p:cNvSpPr/>
          <p:nvPr/>
        </p:nvSpPr>
        <p:spPr>
          <a:xfrm>
            <a:off x="6502952" y="2244942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603588-83E3-4A6D-A5D8-CB95D5D6551D}"/>
              </a:ext>
            </a:extLst>
          </p:cNvPr>
          <p:cNvSpPr/>
          <p:nvPr/>
        </p:nvSpPr>
        <p:spPr>
          <a:xfrm>
            <a:off x="5972914" y="1423667"/>
            <a:ext cx="2323490" cy="9485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100" dirty="0">
                <a:solidFill>
                  <a:schemeClr val="tx1"/>
                </a:solidFill>
              </a:rPr>
              <a:t>업종</a:t>
            </a:r>
            <a:r>
              <a:rPr lang="en-US" altLang="ko-KR" sz="1100" dirty="0">
                <a:solidFill>
                  <a:schemeClr val="tx1"/>
                </a:solidFill>
              </a:rPr>
              <a:t>(2)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ㅣ발생형태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ㅣ</a:t>
            </a:r>
            <a:r>
              <a:rPr lang="ko-KR" altLang="en-US" sz="1100" dirty="0">
                <a:solidFill>
                  <a:schemeClr val="tx1"/>
                </a:solidFill>
              </a:rPr>
              <a:t> 질병</a:t>
            </a:r>
          </a:p>
          <a:p>
            <a:pPr lvl="0" algn="ctr">
              <a:defRPr/>
            </a:pPr>
            <a:r>
              <a:rPr lang="en-US" altLang="ko-KR" sz="1100" dirty="0">
                <a:solidFill>
                  <a:schemeClr val="tx1"/>
                </a:solidFill>
              </a:rPr>
              <a:t>-----------------------------------------</a:t>
            </a:r>
          </a:p>
          <a:p>
            <a:pPr lvl="0" algn="ctr">
              <a:defRPr/>
            </a:pPr>
            <a:r>
              <a:rPr lang="ko-KR" altLang="en-US" sz="1100" dirty="0">
                <a:solidFill>
                  <a:schemeClr val="tx1"/>
                </a:solidFill>
              </a:rPr>
              <a:t>건설업</a:t>
            </a:r>
            <a:r>
              <a:rPr lang="en-US" altLang="ko-KR" sz="1100" dirty="0">
                <a:solidFill>
                  <a:schemeClr val="tx1"/>
                </a:solidFill>
              </a:rPr>
              <a:t>l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>
                <a:solidFill>
                  <a:schemeClr val="tx1"/>
                </a:solidFill>
              </a:rPr>
              <a:t>넘어짐  </a:t>
            </a:r>
            <a:r>
              <a:rPr lang="en-US" altLang="ko-KR" sz="1100" dirty="0">
                <a:solidFill>
                  <a:schemeClr val="tx1"/>
                </a:solidFill>
              </a:rPr>
              <a:t>l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-</a:t>
            </a:r>
          </a:p>
          <a:p>
            <a:pPr lvl="0" algn="ctr">
              <a:defRPr/>
            </a:pPr>
            <a:r>
              <a:rPr lang="ko-KR" altLang="en-US" sz="1100" dirty="0">
                <a:solidFill>
                  <a:schemeClr val="tx1"/>
                </a:solidFill>
              </a:rPr>
              <a:t>건설업</a:t>
            </a:r>
            <a:r>
              <a:rPr lang="en-US" altLang="ko-KR" sz="1100" dirty="0">
                <a:solidFill>
                  <a:schemeClr val="tx1"/>
                </a:solidFill>
              </a:rPr>
              <a:t>l</a:t>
            </a:r>
            <a:r>
              <a:rPr lang="ko-KR" altLang="en-US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>
                <a:solidFill>
                  <a:schemeClr val="tx1"/>
                </a:solidFill>
              </a:rPr>
              <a:t>-</a:t>
            </a:r>
            <a:r>
              <a:rPr lang="ko-KR" altLang="en-US" sz="1100" dirty="0" err="1">
                <a:solidFill>
                  <a:schemeClr val="tx1"/>
                </a:solidFill>
              </a:rPr>
              <a:t>ㅣ소음난청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18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149F63A-B17E-6964-404B-4C602586C571}"/>
              </a:ext>
            </a:extLst>
          </p:cNvPr>
          <p:cNvSpPr/>
          <p:nvPr/>
        </p:nvSpPr>
        <p:spPr>
          <a:xfrm>
            <a:off x="336077" y="3509181"/>
            <a:ext cx="1928120" cy="28555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재해율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재해율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77588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333200"/>
              </p:ext>
            </p:extLst>
          </p:nvPr>
        </p:nvGraphicFramePr>
        <p:xfrm>
          <a:off x="8603672" y="1180081"/>
          <a:ext cx="3588327" cy="5837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(Button)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따른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통계 집계 및  시각화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보면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년도별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통계분석 가능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재해율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재해유형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사망유형 집계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198511" y="3412727"/>
            <a:ext cx="275129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2DBE83A-2468-082E-E62C-120CB5D082A9}"/>
              </a:ext>
            </a:extLst>
          </p:cNvPr>
          <p:cNvSpPr/>
          <p:nvPr/>
        </p:nvSpPr>
        <p:spPr>
          <a:xfrm>
            <a:off x="2505517" y="3509182"/>
            <a:ext cx="1793000" cy="28555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사망률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사망률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5AD99E9-1106-2DE1-BFF9-4C62DCC8B6C9}"/>
              </a:ext>
            </a:extLst>
          </p:cNvPr>
          <p:cNvSpPr/>
          <p:nvPr/>
        </p:nvSpPr>
        <p:spPr>
          <a:xfrm>
            <a:off x="4491707" y="3523820"/>
            <a:ext cx="1796876" cy="284088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 재해유형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많이 다친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DF171BC-877A-C50D-B47E-1BB2EA327636}"/>
              </a:ext>
            </a:extLst>
          </p:cNvPr>
          <p:cNvSpPr/>
          <p:nvPr/>
        </p:nvSpPr>
        <p:spPr>
          <a:xfrm>
            <a:off x="6481773" y="3475693"/>
            <a:ext cx="1796877" cy="284088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사망유형 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많은 사망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772986" y="2716711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D0C3FE3-BB76-E61C-C52C-1978DD221B9E}"/>
              </a:ext>
            </a:extLst>
          </p:cNvPr>
          <p:cNvSpPr/>
          <p:nvPr/>
        </p:nvSpPr>
        <p:spPr>
          <a:xfrm>
            <a:off x="6592551" y="2345429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정보 선택 </a:t>
            </a:r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17730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재해현황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재해현황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사망현황 통계시각화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3182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760F890-669F-145E-F1AB-86374C6FFF03}"/>
              </a:ext>
            </a:extLst>
          </p:cNvPr>
          <p:cNvSpPr/>
          <p:nvPr/>
        </p:nvSpPr>
        <p:spPr>
          <a:xfrm>
            <a:off x="601290" y="1925053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재해현황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55732EC-A2B8-5CCF-ACC4-8F7E33B6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93" y="2573520"/>
            <a:ext cx="2338100" cy="1242049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F467F7-275E-3FE4-8C28-6DD2949F0BFE}"/>
              </a:ext>
            </a:extLst>
          </p:cNvPr>
          <p:cNvSpPr/>
          <p:nvPr/>
        </p:nvSpPr>
        <p:spPr>
          <a:xfrm>
            <a:off x="601290" y="4421581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재해현황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D3B6F6C-DBD0-3EE0-9D60-F3C8754C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67" y="4852650"/>
            <a:ext cx="2195876" cy="1834656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2D8FF1-B3A6-1ECF-1047-EDD5F84F7381}"/>
              </a:ext>
            </a:extLst>
          </p:cNvPr>
          <p:cNvSpPr/>
          <p:nvPr/>
        </p:nvSpPr>
        <p:spPr>
          <a:xfrm>
            <a:off x="4315038" y="1906408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사망현황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4B2379D-2EB6-62F2-EC95-F0361605E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441" y="2554875"/>
            <a:ext cx="2338100" cy="1242049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FBF0404-5DE0-6178-4EA1-4771A8B3DC3C}"/>
              </a:ext>
            </a:extLst>
          </p:cNvPr>
          <p:cNvSpPr/>
          <p:nvPr/>
        </p:nvSpPr>
        <p:spPr>
          <a:xfrm>
            <a:off x="4315038" y="4402936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사망현황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5887E02-21D3-33DE-39B0-7D58D1DB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415" y="4834005"/>
            <a:ext cx="2195876" cy="183465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A2AB29-B621-CDC6-6FB2-22A3310C4393}"/>
              </a:ext>
            </a:extLst>
          </p:cNvPr>
          <p:cNvSpPr/>
          <p:nvPr/>
        </p:nvSpPr>
        <p:spPr>
          <a:xfrm>
            <a:off x="408031" y="190104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CDA271-47A7-3329-18DD-F342DDEB1819}"/>
              </a:ext>
            </a:extLst>
          </p:cNvPr>
          <p:cNvSpPr/>
          <p:nvPr/>
        </p:nvSpPr>
        <p:spPr>
          <a:xfrm>
            <a:off x="463725" y="4343400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34999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04258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026669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재해사망현황 통계시각화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회원이 부상으로 재해를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당했을떄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547457" y="2394792"/>
            <a:ext cx="350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 </a:t>
            </a:r>
            <a:r>
              <a:rPr lang="ko-KR" altLang="en-US" b="1" dirty="0"/>
              <a:t>유형별 사망현황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23D985-7DC2-C9A8-31B5-E6C1A3AF135E}"/>
              </a:ext>
            </a:extLst>
          </p:cNvPr>
          <p:cNvSpPr/>
          <p:nvPr/>
        </p:nvSpPr>
        <p:spPr>
          <a:xfrm>
            <a:off x="513448" y="2204914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38809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80853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825341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재해사망현황 통계시각화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회원이 질병으로 재해를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당했을떄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</a:t>
            </a:r>
            <a:r>
              <a:rPr lang="ko-KR" altLang="en-US" b="1" dirty="0"/>
              <a:t>재해질병 </a:t>
            </a:r>
            <a:r>
              <a:rPr lang="ko-KR" altLang="en-US" sz="1800" b="1" dirty="0">
                <a:solidFill>
                  <a:schemeClr val="tx1"/>
                </a:solidFill>
              </a:rPr>
              <a:t>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398278" y="2346996"/>
            <a:ext cx="38052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내 업종  재해</a:t>
            </a:r>
            <a:r>
              <a:rPr lang="ko-KR" altLang="en-US" sz="1600" b="1" dirty="0"/>
              <a:t>질병 유형별 사망현황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74AE9A-68F0-6A3E-7C4B-97D21FFC1BFF}"/>
              </a:ext>
            </a:extLst>
          </p:cNvPr>
          <p:cNvSpPr/>
          <p:nvPr/>
        </p:nvSpPr>
        <p:spPr>
          <a:xfrm>
            <a:off x="435753" y="220805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36716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860750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969185"/>
              </p:ext>
            </p:extLst>
          </p:nvPr>
        </p:nvGraphicFramePr>
        <p:xfrm>
          <a:off x="8603672" y="1180080"/>
          <a:ext cx="3588327" cy="670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요인들을 종합해서 종합위험도 지수 통계시각화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위험도 계산 로직을 직접 구현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요인을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종합평가하여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위험도 추출 예정  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재해율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업종의 평균 재해 발생 빈도	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사망률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업종의 평균 사망 발생 빈도	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위험 재해 유형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회원의 주요 재해 유형이 해당 업종에서 차지하는 비율 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취약성 지표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회원의 성별, 연령대에서 재해/사망이 발생하는 비율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안전자료실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찾기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병원 찾기로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8B4402-1D15-A72D-601E-EEEAF4DAB682}"/>
              </a:ext>
            </a:extLst>
          </p:cNvPr>
          <p:cNvSpPr/>
          <p:nvPr/>
        </p:nvSpPr>
        <p:spPr>
          <a:xfrm>
            <a:off x="601579" y="1916637"/>
            <a:ext cx="6988627" cy="42048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종합 위험도 평가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977A8-EE81-172F-6519-02E4414C84EB}"/>
              </a:ext>
            </a:extLst>
          </p:cNvPr>
          <p:cNvSpPr/>
          <p:nvPr/>
        </p:nvSpPr>
        <p:spPr>
          <a:xfrm>
            <a:off x="601925" y="188070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2B9DF86-42F0-4E7E-7F35-B4DD1D3373A7}"/>
              </a:ext>
            </a:extLst>
          </p:cNvPr>
          <p:cNvSpPr/>
          <p:nvPr/>
        </p:nvSpPr>
        <p:spPr>
          <a:xfrm>
            <a:off x="1615044" y="5413574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나에게 필요한 안전 가이드 보기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B9AC75-5911-BD25-4C2F-4EEFF9C3518C}"/>
              </a:ext>
            </a:extLst>
          </p:cNvPr>
          <p:cNvSpPr/>
          <p:nvPr/>
        </p:nvSpPr>
        <p:spPr>
          <a:xfrm>
            <a:off x="5278892" y="5316132"/>
            <a:ext cx="1489103" cy="48222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가까운 응급</a:t>
            </a:r>
            <a:r>
              <a:rPr lang="en-US" altLang="ko-KR" sz="1100" dirty="0"/>
              <a:t>·</a:t>
            </a:r>
            <a:r>
              <a:rPr lang="ko-KR" altLang="en-US" sz="1100" dirty="0"/>
              <a:t>산재병원 찾기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BCBF801-505E-A4A7-5E7B-CD6D433640CB}"/>
              </a:ext>
            </a:extLst>
          </p:cNvPr>
          <p:cNvSpPr/>
          <p:nvPr/>
        </p:nvSpPr>
        <p:spPr>
          <a:xfrm>
            <a:off x="3446968" y="5388526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내 위치 기반 위험 탐색하기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AE0BDC-C2D3-18A1-CE46-28000D14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19" y="2883397"/>
            <a:ext cx="6359706" cy="184337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8311E1-5C2E-671C-A58B-196310D778C4}"/>
              </a:ext>
            </a:extLst>
          </p:cNvPr>
          <p:cNvSpPr/>
          <p:nvPr/>
        </p:nvSpPr>
        <p:spPr>
          <a:xfrm>
            <a:off x="1304684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57C9D5-A530-E379-A23F-C36DB9D34656}"/>
              </a:ext>
            </a:extLst>
          </p:cNvPr>
          <p:cNvSpPr/>
          <p:nvPr/>
        </p:nvSpPr>
        <p:spPr>
          <a:xfrm>
            <a:off x="3152785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7F2174-AD50-34D7-DA86-D2F1541A5DB6}"/>
              </a:ext>
            </a:extLst>
          </p:cNvPr>
          <p:cNvSpPr/>
          <p:nvPr/>
        </p:nvSpPr>
        <p:spPr>
          <a:xfrm>
            <a:off x="5000886" y="5162207"/>
            <a:ext cx="411194" cy="2930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7225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자료실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A613-5FAA-4D68-A805-C577DA38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945594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3088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5071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/>
              <a:t>최근 본 자료</a:t>
            </a:r>
            <a:endParaRPr sz="12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F642C1-AE9C-BA0C-6391-A5D10F03F320}"/>
              </a:ext>
            </a:extLst>
          </p:cNvPr>
          <p:cNvSpPr/>
          <p:nvPr/>
        </p:nvSpPr>
        <p:spPr>
          <a:xfrm>
            <a:off x="567536" y="3091161"/>
            <a:ext cx="7286388" cy="31505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900AE3-427B-6EEE-E52F-A098DF854A06}"/>
              </a:ext>
            </a:extLst>
          </p:cNvPr>
          <p:cNvSpPr txBox="1"/>
          <p:nvPr/>
        </p:nvSpPr>
        <p:spPr>
          <a:xfrm>
            <a:off x="7290770" y="4363948"/>
            <a:ext cx="1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8F7C40-39D5-5E3A-1CDF-CF1198DEFD48}"/>
              </a:ext>
            </a:extLst>
          </p:cNvPr>
          <p:cNvSpPr txBox="1"/>
          <p:nvPr/>
        </p:nvSpPr>
        <p:spPr>
          <a:xfrm>
            <a:off x="881746" y="4261385"/>
            <a:ext cx="36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50825" y="3023050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/>
                <a:t>안전자료실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A412D06-4C4E-01E7-06FF-2599541223C7}"/>
              </a:ext>
            </a:extLst>
          </p:cNvPr>
          <p:cNvGrpSpPr/>
          <p:nvPr/>
        </p:nvGrpSpPr>
        <p:grpSpPr>
          <a:xfrm>
            <a:off x="1729772" y="3444702"/>
            <a:ext cx="1328756" cy="2577155"/>
            <a:chOff x="1331556" y="3807373"/>
            <a:chExt cx="1615045" cy="214558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B2AF8D3-A373-670C-B106-39D3D85E5E32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17DDB7-5205-1FCB-9A26-2123B472110F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82076BC-1FFD-4FF9-A824-E3CBDF8187C5}"/>
              </a:ext>
            </a:extLst>
          </p:cNvPr>
          <p:cNvGrpSpPr/>
          <p:nvPr/>
        </p:nvGrpSpPr>
        <p:grpSpPr>
          <a:xfrm>
            <a:off x="5376836" y="3444702"/>
            <a:ext cx="1328756" cy="2577155"/>
            <a:chOff x="1331556" y="3807373"/>
            <a:chExt cx="1615045" cy="214558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1F2D4DB-55B1-257F-EF76-56B41F827AF2}"/>
                </a:ext>
              </a:extLst>
            </p:cNvPr>
            <p:cNvSpPr/>
            <p:nvPr/>
          </p:nvSpPr>
          <p:spPr>
            <a:xfrm>
              <a:off x="1331556" y="3807373"/>
              <a:ext cx="1615045" cy="16601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BCE387-6B90-4034-A617-46C580385AC7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2335A72-C3F8-B494-5CF1-3B5DB06A2FDD}"/>
              </a:ext>
            </a:extLst>
          </p:cNvPr>
          <p:cNvGrpSpPr/>
          <p:nvPr/>
        </p:nvGrpSpPr>
        <p:grpSpPr>
          <a:xfrm>
            <a:off x="3553304" y="3444702"/>
            <a:ext cx="1328756" cy="2577155"/>
            <a:chOff x="1331556" y="3807373"/>
            <a:chExt cx="1615045" cy="214558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460285B-2A87-50CC-BABF-E4EEE325EEB9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DDC559-8BD1-F8E6-7B18-6A6D2DF117B3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1665525" y="5357839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2" name="표 5">
            <a:extLst>
              <a:ext uri="{FF2B5EF4-FFF2-40B4-BE49-F238E27FC236}">
                <a16:creationId xmlns:a16="http://schemas.microsoft.com/office/drawing/2014/main" id="{3412397D-5DBB-2CCF-4814-92BB2AE51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959583"/>
              </p:ext>
            </p:extLst>
          </p:nvPr>
        </p:nvGraphicFramePr>
        <p:xfrm>
          <a:off x="8603673" y="1198698"/>
          <a:ext cx="3588327" cy="5640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9736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 dirty="0" err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687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071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dirty="0"/>
                        <a:t>Default: </a:t>
                      </a:r>
                      <a:r>
                        <a:rPr lang="ko-KR" altLang="en-US" sz="1100" dirty="0"/>
                        <a:t>최근 본 자료 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슬라이드 당 </a:t>
                      </a:r>
                      <a:r>
                        <a:rPr lang="en-US" sz="1100" dirty="0"/>
                        <a:t>3</a:t>
                      </a:r>
                      <a:r>
                        <a:rPr lang="ko-KR" altLang="en-US" sz="1100" dirty="0"/>
                        <a:t>개씩 보여줌</a:t>
                      </a:r>
                      <a:r>
                        <a:rPr lang="en-US" altLang="ko-KR" sz="1100" dirty="0"/>
                        <a:t>. </a:t>
                      </a:r>
                      <a:r>
                        <a:rPr lang="ko-KR" altLang="en-US" sz="1100" dirty="0"/>
                        <a:t>슬라이드 총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개 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6</a:t>
                      </a:r>
                      <a:r>
                        <a:rPr lang="ko-KR" altLang="en-US" sz="1100" dirty="0"/>
                        <a:t>개의 카드 보여줌</a:t>
                      </a:r>
                      <a:endParaRPr lang="en-US" sz="1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937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자료제목이나 이미지 클릭 시 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해당 자료 상세페이지로 이동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9231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6877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C5C871E-97A2-18D0-D83C-F992D0B0A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385219"/>
              </p:ext>
            </p:extLst>
          </p:nvPr>
        </p:nvGraphicFramePr>
        <p:xfrm>
          <a:off x="0" y="18619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 err="1">
                          <a:solidFill>
                            <a:schemeClr val="dk1"/>
                          </a:solidFill>
                        </a:rPr>
                        <a:t>박소윤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일자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79F55903-136A-7E82-DAAC-D0A2C0DD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87206C3A-E144-332E-07DD-745A72146465}"/>
              </a:ext>
            </a:extLst>
          </p:cNvPr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9B1D0870-C6DD-6894-9542-6AE49434A504}"/>
              </a:ext>
            </a:extLst>
          </p:cNvPr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438326" y="3411224"/>
            <a:ext cx="7486168" cy="1248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A4D6CEB-843D-CADE-0AFC-A012D4036471}"/>
              </a:ext>
            </a:extLst>
          </p:cNvPr>
          <p:cNvSpPr/>
          <p:nvPr/>
        </p:nvSpPr>
        <p:spPr>
          <a:xfrm>
            <a:off x="1828799" y="4150317"/>
            <a:ext cx="5891576" cy="3804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제목검색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120636-A195-6CB6-2353-888DFBACCABE}"/>
              </a:ext>
            </a:extLst>
          </p:cNvPr>
          <p:cNvGrpSpPr/>
          <p:nvPr/>
        </p:nvGrpSpPr>
        <p:grpSpPr>
          <a:xfrm>
            <a:off x="6811085" y="4785198"/>
            <a:ext cx="1113409" cy="496956"/>
            <a:chOff x="7045769" y="5389880"/>
            <a:chExt cx="1113409" cy="49695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2D3E4C0-CB12-5615-832E-13DE4FB559F4}"/>
                </a:ext>
              </a:extLst>
            </p:cNvPr>
            <p:cNvSpPr/>
            <p:nvPr/>
          </p:nvSpPr>
          <p:spPr>
            <a:xfrm>
              <a:off x="7045769" y="5389880"/>
              <a:ext cx="1113409" cy="4969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tx1"/>
                  </a:solidFill>
                </a:rPr>
                <a:t>  검색</a:t>
              </a:r>
            </a:p>
          </p:txBody>
        </p:sp>
        <p:sp>
          <p:nvSpPr>
            <p:cNvPr id="32" name="그래픽 24" descr="돋보기 단색으로 채워진">
              <a:extLst>
                <a:ext uri="{FF2B5EF4-FFF2-40B4-BE49-F238E27FC236}">
                  <a16:creationId xmlns:a16="http://schemas.microsoft.com/office/drawing/2014/main" id="{C588998A-BAC5-FFA2-0C43-0ABE72E6ECD2}"/>
                </a:ext>
              </a:extLst>
            </p:cNvPr>
            <p:cNvSpPr/>
            <p:nvPr/>
          </p:nvSpPr>
          <p:spPr>
            <a:xfrm>
              <a:off x="7766218" y="5515521"/>
              <a:ext cx="237725" cy="245675"/>
            </a:xfrm>
            <a:custGeom>
              <a:avLst/>
              <a:gdLst>
                <a:gd name="connsiteX0" fmla="*/ 321806 w 330332"/>
                <a:gd name="connsiteY0" fmla="*/ 339760 h 400612"/>
                <a:gd name="connsiteX1" fmla="*/ 269497 w 330332"/>
                <a:gd name="connsiteY1" fmla="*/ 276372 h 400612"/>
                <a:gd name="connsiteX2" fmla="*/ 243551 w 330332"/>
                <a:gd name="connsiteY2" fmla="*/ 266737 h 400612"/>
                <a:gd name="connsiteX3" fmla="*/ 225138 w 330332"/>
                <a:gd name="connsiteY3" fmla="*/ 244424 h 400612"/>
                <a:gd name="connsiteX4" fmla="*/ 251084 w 330332"/>
                <a:gd name="connsiteY4" fmla="*/ 152131 h 400612"/>
                <a:gd name="connsiteX5" fmla="*/ 125542 w 330332"/>
                <a:gd name="connsiteY5" fmla="*/ 0 h 400612"/>
                <a:gd name="connsiteX6" fmla="*/ 0 w 330332"/>
                <a:gd name="connsiteY6" fmla="*/ 152131 h 400612"/>
                <a:gd name="connsiteX7" fmla="*/ 125542 w 330332"/>
                <a:gd name="connsiteY7" fmla="*/ 304263 h 400612"/>
                <a:gd name="connsiteX8" fmla="*/ 201704 w 330332"/>
                <a:gd name="connsiteY8" fmla="*/ 272822 h 400612"/>
                <a:gd name="connsiteX9" fmla="*/ 220117 w 330332"/>
                <a:gd name="connsiteY9" fmla="*/ 295135 h 400612"/>
                <a:gd name="connsiteX10" fmla="*/ 228068 w 330332"/>
                <a:gd name="connsiteY10" fmla="*/ 326575 h 400612"/>
                <a:gd name="connsiteX11" fmla="*/ 280377 w 330332"/>
                <a:gd name="connsiteY11" fmla="*/ 389963 h 400612"/>
                <a:gd name="connsiteX12" fmla="*/ 301301 w 330332"/>
                <a:gd name="connsiteY12" fmla="*/ 400612 h 400612"/>
                <a:gd name="connsiteX13" fmla="*/ 322224 w 330332"/>
                <a:gd name="connsiteY13" fmla="*/ 389963 h 400612"/>
                <a:gd name="connsiteX14" fmla="*/ 321806 w 330332"/>
                <a:gd name="connsiteY14" fmla="*/ 339760 h 400612"/>
                <a:gd name="connsiteX15" fmla="*/ 125123 w 330332"/>
                <a:gd name="connsiteY15" fmla="*/ 273329 h 400612"/>
                <a:gd name="connsiteX16" fmla="*/ 24690 w 330332"/>
                <a:gd name="connsiteY16" fmla="*/ 151624 h 400612"/>
                <a:gd name="connsiteX17" fmla="*/ 125123 w 330332"/>
                <a:gd name="connsiteY17" fmla="*/ 29919 h 400612"/>
                <a:gd name="connsiteX18" fmla="*/ 225557 w 330332"/>
                <a:gd name="connsiteY18" fmla="*/ 151624 h 400612"/>
                <a:gd name="connsiteX19" fmla="*/ 125123 w 330332"/>
                <a:gd name="connsiteY19" fmla="*/ 273329 h 40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0332" h="400612">
                  <a:moveTo>
                    <a:pt x="321806" y="339760"/>
                  </a:moveTo>
                  <a:lnTo>
                    <a:pt x="269497" y="276372"/>
                  </a:lnTo>
                  <a:cubicBezTo>
                    <a:pt x="262383" y="267751"/>
                    <a:pt x="252758" y="264708"/>
                    <a:pt x="243551" y="266737"/>
                  </a:cubicBezTo>
                  <a:lnTo>
                    <a:pt x="225138" y="244424"/>
                  </a:lnTo>
                  <a:cubicBezTo>
                    <a:pt x="241459" y="219069"/>
                    <a:pt x="251084" y="186614"/>
                    <a:pt x="251084" y="152131"/>
                  </a:cubicBezTo>
                  <a:cubicBezTo>
                    <a:pt x="251084" y="68459"/>
                    <a:pt x="194590" y="0"/>
                    <a:pt x="125542" y="0"/>
                  </a:cubicBezTo>
                  <a:cubicBezTo>
                    <a:pt x="56494" y="0"/>
                    <a:pt x="0" y="68459"/>
                    <a:pt x="0" y="152131"/>
                  </a:cubicBezTo>
                  <a:cubicBezTo>
                    <a:pt x="0" y="235803"/>
                    <a:pt x="56494" y="304263"/>
                    <a:pt x="125542" y="304263"/>
                  </a:cubicBezTo>
                  <a:cubicBezTo>
                    <a:pt x="153998" y="304263"/>
                    <a:pt x="180362" y="292599"/>
                    <a:pt x="201704" y="272822"/>
                  </a:cubicBezTo>
                  <a:lnTo>
                    <a:pt x="220117" y="295135"/>
                  </a:lnTo>
                  <a:cubicBezTo>
                    <a:pt x="218443" y="306291"/>
                    <a:pt x="220954" y="317954"/>
                    <a:pt x="228068" y="326575"/>
                  </a:cubicBezTo>
                  <a:lnTo>
                    <a:pt x="280377" y="389963"/>
                  </a:lnTo>
                  <a:cubicBezTo>
                    <a:pt x="286235" y="397063"/>
                    <a:pt x="293768" y="400612"/>
                    <a:pt x="301301" y="400612"/>
                  </a:cubicBezTo>
                  <a:cubicBezTo>
                    <a:pt x="308833" y="400612"/>
                    <a:pt x="316366" y="397063"/>
                    <a:pt x="322224" y="389963"/>
                  </a:cubicBezTo>
                  <a:cubicBezTo>
                    <a:pt x="333104" y="375764"/>
                    <a:pt x="333104" y="353452"/>
                    <a:pt x="321806" y="339760"/>
                  </a:cubicBezTo>
                  <a:close/>
                  <a:moveTo>
                    <a:pt x="125123" y="273329"/>
                  </a:moveTo>
                  <a:cubicBezTo>
                    <a:pt x="69885" y="273329"/>
                    <a:pt x="24690" y="218562"/>
                    <a:pt x="24690" y="151624"/>
                  </a:cubicBezTo>
                  <a:cubicBezTo>
                    <a:pt x="24690" y="84686"/>
                    <a:pt x="69885" y="29919"/>
                    <a:pt x="125123" y="29919"/>
                  </a:cubicBezTo>
                  <a:cubicBezTo>
                    <a:pt x="180362" y="29919"/>
                    <a:pt x="225557" y="84686"/>
                    <a:pt x="225557" y="151624"/>
                  </a:cubicBezTo>
                  <a:cubicBezTo>
                    <a:pt x="225557" y="218562"/>
                    <a:pt x="180362" y="273329"/>
                    <a:pt x="125123" y="273329"/>
                  </a:cubicBezTo>
                  <a:close/>
                </a:path>
              </a:pathLst>
            </a:custGeom>
            <a:solidFill>
              <a:srgbClr val="000000"/>
            </a:solidFill>
            <a:ln w="4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06FD5F0-9FA6-0906-C054-1CAD9D0765E5}"/>
              </a:ext>
            </a:extLst>
          </p:cNvPr>
          <p:cNvSpPr txBox="1"/>
          <p:nvPr/>
        </p:nvSpPr>
        <p:spPr>
          <a:xfrm>
            <a:off x="596858" y="4150317"/>
            <a:ext cx="1231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검색      </a:t>
            </a:r>
            <a:r>
              <a:rPr lang="en-US" altLang="ko-KR" sz="1600" dirty="0"/>
              <a:t>|</a:t>
            </a:r>
            <a:endParaRPr lang="ko-KR" alt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EE0FB4-53B2-3F05-7E8D-8BAAE51E3005}"/>
              </a:ext>
            </a:extLst>
          </p:cNvPr>
          <p:cNvSpPr txBox="1"/>
          <p:nvPr/>
        </p:nvSpPr>
        <p:spPr>
          <a:xfrm>
            <a:off x="633216" y="3658041"/>
            <a:ext cx="1159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자료유형 </a:t>
            </a:r>
            <a:r>
              <a:rPr lang="en-US" altLang="ko-KR" sz="1600" dirty="0"/>
              <a:t>|</a:t>
            </a:r>
            <a:endParaRPr lang="ko-KR" altLang="en-US" sz="16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5A393E8-416E-5320-1B2F-4B0DE1F2F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193" y="3561571"/>
            <a:ext cx="3531335" cy="479311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C139CA2E-BEF0-EA8C-A4AD-D9ED1130BA21}"/>
              </a:ext>
            </a:extLst>
          </p:cNvPr>
          <p:cNvSpPr/>
          <p:nvPr/>
        </p:nvSpPr>
        <p:spPr>
          <a:xfrm>
            <a:off x="1765529" y="425065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9ED4B6-D3C6-F71D-9652-D0F6DA14127D}"/>
              </a:ext>
            </a:extLst>
          </p:cNvPr>
          <p:cNvSpPr/>
          <p:nvPr/>
        </p:nvSpPr>
        <p:spPr>
          <a:xfrm>
            <a:off x="1645774" y="35716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6AED7BE-764D-0CEA-699C-AD5543DDEC46}"/>
              </a:ext>
            </a:extLst>
          </p:cNvPr>
          <p:cNvSpPr/>
          <p:nvPr/>
        </p:nvSpPr>
        <p:spPr>
          <a:xfrm>
            <a:off x="6728420" y="468260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graphicFrame>
        <p:nvGraphicFramePr>
          <p:cNvPr id="2" name="표 5">
            <a:extLst>
              <a:ext uri="{FF2B5EF4-FFF2-40B4-BE49-F238E27FC236}">
                <a16:creationId xmlns:a16="http://schemas.microsoft.com/office/drawing/2014/main" id="{55910F65-AA5F-E24E-9870-8EA37D21A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507537"/>
              </p:ext>
            </p:extLst>
          </p:nvPr>
        </p:nvGraphicFramePr>
        <p:xfrm>
          <a:off x="8613612" y="1179954"/>
          <a:ext cx="3588327" cy="567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99836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 dirty="0" err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72314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필터영역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중간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140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자료형태 유형 체크박스로 선택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en-US" altLang="ko-KR" sz="1100" dirty="0"/>
                        <a:t> / </a:t>
                      </a:r>
                      <a:r>
                        <a:rPr lang="ko-KR" altLang="en-US" sz="1100" dirty="0"/>
                        <a:t>책자 </a:t>
                      </a:r>
                      <a:r>
                        <a:rPr lang="en-US" altLang="ko-KR" sz="1100" dirty="0"/>
                        <a:t>/ PPT / </a:t>
                      </a:r>
                      <a:r>
                        <a:rPr lang="ko-KR" altLang="en-US" sz="1100" dirty="0"/>
                        <a:t>기타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로 나누어 분류 </a:t>
                      </a: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94381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텍스트 </a:t>
                      </a:r>
                      <a:r>
                        <a:rPr lang="ko-KR" altLang="en-US" sz="1100" dirty="0" err="1"/>
                        <a:t>검색란</a:t>
                      </a: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 err="1"/>
                        <a:t>검색텍스트가</a:t>
                      </a:r>
                      <a:r>
                        <a:rPr lang="ko-KR" altLang="en-US" sz="1100" dirty="0"/>
                        <a:t> 자료제목에 </a:t>
                      </a:r>
                      <a:r>
                        <a:rPr lang="ko-KR" altLang="en-US" sz="1100" dirty="0" err="1"/>
                        <a:t>들어가있는</a:t>
                      </a:r>
                      <a:r>
                        <a:rPr lang="ko-KR" altLang="en-US" sz="1100" dirty="0"/>
                        <a:t> 자료 검색</a:t>
                      </a: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en-US" altLang="ko-KR" sz="1100" dirty="0"/>
                        <a:t>placeholder(‘</a:t>
                      </a:r>
                      <a:r>
                        <a:rPr lang="ko-KR" altLang="en-US" sz="1100" dirty="0"/>
                        <a:t>제목검색</a:t>
                      </a:r>
                      <a:r>
                        <a:rPr lang="en-US" altLang="ko-KR" sz="1100" dirty="0"/>
                        <a:t>’)</a:t>
                      </a: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9288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  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검색 버튼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클릭 시 설정한 필터 및 텍스트 검색 기반으로 자료 검색함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다음페이지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)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에 검색결과 나옴 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57231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7231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7231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C0632DCC-EC31-6859-99CF-3B3AEF39D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23384"/>
              </p:ext>
            </p:extLst>
          </p:nvPr>
        </p:nvGraphicFramePr>
        <p:xfrm>
          <a:off x="0" y="18619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 err="1">
                          <a:solidFill>
                            <a:schemeClr val="dk1"/>
                          </a:solidFill>
                        </a:rPr>
                        <a:t>박소윤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필터영역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중간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309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50422" y="2814829"/>
            <a:ext cx="188141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20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/>
        </p:nvGraphicFramePr>
        <p:xfrm>
          <a:off x="450422" y="3429000"/>
          <a:ext cx="7404270" cy="2750145"/>
        </p:xfrm>
        <a:graphic>
          <a:graphicData uri="http://schemas.openxmlformats.org/drawingml/2006/table">
            <a:tbl>
              <a:tblPr firstRow="1" bandRow="1"/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13491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교육자료 제목</a:t>
                      </a:r>
                      <a:endParaRPr lang="en-US" altLang="ko-KR" sz="1600" b="1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14009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교육자료 제목</a:t>
                      </a:r>
                      <a:endParaRPr lang="en-US" altLang="ko-KR" sz="1600" b="1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07830" y="3926621"/>
            <a:ext cx="2576421" cy="475466"/>
            <a:chOff x="543858" y="4764908"/>
            <a:chExt cx="2576421" cy="4754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52225" y="4764908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43858" y="4978764"/>
              <a:ext cx="91719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설명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18009" y="5164969"/>
            <a:ext cx="2568054" cy="475239"/>
            <a:chOff x="572411" y="4758724"/>
            <a:chExt cx="2568054" cy="47523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2411" y="4758724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80778" y="4972353"/>
              <a:ext cx="9204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설명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342501" y="330401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6E267A-F00A-42B4-BE74-5F9D8D0DB3D1}"/>
              </a:ext>
            </a:extLst>
          </p:cNvPr>
          <p:cNvSpPr/>
          <p:nvPr/>
        </p:nvSpPr>
        <p:spPr>
          <a:xfrm>
            <a:off x="6597882" y="5079549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대표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D6BA85D-5EBA-4D91-6421-674E145FDFC4}"/>
              </a:ext>
            </a:extLst>
          </p:cNvPr>
          <p:cNvSpPr/>
          <p:nvPr/>
        </p:nvSpPr>
        <p:spPr>
          <a:xfrm>
            <a:off x="474178" y="38442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FCA16DB-99F6-A99F-45EF-96358E99592D}"/>
              </a:ext>
            </a:extLst>
          </p:cNvPr>
          <p:cNvGrpSpPr/>
          <p:nvPr/>
        </p:nvGrpSpPr>
        <p:grpSpPr>
          <a:xfrm>
            <a:off x="6741283" y="2065350"/>
            <a:ext cx="1113409" cy="496956"/>
            <a:chOff x="7045769" y="5389880"/>
            <a:chExt cx="1113409" cy="496956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803EE9F-C996-3151-D978-6D9A59C10219}"/>
                </a:ext>
              </a:extLst>
            </p:cNvPr>
            <p:cNvSpPr/>
            <p:nvPr/>
          </p:nvSpPr>
          <p:spPr>
            <a:xfrm>
              <a:off x="7045769" y="5389880"/>
              <a:ext cx="1113409" cy="4969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tx1"/>
                  </a:solidFill>
                </a:rPr>
                <a:t>  검색</a:t>
              </a:r>
            </a:p>
          </p:txBody>
        </p:sp>
        <p:sp>
          <p:nvSpPr>
            <p:cNvPr id="31" name="그래픽 24" descr="돋보기 단색으로 채워진">
              <a:extLst>
                <a:ext uri="{FF2B5EF4-FFF2-40B4-BE49-F238E27FC236}">
                  <a16:creationId xmlns:a16="http://schemas.microsoft.com/office/drawing/2014/main" id="{0CB08BF4-8B84-CB5C-2747-2713C5AD47F2}"/>
                </a:ext>
              </a:extLst>
            </p:cNvPr>
            <p:cNvSpPr/>
            <p:nvPr/>
          </p:nvSpPr>
          <p:spPr>
            <a:xfrm>
              <a:off x="7766218" y="5515521"/>
              <a:ext cx="237725" cy="245675"/>
            </a:xfrm>
            <a:custGeom>
              <a:avLst/>
              <a:gdLst>
                <a:gd name="connsiteX0" fmla="*/ 321806 w 330332"/>
                <a:gd name="connsiteY0" fmla="*/ 339760 h 400612"/>
                <a:gd name="connsiteX1" fmla="*/ 269497 w 330332"/>
                <a:gd name="connsiteY1" fmla="*/ 276372 h 400612"/>
                <a:gd name="connsiteX2" fmla="*/ 243551 w 330332"/>
                <a:gd name="connsiteY2" fmla="*/ 266737 h 400612"/>
                <a:gd name="connsiteX3" fmla="*/ 225138 w 330332"/>
                <a:gd name="connsiteY3" fmla="*/ 244424 h 400612"/>
                <a:gd name="connsiteX4" fmla="*/ 251084 w 330332"/>
                <a:gd name="connsiteY4" fmla="*/ 152131 h 400612"/>
                <a:gd name="connsiteX5" fmla="*/ 125542 w 330332"/>
                <a:gd name="connsiteY5" fmla="*/ 0 h 400612"/>
                <a:gd name="connsiteX6" fmla="*/ 0 w 330332"/>
                <a:gd name="connsiteY6" fmla="*/ 152131 h 400612"/>
                <a:gd name="connsiteX7" fmla="*/ 125542 w 330332"/>
                <a:gd name="connsiteY7" fmla="*/ 304263 h 400612"/>
                <a:gd name="connsiteX8" fmla="*/ 201704 w 330332"/>
                <a:gd name="connsiteY8" fmla="*/ 272822 h 400612"/>
                <a:gd name="connsiteX9" fmla="*/ 220117 w 330332"/>
                <a:gd name="connsiteY9" fmla="*/ 295135 h 400612"/>
                <a:gd name="connsiteX10" fmla="*/ 228068 w 330332"/>
                <a:gd name="connsiteY10" fmla="*/ 326575 h 400612"/>
                <a:gd name="connsiteX11" fmla="*/ 280377 w 330332"/>
                <a:gd name="connsiteY11" fmla="*/ 389963 h 400612"/>
                <a:gd name="connsiteX12" fmla="*/ 301301 w 330332"/>
                <a:gd name="connsiteY12" fmla="*/ 400612 h 400612"/>
                <a:gd name="connsiteX13" fmla="*/ 322224 w 330332"/>
                <a:gd name="connsiteY13" fmla="*/ 389963 h 400612"/>
                <a:gd name="connsiteX14" fmla="*/ 321806 w 330332"/>
                <a:gd name="connsiteY14" fmla="*/ 339760 h 400612"/>
                <a:gd name="connsiteX15" fmla="*/ 125123 w 330332"/>
                <a:gd name="connsiteY15" fmla="*/ 273329 h 400612"/>
                <a:gd name="connsiteX16" fmla="*/ 24690 w 330332"/>
                <a:gd name="connsiteY16" fmla="*/ 151624 h 400612"/>
                <a:gd name="connsiteX17" fmla="*/ 125123 w 330332"/>
                <a:gd name="connsiteY17" fmla="*/ 29919 h 400612"/>
                <a:gd name="connsiteX18" fmla="*/ 225557 w 330332"/>
                <a:gd name="connsiteY18" fmla="*/ 151624 h 400612"/>
                <a:gd name="connsiteX19" fmla="*/ 125123 w 330332"/>
                <a:gd name="connsiteY19" fmla="*/ 273329 h 40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0332" h="400612">
                  <a:moveTo>
                    <a:pt x="321806" y="339760"/>
                  </a:moveTo>
                  <a:lnTo>
                    <a:pt x="269497" y="276372"/>
                  </a:lnTo>
                  <a:cubicBezTo>
                    <a:pt x="262383" y="267751"/>
                    <a:pt x="252758" y="264708"/>
                    <a:pt x="243551" y="266737"/>
                  </a:cubicBezTo>
                  <a:lnTo>
                    <a:pt x="225138" y="244424"/>
                  </a:lnTo>
                  <a:cubicBezTo>
                    <a:pt x="241459" y="219069"/>
                    <a:pt x="251084" y="186614"/>
                    <a:pt x="251084" y="152131"/>
                  </a:cubicBezTo>
                  <a:cubicBezTo>
                    <a:pt x="251084" y="68459"/>
                    <a:pt x="194590" y="0"/>
                    <a:pt x="125542" y="0"/>
                  </a:cubicBezTo>
                  <a:cubicBezTo>
                    <a:pt x="56494" y="0"/>
                    <a:pt x="0" y="68459"/>
                    <a:pt x="0" y="152131"/>
                  </a:cubicBezTo>
                  <a:cubicBezTo>
                    <a:pt x="0" y="235803"/>
                    <a:pt x="56494" y="304263"/>
                    <a:pt x="125542" y="304263"/>
                  </a:cubicBezTo>
                  <a:cubicBezTo>
                    <a:pt x="153998" y="304263"/>
                    <a:pt x="180362" y="292599"/>
                    <a:pt x="201704" y="272822"/>
                  </a:cubicBezTo>
                  <a:lnTo>
                    <a:pt x="220117" y="295135"/>
                  </a:lnTo>
                  <a:cubicBezTo>
                    <a:pt x="218443" y="306291"/>
                    <a:pt x="220954" y="317954"/>
                    <a:pt x="228068" y="326575"/>
                  </a:cubicBezTo>
                  <a:lnTo>
                    <a:pt x="280377" y="389963"/>
                  </a:lnTo>
                  <a:cubicBezTo>
                    <a:pt x="286235" y="397063"/>
                    <a:pt x="293768" y="400612"/>
                    <a:pt x="301301" y="400612"/>
                  </a:cubicBezTo>
                  <a:cubicBezTo>
                    <a:pt x="308833" y="400612"/>
                    <a:pt x="316366" y="397063"/>
                    <a:pt x="322224" y="389963"/>
                  </a:cubicBezTo>
                  <a:cubicBezTo>
                    <a:pt x="333104" y="375764"/>
                    <a:pt x="333104" y="353452"/>
                    <a:pt x="321806" y="339760"/>
                  </a:cubicBezTo>
                  <a:close/>
                  <a:moveTo>
                    <a:pt x="125123" y="273329"/>
                  </a:moveTo>
                  <a:cubicBezTo>
                    <a:pt x="69885" y="273329"/>
                    <a:pt x="24690" y="218562"/>
                    <a:pt x="24690" y="151624"/>
                  </a:cubicBezTo>
                  <a:cubicBezTo>
                    <a:pt x="24690" y="84686"/>
                    <a:pt x="69885" y="29919"/>
                    <a:pt x="125123" y="29919"/>
                  </a:cubicBezTo>
                  <a:cubicBezTo>
                    <a:pt x="180362" y="29919"/>
                    <a:pt x="225557" y="84686"/>
                    <a:pt x="225557" y="151624"/>
                  </a:cubicBezTo>
                  <a:cubicBezTo>
                    <a:pt x="225557" y="218562"/>
                    <a:pt x="180362" y="273329"/>
                    <a:pt x="125123" y="273329"/>
                  </a:cubicBezTo>
                  <a:close/>
                </a:path>
              </a:pathLst>
            </a:custGeom>
            <a:solidFill>
              <a:srgbClr val="000000"/>
            </a:solidFill>
            <a:ln w="4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F577DE55-0DCB-B00D-B1C0-FE844C10D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25" y="2622629"/>
            <a:ext cx="990738" cy="1695687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671159-0322-FC14-8A7E-B0C4B0CEE525}"/>
              </a:ext>
            </a:extLst>
          </p:cNvPr>
          <p:cNvSpPr/>
          <p:nvPr/>
        </p:nvSpPr>
        <p:spPr>
          <a:xfrm>
            <a:off x="7392122" y="271841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B11AAA-75AE-4732-AB33-29FEA235BEB4}"/>
              </a:ext>
            </a:extLst>
          </p:cNvPr>
          <p:cNvSpPr/>
          <p:nvPr/>
        </p:nvSpPr>
        <p:spPr>
          <a:xfrm>
            <a:off x="6597882" y="3671497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대표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9F7407-E36D-E7E3-27D7-D95B248276D9}"/>
              </a:ext>
            </a:extLst>
          </p:cNvPr>
          <p:cNvSpPr/>
          <p:nvPr/>
        </p:nvSpPr>
        <p:spPr>
          <a:xfrm>
            <a:off x="2600593" y="6405439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9198801-71AB-DDBD-C774-8341372E057B}"/>
              </a:ext>
            </a:extLst>
          </p:cNvPr>
          <p:cNvSpPr/>
          <p:nvPr/>
        </p:nvSpPr>
        <p:spPr>
          <a:xfrm>
            <a:off x="5621855" y="633769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C53EF2-B35C-304E-CA5B-C72EABC03E3E}"/>
              </a:ext>
            </a:extLst>
          </p:cNvPr>
          <p:cNvSpPr/>
          <p:nvPr/>
        </p:nvSpPr>
        <p:spPr>
          <a:xfrm>
            <a:off x="6515154" y="358510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3C93A47B-4C59-6E6A-F329-451C695C8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842917"/>
              </p:ext>
            </p:extLst>
          </p:nvPr>
        </p:nvGraphicFramePr>
        <p:xfrm>
          <a:off x="13256" y="-1312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B09EE046-95CA-9AD1-CD1F-D468880F5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001463"/>
              </p:ext>
            </p:extLst>
          </p:nvPr>
        </p:nvGraphicFramePr>
        <p:xfrm>
          <a:off x="8603673" y="1188047"/>
          <a:ext cx="3588327" cy="5696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2281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 dirty="0" err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05206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60520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검색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필터 설정 후 검색 클릭 시 나타나는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검색결과 목록 리스트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한페이지당 </a:t>
                      </a:r>
                      <a:r>
                        <a:rPr lang="en-US" altLang="ko-KR" sz="1100" dirty="0"/>
                        <a:t>6~7</a:t>
                      </a:r>
                      <a:r>
                        <a:rPr lang="ko-KR" altLang="en-US" sz="1100" dirty="0"/>
                        <a:t>개정도만 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2388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</a:t>
                      </a:r>
                      <a:r>
                        <a:rPr lang="en-US" altLang="ko-KR" sz="1100" dirty="0"/>
                        <a:t>3~4</a:t>
                      </a:r>
                      <a:r>
                        <a:rPr lang="ko-KR" altLang="en-US" sz="1100" dirty="0"/>
                        <a:t>개만 표시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개보다 많을 시 </a:t>
                      </a:r>
                      <a:r>
                        <a:rPr lang="en-US" altLang="ko-KR" sz="1100" dirty="0"/>
                        <a:t>‘….’ substring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상세페이지에서만 태그 전체 보여줌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자료 내용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길이가 </a:t>
                      </a:r>
                      <a:r>
                        <a:rPr lang="en-US" altLang="ko-KR" sz="1100" dirty="0"/>
                        <a:t>100</a:t>
                      </a:r>
                      <a:r>
                        <a:rPr lang="ko-KR" altLang="en-US" sz="1100" dirty="0"/>
                        <a:t>자 넘으면 자동 </a:t>
                      </a:r>
                      <a:r>
                        <a:rPr lang="en-US" altLang="ko-KR" sz="1100" dirty="0"/>
                        <a:t>‘…’ substring.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상세페이지에서만 전체 본문 제공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98225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3.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안전교육 자료 썸네일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0520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 4.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최신순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/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과거순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조회순 정렬기능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Select </a:t>
                      </a: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0520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5. 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페이징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처리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0520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679172" y="2360160"/>
            <a:ext cx="7223295" cy="44052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867773"/>
              </p:ext>
            </p:extLst>
          </p:nvPr>
        </p:nvGraphicFramePr>
        <p:xfrm>
          <a:off x="-1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721294"/>
              </p:ext>
            </p:extLst>
          </p:nvPr>
        </p:nvGraphicFramePr>
        <p:xfrm>
          <a:off x="8603672" y="1180079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668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823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왼쪽상단에 자료 제목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오른쪽 상단에 자료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s_created_at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조회수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s_view_count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안전교육 자료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Modal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11073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자료의 제공 형태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키워드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태그 모두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출처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출처명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크롤링한 내용 원문 표시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전체내용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 자료일 경우만 영상플레이어로 띄움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 자료가 아닐 경우 영상플레이어 없음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영상 안 시작버튼을 눌러야 영상 시작함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KOSHA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상세페이지로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redirect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안되면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26876" y="193680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자료 상세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57012" y="2617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234398" y="3242203"/>
            <a:ext cx="1699755" cy="22839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6073966" y="2537215"/>
            <a:ext cx="1557311" cy="30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작성일  </a:t>
            </a:r>
            <a:r>
              <a:rPr lang="en-US" altLang="ko-KR" sz="1400" dirty="0"/>
              <a:t>| </a:t>
            </a:r>
            <a:r>
              <a:rPr lang="ko-KR" altLang="en-US" sz="1400" dirty="0"/>
              <a:t>조회수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CE361-EBE9-451A-88CB-DF32FF4ACCFC}"/>
              </a:ext>
            </a:extLst>
          </p:cNvPr>
          <p:cNvSpPr txBox="1"/>
          <p:nvPr/>
        </p:nvSpPr>
        <p:spPr>
          <a:xfrm>
            <a:off x="3230041" y="3561876"/>
            <a:ext cx="322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키워드 </a:t>
            </a:r>
            <a:r>
              <a:rPr lang="en-US" altLang="ko-KR" sz="1400" dirty="0"/>
              <a:t>: </a:t>
            </a:r>
            <a:r>
              <a:rPr lang="ko-KR" altLang="en-US" sz="1400" dirty="0"/>
              <a:t>태그</a:t>
            </a:r>
            <a:r>
              <a:rPr lang="en-US" altLang="ko-KR" sz="1400" dirty="0"/>
              <a:t>1, </a:t>
            </a:r>
            <a:r>
              <a:rPr lang="ko-KR" altLang="en-US" sz="1400" dirty="0"/>
              <a:t>태그</a:t>
            </a:r>
            <a:r>
              <a:rPr lang="en-US" altLang="ko-KR" sz="1400" dirty="0"/>
              <a:t>2, </a:t>
            </a:r>
            <a:r>
              <a:rPr lang="ko-KR" altLang="en-US" sz="1400" dirty="0"/>
              <a:t>태그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EAD1-4567-4613-B6A6-24BCC6A86F0C}"/>
              </a:ext>
            </a:extLst>
          </p:cNvPr>
          <p:cNvSpPr txBox="1"/>
          <p:nvPr/>
        </p:nvSpPr>
        <p:spPr>
          <a:xfrm>
            <a:off x="3230041" y="3215528"/>
            <a:ext cx="1699755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형태 </a:t>
            </a:r>
            <a:r>
              <a:rPr lang="en-US" altLang="ko-KR" sz="1400" dirty="0"/>
              <a:t>:OPS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16534" y="4366773"/>
            <a:ext cx="2546977" cy="5425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4305BED-4F5C-EFB8-C6BB-BF698EC0B8C2}"/>
              </a:ext>
            </a:extLst>
          </p:cNvPr>
          <p:cNvCxnSpPr>
            <a:cxnSpLocks/>
          </p:cNvCxnSpPr>
          <p:nvPr/>
        </p:nvCxnSpPr>
        <p:spPr>
          <a:xfrm>
            <a:off x="836620" y="2952243"/>
            <a:ext cx="68675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1213710-B3CC-228D-BB04-68305A7DD2CC}"/>
              </a:ext>
            </a:extLst>
          </p:cNvPr>
          <p:cNvSpPr txBox="1"/>
          <p:nvPr/>
        </p:nvSpPr>
        <p:spPr>
          <a:xfrm>
            <a:off x="1022341" y="2566527"/>
            <a:ext cx="1557311" cy="30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제목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CD453F-217B-F790-8337-E959ACACB2B2}"/>
              </a:ext>
            </a:extLst>
          </p:cNvPr>
          <p:cNvSpPr txBox="1"/>
          <p:nvPr/>
        </p:nvSpPr>
        <p:spPr>
          <a:xfrm>
            <a:off x="3200943" y="3869509"/>
            <a:ext cx="1699755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출처</a:t>
            </a:r>
            <a:r>
              <a:rPr lang="en-US" altLang="ko-KR" sz="1400" dirty="0"/>
              <a:t>: KOSHA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8FFC97-2F69-E899-B77D-9BE4240D7136}"/>
              </a:ext>
            </a:extLst>
          </p:cNvPr>
          <p:cNvSpPr/>
          <p:nvPr/>
        </p:nvSpPr>
        <p:spPr>
          <a:xfrm>
            <a:off x="1151733" y="311462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3BC385-234E-DB72-75D2-66B610C6F8C0}"/>
              </a:ext>
            </a:extLst>
          </p:cNvPr>
          <p:cNvSpPr/>
          <p:nvPr/>
        </p:nvSpPr>
        <p:spPr>
          <a:xfrm>
            <a:off x="3187988" y="309064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7FCDF8-5264-535F-B6B0-00962F1293EF}"/>
              </a:ext>
            </a:extLst>
          </p:cNvPr>
          <p:cNvSpPr/>
          <p:nvPr/>
        </p:nvSpPr>
        <p:spPr>
          <a:xfrm>
            <a:off x="3230041" y="426156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8E43E0A-894B-59F8-9512-2464F587A2B4}"/>
              </a:ext>
            </a:extLst>
          </p:cNvPr>
          <p:cNvSpPr/>
          <p:nvPr/>
        </p:nvSpPr>
        <p:spPr>
          <a:xfrm>
            <a:off x="4454821" y="6089252"/>
            <a:ext cx="3010429" cy="344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원본페이지로 이동 </a:t>
            </a:r>
            <a:r>
              <a:rPr lang="en-US" altLang="ko-KR" sz="1600" dirty="0"/>
              <a:t>(KOSHA)</a:t>
            </a:r>
            <a:endParaRPr lang="ko-KR" altLang="en-US" sz="16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B0104F-3E30-687C-3353-7500424B8FDE}"/>
              </a:ext>
            </a:extLst>
          </p:cNvPr>
          <p:cNvSpPr/>
          <p:nvPr/>
        </p:nvSpPr>
        <p:spPr>
          <a:xfrm>
            <a:off x="7382585" y="59758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6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85A5645-EBE5-463D-B2E1-ECB32B473B38}"/>
              </a:ext>
            </a:extLst>
          </p:cNvPr>
          <p:cNvSpPr/>
          <p:nvPr/>
        </p:nvSpPr>
        <p:spPr>
          <a:xfrm>
            <a:off x="6292227" y="331675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55863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1"/>
          <a:ext cx="3588327" cy="5685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485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4204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260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="1" dirty="0"/>
                        <a:t>연관 콘텐츠 추천 기준</a:t>
                      </a:r>
                      <a:endParaRPr lang="ko-KR" altLang="en-US" sz="1100" dirty="0"/>
                    </a:p>
                    <a:p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순위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현재 자료와 </a:t>
                      </a:r>
                      <a:r>
                        <a:rPr lang="ko-KR" altLang="en-US" sz="1100" b="1" dirty="0"/>
                        <a:t>겹치는 태그 개수가 </a:t>
                      </a:r>
                      <a:r>
                        <a:rPr lang="ko-KR" altLang="en-US" sz="1100" dirty="0"/>
                        <a:t>많은 순</a:t>
                      </a:r>
                    </a:p>
                    <a:p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순위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b="1" dirty="0"/>
                        <a:t>조회수</a:t>
                      </a:r>
                      <a:r>
                        <a:rPr lang="en-US" altLang="ko-KR" sz="1100" b="1" dirty="0"/>
                        <a:t>(</a:t>
                      </a:r>
                      <a:r>
                        <a:rPr lang="en-US" altLang="ko-KR" sz="1100" b="1" dirty="0" err="1"/>
                        <a:t>s_view_count</a:t>
                      </a:r>
                      <a:r>
                        <a:rPr lang="en-US" altLang="ko-KR" sz="1100" b="1" dirty="0"/>
                        <a:t>)</a:t>
                      </a:r>
                      <a:r>
                        <a:rPr lang="ko-KR" altLang="en-US" sz="1100" dirty="0"/>
                        <a:t> 높은 순</a:t>
                      </a:r>
                    </a:p>
                    <a:p>
                      <a:r>
                        <a:rPr lang="en-US" altLang="ko-KR" sz="1100" dirty="0"/>
                        <a:t>3</a:t>
                      </a:r>
                      <a:r>
                        <a:rPr lang="ko-KR" altLang="en-US" sz="1100" dirty="0"/>
                        <a:t>순위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최신 등록일</a:t>
                      </a:r>
                      <a:r>
                        <a:rPr lang="en-US" altLang="ko-KR" sz="1100" dirty="0"/>
                        <a:t>(</a:t>
                      </a:r>
                      <a:r>
                        <a:rPr lang="en-US" altLang="ko-KR" sz="1100" dirty="0" err="1"/>
                        <a:t>s_created_at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내림차순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동점일 경우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093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ko-KR" alt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자료제목이나 이미지 클릭 시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해당 자료 상세페이지로 이동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41746" y="2458157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연관 컨텐츠</a:t>
            </a:r>
            <a:endParaRPr lang="ko-KR" altLang="en-US" b="1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A2C5AB-45B2-1657-4F63-B781482091C9}"/>
              </a:ext>
            </a:extLst>
          </p:cNvPr>
          <p:cNvGrpSpPr/>
          <p:nvPr/>
        </p:nvGrpSpPr>
        <p:grpSpPr>
          <a:xfrm>
            <a:off x="1331556" y="3807373"/>
            <a:ext cx="1615045" cy="2115833"/>
            <a:chOff x="1331556" y="3807373"/>
            <a:chExt cx="1615045" cy="211583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9C778B3-9477-7B90-9347-1744D206ACDE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9036009-1E84-40D9-8452-AF2B6FABE2A7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자료 제목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5C8542-72BC-4B0D-B287-7709063DF0A8}"/>
              </a:ext>
            </a:extLst>
          </p:cNvPr>
          <p:cNvSpPr/>
          <p:nvPr/>
        </p:nvSpPr>
        <p:spPr>
          <a:xfrm>
            <a:off x="3262113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9B6AC-91CE-4152-8A93-8BC40DE65638}"/>
              </a:ext>
            </a:extLst>
          </p:cNvPr>
          <p:cNvSpPr txBox="1"/>
          <p:nvPr/>
        </p:nvSpPr>
        <p:spPr>
          <a:xfrm>
            <a:off x="3557274" y="5553874"/>
            <a:ext cx="120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3AE670-FEF4-46C7-AC24-9AB108ACE4BE}"/>
              </a:ext>
            </a:extLst>
          </p:cNvPr>
          <p:cNvSpPr/>
          <p:nvPr/>
        </p:nvSpPr>
        <p:spPr>
          <a:xfrm>
            <a:off x="5243119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E1308-0BF9-4364-8DAF-5A195CD52CB8}"/>
              </a:ext>
            </a:extLst>
          </p:cNvPr>
          <p:cNvSpPr txBox="1"/>
          <p:nvPr/>
        </p:nvSpPr>
        <p:spPr>
          <a:xfrm>
            <a:off x="5538280" y="5553874"/>
            <a:ext cx="12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제목</a:t>
            </a:r>
          </a:p>
        </p:txBody>
      </p:sp>
      <p:sp>
        <p:nvSpPr>
          <p:cNvPr id="18" name="1/2 액자 17">
            <a:extLst>
              <a:ext uri="{FF2B5EF4-FFF2-40B4-BE49-F238E27FC236}">
                <a16:creationId xmlns:a16="http://schemas.microsoft.com/office/drawing/2014/main" id="{2802CFE5-1F41-4EE5-A878-114242E99261}"/>
              </a:ext>
            </a:extLst>
          </p:cNvPr>
          <p:cNvSpPr/>
          <p:nvPr/>
        </p:nvSpPr>
        <p:spPr>
          <a:xfrm rot="19002226">
            <a:off x="662152" y="4363895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1/2 액자 18">
            <a:extLst>
              <a:ext uri="{FF2B5EF4-FFF2-40B4-BE49-F238E27FC236}">
                <a16:creationId xmlns:a16="http://schemas.microsoft.com/office/drawing/2014/main" id="{69A34B69-3FFB-4757-9269-7F5CF031CA69}"/>
              </a:ext>
            </a:extLst>
          </p:cNvPr>
          <p:cNvSpPr/>
          <p:nvPr/>
        </p:nvSpPr>
        <p:spPr>
          <a:xfrm rot="8009119">
            <a:off x="7096140" y="4326002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197FC3-91D3-25BC-E48C-1D36D78E8DC3}"/>
              </a:ext>
            </a:extLst>
          </p:cNvPr>
          <p:cNvSpPr/>
          <p:nvPr/>
        </p:nvSpPr>
        <p:spPr>
          <a:xfrm>
            <a:off x="1070970" y="372098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FF257F1-19A1-C0CE-2F3A-7DF25A638ACF}"/>
              </a:ext>
            </a:extLst>
          </p:cNvPr>
          <p:cNvSpPr/>
          <p:nvPr/>
        </p:nvSpPr>
        <p:spPr>
          <a:xfrm>
            <a:off x="567536" y="3091161"/>
            <a:ext cx="7286388" cy="31505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F260A1-F691-15B3-D93D-FD3180E9F8EF}"/>
              </a:ext>
            </a:extLst>
          </p:cNvPr>
          <p:cNvSpPr txBox="1"/>
          <p:nvPr/>
        </p:nvSpPr>
        <p:spPr>
          <a:xfrm>
            <a:off x="7290770" y="4363948"/>
            <a:ext cx="1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469744-6956-2217-652F-AFB394E9E66A}"/>
              </a:ext>
            </a:extLst>
          </p:cNvPr>
          <p:cNvSpPr txBox="1"/>
          <p:nvPr/>
        </p:nvSpPr>
        <p:spPr>
          <a:xfrm>
            <a:off x="881746" y="4261385"/>
            <a:ext cx="36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7AB9D08-CD86-897C-2450-BA8FB75AA88F}"/>
              </a:ext>
            </a:extLst>
          </p:cNvPr>
          <p:cNvSpPr/>
          <p:nvPr/>
        </p:nvSpPr>
        <p:spPr>
          <a:xfrm>
            <a:off x="450825" y="3023050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99B6E-8744-29F2-6907-5855C49392E7}"/>
              </a:ext>
            </a:extLst>
          </p:cNvPr>
          <p:cNvGrpSpPr/>
          <p:nvPr/>
        </p:nvGrpSpPr>
        <p:grpSpPr>
          <a:xfrm>
            <a:off x="1729772" y="3444702"/>
            <a:ext cx="1328756" cy="2577155"/>
            <a:chOff x="1331556" y="3807373"/>
            <a:chExt cx="1615045" cy="214558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3CF4179-1D3E-F05F-E1B7-80E3590C4018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BDB8500-ED76-1D90-0655-E5E9F866E51A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A1433E4-4434-03DF-A504-A0A9094CB991}"/>
              </a:ext>
            </a:extLst>
          </p:cNvPr>
          <p:cNvGrpSpPr/>
          <p:nvPr/>
        </p:nvGrpSpPr>
        <p:grpSpPr>
          <a:xfrm>
            <a:off x="5376836" y="3444702"/>
            <a:ext cx="1328756" cy="2577155"/>
            <a:chOff x="1331556" y="3807373"/>
            <a:chExt cx="1615045" cy="214558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C39DA83-B273-4166-9FE8-0B760FC54CDA}"/>
                </a:ext>
              </a:extLst>
            </p:cNvPr>
            <p:cNvSpPr/>
            <p:nvPr/>
          </p:nvSpPr>
          <p:spPr>
            <a:xfrm>
              <a:off x="1331556" y="3807373"/>
              <a:ext cx="1615045" cy="16601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8D7C68-DAA1-6A78-F121-2F9151040C8B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6BB3A70-4A36-9F03-5F7C-C1DCD62B30A1}"/>
              </a:ext>
            </a:extLst>
          </p:cNvPr>
          <p:cNvGrpSpPr/>
          <p:nvPr/>
        </p:nvGrpSpPr>
        <p:grpSpPr>
          <a:xfrm>
            <a:off x="3553304" y="3444702"/>
            <a:ext cx="1328756" cy="2577155"/>
            <a:chOff x="1331556" y="3807373"/>
            <a:chExt cx="1615045" cy="214558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BA67081-F92A-83D7-A189-92449D8F139E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E43925-3198-FC33-EE37-12E0B0A688D5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69351D-AD04-B591-7B29-D9BB24EC6F72}"/>
              </a:ext>
            </a:extLst>
          </p:cNvPr>
          <p:cNvSpPr/>
          <p:nvPr/>
        </p:nvSpPr>
        <p:spPr>
          <a:xfrm>
            <a:off x="1665525" y="5357839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1706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C1F2-5328-4756-8968-8C07AED4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산재 검색</a:t>
            </a:r>
          </a:p>
        </p:txBody>
      </p:sp>
    </p:spTree>
    <p:extLst>
      <p:ext uri="{BB962C8B-B14F-4D97-AF65-F5344CB8AC3E}">
        <p14:creationId xmlns:p14="http://schemas.microsoft.com/office/powerpoint/2010/main" val="21911676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2517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95309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52851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B23EE5-4830-38F5-ABCB-D3C5120861B9}"/>
              </a:ext>
            </a:extLst>
          </p:cNvPr>
          <p:cNvSpPr/>
          <p:nvPr/>
        </p:nvSpPr>
        <p:spPr>
          <a:xfrm>
            <a:off x="732492" y="2991364"/>
            <a:ext cx="6988627" cy="3471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46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71484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필터링하여 지도에 마킹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표시되어 있는 총 발생 건수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반경에 따라 발생건수 업데이트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마커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연동된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 상세정보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상세정보 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rgbClr val="FF0000"/>
                          </a:solidFill>
                        </a:rPr>
                        <a:t>발생년도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관할구역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소재지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 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사고지역은 개인 산재 데이터를 기준으로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별칭과 발생주소를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드롭다운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구현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88C13-2B2E-F909-EC1E-B4FE5533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6" y="3387425"/>
            <a:ext cx="6493164" cy="30246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D013E3-B0E5-9B84-6519-88988CDA57F4}"/>
              </a:ext>
            </a:extLst>
          </p:cNvPr>
          <p:cNvSpPr/>
          <p:nvPr/>
        </p:nvSpPr>
        <p:spPr>
          <a:xfrm>
            <a:off x="686484" y="2906373"/>
            <a:ext cx="6988627" cy="4304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근무지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산업재해 상황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주변 산업재해 발생 현황을 확인하세요                                                                      </a:t>
            </a:r>
            <a:r>
              <a:rPr lang="en-US" altLang="ko-KR" sz="700" dirty="0">
                <a:solidFill>
                  <a:schemeClr val="tx1"/>
                </a:solidFill>
              </a:rPr>
              <a:t>		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3BF85-21DD-A604-CF53-EB9B6F671E55}"/>
              </a:ext>
            </a:extLst>
          </p:cNvPr>
          <p:cNvSpPr/>
          <p:nvPr/>
        </p:nvSpPr>
        <p:spPr>
          <a:xfrm>
            <a:off x="6819782" y="2296082"/>
            <a:ext cx="137156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총 발생 건수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E79A5F-30FF-A302-12D8-A30502C6697C}"/>
              </a:ext>
            </a:extLst>
          </p:cNvPr>
          <p:cNvSpPr/>
          <p:nvPr/>
        </p:nvSpPr>
        <p:spPr>
          <a:xfrm>
            <a:off x="392477" y="2310457"/>
            <a:ext cx="6260803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  						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B0B057-1F02-5BB5-9536-741458F839D5}"/>
              </a:ext>
            </a:extLst>
          </p:cNvPr>
          <p:cNvSpPr/>
          <p:nvPr/>
        </p:nvSpPr>
        <p:spPr>
          <a:xfrm>
            <a:off x="1335824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A59CC-0869-9970-969C-EB7B73631F4B}"/>
              </a:ext>
            </a:extLst>
          </p:cNvPr>
          <p:cNvSpPr/>
          <p:nvPr/>
        </p:nvSpPr>
        <p:spPr>
          <a:xfrm>
            <a:off x="283875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3174-412B-617A-1C4F-E0212F159BC7}"/>
              </a:ext>
            </a:extLst>
          </p:cNvPr>
          <p:cNvSpPr/>
          <p:nvPr/>
        </p:nvSpPr>
        <p:spPr>
          <a:xfrm>
            <a:off x="433804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054A4F74-B9F7-E170-D668-B8915D9ECF53}"/>
              </a:ext>
            </a:extLst>
          </p:cNvPr>
          <p:cNvSpPr/>
          <p:nvPr/>
        </p:nvSpPr>
        <p:spPr>
          <a:xfrm>
            <a:off x="2941210" y="3498671"/>
            <a:ext cx="1655551" cy="509139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소재지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관할구역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 err="1">
                <a:solidFill>
                  <a:schemeClr val="tx1"/>
                </a:solidFill>
              </a:rPr>
              <a:t>발생년도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162887-3326-462F-A4A7-3A7BAF7CC2C1}"/>
              </a:ext>
            </a:extLst>
          </p:cNvPr>
          <p:cNvSpPr/>
          <p:nvPr/>
        </p:nvSpPr>
        <p:spPr>
          <a:xfrm>
            <a:off x="331668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3F6A1A-D5B7-4655-A199-F905BAAA6FDF}"/>
              </a:ext>
            </a:extLst>
          </p:cNvPr>
          <p:cNvSpPr/>
          <p:nvPr/>
        </p:nvSpPr>
        <p:spPr>
          <a:xfrm>
            <a:off x="6853066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ED02C6-D2C7-47CA-9A4F-EC9B17A81868}"/>
              </a:ext>
            </a:extLst>
          </p:cNvPr>
          <p:cNvSpPr/>
          <p:nvPr/>
        </p:nvSpPr>
        <p:spPr>
          <a:xfrm>
            <a:off x="2693216" y="394231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155C6-DB09-49CD-9E4A-B7F42F99F78C}"/>
              </a:ext>
            </a:extLst>
          </p:cNvPr>
          <p:cNvSpPr/>
          <p:nvPr/>
        </p:nvSpPr>
        <p:spPr>
          <a:xfrm>
            <a:off x="4302341" y="22708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22" name="Rect 0">
            <a:extLst>
              <a:ext uri="{FF2B5EF4-FFF2-40B4-BE49-F238E27FC236}">
                <a16:creationId xmlns:a16="http://schemas.microsoft.com/office/drawing/2014/main" id="{F676084E-2B43-4A91-BF9F-B87B4F91C468}"/>
              </a:ext>
            </a:extLst>
          </p:cNvPr>
          <p:cNvSpPr>
            <a:spLocks/>
          </p:cNvSpPr>
          <p:nvPr/>
        </p:nvSpPr>
        <p:spPr>
          <a:xfrm>
            <a:off x="4410710" y="2712085"/>
            <a:ext cx="1279525" cy="1102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rtl="0" eaLnBrk="1" latinLnBrk="1" hangingPunct="1">
              <a:buFontTx/>
              <a:buNone/>
            </a:pPr>
            <a:r>
              <a:rPr sz="1200" b="1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산재 정보 목록</a:t>
            </a:r>
            <a:endParaRPr lang="ko-KR" altLang="en-US" sz="1200" b="1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algn="ctr" defTabSz="914400" rtl="0" eaLnBrk="1" latinLnBrk="1" hangingPunct="1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별칭1  발생주소</a:t>
            </a:r>
            <a:r>
              <a:rPr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별칭2 </a:t>
            </a:r>
            <a:r>
              <a:rPr lang="ko-KR"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발생주소</a:t>
            </a:r>
            <a:endParaRPr lang="ko-KR" altLang="en-US" sz="11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algn="ctr" defTabSz="914400" rtl="0" eaLnBrk="1" latinLnBrk="1" hangingPunct="1">
              <a:buFontTx/>
              <a:buNone/>
            </a:pPr>
            <a:r>
              <a:rPr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별칭3 </a:t>
            </a:r>
            <a:r>
              <a:rPr lang="ko-KR"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발생주소</a:t>
            </a:r>
            <a:endParaRPr lang="ko-KR" altLang="en-US" sz="11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6245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26912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 지역에 따라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마커표시된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산업재해 목록 리스트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위치 기준 가까운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 산업재해 리스트 제공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B4CC7-4047-AD24-079F-AC9E13AB8090}"/>
              </a:ext>
            </a:extLst>
          </p:cNvPr>
          <p:cNvSpPr/>
          <p:nvPr/>
        </p:nvSpPr>
        <p:spPr>
          <a:xfrm>
            <a:off x="498099" y="2484310"/>
            <a:ext cx="7921372" cy="4769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산업재해 목록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Top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5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9CEDE5-2964-B986-D05A-9A01041AB654}"/>
              </a:ext>
            </a:extLst>
          </p:cNvPr>
          <p:cNvSpPr/>
          <p:nvPr/>
        </p:nvSpPr>
        <p:spPr>
          <a:xfrm>
            <a:off x="498099" y="295376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2BCF-CB4C-9EAC-5C79-71E4ACF7DA31}"/>
              </a:ext>
            </a:extLst>
          </p:cNvPr>
          <p:cNvSpPr/>
          <p:nvPr/>
        </p:nvSpPr>
        <p:spPr>
          <a:xfrm>
            <a:off x="498099" y="351981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C5155-132A-0A51-5AF8-6A34DB21CA11}"/>
              </a:ext>
            </a:extLst>
          </p:cNvPr>
          <p:cNvSpPr/>
          <p:nvPr/>
        </p:nvSpPr>
        <p:spPr>
          <a:xfrm>
            <a:off x="498099" y="402974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DEDFE5-28AB-86DD-8801-EA74829CF65E}"/>
              </a:ext>
            </a:extLst>
          </p:cNvPr>
          <p:cNvSpPr/>
          <p:nvPr/>
        </p:nvSpPr>
        <p:spPr>
          <a:xfrm>
            <a:off x="498098" y="453966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35A85-FFA4-7B7F-6D28-CF4164425CAE}"/>
              </a:ext>
            </a:extLst>
          </p:cNvPr>
          <p:cNvSpPr/>
          <p:nvPr/>
        </p:nvSpPr>
        <p:spPr>
          <a:xfrm>
            <a:off x="498097" y="511214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5️⃣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B7746F-ACE0-4C39-8831-58120F25C456}"/>
              </a:ext>
            </a:extLst>
          </p:cNvPr>
          <p:cNvSpPr/>
          <p:nvPr/>
        </p:nvSpPr>
        <p:spPr>
          <a:xfrm>
            <a:off x="359131" y="2305600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4E7E2-68BB-43CD-AC4F-DC564D5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병원 검색</a:t>
            </a:r>
          </a:p>
        </p:txBody>
      </p:sp>
    </p:spTree>
    <p:extLst>
      <p:ext uri="{BB962C8B-B14F-4D97-AF65-F5344CB8AC3E}">
        <p14:creationId xmlns:p14="http://schemas.microsoft.com/office/powerpoint/2010/main" val="33720866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62787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체크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0536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94138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486051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93521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산재지정의료기관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 위치기준 필터링 되어 나온 가까운 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Top10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 제공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의료기관 상세보기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병원 상세 페이지로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1958850"/>
            <a:ext cx="7921374" cy="8140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	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선택한 위치를 기준으로 가까운 산재지정의료기관을 찾아드립니다</a:t>
            </a:r>
            <a:r>
              <a:rPr lang="en-US" altLang="ko-KR" sz="800" dirty="0">
                <a:solidFill>
                  <a:schemeClr val="tx1"/>
                </a:solidFill>
              </a:rPr>
              <a:t>.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52295-7A4D-414D-945F-360595F9CECB}"/>
              </a:ext>
            </a:extLst>
          </p:cNvPr>
          <p:cNvSpPr/>
          <p:nvPr/>
        </p:nvSpPr>
        <p:spPr>
          <a:xfrm>
            <a:off x="1973982" y="2167306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8F4AFB-BF0F-2958-1157-4A699F801C27}"/>
              </a:ext>
            </a:extLst>
          </p:cNvPr>
          <p:cNvSpPr/>
          <p:nvPr/>
        </p:nvSpPr>
        <p:spPr>
          <a:xfrm>
            <a:off x="3662889" y="2172460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E1E5D8-83CD-27C1-3581-DBB7E28AD163}"/>
              </a:ext>
            </a:extLst>
          </p:cNvPr>
          <p:cNvSpPr/>
          <p:nvPr/>
        </p:nvSpPr>
        <p:spPr>
          <a:xfrm>
            <a:off x="5467432" y="2181351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412040" y="2808575"/>
            <a:ext cx="7921375" cy="4586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❗ 산재 </a:t>
            </a:r>
            <a:r>
              <a:rPr lang="ko-KR" altLang="en-US" sz="800" b="1" dirty="0" err="1">
                <a:solidFill>
                  <a:schemeClr val="tx1"/>
                </a:solidFill>
              </a:rPr>
              <a:t>지정의료기관이란</a:t>
            </a:r>
            <a:r>
              <a:rPr lang="en-US" altLang="ko-KR" sz="800" b="1" dirty="0">
                <a:solidFill>
                  <a:schemeClr val="tx1"/>
                </a:solidFill>
              </a:rPr>
              <a:t>?</a:t>
            </a:r>
          </a:p>
          <a:p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근로복지공단이 지정한 의료기관으로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산업재해를 당한 근로자가 요양급여를 받을 수 있는 병원입니다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.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산재보험 적용을 받으며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치료비 부담 없이 진료를 받으실 수 있습니다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12039" y="342900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주변 산재지정의료기관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           Top 10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12038" y="371520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74AB6E-3C41-B2D7-3769-1211D70C4565}"/>
              </a:ext>
            </a:extLst>
          </p:cNvPr>
          <p:cNvSpPr/>
          <p:nvPr/>
        </p:nvSpPr>
        <p:spPr>
          <a:xfrm>
            <a:off x="412038" y="425289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F4B3FAC-DEC1-2747-EDAD-906604AA7793}"/>
              </a:ext>
            </a:extLst>
          </p:cNvPr>
          <p:cNvSpPr/>
          <p:nvPr/>
        </p:nvSpPr>
        <p:spPr>
          <a:xfrm>
            <a:off x="412037" y="4790588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499618-A5E6-FA6F-9E16-49F3B022FB75}"/>
              </a:ext>
            </a:extLst>
          </p:cNvPr>
          <p:cNvSpPr/>
          <p:nvPr/>
        </p:nvSpPr>
        <p:spPr>
          <a:xfrm>
            <a:off x="412037" y="535042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66A60-525D-4F6C-B665-C5C68A2237C0}"/>
              </a:ext>
            </a:extLst>
          </p:cNvPr>
          <p:cNvSpPr/>
          <p:nvPr/>
        </p:nvSpPr>
        <p:spPr>
          <a:xfrm>
            <a:off x="273075" y="182286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54A6F-3F09-4BAD-836A-FEAADB60E581}"/>
              </a:ext>
            </a:extLst>
          </p:cNvPr>
          <p:cNvSpPr/>
          <p:nvPr/>
        </p:nvSpPr>
        <p:spPr>
          <a:xfrm>
            <a:off x="273075" y="322685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010669-6DD9-452C-993B-5DDFE60726EE}"/>
              </a:ext>
            </a:extLst>
          </p:cNvPr>
          <p:cNvSpPr/>
          <p:nvPr/>
        </p:nvSpPr>
        <p:spPr>
          <a:xfrm>
            <a:off x="7356666" y="380919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93584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3766"/>
            <a:ext cx="7921373" cy="1276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종별 </a:t>
            </a:r>
            <a:r>
              <a:rPr lang="en-US" altLang="ko-KR" sz="1200" dirty="0">
                <a:solidFill>
                  <a:schemeClr val="tx1"/>
                </a:solidFill>
              </a:rPr>
              <a:t>:	 ex) </a:t>
            </a:r>
            <a:r>
              <a:rPr lang="ko-KR" altLang="en-US" sz="1200" dirty="0">
                <a:solidFill>
                  <a:schemeClr val="tx1"/>
                </a:solidFill>
              </a:rPr>
              <a:t>요양병원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부가기능</a:t>
            </a:r>
            <a:r>
              <a:rPr lang="en-US" altLang="ko-KR" sz="1200" dirty="0">
                <a:solidFill>
                  <a:schemeClr val="tx1"/>
                </a:solidFill>
              </a:rPr>
              <a:t>: 	ex)</a:t>
            </a:r>
            <a:r>
              <a:rPr lang="ko-KR" altLang="en-US" sz="1200" dirty="0">
                <a:solidFill>
                  <a:schemeClr val="tx1"/>
                </a:solidFill>
              </a:rPr>
              <a:t> 진폐요양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재활인증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만료일</a:t>
            </a:r>
            <a:r>
              <a:rPr lang="en-US" altLang="ko-KR" sz="1200" dirty="0">
                <a:solidFill>
                  <a:schemeClr val="tx1"/>
                </a:solidFill>
              </a:rPr>
              <a:t>): 2026-12-31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진료제한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기간</a:t>
            </a:r>
            <a:r>
              <a:rPr lang="en-US" altLang="ko-KR" sz="1200" dirty="0">
                <a:solidFill>
                  <a:schemeClr val="tx1"/>
                </a:solidFill>
              </a:rPr>
              <a:t>) : -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의료기관평가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평가연도</a:t>
            </a:r>
            <a:r>
              <a:rPr lang="en-US" altLang="ko-KR" sz="1200" dirty="0">
                <a:solidFill>
                  <a:schemeClr val="tx1"/>
                </a:solidFill>
              </a:rPr>
              <a:t>): -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55195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7897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2"/>
                        </a:rPr>
                        <a:t>https://www.comwel.or.kr/comwel/medi/orsc.jsp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하여 해당 산재 지정 의료기관 상세기본 정보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상세정보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해당 산재 지정 의료기관 위치를 마커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줌 레벨 만들어보면서 체크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01B261-018F-1972-F95A-F2A29EE5D0BA}"/>
              </a:ext>
            </a:extLst>
          </p:cNvPr>
          <p:cNvSpPr/>
          <p:nvPr/>
        </p:nvSpPr>
        <p:spPr>
          <a:xfrm>
            <a:off x="412036" y="4614247"/>
            <a:ext cx="7921373" cy="1666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438A21-BDB9-82D2-BA28-499D756C932D}"/>
              </a:ext>
            </a:extLst>
          </p:cNvPr>
          <p:cNvSpPr/>
          <p:nvPr/>
        </p:nvSpPr>
        <p:spPr>
          <a:xfrm>
            <a:off x="412036" y="4562902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위치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8A08974-DF31-D653-B804-468A12B3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9" y="4984640"/>
            <a:ext cx="4705564" cy="127123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BFF38D-AA72-4206-BB48-55B7A5D46FD0}"/>
              </a:ext>
            </a:extLst>
          </p:cNvPr>
          <p:cNvSpPr/>
          <p:nvPr/>
        </p:nvSpPr>
        <p:spPr>
          <a:xfrm>
            <a:off x="286759" y="197859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D259DD-C29D-494F-887A-1FCD8CD4297D}"/>
              </a:ext>
            </a:extLst>
          </p:cNvPr>
          <p:cNvSpPr/>
          <p:nvPr/>
        </p:nvSpPr>
        <p:spPr>
          <a:xfrm>
            <a:off x="266226" y="451272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19838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428673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중단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991116"/>
              </p:ext>
            </p:extLst>
          </p:nvPr>
        </p:nvGraphicFramePr>
        <p:xfrm>
          <a:off x="8603672" y="1180080"/>
          <a:ext cx="3588327" cy="686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25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7635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중단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6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 날짜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만약 로그인한 사용자가 입력한 리뷰라면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 버튼 추가 구현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작성시 로그인 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이용가능하게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구현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로그인하라고 사용자에게 인지시키기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띄우고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한번더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사용자에게 인지 시키기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4877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0D4F2ED-1259-46B0-939F-32EF7E4E7E3C}"/>
              </a:ext>
            </a:extLst>
          </p:cNvPr>
          <p:cNvSpPr/>
          <p:nvPr/>
        </p:nvSpPr>
        <p:spPr>
          <a:xfrm>
            <a:off x="425725" y="2326681"/>
            <a:ext cx="7921373" cy="13251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latinLnBrk="1">
              <a:defRPr/>
            </a:pPr>
            <a:endParaRPr lang="ko-KR" altLang="en-US" sz="1200" b="0">
              <a:solidFill>
                <a:schemeClr val="tx1"/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2341EFB-79CA-45A7-8884-BA6F5A0E4DEA}"/>
              </a:ext>
            </a:extLst>
          </p:cNvPr>
          <p:cNvSpPr/>
          <p:nvPr/>
        </p:nvSpPr>
        <p:spPr>
          <a:xfrm>
            <a:off x="425725" y="2119629"/>
            <a:ext cx="7918834" cy="32962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400" b="1">
                <a:solidFill>
                  <a:schemeClr val="tx1"/>
                </a:solidFill>
              </a:rPr>
              <a:t>리뷰</a:t>
            </a:r>
            <a:endParaRPr lang="en-US" altLang="ko-KR" sz="1050" b="1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DBF3232-4698-4ED0-B40B-34503B402032}"/>
              </a:ext>
            </a:extLst>
          </p:cNvPr>
          <p:cNvSpPr/>
          <p:nvPr/>
        </p:nvSpPr>
        <p:spPr>
          <a:xfrm>
            <a:off x="421561" y="381503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>
                <a:solidFill>
                  <a:schemeClr val="tx1"/>
                </a:solidFill>
              </a:rPr>
              <a:t>작성자</a:t>
            </a:r>
            <a:r>
              <a:rPr lang="en-US" altLang="ko-KR" sz="1000">
                <a:solidFill>
                  <a:schemeClr val="tx1"/>
                </a:solidFill>
              </a:rPr>
              <a:t>ID:   </a:t>
            </a:r>
            <a:r>
              <a:rPr lang="ko-KR" altLang="en-US" sz="1000">
                <a:solidFill>
                  <a:schemeClr val="tx1"/>
                </a:solidFill>
              </a:rPr>
              <a:t>여기 병원  별로</a:t>
            </a:r>
            <a:r>
              <a:rPr lang="en-US" altLang="ko-KR" sz="1000">
                <a:solidFill>
                  <a:schemeClr val="tx1"/>
                </a:solidFill>
              </a:rPr>
              <a:t>1….. 					              2025-10-23   	             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FFB851B-F391-481E-9FB2-15B8A639D684}"/>
              </a:ext>
            </a:extLst>
          </p:cNvPr>
          <p:cNvSpPr/>
          <p:nvPr/>
        </p:nvSpPr>
        <p:spPr>
          <a:xfrm>
            <a:off x="421561" y="437487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39516F0-D188-49F6-BCDD-6A4829E4AB43}"/>
              </a:ext>
            </a:extLst>
          </p:cNvPr>
          <p:cNvSpPr/>
          <p:nvPr/>
        </p:nvSpPr>
        <p:spPr>
          <a:xfrm>
            <a:off x="423185" y="493471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>
                <a:solidFill>
                  <a:schemeClr val="tx1"/>
                </a:solidFill>
              </a:rPr>
              <a:t>작성자</a:t>
            </a:r>
            <a:r>
              <a:rPr lang="en-US" altLang="ko-KR" sz="1000">
                <a:solidFill>
                  <a:schemeClr val="tx1"/>
                </a:solidFill>
              </a:rPr>
              <a:t>ID:   </a:t>
            </a:r>
            <a:r>
              <a:rPr lang="ko-KR" altLang="en-US" sz="1000">
                <a:solidFill>
                  <a:schemeClr val="tx1"/>
                </a:solidFill>
              </a:rPr>
              <a:t>여기 병원  별로</a:t>
            </a:r>
            <a:r>
              <a:rPr lang="en-US" altLang="ko-KR" sz="1000">
                <a:solidFill>
                  <a:schemeClr val="tx1"/>
                </a:solidFill>
              </a:rPr>
              <a:t>3….. 					              2022-10-23 	             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DA00495-5280-4BD8-8B5B-F026814D42CE}"/>
              </a:ext>
            </a:extLst>
          </p:cNvPr>
          <p:cNvSpPr/>
          <p:nvPr/>
        </p:nvSpPr>
        <p:spPr>
          <a:xfrm>
            <a:off x="7358474" y="4680207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B0E3C1E-5323-4936-BE23-C4FE71FABC10}"/>
              </a:ext>
            </a:extLst>
          </p:cNvPr>
          <p:cNvSpPr/>
          <p:nvPr/>
        </p:nvSpPr>
        <p:spPr>
          <a:xfrm>
            <a:off x="7846577" y="4678639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00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2659AD7-7A5F-47B2-9FE2-4CBC9D9AE313}"/>
              </a:ext>
            </a:extLst>
          </p:cNvPr>
          <p:cNvSpPr/>
          <p:nvPr/>
        </p:nvSpPr>
        <p:spPr>
          <a:xfrm>
            <a:off x="421562" y="549455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>
                <a:solidFill>
                  <a:schemeClr val="tx1"/>
                </a:solidFill>
              </a:rPr>
              <a:t>작성자</a:t>
            </a:r>
            <a:r>
              <a:rPr lang="en-US" altLang="ko-KR" sz="1000">
                <a:solidFill>
                  <a:schemeClr val="tx1"/>
                </a:solidFill>
              </a:rPr>
              <a:t>ID:   </a:t>
            </a:r>
            <a:r>
              <a:rPr lang="ko-KR" altLang="en-US" sz="1000">
                <a:solidFill>
                  <a:schemeClr val="tx1"/>
                </a:solidFill>
              </a:rPr>
              <a:t>여기 병원  별로</a:t>
            </a:r>
            <a:r>
              <a:rPr lang="en-US" altLang="ko-KR" sz="100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EA88DB4-2845-4B4D-B0D3-E8186E0D2F31}"/>
              </a:ext>
            </a:extLst>
          </p:cNvPr>
          <p:cNvSpPr/>
          <p:nvPr/>
        </p:nvSpPr>
        <p:spPr>
          <a:xfrm>
            <a:off x="2749872" y="6117039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200">
                <a:solidFill>
                  <a:schemeClr val="tx1"/>
                </a:solidFill>
              </a:rPr>
              <a:t>더보기 </a:t>
            </a:r>
          </a:p>
        </p:txBody>
      </p:sp>
      <p:sp>
        <p:nvSpPr>
          <p:cNvPr id="59" name="사각형: 둥근 모서리 11">
            <a:extLst>
              <a:ext uri="{FF2B5EF4-FFF2-40B4-BE49-F238E27FC236}">
                <a16:creationId xmlns:a16="http://schemas.microsoft.com/office/drawing/2014/main" id="{F7C5D9AF-AE27-4B5A-B2B3-E63E7644E76C}"/>
              </a:ext>
            </a:extLst>
          </p:cNvPr>
          <p:cNvSpPr/>
          <p:nvPr/>
        </p:nvSpPr>
        <p:spPr>
          <a:xfrm>
            <a:off x="6714108" y="3277000"/>
            <a:ext cx="1535260" cy="304000"/>
          </a:xfrm>
          <a:prstGeom prst="roundRect">
            <a:avLst>
              <a:gd name="adj" fmla="val 16667"/>
            </a:avLst>
          </a:prstGeom>
          <a:solidFill>
            <a:srgbClr val="0D0D0D">
              <a:alpha val="100000"/>
            </a:srgbClr>
          </a:solidFill>
          <a:ln w="19050" cap="flat" cmpd="sng" algn="ctr">
            <a:solidFill>
              <a:srgbClr val="475E9C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100" b="0" i="0" u="none" strike="noStrike" kern="1200" cap="none" spc="0" normalizeH="0" baseline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리뷰 등록하기  </a:t>
            </a:r>
          </a:p>
        </p:txBody>
      </p:sp>
      <p:sp>
        <p:nvSpPr>
          <p:cNvPr id="60" name="사각형: 둥근 모서리 12">
            <a:extLst>
              <a:ext uri="{FF2B5EF4-FFF2-40B4-BE49-F238E27FC236}">
                <a16:creationId xmlns:a16="http://schemas.microsoft.com/office/drawing/2014/main" id="{9A64C0CD-DC8B-42BC-B4D0-9876CC898D6E}"/>
              </a:ext>
            </a:extLst>
          </p:cNvPr>
          <p:cNvSpPr/>
          <p:nvPr/>
        </p:nvSpPr>
        <p:spPr>
          <a:xfrm>
            <a:off x="592017" y="2756290"/>
            <a:ext cx="5904298" cy="824709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475E9C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lvl="0" indent="0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500" b="0" i="0" u="none" strike="noStrike" kern="1200" cap="none" spc="0" normalizeH="0" baseline="0">
                <a:solidFill>
                  <a:srgbClr val="A6A6A6"/>
                </a:solidFill>
                <a:latin typeface="Calibri"/>
                <a:ea typeface="맑은 고딕"/>
                <a:cs typeface="맑은 고딕"/>
              </a:rPr>
              <a:t>리뷰를 남기려면 로그인이 필요합니다</a:t>
            </a:r>
            <a:r>
              <a:rPr kumimoji="0" lang="en-US" altLang="ko-KR" sz="1500" b="0" i="0" u="none" strike="noStrike" kern="1200" cap="none" spc="0" normalizeH="0" baseline="0">
                <a:solidFill>
                  <a:srgbClr val="A6A6A6"/>
                </a:solidFill>
                <a:latin typeface="Calibri"/>
                <a:ea typeface="맑은 고딕"/>
                <a:cs typeface="맑은 고딕"/>
              </a:rPr>
              <a:t>.</a:t>
            </a:r>
          </a:p>
        </p:txBody>
      </p:sp>
      <p:sp>
        <p:nvSpPr>
          <p:cNvPr id="61" name="가로 글상자 31">
            <a:extLst>
              <a:ext uri="{FF2B5EF4-FFF2-40B4-BE49-F238E27FC236}">
                <a16:creationId xmlns:a16="http://schemas.microsoft.com/office/drawing/2014/main" id="{1784BA1C-52D5-473B-858B-4D3E15ACE74D}"/>
              </a:ext>
            </a:extLst>
          </p:cNvPr>
          <p:cNvSpPr txBox="1"/>
          <p:nvPr/>
        </p:nvSpPr>
        <p:spPr>
          <a:xfrm>
            <a:off x="592017" y="2491495"/>
            <a:ext cx="6096000" cy="26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chemeClr val="tx1"/>
                </a:solidFill>
              </a:rPr>
              <a:t>💬리뷰</a:t>
            </a:r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76387E-51E2-459B-A203-E6CA649973EC}"/>
              </a:ext>
            </a:extLst>
          </p:cNvPr>
          <p:cNvSpPr/>
          <p:nvPr/>
        </p:nvSpPr>
        <p:spPr>
          <a:xfrm>
            <a:off x="314085" y="19364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996807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324827" y="2522172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💬리뷰 수정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420006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637242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후 수정하기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수정되었습니다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.alert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창 하나 띄우고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322288" y="2312874"/>
            <a:ext cx="7921374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1347819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수정하기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5436794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701990" y="3118771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48701C-5E3D-4C19-83A5-6042778997C1}"/>
              </a:ext>
            </a:extLst>
          </p:cNvPr>
          <p:cNvSpPr/>
          <p:nvPr/>
        </p:nvSpPr>
        <p:spPr>
          <a:xfrm>
            <a:off x="1236214" y="487274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186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06F99-D362-4090-AD86-DD7068DE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C2874-28AE-4ADB-94E8-446DA2F2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331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15309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6983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관리자의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80081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089312"/>
              </p:ext>
            </p:extLst>
          </p:nvPr>
        </p:nvGraphicFramePr>
        <p:xfrm>
          <a:off x="-1" y="1816922"/>
          <a:ext cx="1677451" cy="5041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451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</a:tblGrid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대시보드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85076"/>
                  </a:ext>
                </a:extLst>
              </a:tr>
              <a:tr h="5514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7208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4347" y="12095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-61255" y="1426597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환영합니다</a:t>
            </a:r>
            <a:r>
              <a:rPr lang="en-US" altLang="ko-KR" sz="1400" dirty="0"/>
              <a:t>, OOO</a:t>
            </a:r>
            <a:r>
              <a:rPr lang="ko-KR" altLang="en-US" sz="1400" dirty="0"/>
              <a:t>님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49098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0240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192399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관리자가 대략적인 회원의 흐름을 한눈에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볼수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75214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B04F7A-5F4F-ACF6-4C9A-306724CDF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087" y="1778617"/>
            <a:ext cx="6851787" cy="20918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BE891E-14C3-49E2-A0D3-6971D2F53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767" y="4347563"/>
            <a:ext cx="5686425" cy="226695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DA1B36-9293-5A12-FC95-955E42D29165}"/>
              </a:ext>
            </a:extLst>
          </p:cNvPr>
          <p:cNvSpPr/>
          <p:nvPr/>
        </p:nvSpPr>
        <p:spPr>
          <a:xfrm>
            <a:off x="2490950" y="3947212"/>
            <a:ext cx="1975770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월별 신규가입 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산재등록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5A0615B-3117-5FDB-064C-93CDBBC888D3}"/>
              </a:ext>
            </a:extLst>
          </p:cNvPr>
          <p:cNvSpPr/>
          <p:nvPr/>
        </p:nvSpPr>
        <p:spPr>
          <a:xfrm>
            <a:off x="6638102" y="3929125"/>
            <a:ext cx="1103342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🔴 신규가입 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</a:rPr>
              <a:t>🔵 산재등록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096FEC-696D-432E-B04C-881E045C0FE2}"/>
              </a:ext>
            </a:extLst>
          </p:cNvPr>
          <p:cNvSpPr/>
          <p:nvPr/>
        </p:nvSpPr>
        <p:spPr>
          <a:xfrm>
            <a:off x="23636" y="1175214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1485F2-2C19-4113-B3C1-B643B528AFC5}"/>
              </a:ext>
            </a:extLst>
          </p:cNvPr>
          <p:cNvSpPr/>
          <p:nvPr/>
        </p:nvSpPr>
        <p:spPr>
          <a:xfrm>
            <a:off x="1559303" y="1612559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81598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08246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985560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민감한 개인정보를 제외한 회원정보 보여주기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?”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띄어주고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확인하면 회원 삭제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 시 회원 테이블에 탈퇴 상태로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1677451" y="1180081"/>
            <a:ext cx="6926220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D67916ED-A79E-4F66-9CE9-813C6C03F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95321"/>
              </p:ext>
            </p:extLst>
          </p:nvPr>
        </p:nvGraphicFramePr>
        <p:xfrm>
          <a:off x="1784655" y="2522483"/>
          <a:ext cx="6690885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177">
                  <a:extLst>
                    <a:ext uri="{9D8B030D-6E8A-4147-A177-3AD203B41FA5}">
                      <a16:colId xmlns:a16="http://schemas.microsoft.com/office/drawing/2014/main" val="3571291480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401191227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3213933534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95023035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2761892074"/>
                    </a:ext>
                  </a:extLst>
                </a:gridCol>
              </a:tblGrid>
              <a:tr h="1508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가입일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1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858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68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62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85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0194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DC073A-FCB5-43F4-B7D3-D3AA6E2ABEA5}"/>
              </a:ext>
            </a:extLst>
          </p:cNvPr>
          <p:cNvSpPr txBox="1"/>
          <p:nvPr/>
        </p:nvSpPr>
        <p:spPr>
          <a:xfrm>
            <a:off x="1721594" y="2153151"/>
            <a:ext cx="133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664B6B-7608-4DA3-A674-E6889D539FB4}"/>
              </a:ext>
            </a:extLst>
          </p:cNvPr>
          <p:cNvSpPr/>
          <p:nvPr/>
        </p:nvSpPr>
        <p:spPr>
          <a:xfrm>
            <a:off x="1582628" y="190211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145F78-D50D-45BD-8856-F599F0C8E354}"/>
              </a:ext>
            </a:extLst>
          </p:cNvPr>
          <p:cNvSpPr/>
          <p:nvPr/>
        </p:nvSpPr>
        <p:spPr>
          <a:xfrm>
            <a:off x="7107128" y="233781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7CB031-D8EC-465E-8958-286F8A3123C4}"/>
              </a:ext>
            </a:extLst>
          </p:cNvPr>
          <p:cNvSpPr/>
          <p:nvPr/>
        </p:nvSpPr>
        <p:spPr>
          <a:xfrm>
            <a:off x="3104444" y="50723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5592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2927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782080"/>
              </p:ext>
            </p:extLst>
          </p:nvPr>
        </p:nvGraphicFramePr>
        <p:xfrm>
          <a:off x="8603672" y="1180080"/>
          <a:ext cx="3588327" cy="5946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산재등록 목록 검색필터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업종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업종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발생형태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지역은 사용자가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지역명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일부를 입력만 해도 목록으로 보여주어 선택하는 방식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 산재등록 목록 테이블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09B36BA-6DA8-4C53-AFEB-F4E8C821AD97}"/>
              </a:ext>
            </a:extLst>
          </p:cNvPr>
          <p:cNvSpPr txBox="1"/>
          <p:nvPr/>
        </p:nvSpPr>
        <p:spPr>
          <a:xfrm>
            <a:off x="2241103" y="2388096"/>
            <a:ext cx="1133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검색 </a:t>
            </a:r>
            <a:r>
              <a:rPr lang="en-US" altLang="ko-KR" sz="1400" b="1" dirty="0"/>
              <a:t>/ </a:t>
            </a:r>
            <a:r>
              <a:rPr lang="ko-KR" altLang="en-US" sz="1400" b="1" dirty="0"/>
              <a:t>필터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14AB4E91-C744-C53F-5941-BD8F9F4B7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378091"/>
              </p:ext>
            </p:extLst>
          </p:nvPr>
        </p:nvGraphicFramePr>
        <p:xfrm>
          <a:off x="2108199" y="4098303"/>
          <a:ext cx="6203951" cy="159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54">
                  <a:extLst>
                    <a:ext uri="{9D8B030D-6E8A-4147-A177-3AD203B41FA5}">
                      <a16:colId xmlns:a16="http://schemas.microsoft.com/office/drawing/2014/main" val="290832576"/>
                    </a:ext>
                  </a:extLst>
                </a:gridCol>
                <a:gridCol w="604130">
                  <a:extLst>
                    <a:ext uri="{9D8B030D-6E8A-4147-A177-3AD203B41FA5}">
                      <a16:colId xmlns:a16="http://schemas.microsoft.com/office/drawing/2014/main" val="102188575"/>
                    </a:ext>
                  </a:extLst>
                </a:gridCol>
                <a:gridCol w="772331">
                  <a:extLst>
                    <a:ext uri="{9D8B030D-6E8A-4147-A177-3AD203B41FA5}">
                      <a16:colId xmlns:a16="http://schemas.microsoft.com/office/drawing/2014/main" val="1300920205"/>
                    </a:ext>
                  </a:extLst>
                </a:gridCol>
                <a:gridCol w="1098149">
                  <a:extLst>
                    <a:ext uri="{9D8B030D-6E8A-4147-A177-3AD203B41FA5}">
                      <a16:colId xmlns:a16="http://schemas.microsoft.com/office/drawing/2014/main" val="878541107"/>
                    </a:ext>
                  </a:extLst>
                </a:gridCol>
                <a:gridCol w="669605">
                  <a:extLst>
                    <a:ext uri="{9D8B030D-6E8A-4147-A177-3AD203B41FA5}">
                      <a16:colId xmlns:a16="http://schemas.microsoft.com/office/drawing/2014/main" val="2804284854"/>
                    </a:ext>
                  </a:extLst>
                </a:gridCol>
                <a:gridCol w="721696">
                  <a:extLst>
                    <a:ext uri="{9D8B030D-6E8A-4147-A177-3AD203B41FA5}">
                      <a16:colId xmlns:a16="http://schemas.microsoft.com/office/drawing/2014/main" val="2733423004"/>
                    </a:ext>
                  </a:extLst>
                </a:gridCol>
                <a:gridCol w="769626">
                  <a:extLst>
                    <a:ext uri="{9D8B030D-6E8A-4147-A177-3AD203B41FA5}">
                      <a16:colId xmlns:a16="http://schemas.microsoft.com/office/drawing/2014/main" val="2614146688"/>
                    </a:ext>
                  </a:extLst>
                </a:gridCol>
                <a:gridCol w="1208260">
                  <a:extLst>
                    <a:ext uri="{9D8B030D-6E8A-4147-A177-3AD203B41FA5}">
                      <a16:colId xmlns:a16="http://schemas.microsoft.com/office/drawing/2014/main" val="1299462405"/>
                    </a:ext>
                  </a:extLst>
                </a:gridCol>
              </a:tblGrid>
              <a:tr h="238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No.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회원명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</a:t>
                      </a:r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</a:t>
                      </a:r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발생형태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질병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발생일자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사고지역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945175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출판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인쇄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 err="1"/>
                        <a:t>제본업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끼임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우측 손가락 골절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2023-11-01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서울시 강남구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064222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07218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0EEDECB-78EA-210D-B875-6E3AAE6C538E}"/>
              </a:ext>
            </a:extLst>
          </p:cNvPr>
          <p:cNvSpPr txBox="1"/>
          <p:nvPr/>
        </p:nvSpPr>
        <p:spPr>
          <a:xfrm>
            <a:off x="2241103" y="3546917"/>
            <a:ext cx="1894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회원 산재등록 목록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973300-5F5D-335F-D59D-2BA289995F27}"/>
              </a:ext>
            </a:extLst>
          </p:cNvPr>
          <p:cNvSpPr/>
          <p:nvPr/>
        </p:nvSpPr>
        <p:spPr>
          <a:xfrm>
            <a:off x="1963171" y="254198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90C704-CDD5-9225-24B0-C42371073555}"/>
              </a:ext>
            </a:extLst>
          </p:cNvPr>
          <p:cNvSpPr/>
          <p:nvPr/>
        </p:nvSpPr>
        <p:spPr>
          <a:xfrm>
            <a:off x="1952075" y="387153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7FD89E1-8FB4-4D90-AEB3-0FCB6E775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626" y="2893355"/>
            <a:ext cx="240484" cy="2404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F2D5A1-ECEF-40E3-8168-83372110D37B}"/>
              </a:ext>
            </a:extLst>
          </p:cNvPr>
          <p:cNvSpPr txBox="1"/>
          <p:nvPr/>
        </p:nvSpPr>
        <p:spPr>
          <a:xfrm>
            <a:off x="1871703" y="1465441"/>
            <a:ext cx="172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회원 산재 조회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8A418D-5B87-4491-9696-BBCCEEC25654}"/>
              </a:ext>
            </a:extLst>
          </p:cNvPr>
          <p:cNvSpPr/>
          <p:nvPr/>
        </p:nvSpPr>
        <p:spPr>
          <a:xfrm>
            <a:off x="-20489" y="1180080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FC14AB-BC62-4AED-98F8-76776A6C58DF}"/>
              </a:ext>
            </a:extLst>
          </p:cNvPr>
          <p:cNvSpPr/>
          <p:nvPr/>
        </p:nvSpPr>
        <p:spPr>
          <a:xfrm>
            <a:off x="3423858" y="60225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6F59C7-8BE9-49A6-9A6D-C051D4A3D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636" y="2796408"/>
            <a:ext cx="1653683" cy="4343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865650-1794-48C0-AFD8-9204CDDEE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198" y="2842132"/>
            <a:ext cx="4252328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65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8531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939568"/>
              </p:ext>
            </p:extLst>
          </p:nvPr>
        </p:nvGraphicFramePr>
        <p:xfrm>
          <a:off x="8603672" y="1180080"/>
          <a:ext cx="3588327" cy="5739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회원들이 등록한 리뷰 열람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테이블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상세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열람 하고싶은 리뷰 검색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ED75A3-C1B1-6944-2403-D1EC42282AF6}"/>
              </a:ext>
            </a:extLst>
          </p:cNvPr>
          <p:cNvGrpSpPr/>
          <p:nvPr/>
        </p:nvGrpSpPr>
        <p:grpSpPr>
          <a:xfrm>
            <a:off x="2522159" y="2319355"/>
            <a:ext cx="1932137" cy="3822366"/>
            <a:chOff x="308035" y="2064890"/>
            <a:chExt cx="2166717" cy="462150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AAD4B23-8DC2-005C-4070-DF563D7B3D78}"/>
                </a:ext>
              </a:extLst>
            </p:cNvPr>
            <p:cNvSpPr/>
            <p:nvPr/>
          </p:nvSpPr>
          <p:spPr>
            <a:xfrm>
              <a:off x="30803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C568FB2-9E67-60F6-B99D-32DF7037BF65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E429D88C-05BE-F954-C287-D8E3946D3A94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85F9D515-7146-5D5C-5085-8750F36CBA2A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CF28D879-ADA5-71AF-D313-BF628F642CFA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3FECF496-6E84-5B9A-43FF-5B8F22CC486D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55567B12-B9DC-3980-B9E8-86AE919F40DB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584D4EF-1071-4B10-B0CC-F73DB44CFA1D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A5A20FE6-FCEE-9217-2592-8C2FFD476869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698B42-7568-0FA7-9E24-99526805BF4E}"/>
              </a:ext>
            </a:extLst>
          </p:cNvPr>
          <p:cNvSpPr/>
          <p:nvPr/>
        </p:nvSpPr>
        <p:spPr>
          <a:xfrm>
            <a:off x="5190309" y="1806681"/>
            <a:ext cx="3040369" cy="37510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E29E2E-B92C-B987-4977-94C6A3C734F0}"/>
              </a:ext>
            </a:extLst>
          </p:cNvPr>
          <p:cNvSpPr/>
          <p:nvPr/>
        </p:nvSpPr>
        <p:spPr>
          <a:xfrm>
            <a:off x="6096000" y="1833019"/>
            <a:ext cx="2058099" cy="3123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검색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B33A41A-DAB7-80E9-153C-9DCC89077478}"/>
              </a:ext>
            </a:extLst>
          </p:cNvPr>
          <p:cNvGrpSpPr/>
          <p:nvPr/>
        </p:nvGrpSpPr>
        <p:grpSpPr>
          <a:xfrm>
            <a:off x="4451009" y="2319356"/>
            <a:ext cx="1805173" cy="3822365"/>
            <a:chOff x="2464455" y="2064890"/>
            <a:chExt cx="2166717" cy="462150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754E66E-F266-5FE2-AE79-1650855F383C}"/>
                </a:ext>
              </a:extLst>
            </p:cNvPr>
            <p:cNvSpPr/>
            <p:nvPr/>
          </p:nvSpPr>
          <p:spPr>
            <a:xfrm>
              <a:off x="246445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255BF8E-A615-DDC5-43E5-C0FE462BF9AC}"/>
                </a:ext>
              </a:extLst>
            </p:cNvPr>
            <p:cNvSpPr/>
            <p:nvPr/>
          </p:nvSpPr>
          <p:spPr>
            <a:xfrm>
              <a:off x="246636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06AE7E4-C1D4-1389-9542-88E70125085A}"/>
                </a:ext>
              </a:extLst>
            </p:cNvPr>
            <p:cNvSpPr/>
            <p:nvPr/>
          </p:nvSpPr>
          <p:spPr>
            <a:xfrm>
              <a:off x="246636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2C75C338-76F1-107F-42FE-30893B17AD0A}"/>
                </a:ext>
              </a:extLst>
            </p:cNvPr>
            <p:cNvSpPr/>
            <p:nvPr/>
          </p:nvSpPr>
          <p:spPr>
            <a:xfrm>
              <a:off x="246446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513B201C-12D7-5B94-EEC9-7577A7FFFD1B}"/>
                </a:ext>
              </a:extLst>
            </p:cNvPr>
            <p:cNvSpPr/>
            <p:nvPr/>
          </p:nvSpPr>
          <p:spPr>
            <a:xfrm>
              <a:off x="246446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9C9A893-78BC-AA39-79E7-AC119FC8A42A}"/>
                </a:ext>
              </a:extLst>
            </p:cNvPr>
            <p:cNvSpPr/>
            <p:nvPr/>
          </p:nvSpPr>
          <p:spPr>
            <a:xfrm>
              <a:off x="246446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CDDC1614-7D20-DB22-B5AB-52EC0D21EE8B}"/>
                </a:ext>
              </a:extLst>
            </p:cNvPr>
            <p:cNvSpPr/>
            <p:nvPr/>
          </p:nvSpPr>
          <p:spPr>
            <a:xfrm>
              <a:off x="246446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A1450180-0E97-EDBB-B6DB-CB2473798304}"/>
                </a:ext>
              </a:extLst>
            </p:cNvPr>
            <p:cNvSpPr/>
            <p:nvPr/>
          </p:nvSpPr>
          <p:spPr>
            <a:xfrm>
              <a:off x="246446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9FD7DF7-288F-5E0C-233E-08A33F33F418}"/>
                </a:ext>
              </a:extLst>
            </p:cNvPr>
            <p:cNvSpPr/>
            <p:nvPr/>
          </p:nvSpPr>
          <p:spPr>
            <a:xfrm>
              <a:off x="246446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19DC55-76DC-D8C9-E4DE-45000C546144}"/>
              </a:ext>
            </a:extLst>
          </p:cNvPr>
          <p:cNvGrpSpPr/>
          <p:nvPr/>
        </p:nvGrpSpPr>
        <p:grpSpPr>
          <a:xfrm>
            <a:off x="6257882" y="2319355"/>
            <a:ext cx="1974696" cy="3822366"/>
            <a:chOff x="5492884" y="2064890"/>
            <a:chExt cx="2739693" cy="462150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3DE84B6-AE7B-49EE-1F15-4D101387CB4B}"/>
                </a:ext>
              </a:extLst>
            </p:cNvPr>
            <p:cNvSpPr/>
            <p:nvPr/>
          </p:nvSpPr>
          <p:spPr>
            <a:xfrm>
              <a:off x="5492884" y="2064890"/>
              <a:ext cx="2737787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AFADA21-1195-0074-4616-8C7FC98F6562}"/>
                </a:ext>
              </a:extLst>
            </p:cNvPr>
            <p:cNvSpPr/>
            <p:nvPr/>
          </p:nvSpPr>
          <p:spPr>
            <a:xfrm>
              <a:off x="5494789" y="2334453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DB277293-6632-DFCB-C8C4-E844F28C1BEE}"/>
                </a:ext>
              </a:extLst>
            </p:cNvPr>
            <p:cNvSpPr/>
            <p:nvPr/>
          </p:nvSpPr>
          <p:spPr>
            <a:xfrm>
              <a:off x="5494789" y="2881569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849E0BE9-3CEB-3569-DA93-5B24EC5C7B8E}"/>
                </a:ext>
              </a:extLst>
            </p:cNvPr>
            <p:cNvSpPr/>
            <p:nvPr/>
          </p:nvSpPr>
          <p:spPr>
            <a:xfrm>
              <a:off x="5492890" y="3429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891CB0D1-CB53-9955-F570-197594361061}"/>
                </a:ext>
              </a:extLst>
            </p:cNvPr>
            <p:cNvSpPr/>
            <p:nvPr/>
          </p:nvSpPr>
          <p:spPr>
            <a:xfrm>
              <a:off x="5492890" y="3968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989F8A61-1A2B-9FC1-9BDF-4BDA1B70FF22}"/>
                </a:ext>
              </a:extLst>
            </p:cNvPr>
            <p:cNvSpPr/>
            <p:nvPr/>
          </p:nvSpPr>
          <p:spPr>
            <a:xfrm>
              <a:off x="5492889" y="5062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D36E6EC0-31D2-C5AA-2085-03B2D3BD3DC2}"/>
                </a:ext>
              </a:extLst>
            </p:cNvPr>
            <p:cNvSpPr/>
            <p:nvPr/>
          </p:nvSpPr>
          <p:spPr>
            <a:xfrm>
              <a:off x="5492889" y="4515431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7FE787AB-89B3-5A0E-8090-C9A1CCBEDDC9}"/>
                </a:ext>
              </a:extLst>
            </p:cNvPr>
            <p:cNvSpPr/>
            <p:nvPr/>
          </p:nvSpPr>
          <p:spPr>
            <a:xfrm>
              <a:off x="5492889" y="5601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09F39EF-3ED6-7CB6-9A31-074F8DACD801}"/>
                </a:ext>
              </a:extLst>
            </p:cNvPr>
            <p:cNvSpPr/>
            <p:nvPr/>
          </p:nvSpPr>
          <p:spPr>
            <a:xfrm>
              <a:off x="5492889" y="6138964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529F664-9076-B942-8B0D-C42136881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73" y="1866583"/>
            <a:ext cx="240484" cy="240484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6E72F8-90C8-3C96-739C-DC92FF370D93}"/>
              </a:ext>
            </a:extLst>
          </p:cNvPr>
          <p:cNvSpPr/>
          <p:nvPr/>
        </p:nvSpPr>
        <p:spPr>
          <a:xfrm>
            <a:off x="5561399" y="1833019"/>
            <a:ext cx="544709" cy="31235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필터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59136CD-7C8E-417F-9224-7C9B14E15295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ACBA26F-100D-45B0-AB33-1D16F00DA2EA}"/>
              </a:ext>
            </a:extLst>
          </p:cNvPr>
          <p:cNvGrpSpPr/>
          <p:nvPr/>
        </p:nvGrpSpPr>
        <p:grpSpPr>
          <a:xfrm>
            <a:off x="1676599" y="2319355"/>
            <a:ext cx="846407" cy="3822366"/>
            <a:chOff x="308035" y="2064890"/>
            <a:chExt cx="2166717" cy="462150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8EA786-74C0-490E-8C98-5574C0D5A021}"/>
                </a:ext>
              </a:extLst>
            </p:cNvPr>
            <p:cNvSpPr/>
            <p:nvPr/>
          </p:nvSpPr>
          <p:spPr>
            <a:xfrm>
              <a:off x="308035" y="2064890"/>
              <a:ext cx="2164810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No.</a:t>
              </a:r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B85F1D4-1E92-4B5D-9D2E-C42668C1BB23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54C1F01-5151-4799-AC1F-AFCF6F08C6FF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5AA13D4-937C-46F2-A45B-B04D116D6182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C77251-0CF0-4835-B258-E5DD4DA804E3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F7F0C23-CC3B-4B90-8EA9-C3CAEC8E0FEC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6344F7A-889E-4380-AB03-A57AA30FAE2D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4BFA119-23A3-445B-95FC-29C0BC531693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1958993-0210-432E-9364-616F70932EE4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161556C-9351-4CBC-A78A-949C462371AF}"/>
              </a:ext>
            </a:extLst>
          </p:cNvPr>
          <p:cNvSpPr/>
          <p:nvPr/>
        </p:nvSpPr>
        <p:spPr>
          <a:xfrm>
            <a:off x="1508762" y="208562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98D9849-85D3-4009-AD3F-F70A114BCF36}"/>
              </a:ext>
            </a:extLst>
          </p:cNvPr>
          <p:cNvSpPr/>
          <p:nvPr/>
        </p:nvSpPr>
        <p:spPr>
          <a:xfrm>
            <a:off x="5056217" y="163154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656F4-56E4-4455-B075-3FCEB399C5DD}"/>
              </a:ext>
            </a:extLst>
          </p:cNvPr>
          <p:cNvSpPr txBox="1"/>
          <p:nvPr/>
        </p:nvSpPr>
        <p:spPr>
          <a:xfrm>
            <a:off x="1722329" y="1465545"/>
            <a:ext cx="1233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관리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DE143C4-36A8-48D7-BC96-BC102D6414DC}"/>
              </a:ext>
            </a:extLst>
          </p:cNvPr>
          <p:cNvSpPr/>
          <p:nvPr/>
        </p:nvSpPr>
        <p:spPr>
          <a:xfrm>
            <a:off x="2956142" y="6405224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60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28760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427804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리뷰 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리뷰에 대한 정보를 자세히 알 수 있는 페이지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관리 페이지로 이동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BAB13593-1D47-439D-0208-56CDE35154DF}"/>
              </a:ext>
            </a:extLst>
          </p:cNvPr>
          <p:cNvSpPr/>
          <p:nvPr/>
        </p:nvSpPr>
        <p:spPr>
          <a:xfrm>
            <a:off x="1544923" y="2108565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작성자 </a:t>
            </a:r>
            <a:r>
              <a:rPr lang="en-US" altLang="ko-KR" dirty="0"/>
              <a:t>ID: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1DAA5C-4A6E-0279-F7AC-903F06149C92}"/>
              </a:ext>
            </a:extLst>
          </p:cNvPr>
          <p:cNvSpPr/>
          <p:nvPr/>
        </p:nvSpPr>
        <p:spPr>
          <a:xfrm>
            <a:off x="1544923" y="2538972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병원 이름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79D7F8-E72E-D61B-AD18-A7B5423AAE47}"/>
              </a:ext>
            </a:extLst>
          </p:cNvPr>
          <p:cNvSpPr/>
          <p:nvPr/>
        </p:nvSpPr>
        <p:spPr>
          <a:xfrm>
            <a:off x="1544923" y="297373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 날짜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EF7147-F621-C3C1-7721-7AB4C78BF49B}"/>
              </a:ext>
            </a:extLst>
          </p:cNvPr>
          <p:cNvSpPr/>
          <p:nvPr/>
        </p:nvSpPr>
        <p:spPr>
          <a:xfrm>
            <a:off x="1277655" y="343159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3504B8-B2AD-E42A-C759-8FCCA5E56F53}"/>
              </a:ext>
            </a:extLst>
          </p:cNvPr>
          <p:cNvSpPr/>
          <p:nvPr/>
        </p:nvSpPr>
        <p:spPr>
          <a:xfrm>
            <a:off x="3265145" y="2058175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68325-A4C9-524A-EE62-42C7168661A5}"/>
              </a:ext>
            </a:extLst>
          </p:cNvPr>
          <p:cNvSpPr/>
          <p:nvPr/>
        </p:nvSpPr>
        <p:spPr>
          <a:xfrm>
            <a:off x="3265145" y="2488583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85B46E-9324-FED2-56F5-1B5F881F0202}"/>
              </a:ext>
            </a:extLst>
          </p:cNvPr>
          <p:cNvSpPr/>
          <p:nvPr/>
        </p:nvSpPr>
        <p:spPr>
          <a:xfrm>
            <a:off x="3265145" y="2909699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A186B4-B3F4-AA7E-F0AA-51397BD4E892}"/>
              </a:ext>
            </a:extLst>
          </p:cNvPr>
          <p:cNvSpPr/>
          <p:nvPr/>
        </p:nvSpPr>
        <p:spPr>
          <a:xfrm>
            <a:off x="1697276" y="3802320"/>
            <a:ext cx="6716933" cy="23748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11BE5B9-5EA5-7522-2357-C644713B6667}"/>
              </a:ext>
            </a:extLst>
          </p:cNvPr>
          <p:cNvSpPr/>
          <p:nvPr/>
        </p:nvSpPr>
        <p:spPr>
          <a:xfrm>
            <a:off x="7529305" y="6488055"/>
            <a:ext cx="703277" cy="326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목록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9FB096-78E5-1907-8F7F-8153F6570271}"/>
              </a:ext>
            </a:extLst>
          </p:cNvPr>
          <p:cNvSpPr/>
          <p:nvPr/>
        </p:nvSpPr>
        <p:spPr>
          <a:xfrm>
            <a:off x="7396005" y="6412061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21CB8A4-912E-4F2C-86B1-22CEB349C17E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4B2BC-F342-43BC-A7C9-B1C7D5E8B2D9}"/>
              </a:ext>
            </a:extLst>
          </p:cNvPr>
          <p:cNvSpPr txBox="1"/>
          <p:nvPr/>
        </p:nvSpPr>
        <p:spPr>
          <a:xfrm>
            <a:off x="1747381" y="1421704"/>
            <a:ext cx="151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상세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2DE7B5-11F2-4664-AF9F-75F43C37C620}"/>
              </a:ext>
            </a:extLst>
          </p:cNvPr>
          <p:cNvSpPr/>
          <p:nvPr/>
        </p:nvSpPr>
        <p:spPr>
          <a:xfrm>
            <a:off x="1745274" y="1300723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81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2171</TotalTime>
  <Words>5094</Words>
  <Application>Microsoft Office PowerPoint</Application>
  <PresentationFormat>와이드스크린</PresentationFormat>
  <Paragraphs>1856</Paragraphs>
  <Slides>58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5" baseType="lpstr">
      <vt:lpstr>ui-sans-serif</vt:lpstr>
      <vt:lpstr>맑은 고딕</vt:lpstr>
      <vt:lpstr>맑은 고딕</vt:lpstr>
      <vt:lpstr>Arial</vt:lpstr>
      <vt:lpstr>Calibri</vt:lpstr>
      <vt:lpstr>Consolas</vt:lpstr>
      <vt:lpstr>Office 테마</vt:lpstr>
      <vt:lpstr>스토리보드 산재통계</vt:lpstr>
      <vt:lpstr>목차</vt:lpstr>
      <vt:lpstr>API</vt:lpstr>
      <vt:lpstr>크롤링</vt:lpstr>
      <vt:lpstr>메인 , 헤더</vt:lpstr>
      <vt:lpstr>PowerPoint 프레젠테이션</vt:lpstr>
      <vt:lpstr>PowerPoint 프레젠테이션</vt:lpstr>
      <vt:lpstr>PowerPoint 프레젠테이션</vt:lpstr>
      <vt:lpstr>소개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산재 뉴스</vt:lpstr>
      <vt:lpstr>PowerPoint 프레젠테이션</vt:lpstr>
      <vt:lpstr>산재 통계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안전 자료실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주변 산재 검색</vt:lpstr>
      <vt:lpstr>PowerPoint 프레젠테이션</vt:lpstr>
      <vt:lpstr>PowerPoint 프레젠테이션</vt:lpstr>
      <vt:lpstr>PowerPoint 프레젠테이션</vt:lpstr>
      <vt:lpstr>주변 병원 검색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관리자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User</cp:lastModifiedBy>
  <cp:revision>158</cp:revision>
  <dcterms:created xsi:type="dcterms:W3CDTF">2025-11-24T01:38:34Z</dcterms:created>
  <dcterms:modified xsi:type="dcterms:W3CDTF">2025-12-01T00:13:50Z</dcterms:modified>
</cp:coreProperties>
</file>