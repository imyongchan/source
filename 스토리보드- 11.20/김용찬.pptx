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69e2eee8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69e2eee8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69e2eee8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69e2eee8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69e2eee8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69e2eee8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69e2eee8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69e2eee8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69e2eee8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69e2eee8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69e2eee87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69e2eee8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69e2eee87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69e2eee8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69e2eee87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69e2eee8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69e2eee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69e2eee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69e2eee8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69e2eee8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69e2eee8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69e2eee8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69e2eee8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69e2eee8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69e2eee8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69e2eee8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69e2eee8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69e2eee8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69e2eee8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69e2eee8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69e2eee8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69e2eee8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69e2eee8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69e2eee8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69e2eee8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69e2eee8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69e2eee8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69e2eee8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69e2eee8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69e2eee8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422025" y="153000"/>
            <a:ext cx="4902600" cy="545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			 	     header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514875" y="214950"/>
            <a:ext cx="21495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로그인/회원가입</a:t>
            </a:r>
            <a:endParaRPr/>
          </a:p>
        </p:txBody>
      </p:sp>
      <p:sp>
        <p:nvSpPr>
          <p:cNvPr id="56" name="Google Shape;56;p13"/>
          <p:cNvSpPr txBox="1"/>
          <p:nvPr>
            <p:ph type="title"/>
          </p:nvPr>
        </p:nvSpPr>
        <p:spPr>
          <a:xfrm>
            <a:off x="173500" y="153000"/>
            <a:ext cx="1066500" cy="7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비회원일때 </a:t>
            </a:r>
            <a:endParaRPr sz="1100"/>
          </a:p>
        </p:txBody>
      </p:sp>
      <p:sp>
        <p:nvSpPr>
          <p:cNvPr id="57" name="Google Shape;57;p13"/>
          <p:cNvSpPr/>
          <p:nvPr/>
        </p:nvSpPr>
        <p:spPr>
          <a:xfrm>
            <a:off x="1446675" y="2392575"/>
            <a:ext cx="7217700" cy="853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전국 산재 발생  1,2,3 순위        업종별 산재  1,2,3 순위 </a:t>
            </a:r>
            <a:r>
              <a:rPr lang="ko"/>
              <a:t>	</a:t>
            </a:r>
            <a:r>
              <a:rPr lang="ko"/>
              <a:t>직종별 산재 1,2,3 순위 </a:t>
            </a:r>
            <a:r>
              <a:rPr lang="ko"/>
              <a:t>		 	    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422025" y="3526850"/>
            <a:ext cx="7217700" cy="7026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산재 관련 기사 , 뉴스 (크롤링) </a:t>
            </a:r>
            <a:r>
              <a:rPr lang="ko"/>
              <a:t> 		 	    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7771575" y="2824275"/>
            <a:ext cx="8682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</a:t>
            </a:r>
            <a:r>
              <a:rPr lang="ko"/>
              <a:t>자세히           보기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1446675" y="4423175"/>
            <a:ext cx="7217700" cy="4962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footer		 	    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1446675" y="1118900"/>
            <a:ext cx="7143300" cy="853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</a:t>
            </a:r>
            <a:r>
              <a:rPr lang="ko"/>
              <a:t>소개</a:t>
            </a:r>
            <a:r>
              <a:rPr lang="ko"/>
              <a:t>	</a:t>
            </a:r>
            <a:r>
              <a:rPr lang="ko"/>
              <a:t>이미지 , 글 </a:t>
            </a:r>
            <a:r>
              <a:rPr lang="ko"/>
              <a:t>	 	  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1422025" y="153000"/>
            <a:ext cx="4902600" cy="545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			 	     header</a:t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6514875" y="214950"/>
            <a:ext cx="21495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로그인/회원가입</a:t>
            </a:r>
            <a:endParaRPr/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173500" y="1718250"/>
            <a:ext cx="1066500" cy="85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비회원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통계 자세히 보기 눌렀을때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(전국) </a:t>
            </a:r>
            <a:r>
              <a:rPr lang="ko" sz="1100"/>
              <a:t> 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152400" marR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lang="ko" sz="1200"/>
              <a:t>근로복지공단_산재보험 최초요양 승인 정보_20231231.csv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9" name="Google Shape;69;p14"/>
          <p:cNvSpPr/>
          <p:nvPr/>
        </p:nvSpPr>
        <p:spPr>
          <a:xfrm>
            <a:off x="1446675" y="877525"/>
            <a:ext cx="7217700" cy="3279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			 	    </a:t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6663675" y="1145925"/>
            <a:ext cx="18519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</a:t>
            </a:r>
            <a:r>
              <a:rPr lang="ko"/>
              <a:t>전국 |  업종  | 직종</a:t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1446675" y="4423175"/>
            <a:ext cx="7217700" cy="4962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footer		 	    </a:t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3348400" y="1088050"/>
            <a:ext cx="30921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전국 </a:t>
            </a:r>
            <a:r>
              <a:rPr lang="ko"/>
              <a:t>산재 발생 통계 시각화 ( 버블지도) </a:t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0300" y="1567725"/>
            <a:ext cx="2850475" cy="248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>
            <a:off x="1422025" y="153000"/>
            <a:ext cx="4902600" cy="545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			 	     header</a:t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6514875" y="214950"/>
            <a:ext cx="21495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로그인/회원가입</a:t>
            </a:r>
            <a:endParaRPr/>
          </a:p>
        </p:txBody>
      </p:sp>
      <p:sp>
        <p:nvSpPr>
          <p:cNvPr id="80" name="Google Shape;80;p15"/>
          <p:cNvSpPr txBox="1"/>
          <p:nvPr>
            <p:ph type="title"/>
          </p:nvPr>
        </p:nvSpPr>
        <p:spPr>
          <a:xfrm>
            <a:off x="173500" y="153000"/>
            <a:ext cx="1066500" cy="85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비회원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통계 자세히 보기 눌렀을때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(전국)  </a:t>
            </a:r>
            <a:endParaRPr sz="1100"/>
          </a:p>
        </p:txBody>
      </p:sp>
      <p:sp>
        <p:nvSpPr>
          <p:cNvPr id="81" name="Google Shape;81;p15"/>
          <p:cNvSpPr/>
          <p:nvPr/>
        </p:nvSpPr>
        <p:spPr>
          <a:xfrm>
            <a:off x="1446675" y="877525"/>
            <a:ext cx="7217700" cy="3279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			 	    </a:t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6663675" y="1145925"/>
            <a:ext cx="18519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전국 |  업종  | 직종</a:t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1446675" y="4423175"/>
            <a:ext cx="7217700" cy="4962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footer		 	    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348400" y="1088050"/>
            <a:ext cx="3092100" cy="35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업종 </a:t>
            </a:r>
            <a:r>
              <a:rPr lang="ko"/>
              <a:t>통계 시각화 ( </a:t>
            </a:r>
            <a:r>
              <a:rPr lang="ko"/>
              <a:t>가로 막대 </a:t>
            </a:r>
            <a:r>
              <a:rPr lang="ko"/>
              <a:t>) 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TOP 7</a:t>
            </a:r>
            <a:r>
              <a:rPr lang="ko"/>
              <a:t>개 정도 </a:t>
            </a:r>
            <a:endParaRPr/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4996" y="1621696"/>
            <a:ext cx="4113550" cy="231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>
            <a:off x="1422025" y="153000"/>
            <a:ext cx="4902600" cy="545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			 	     header</a:t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6514875" y="214950"/>
            <a:ext cx="21495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로그인/회원가입</a:t>
            </a:r>
            <a:endParaRPr/>
          </a:p>
        </p:txBody>
      </p:sp>
      <p:sp>
        <p:nvSpPr>
          <p:cNvPr id="92" name="Google Shape;92;p16"/>
          <p:cNvSpPr txBox="1"/>
          <p:nvPr>
            <p:ph type="title"/>
          </p:nvPr>
        </p:nvSpPr>
        <p:spPr>
          <a:xfrm>
            <a:off x="173500" y="153000"/>
            <a:ext cx="1066500" cy="85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비회원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통계 자세히 보기 눌렀을때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(</a:t>
            </a:r>
            <a:r>
              <a:rPr lang="ko" sz="1100"/>
              <a:t>직종</a:t>
            </a:r>
            <a:r>
              <a:rPr lang="ko" sz="1100"/>
              <a:t>)  </a:t>
            </a:r>
            <a:endParaRPr sz="1100"/>
          </a:p>
        </p:txBody>
      </p:sp>
      <p:sp>
        <p:nvSpPr>
          <p:cNvPr id="93" name="Google Shape;93;p16"/>
          <p:cNvSpPr/>
          <p:nvPr/>
        </p:nvSpPr>
        <p:spPr>
          <a:xfrm>
            <a:off x="1446675" y="877525"/>
            <a:ext cx="7217700" cy="32790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			 	    </a:t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6663675" y="1145925"/>
            <a:ext cx="18519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전국 |  업종  | 직종</a:t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1446675" y="4423175"/>
            <a:ext cx="7217700" cy="4962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footer		 	    </a:t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3348400" y="1088050"/>
            <a:ext cx="30921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직종</a:t>
            </a:r>
            <a:r>
              <a:rPr lang="ko"/>
              <a:t> 통계 시각화 ( 파이차트 ) </a:t>
            </a:r>
            <a:br>
              <a:rPr lang="ko"/>
            </a:br>
            <a:r>
              <a:rPr lang="ko"/>
              <a:t>TOP 7</a:t>
            </a:r>
            <a:r>
              <a:rPr lang="ko"/>
              <a:t>개 정도 </a:t>
            </a:r>
            <a:endParaRPr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4025" y="1656050"/>
            <a:ext cx="3166475" cy="223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1422025" y="153000"/>
            <a:ext cx="3708000" cy="545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			  header</a:t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4414925" y="214950"/>
            <a:ext cx="47292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로그아웃/ 마이페이지/ 내 주변 산재현황/ 산재 병원 추천 </a:t>
            </a:r>
            <a:endParaRPr/>
          </a:p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173500" y="153000"/>
            <a:ext cx="1066500" cy="7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회원일때 </a:t>
            </a:r>
            <a:endParaRPr sz="1100"/>
          </a:p>
        </p:txBody>
      </p:sp>
      <p:sp>
        <p:nvSpPr>
          <p:cNvPr id="105" name="Google Shape;105;p17"/>
          <p:cNvSpPr/>
          <p:nvPr/>
        </p:nvSpPr>
        <p:spPr>
          <a:xfrm>
            <a:off x="1422025" y="2134200"/>
            <a:ext cx="7217700" cy="15201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산재 발생  위험도  1,2,3위				업종별 </a:t>
            </a:r>
            <a:r>
              <a:rPr lang="ko"/>
              <a:t>발생형태 1,2,3위 </a:t>
            </a:r>
            <a:r>
              <a:rPr lang="ko"/>
              <a:t> 						</a:t>
            </a:r>
            <a:r>
              <a:rPr lang="ko"/>
              <a:t>                        </a:t>
            </a:r>
            <a:r>
              <a:rPr lang="ko"/>
              <a:t>	 	    </a:t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7300325" y="3125675"/>
            <a:ext cx="12237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자세히 보기 </a:t>
            </a:r>
            <a:r>
              <a:rPr lang="ko"/>
              <a:t> </a:t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1459225" y="989700"/>
            <a:ext cx="7143300" cy="853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</a:t>
            </a:r>
            <a:r>
              <a:rPr lang="ko"/>
              <a:t>소개</a:t>
            </a:r>
            <a:r>
              <a:rPr lang="ko"/>
              <a:t>	이미지 , 글 	 	    </a:t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1422025" y="3945300"/>
            <a:ext cx="7217700" cy="9579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   주변 산재현황 보기 </a:t>
            </a:r>
            <a:r>
              <a:rPr lang="ko"/>
              <a:t>                       	 	  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173500" y="153000"/>
            <a:ext cx="1066500" cy="7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회원일때 </a:t>
            </a:r>
            <a:endParaRPr sz="1100"/>
          </a:p>
        </p:txBody>
      </p:sp>
      <p:sp>
        <p:nvSpPr>
          <p:cNvPr id="114" name="Google Shape;114;p18"/>
          <p:cNvSpPr/>
          <p:nvPr/>
        </p:nvSpPr>
        <p:spPr>
          <a:xfrm>
            <a:off x="1496275" y="351600"/>
            <a:ext cx="7217700" cy="153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나에게 맞는  산재 병원 추천 </a:t>
            </a:r>
            <a:r>
              <a:rPr lang="ko"/>
              <a:t> 		 	    </a:t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1446675" y="3398400"/>
            <a:ext cx="7217700" cy="7026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산재 관련 기사 , 뉴스 (크롤링)  		 	    </a:t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7771525" y="2571750"/>
            <a:ext cx="8682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자세히           보기</a:t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1446675" y="4505850"/>
            <a:ext cx="7217700" cy="4962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footer		 	    </a:t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1446675" y="2290950"/>
            <a:ext cx="7217700" cy="7026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</a:t>
            </a:r>
            <a:r>
              <a:rPr lang="ko"/>
              <a:t>산재에 따른 안전교육 </a:t>
            </a:r>
            <a:r>
              <a:rPr lang="ko"/>
              <a:t> 		 	  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1422025" y="153000"/>
            <a:ext cx="3708000" cy="545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			  header</a:t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4414925" y="214950"/>
            <a:ext cx="47292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로그아웃/ 마이페이지/ 내 주변 산재현황/ 산재 병원 추천 </a:t>
            </a:r>
            <a:endParaRPr/>
          </a:p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39650" y="1869150"/>
            <a:ext cx="1066500" cy="7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회원일때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통계 자세히보기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(비회원 통계 종합)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152400" marR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lang="ko" sz="1200"/>
              <a:t>근로복지공단_산재보험 최초요양 승인 정보_20231231.csv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6" name="Google Shape;126;p19"/>
          <p:cNvSpPr/>
          <p:nvPr/>
        </p:nvSpPr>
        <p:spPr>
          <a:xfrm>
            <a:off x="1422025" y="855600"/>
            <a:ext cx="7217700" cy="32781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					                           	 	    </a:t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1422025" y="4431450"/>
            <a:ext cx="7217700" cy="4719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		FOOTER                       	 	    </a:t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6605800" y="1021900"/>
            <a:ext cx="18519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</a:t>
            </a:r>
            <a:r>
              <a:rPr lang="ko"/>
              <a:t>발생형태 </a:t>
            </a:r>
            <a:r>
              <a:rPr lang="ko"/>
              <a:t> |  </a:t>
            </a:r>
            <a:r>
              <a:rPr lang="ko"/>
              <a:t>위험도 </a:t>
            </a:r>
            <a:endParaRPr/>
          </a:p>
        </p:txBody>
      </p:sp>
      <p:sp>
        <p:nvSpPr>
          <p:cNvPr id="129" name="Google Shape;129;p19"/>
          <p:cNvSpPr/>
          <p:nvPr/>
        </p:nvSpPr>
        <p:spPr>
          <a:xfrm>
            <a:off x="2910200" y="1066850"/>
            <a:ext cx="29631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산재 발생  위험도  (막대그래프)</a:t>
            </a:r>
            <a:endParaRPr/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8388" y="1570988"/>
            <a:ext cx="50958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1422025" y="153000"/>
            <a:ext cx="3708000" cy="545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			  header</a:t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4414925" y="214950"/>
            <a:ext cx="47292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로그아웃/ 마이페이지/ 내 주변 산재현황/ 산재 병원 추천 </a:t>
            </a:r>
            <a:endParaRPr/>
          </a:p>
        </p:txBody>
      </p:sp>
      <p:sp>
        <p:nvSpPr>
          <p:cNvPr id="137" name="Google Shape;137;p20"/>
          <p:cNvSpPr txBox="1"/>
          <p:nvPr>
            <p:ph type="title"/>
          </p:nvPr>
        </p:nvSpPr>
        <p:spPr>
          <a:xfrm>
            <a:off x="173500" y="971500"/>
            <a:ext cx="1149300" cy="7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회원일때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통계 자세히보기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F2328"/>
                </a:solidFill>
                <a:highlight>
                  <a:srgbClr val="FFFFFF"/>
                </a:highlight>
              </a:rPr>
              <a:t>한국산업안전보건공단_산업중분류별발생형태별재해자수.json</a:t>
            </a:r>
            <a:endParaRPr sz="1100"/>
          </a:p>
        </p:txBody>
      </p:sp>
      <p:sp>
        <p:nvSpPr>
          <p:cNvPr id="138" name="Google Shape;138;p20"/>
          <p:cNvSpPr/>
          <p:nvPr/>
        </p:nvSpPr>
        <p:spPr>
          <a:xfrm>
            <a:off x="1422025" y="855600"/>
            <a:ext cx="7217700" cy="32781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					                           	 	    </a:t>
            </a:r>
            <a:endParaRPr/>
          </a:p>
        </p:txBody>
      </p:sp>
      <p:sp>
        <p:nvSpPr>
          <p:cNvPr id="139" name="Google Shape;139;p20"/>
          <p:cNvSpPr/>
          <p:nvPr/>
        </p:nvSpPr>
        <p:spPr>
          <a:xfrm>
            <a:off x="1422025" y="4431450"/>
            <a:ext cx="7217700" cy="4719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		FOOTER                       	 	    </a:t>
            </a: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6605800" y="1021900"/>
            <a:ext cx="18519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발생형태  |  위험도 </a:t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2910200" y="1066850"/>
            <a:ext cx="29631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업종별 발생형태 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1422025" y="153000"/>
            <a:ext cx="3708000" cy="545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			  header</a:t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4414925" y="214950"/>
            <a:ext cx="47292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로그아웃/ 마이페이지/ 내 주변 산재현황/ 산재 병원 추천 </a:t>
            </a:r>
            <a:endParaRPr/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132150" y="1145100"/>
            <a:ext cx="1149300" cy="7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회원일때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통계 자세히보기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F2328"/>
                </a:solidFill>
                <a:highlight>
                  <a:srgbClr val="FFFFFF"/>
                </a:highlight>
              </a:rPr>
              <a:t>산업재해수 2020.json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F2328"/>
                </a:solidFill>
                <a:highlight>
                  <a:srgbClr val="FFFFFF"/>
                </a:highlight>
              </a:rPr>
              <a:t>근무지 기준 반경 5km 재해 발생했던 곳 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ko" sz="1200">
                <a:solidFill>
                  <a:srgbClr val="1F2328"/>
                </a:solidFill>
                <a:highlight>
                  <a:srgbClr val="FFFFFF"/>
                </a:highlight>
              </a:rPr>
              <a:t>주거지 </a:t>
            </a:r>
            <a:r>
              <a:rPr lang="ko" sz="1200">
                <a:solidFill>
                  <a:srgbClr val="1F2328"/>
                </a:solidFill>
                <a:highlight>
                  <a:srgbClr val="FFFFFF"/>
                </a:highlight>
              </a:rPr>
              <a:t> 기준 반경 5km 재해 발생했던 곳 </a:t>
            </a: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9" name="Google Shape;149;p21"/>
          <p:cNvSpPr/>
          <p:nvPr/>
        </p:nvSpPr>
        <p:spPr>
          <a:xfrm>
            <a:off x="1422025" y="855600"/>
            <a:ext cx="7217700" cy="34932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					                           	 	    </a:t>
            </a:r>
            <a:endParaRPr/>
          </a:p>
        </p:txBody>
      </p:sp>
      <p:sp>
        <p:nvSpPr>
          <p:cNvPr id="150" name="Google Shape;150;p21"/>
          <p:cNvSpPr/>
          <p:nvPr/>
        </p:nvSpPr>
        <p:spPr>
          <a:xfrm>
            <a:off x="1422025" y="4567650"/>
            <a:ext cx="7217700" cy="3357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		FOOTER                       	 	    </a:t>
            </a:r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3679075" y="1017250"/>
            <a:ext cx="2406000" cy="42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내 주변 산재 현황 (근무지/ 주거지)  </a:t>
            </a:r>
            <a:endParaRPr/>
          </a:p>
        </p:txBody>
      </p:sp>
      <p:pic>
        <p:nvPicPr>
          <p:cNvPr id="152" name="Google Shape;1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9700" y="1541913"/>
            <a:ext cx="3562350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