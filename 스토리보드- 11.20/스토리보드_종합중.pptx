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62" r:id="rId3"/>
    <p:sldId id="257" r:id="rId4"/>
    <p:sldId id="266" r:id="rId5"/>
    <p:sldId id="261" r:id="rId6"/>
    <p:sldId id="263" r:id="rId7"/>
    <p:sldId id="258" r:id="rId8"/>
    <p:sldId id="260" r:id="rId9"/>
    <p:sldId id="259" r:id="rId10"/>
    <p:sldId id="265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7" r:id="rId19"/>
    <p:sldId id="278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3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D3B-4D35-980D-445A6312232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D3B-4D35-980D-445A6312232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D3B-4D35-980D-445A63122326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FD3B-4D35-980D-445A631223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CF6-4F80-B38B-901ACB5E42AE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F6-4F80-B38B-901ACB5E42A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CF6-4F80-B38B-901ACB5E42AE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ECF6-4F80-B38B-901ACB5E42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68F-481D-B2BD-21EB88DDCAD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68F-481D-B2BD-21EB88DDCAD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68F-481D-B2BD-21EB88DDCAD2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968F-481D-B2BD-21EB88DDCA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4451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2593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0599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8270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7188731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교육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지역별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산재뉴스 목록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업종별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사고별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0042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79603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/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교육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지역별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산재뉴스 목록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업종별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사고별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68331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129420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지역별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업종별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부상별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 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서울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인천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대구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지역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04170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954980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주제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주제에 관한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한줄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소개를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이미지는 주제와 관련된 이미지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분석요약글을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분석 결과를 시각적으로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원형 차트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지역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부상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별로 미리 쿼리를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필터한다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버튼 또는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엔터를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입력하면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검색쿼리를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넘긴다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DB2DED3-87A5-4945-AC03-7FDAD7763D99}"/>
              </a:ext>
            </a:extLst>
          </p:cNvPr>
          <p:cNvSpPr/>
          <p:nvPr/>
        </p:nvSpPr>
        <p:spPr>
          <a:xfrm>
            <a:off x="0" y="4257031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39" name="차트 38">
            <a:extLst>
              <a:ext uri="{FF2B5EF4-FFF2-40B4-BE49-F238E27FC236}">
                <a16:creationId xmlns:a16="http://schemas.microsoft.com/office/drawing/2014/main" id="{8A96D94D-13EF-44F2-9CAF-EFDE076937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1831490"/>
              </p:ext>
            </p:extLst>
          </p:nvPr>
        </p:nvGraphicFramePr>
        <p:xfrm>
          <a:off x="423175" y="4284357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7C9FD3F0-C9D1-4A70-B068-6EA97A867A8D}"/>
              </a:ext>
            </a:extLst>
          </p:cNvPr>
          <p:cNvSpPr txBox="1"/>
          <p:nvPr/>
        </p:nvSpPr>
        <p:spPr>
          <a:xfrm>
            <a:off x="1682189" y="4423284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서울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0AABC2-A77D-4C50-8A9A-605BDF278D4A}"/>
              </a:ext>
            </a:extLst>
          </p:cNvPr>
          <p:cNvSpPr txBox="1"/>
          <p:nvPr/>
        </p:nvSpPr>
        <p:spPr>
          <a:xfrm>
            <a:off x="1682189" y="48342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인천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C33BF4-2A5E-4658-A6A5-C5923784CBCF}"/>
              </a:ext>
            </a:extLst>
          </p:cNvPr>
          <p:cNvSpPr txBox="1"/>
          <p:nvPr/>
        </p:nvSpPr>
        <p:spPr>
          <a:xfrm>
            <a:off x="1682189" y="52448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대구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4E5C56-146C-4691-8AE2-0FCE5EAE53F9}"/>
              </a:ext>
            </a:extLst>
          </p:cNvPr>
          <p:cNvSpPr txBox="1"/>
          <p:nvPr/>
        </p:nvSpPr>
        <p:spPr>
          <a:xfrm>
            <a:off x="0" y="4338766"/>
            <a:ext cx="832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지역</a:t>
            </a:r>
          </a:p>
        </p:txBody>
      </p:sp>
      <p:graphicFrame>
        <p:nvGraphicFramePr>
          <p:cNvPr id="68" name="차트 67">
            <a:extLst>
              <a:ext uri="{FF2B5EF4-FFF2-40B4-BE49-F238E27FC236}">
                <a16:creationId xmlns:a16="http://schemas.microsoft.com/office/drawing/2014/main" id="{BA5FD586-2AEE-4F28-ACE7-3E3C40F7C7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1756174"/>
              </p:ext>
            </p:extLst>
          </p:nvPr>
        </p:nvGraphicFramePr>
        <p:xfrm>
          <a:off x="3001796" y="4294670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9" name="TextBox 68">
            <a:extLst>
              <a:ext uri="{FF2B5EF4-FFF2-40B4-BE49-F238E27FC236}">
                <a16:creationId xmlns:a16="http://schemas.microsoft.com/office/drawing/2014/main" id="{CD78A94F-672F-4506-AB7D-FB0CE7DA614A}"/>
              </a:ext>
            </a:extLst>
          </p:cNvPr>
          <p:cNvSpPr txBox="1"/>
          <p:nvPr/>
        </p:nvSpPr>
        <p:spPr>
          <a:xfrm>
            <a:off x="4260810" y="44335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중공업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A2248A-8C05-4C1E-87CA-81D1A9FE8C11}"/>
              </a:ext>
            </a:extLst>
          </p:cNvPr>
          <p:cNvSpPr txBox="1"/>
          <p:nvPr/>
        </p:nvSpPr>
        <p:spPr>
          <a:xfrm>
            <a:off x="4260810" y="48446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건설업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3ACB7BD-BDFA-4B90-B429-EE4554FC05B0}"/>
              </a:ext>
            </a:extLst>
          </p:cNvPr>
          <p:cNvSpPr txBox="1"/>
          <p:nvPr/>
        </p:nvSpPr>
        <p:spPr>
          <a:xfrm>
            <a:off x="4260810" y="5255136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조선업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16A6A1A-C9E1-4346-9C35-8B4D472EF87D}"/>
              </a:ext>
            </a:extLst>
          </p:cNvPr>
          <p:cNvSpPr txBox="1"/>
          <p:nvPr/>
        </p:nvSpPr>
        <p:spPr>
          <a:xfrm>
            <a:off x="2578621" y="4349079"/>
            <a:ext cx="832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업종</a:t>
            </a:r>
          </a:p>
        </p:txBody>
      </p:sp>
      <p:graphicFrame>
        <p:nvGraphicFramePr>
          <p:cNvPr id="73" name="차트 72">
            <a:extLst>
              <a:ext uri="{FF2B5EF4-FFF2-40B4-BE49-F238E27FC236}">
                <a16:creationId xmlns:a16="http://schemas.microsoft.com/office/drawing/2014/main" id="{F36D2ED7-A300-4F9D-AC94-E10BDE68EC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0950584"/>
              </p:ext>
            </p:extLst>
          </p:nvPr>
        </p:nvGraphicFramePr>
        <p:xfrm>
          <a:off x="5659003" y="4304983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4" name="TextBox 73">
            <a:extLst>
              <a:ext uri="{FF2B5EF4-FFF2-40B4-BE49-F238E27FC236}">
                <a16:creationId xmlns:a16="http://schemas.microsoft.com/office/drawing/2014/main" id="{04155135-FC20-4418-9941-6A101365DC22}"/>
              </a:ext>
            </a:extLst>
          </p:cNvPr>
          <p:cNvSpPr txBox="1"/>
          <p:nvPr/>
        </p:nvSpPr>
        <p:spPr>
          <a:xfrm>
            <a:off x="6918017" y="44439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골절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E57174-6E08-408F-A21F-2A24EF33ED8B}"/>
              </a:ext>
            </a:extLst>
          </p:cNvPr>
          <p:cNvSpPr txBox="1"/>
          <p:nvPr/>
        </p:nvSpPr>
        <p:spPr>
          <a:xfrm>
            <a:off x="6918017" y="48549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화상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BF16A1-3127-4BD9-8288-05EFFA9F9D23}"/>
              </a:ext>
            </a:extLst>
          </p:cNvPr>
          <p:cNvSpPr txBox="1"/>
          <p:nvPr/>
        </p:nvSpPr>
        <p:spPr>
          <a:xfrm>
            <a:off x="6918017" y="5265449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낙상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AD3C85-2459-46B0-9000-62BB5AD7E201}"/>
              </a:ext>
            </a:extLst>
          </p:cNvPr>
          <p:cNvSpPr txBox="1"/>
          <p:nvPr/>
        </p:nvSpPr>
        <p:spPr>
          <a:xfrm>
            <a:off x="5235828" y="4359392"/>
            <a:ext cx="832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부상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8C90FA2-9FFE-4D54-BDA0-7CBD08FE42E3}"/>
              </a:ext>
            </a:extLst>
          </p:cNvPr>
          <p:cNvSpPr/>
          <p:nvPr/>
        </p:nvSpPr>
        <p:spPr>
          <a:xfrm>
            <a:off x="0" y="1822862"/>
            <a:ext cx="8603671" cy="118288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CC7303-B0EF-431B-821A-0F92CB474877}"/>
              </a:ext>
            </a:extLst>
          </p:cNvPr>
          <p:cNvSpPr txBox="1"/>
          <p:nvPr/>
        </p:nvSpPr>
        <p:spPr>
          <a:xfrm>
            <a:off x="67857" y="1935387"/>
            <a:ext cx="1479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산재 통계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F8B21B-7790-4195-91E4-904B61EC5EE9}"/>
              </a:ext>
            </a:extLst>
          </p:cNvPr>
          <p:cNvSpPr txBox="1"/>
          <p:nvPr/>
        </p:nvSpPr>
        <p:spPr>
          <a:xfrm>
            <a:off x="206578" y="2490827"/>
            <a:ext cx="6988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한줄</a:t>
            </a:r>
            <a:r>
              <a:rPr lang="ko-KR" altLang="en-US" dirty="0"/>
              <a:t> 소개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BE55AE-3461-4A4B-9AAA-528CE6E3DE19}"/>
              </a:ext>
            </a:extLst>
          </p:cNvPr>
          <p:cNvSpPr/>
          <p:nvPr/>
        </p:nvSpPr>
        <p:spPr>
          <a:xfrm>
            <a:off x="7057196" y="1968500"/>
            <a:ext cx="1299404" cy="89597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5750352"/>
            <a:ext cx="8603671" cy="48111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5752198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3417" y="5812308"/>
            <a:ext cx="326366" cy="32636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47914DA-0E1B-4369-9E70-CCD764D00B4E}"/>
              </a:ext>
            </a:extLst>
          </p:cNvPr>
          <p:cNvSpPr txBox="1"/>
          <p:nvPr/>
        </p:nvSpPr>
        <p:spPr>
          <a:xfrm>
            <a:off x="499533" y="3285067"/>
            <a:ext cx="74540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OOO</a:t>
            </a:r>
            <a:r>
              <a:rPr lang="ko-KR" altLang="en-US" dirty="0"/>
              <a:t>님의 </a:t>
            </a:r>
            <a:r>
              <a:rPr lang="en-US" altLang="ko-KR" dirty="0"/>
              <a:t>OOO</a:t>
            </a:r>
            <a:r>
              <a:rPr lang="ko-KR" altLang="en-US" dirty="0"/>
              <a:t>업은 부상순위 </a:t>
            </a:r>
            <a:r>
              <a:rPr lang="en-US" altLang="ko-KR" dirty="0"/>
              <a:t>OO</a:t>
            </a:r>
            <a:r>
              <a:rPr lang="ko-KR" altLang="en-US" dirty="0"/>
              <a:t>위 이며</a:t>
            </a:r>
            <a:r>
              <a:rPr lang="en-US" altLang="ko-KR" dirty="0"/>
              <a:t>, </a:t>
            </a:r>
            <a:r>
              <a:rPr lang="ko-KR" altLang="en-US" dirty="0"/>
              <a:t>가장 높은 부상 종류는 </a:t>
            </a:r>
            <a:r>
              <a:rPr lang="en-US" altLang="ko-KR" dirty="0"/>
              <a:t>OO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6D5D312-89F8-48B7-9AB9-2388EBC7DD6C}"/>
              </a:ext>
            </a:extLst>
          </p:cNvPr>
          <p:cNvSpPr/>
          <p:nvPr/>
        </p:nvSpPr>
        <p:spPr>
          <a:xfrm>
            <a:off x="7763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0635FEAC-12D7-49C4-8209-97A0EA2F704B}"/>
              </a:ext>
            </a:extLst>
          </p:cNvPr>
          <p:cNvSpPr/>
          <p:nvPr/>
        </p:nvSpPr>
        <p:spPr>
          <a:xfrm>
            <a:off x="831396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1249" y="190092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208140" y="31628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33184" y="429073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2961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30546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&gt;&gt; industrial_accident_statistics.html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지역별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부상별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통계 슬라이딩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industrial_accident_news_list.html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industrial_accident_news_detail_id.html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1855671"/>
            <a:ext cx="8603671" cy="4811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1857517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3417" y="1917627"/>
            <a:ext cx="326366" cy="326366"/>
          </a:xfrm>
          <a:prstGeom prst="rect">
            <a:avLst/>
          </a:prstGeom>
        </p:spPr>
      </p:pic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C28346CC-9FDB-4C8F-97B6-31A655296F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3488962"/>
              </p:ext>
            </p:extLst>
          </p:nvPr>
        </p:nvGraphicFramePr>
        <p:xfrm>
          <a:off x="8466" y="2480724"/>
          <a:ext cx="8603672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96">
                  <a:extLst>
                    <a:ext uri="{9D8B030D-6E8A-4147-A177-3AD203B41FA5}">
                      <a16:colId xmlns:a16="http://schemas.microsoft.com/office/drawing/2014/main" val="3052106221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2663705773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97598236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15224190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750711354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420074711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67982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지역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업종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부상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요일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직종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12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99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8114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806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826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802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399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061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584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832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741A143-1F6D-4DA7-9DC5-AB6D5CD635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병원 찾기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68086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8115260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580051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2469276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55925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789146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94478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39934"/>
              </p:ext>
            </p:extLst>
          </p:nvPr>
        </p:nvGraphicFramePr>
        <p:xfrm>
          <a:off x="8603672" y="1180081"/>
          <a:ext cx="3588327" cy="62153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0414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2161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5656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Box 44">
            <a:extLst>
              <a:ext uri="{FF2B5EF4-FFF2-40B4-BE49-F238E27FC236}">
                <a16:creationId xmlns:a16="http://schemas.microsoft.com/office/drawing/2014/main" id="{559BFEAF-4ABC-466A-99E4-88D326E3235D}"/>
              </a:ext>
            </a:extLst>
          </p:cNvPr>
          <p:cNvSpPr txBox="1"/>
          <p:nvPr/>
        </p:nvSpPr>
        <p:spPr>
          <a:xfrm>
            <a:off x="2813213" y="4939496"/>
            <a:ext cx="942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아니요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6060453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2156585"/>
              </p:ext>
            </p:extLst>
          </p:nvPr>
        </p:nvGraphicFramePr>
        <p:xfrm>
          <a:off x="8603672" y="1180080"/>
          <a:ext cx="3588327" cy="5721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23924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나이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숫자만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Default 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목록을 줘서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Default 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목록을 줘서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여부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 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yes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체크시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폼 입력 가능하게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4" y="35524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5B9561-DBF3-443C-A167-2524FE0E823A}"/>
              </a:ext>
            </a:extLst>
          </p:cNvPr>
          <p:cNvSpPr txBox="1"/>
          <p:nvPr/>
        </p:nvSpPr>
        <p:spPr>
          <a:xfrm>
            <a:off x="1394659" y="3523513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업종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B67A63E-18B8-4336-AFEF-EEC18DB47284}"/>
              </a:ext>
            </a:extLst>
          </p:cNvPr>
          <p:cNvSpPr/>
          <p:nvPr/>
        </p:nvSpPr>
        <p:spPr>
          <a:xfrm>
            <a:off x="5138003" y="35524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FB0EBA-624E-4601-90D4-3DB870961FB9}"/>
              </a:ext>
            </a:extLst>
          </p:cNvPr>
          <p:cNvSpPr txBox="1"/>
          <p:nvPr/>
        </p:nvSpPr>
        <p:spPr>
          <a:xfrm>
            <a:off x="4251118" y="3523513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직무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62F652-FB52-4E55-9975-334C4CBE1207}"/>
              </a:ext>
            </a:extLst>
          </p:cNvPr>
          <p:cNvSpPr txBox="1"/>
          <p:nvPr/>
        </p:nvSpPr>
        <p:spPr>
          <a:xfrm>
            <a:off x="1425460" y="4975004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산재 여부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10" name="원형: 비어 있음 9">
            <a:extLst>
              <a:ext uri="{FF2B5EF4-FFF2-40B4-BE49-F238E27FC236}">
                <a16:creationId xmlns:a16="http://schemas.microsoft.com/office/drawing/2014/main" id="{FACB6F44-36ED-4022-9B41-249F48FAD2AE}"/>
              </a:ext>
            </a:extLst>
          </p:cNvPr>
          <p:cNvSpPr/>
          <p:nvPr/>
        </p:nvSpPr>
        <p:spPr>
          <a:xfrm>
            <a:off x="2628900" y="5063615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원형: 비어 있음 43">
            <a:extLst>
              <a:ext uri="{FF2B5EF4-FFF2-40B4-BE49-F238E27FC236}">
                <a16:creationId xmlns:a16="http://schemas.microsoft.com/office/drawing/2014/main" id="{295DBDF6-3A76-401B-8335-6E447DEA9FC4}"/>
              </a:ext>
            </a:extLst>
          </p:cNvPr>
          <p:cNvSpPr/>
          <p:nvPr/>
        </p:nvSpPr>
        <p:spPr>
          <a:xfrm>
            <a:off x="3621105" y="5065936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3A4E71-AF48-4621-8662-9DFEBF9789D3}"/>
              </a:ext>
            </a:extLst>
          </p:cNvPr>
          <p:cNvSpPr txBox="1"/>
          <p:nvPr/>
        </p:nvSpPr>
        <p:spPr>
          <a:xfrm>
            <a:off x="2235355" y="4939496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예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096000" y="4985303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281919" y="5020811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485359" y="5109422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477564" y="5111743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091814" y="4985303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45745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001742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이거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뺴는거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아니였나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테이블에 왜 있지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상병 코드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상병 코드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상병명으로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4" y="35524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17300" y="3020702"/>
            <a:ext cx="12115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4319864" y="3023899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상병 코드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412067" y="3549174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682836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67199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 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Box 44">
            <a:extLst>
              <a:ext uri="{FF2B5EF4-FFF2-40B4-BE49-F238E27FC236}">
                <a16:creationId xmlns:a16="http://schemas.microsoft.com/office/drawing/2014/main" id="{559BFEAF-4ABC-466A-99E4-88D326E3235D}"/>
              </a:ext>
            </a:extLst>
          </p:cNvPr>
          <p:cNvSpPr txBox="1"/>
          <p:nvPr/>
        </p:nvSpPr>
        <p:spPr>
          <a:xfrm>
            <a:off x="2813213" y="4939496"/>
            <a:ext cx="942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아니요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481110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426231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버튼 누르기 전에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불가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수정버튼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수정가능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4" y="35524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5B9561-DBF3-443C-A167-2524FE0E823A}"/>
              </a:ext>
            </a:extLst>
          </p:cNvPr>
          <p:cNvSpPr txBox="1"/>
          <p:nvPr/>
        </p:nvSpPr>
        <p:spPr>
          <a:xfrm>
            <a:off x="1394659" y="3523513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업종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B67A63E-18B8-4336-AFEF-EEC18DB47284}"/>
              </a:ext>
            </a:extLst>
          </p:cNvPr>
          <p:cNvSpPr/>
          <p:nvPr/>
        </p:nvSpPr>
        <p:spPr>
          <a:xfrm>
            <a:off x="5138003" y="35524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FB0EBA-624E-4601-90D4-3DB870961FB9}"/>
              </a:ext>
            </a:extLst>
          </p:cNvPr>
          <p:cNvSpPr txBox="1"/>
          <p:nvPr/>
        </p:nvSpPr>
        <p:spPr>
          <a:xfrm>
            <a:off x="4251118" y="3523513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직무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62F652-FB52-4E55-9975-334C4CBE1207}"/>
              </a:ext>
            </a:extLst>
          </p:cNvPr>
          <p:cNvSpPr txBox="1"/>
          <p:nvPr/>
        </p:nvSpPr>
        <p:spPr>
          <a:xfrm>
            <a:off x="1425460" y="4975004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산재 여부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10" name="원형: 비어 있음 9">
            <a:extLst>
              <a:ext uri="{FF2B5EF4-FFF2-40B4-BE49-F238E27FC236}">
                <a16:creationId xmlns:a16="http://schemas.microsoft.com/office/drawing/2014/main" id="{FACB6F44-36ED-4022-9B41-249F48FAD2AE}"/>
              </a:ext>
            </a:extLst>
          </p:cNvPr>
          <p:cNvSpPr/>
          <p:nvPr/>
        </p:nvSpPr>
        <p:spPr>
          <a:xfrm>
            <a:off x="2628900" y="5063615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원형: 비어 있음 43">
            <a:extLst>
              <a:ext uri="{FF2B5EF4-FFF2-40B4-BE49-F238E27FC236}">
                <a16:creationId xmlns:a16="http://schemas.microsoft.com/office/drawing/2014/main" id="{295DBDF6-3A76-401B-8335-6E447DEA9FC4}"/>
              </a:ext>
            </a:extLst>
          </p:cNvPr>
          <p:cNvSpPr/>
          <p:nvPr/>
        </p:nvSpPr>
        <p:spPr>
          <a:xfrm>
            <a:off x="3621105" y="5065936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3A4E71-AF48-4621-8662-9DFEBF9789D3}"/>
              </a:ext>
            </a:extLst>
          </p:cNvPr>
          <p:cNvSpPr txBox="1"/>
          <p:nvPr/>
        </p:nvSpPr>
        <p:spPr>
          <a:xfrm>
            <a:off x="2235355" y="4939496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예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096000" y="4985303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281919" y="5020811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485359" y="5109422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477564" y="5111743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091814" y="4985303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B7779D6-4CAE-4565-BC7C-BAD2310B6D56}"/>
              </a:ext>
            </a:extLst>
          </p:cNvPr>
          <p:cNvSpPr/>
          <p:nvPr/>
        </p:nvSpPr>
        <p:spPr>
          <a:xfrm>
            <a:off x="5889458" y="5576637"/>
            <a:ext cx="1125800" cy="36933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13260353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74012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763252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이거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뺴는거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아니였나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테이블에 왜 있지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상병 코드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상병 코드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상병명으로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4" y="35524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17300" y="3020702"/>
            <a:ext cx="12115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4319864" y="3023899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상병 코드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412067" y="3549174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1282</Words>
  <Application>Microsoft Office PowerPoint</Application>
  <PresentationFormat>와이드스크린</PresentationFormat>
  <Paragraphs>532</Paragraphs>
  <Slides>19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스토리보드 산재통계</vt:lpstr>
      <vt:lpstr>메인 , 헤더</vt:lpstr>
      <vt:lpstr>PowerPoint 프레젠테이션</vt:lpstr>
      <vt:lpstr>PowerPoint 프레젠테이션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마이 페이지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do yun choi</cp:lastModifiedBy>
  <cp:revision>34</cp:revision>
  <dcterms:created xsi:type="dcterms:W3CDTF">2025-11-24T01:38:34Z</dcterms:created>
  <dcterms:modified xsi:type="dcterms:W3CDTF">2025-11-24T14:08:19Z</dcterms:modified>
</cp:coreProperties>
</file>