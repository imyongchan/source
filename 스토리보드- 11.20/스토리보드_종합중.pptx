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62" r:id="rId3"/>
    <p:sldId id="257" r:id="rId4"/>
    <p:sldId id="266" r:id="rId5"/>
    <p:sldId id="261" r:id="rId6"/>
    <p:sldId id="263" r:id="rId7"/>
    <p:sldId id="265" r:id="rId8"/>
    <p:sldId id="258" r:id="rId9"/>
    <p:sldId id="260" r:id="rId10"/>
    <p:sldId id="267" r:id="rId11"/>
    <p:sldId id="268" r:id="rId12"/>
    <p:sldId id="270" r:id="rId13"/>
    <p:sldId id="271" r:id="rId14"/>
    <p:sldId id="272" r:id="rId15"/>
    <p:sldId id="273" r:id="rId16"/>
    <p:sldId id="274" r:id="rId17"/>
    <p:sldId id="277" r:id="rId18"/>
    <p:sldId id="285" r:id="rId19"/>
    <p:sldId id="283" r:id="rId20"/>
    <p:sldId id="278" r:id="rId21"/>
    <p:sldId id="282" r:id="rId22"/>
    <p:sldId id="281" r:id="rId23"/>
    <p:sldId id="294" r:id="rId24"/>
    <p:sldId id="295" r:id="rId25"/>
    <p:sldId id="280" r:id="rId26"/>
    <p:sldId id="291" r:id="rId27"/>
    <p:sldId id="279" r:id="rId28"/>
    <p:sldId id="286" r:id="rId29"/>
    <p:sldId id="292" r:id="rId30"/>
    <p:sldId id="287" r:id="rId31"/>
    <p:sldId id="288" r:id="rId32"/>
    <p:sldId id="290" r:id="rId33"/>
    <p:sldId id="293" r:id="rId34"/>
    <p:sldId id="289" r:id="rId3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>
        <p:scale>
          <a:sx n="100" d="100"/>
          <a:sy n="100" d="100"/>
        </p:scale>
        <p:origin x="34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13A-48F6-A7D0-A01141C5F7A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13A-48F6-A7D0-A01141C5F7A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13A-48F6-A7D0-A01141C5F7A7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D4D1-45E9-8358-D3C8FA214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D3B-4D35-980D-445A6312232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D3B-4D35-980D-445A6312232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D3B-4D35-980D-445A63122326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FD3B-4D35-980D-445A631223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CF6-4F80-B38B-901ACB5E42AE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F6-4F80-B38B-901ACB5E42AE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CF6-4F80-B38B-901ACB5E42AE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ECF6-4F80-B38B-901ACB5E42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68F-481D-B2BD-21EB88DDCAD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68F-481D-B2BD-21EB88DDCAD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68F-481D-B2BD-21EB88DDCAD2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968F-481D-B2BD-21EB88DDCA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DFF91-717C-4EE9-9C3F-09298E32B65B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5F57A-A7A3-460B-A3C5-F840737745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684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구성해야함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841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Ref : </a:t>
            </a:r>
            <a:r>
              <a:rPr lang="ko-KR" altLang="en-US" dirty="0" err="1"/>
              <a:t>쿠팡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5311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196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445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2593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71759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7561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56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3138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6077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5120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F445A-7219-45CC-84A4-B8233C141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D0787E-6A0E-409C-A62B-F957BAF99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7D8E41-41F0-481C-99F5-596154A9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76CB26-82DD-439C-BB87-F51F6850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45926-5937-403E-A2AE-FE671324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6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625D9-0240-48A3-A7CA-0606D5C8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7F432-4EFB-43F5-AF68-14E225192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91237-E1E9-4600-A6E8-42178C3D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99AB1-7EBD-4C38-BE12-194D24CCC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EAC3DF-21B2-4573-A20F-B95EAAD3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7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DD34-BA4E-40E9-98F6-2AB80E8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8C4660-982D-47F4-A0B3-16771B27C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4C207-2820-4D68-9D04-E2012099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F5A2B-A048-4326-BEF5-242045A0B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8D398-7098-4CFE-9D22-49F7B3E0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483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BF731-5355-4438-BD17-672D45B7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95C5E3-DD9F-4B06-AECE-1F5252EF7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1A5144-08E6-45BD-AA8D-41AB17786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D695DE-FC4E-4257-B793-DC2F38EF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A7A258-A9AA-4174-959C-247351FCE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4B3C00-EA0F-4F60-9BBF-241E78C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13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F529F-9D2A-4109-9757-113D0351F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082E3A-CDE9-4B1F-8640-A46BC239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2DF67C-3A67-4E6F-A5E4-1899B272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577BB0-77C2-4C76-AED1-C0B993982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AB154-6BF4-4A35-9FDF-AF21F5EBB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F238E0-2BEA-4676-987B-68244B85D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183CA9-EC6B-4C18-81E4-FC4451C4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B19213-122D-42CE-B4F6-14891B9D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59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E33D-C1AF-46D8-A49F-76C76B438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982B2-76A3-42A2-9F50-C1F86E67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4D668-2E63-4DD9-89E2-23D3FE890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BAF317-C885-4E56-B3F0-2A2C9129B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59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CDB548-2A8A-40EB-9E2B-0644EE1F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31AE109-0C75-4FEF-9458-31FFC3AB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E2398-DB24-4A57-87AC-A32EE0B4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4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8F58C-33AE-4103-AFB3-FCEA17693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163BB-E27E-4D3F-82AC-32D36E440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254FE4-AC80-4DBE-8CAA-616CE0443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1C060-26C8-4C7E-AAE9-F10FA1DE6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6E2991-7DA1-4C3B-A0FB-2E27B160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244C9F-4EF2-4DC5-BDFE-17709090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2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C52D-D665-431E-AD2C-0C2CB8E6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2C73F-8A07-42CB-97F4-66319120B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A23B3A-7732-4482-8ECD-529F4DA8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5679A-CA04-4763-BE4D-E37165CEF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639F77-E6AC-48D6-9978-3AAFFD6AE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975227-D572-4A83-A1ED-431B03A77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65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F6F2B-7D20-4404-9BDD-760D7CF8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4D7786-F7BF-42A8-8D4D-1D56AAD72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DB759-CD4E-453B-9386-F37291A3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6A4BF-EE32-48F1-A719-000BE833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9AE2E0-A4C5-4C8F-A46A-7DB631AC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1215E3-378D-44B3-920A-B6B27215C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2455D7-2D57-4438-ACCB-5993631B4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26065-1FB2-4F8E-BC2D-9748CD9C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72751E-9414-499F-B378-9980F5D6B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FCD185-1063-4156-B350-8B413C1A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39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C7BF92-72DE-4B94-9A1F-5A41D99C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64FA9-4957-4742-AE2F-2B941972A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2D05E-6D5B-4D2C-983D-164ED0179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0BE70-DC93-4C0C-BED1-8C57C6BBD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3A512-BC1F-4D8D-B14C-40B253D4A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00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스토리보드 산재통계</a:t>
            </a:r>
          </a:p>
        </p:txBody>
      </p:sp>
    </p:spTree>
    <p:extLst>
      <p:ext uri="{BB962C8B-B14F-4D97-AF65-F5344CB8AC3E}">
        <p14:creationId xmlns:p14="http://schemas.microsoft.com/office/powerpoint/2010/main" val="102192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3FC1E-53BF-41EE-A318-AAEAA378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</a:t>
            </a:r>
            <a:r>
              <a:rPr lang="en-US" altLang="ko-KR" dirty="0"/>
              <a:t>, </a:t>
            </a:r>
            <a:r>
              <a:rPr lang="ko-KR" altLang="en-US" dirty="0"/>
              <a:t>헤더</a:t>
            </a:r>
          </a:p>
        </p:txBody>
      </p:sp>
    </p:spTree>
    <p:extLst>
      <p:ext uri="{BB962C8B-B14F-4D97-AF65-F5344CB8AC3E}">
        <p14:creationId xmlns:p14="http://schemas.microsoft.com/office/powerpoint/2010/main" val="360651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05997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98270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35"/>
            <a:ext cx="16150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516000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교육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0042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679603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사용자의 이름을 사용하여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처리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 페이지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905963" y="1442269"/>
            <a:ext cx="16150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로그아웃 </a:t>
            </a:r>
            <a:r>
              <a:rPr lang="en-US" altLang="ko-KR" sz="1100" dirty="0"/>
              <a:t>| </a:t>
            </a:r>
            <a:r>
              <a:rPr lang="ko-KR" altLang="en-US" sz="1100" dirty="0"/>
              <a:t>마이페이지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352561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교육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4926932" y="1432535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환영합니다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2959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68331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홈페이지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129420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지역별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업종별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부상별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1,2,3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순위를 슬라이딩으로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이동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상세 페이지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table 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작성자가 입력된다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리스트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8BDC760-B4AD-444E-B619-2FD56EF41606}"/>
              </a:ext>
            </a:extLst>
          </p:cNvPr>
          <p:cNvSpPr/>
          <p:nvPr/>
        </p:nvSpPr>
        <p:spPr>
          <a:xfrm>
            <a:off x="0" y="1822862"/>
            <a:ext cx="8603671" cy="1324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히어로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D3E86-FB28-44C2-B1B5-25949B751E8A}"/>
              </a:ext>
            </a:extLst>
          </p:cNvPr>
          <p:cNvSpPr/>
          <p:nvPr/>
        </p:nvSpPr>
        <p:spPr>
          <a:xfrm>
            <a:off x="-1979" y="3167744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B596E8-2383-4511-860C-5CEBAAD20629}"/>
              </a:ext>
            </a:extLst>
          </p:cNvPr>
          <p:cNvSpPr/>
          <p:nvPr/>
        </p:nvSpPr>
        <p:spPr>
          <a:xfrm>
            <a:off x="0" y="4709174"/>
            <a:ext cx="8603671" cy="1486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255CB5-0DD7-4720-BFC9-E32D0609F82D}"/>
              </a:ext>
            </a:extLst>
          </p:cNvPr>
          <p:cNvSpPr/>
          <p:nvPr/>
        </p:nvSpPr>
        <p:spPr>
          <a:xfrm>
            <a:off x="17813" y="3215853"/>
            <a:ext cx="884712" cy="4755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통계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96EBBB-0431-4EC2-90A2-14E7BCB512E6}"/>
              </a:ext>
            </a:extLst>
          </p:cNvPr>
          <p:cNvSpPr/>
          <p:nvPr/>
        </p:nvSpPr>
        <p:spPr>
          <a:xfrm>
            <a:off x="17813" y="4716886"/>
            <a:ext cx="878774" cy="4310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뉴스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233D38-0148-451D-819B-41F95C845542}"/>
              </a:ext>
            </a:extLst>
          </p:cNvPr>
          <p:cNvSpPr/>
          <p:nvPr/>
        </p:nvSpPr>
        <p:spPr>
          <a:xfrm>
            <a:off x="100941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73CE053-0061-480D-9A03-E0F1027FE364}"/>
              </a:ext>
            </a:extLst>
          </p:cNvPr>
          <p:cNvSpPr/>
          <p:nvPr/>
        </p:nvSpPr>
        <p:spPr>
          <a:xfrm>
            <a:off x="225631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A52B5B-D6D6-4786-BBAD-E99520AECA2D}"/>
              </a:ext>
            </a:extLst>
          </p:cNvPr>
          <p:cNvSpPr txBox="1"/>
          <p:nvPr/>
        </p:nvSpPr>
        <p:spPr>
          <a:xfrm>
            <a:off x="1615044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A4E12-1C40-4350-BA62-47BECBF99EBD}"/>
              </a:ext>
            </a:extLst>
          </p:cNvPr>
          <p:cNvSpPr txBox="1"/>
          <p:nvPr/>
        </p:nvSpPr>
        <p:spPr>
          <a:xfrm>
            <a:off x="1666874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819A1AF-984A-4526-AC68-B3246648F072}"/>
              </a:ext>
            </a:extLst>
          </p:cNvPr>
          <p:cNvSpPr/>
          <p:nvPr/>
        </p:nvSpPr>
        <p:spPr>
          <a:xfrm>
            <a:off x="2838204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1AE18C-FEDA-4434-8293-64055F385CFE}"/>
              </a:ext>
            </a:extLst>
          </p:cNvPr>
          <p:cNvSpPr/>
          <p:nvPr/>
        </p:nvSpPr>
        <p:spPr>
          <a:xfrm>
            <a:off x="2962894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F1ACD3-C184-4F25-95EF-29F1B9DFAADA}"/>
              </a:ext>
            </a:extLst>
          </p:cNvPr>
          <p:cNvSpPr txBox="1"/>
          <p:nvPr/>
        </p:nvSpPr>
        <p:spPr>
          <a:xfrm>
            <a:off x="4352307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68FC70-AEC3-405C-B489-3F0548A592AD}"/>
              </a:ext>
            </a:extLst>
          </p:cNvPr>
          <p:cNvSpPr txBox="1"/>
          <p:nvPr/>
        </p:nvSpPr>
        <p:spPr>
          <a:xfrm>
            <a:off x="4404137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9F3F06-FE66-4A24-8B9A-CC061AC1A18F}"/>
              </a:ext>
            </a:extLst>
          </p:cNvPr>
          <p:cNvSpPr/>
          <p:nvPr/>
        </p:nvSpPr>
        <p:spPr>
          <a:xfrm>
            <a:off x="5574348" y="5084572"/>
            <a:ext cx="2625563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126CC8-6FF6-4FB1-B108-7C88591185A8}"/>
              </a:ext>
            </a:extLst>
          </p:cNvPr>
          <p:cNvSpPr/>
          <p:nvPr/>
        </p:nvSpPr>
        <p:spPr>
          <a:xfrm>
            <a:off x="5699039" y="5235983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28F5-4701-459B-AE1E-5DE5F61A9112}"/>
              </a:ext>
            </a:extLst>
          </p:cNvPr>
          <p:cNvSpPr txBox="1"/>
          <p:nvPr/>
        </p:nvSpPr>
        <p:spPr>
          <a:xfrm>
            <a:off x="7088452" y="5231979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237C1D-E28D-4AD7-906D-4285DE847C3A}"/>
              </a:ext>
            </a:extLst>
          </p:cNvPr>
          <p:cNvSpPr txBox="1"/>
          <p:nvPr/>
        </p:nvSpPr>
        <p:spPr>
          <a:xfrm>
            <a:off x="7140282" y="567617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E182F3-6220-4178-A907-7F8754A73014}"/>
              </a:ext>
            </a:extLst>
          </p:cNvPr>
          <p:cNvSpPr txBox="1"/>
          <p:nvPr/>
        </p:nvSpPr>
        <p:spPr>
          <a:xfrm>
            <a:off x="8005821" y="4771557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graphicFrame>
        <p:nvGraphicFramePr>
          <p:cNvPr id="41" name="차트 40">
            <a:extLst>
              <a:ext uri="{FF2B5EF4-FFF2-40B4-BE49-F238E27FC236}">
                <a16:creationId xmlns:a16="http://schemas.microsoft.com/office/drawing/2014/main" id="{13D7E1F3-FA78-4F00-B8BA-A3A21E87D926}"/>
              </a:ext>
            </a:extLst>
          </p:cNvPr>
          <p:cNvGraphicFramePr/>
          <p:nvPr/>
        </p:nvGraphicFramePr>
        <p:xfrm>
          <a:off x="3412046" y="3195070"/>
          <a:ext cx="1604908" cy="144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2" name="1/2 액자 41">
            <a:extLst>
              <a:ext uri="{FF2B5EF4-FFF2-40B4-BE49-F238E27FC236}">
                <a16:creationId xmlns:a16="http://schemas.microsoft.com/office/drawing/2014/main" id="{26A28183-CF79-45F1-A20E-992DC1BDAA3B}"/>
              </a:ext>
            </a:extLst>
          </p:cNvPr>
          <p:cNvSpPr/>
          <p:nvPr/>
        </p:nvSpPr>
        <p:spPr>
          <a:xfrm rot="7936885">
            <a:off x="7971202" y="3820832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3" name="1/2 액자 42">
            <a:extLst>
              <a:ext uri="{FF2B5EF4-FFF2-40B4-BE49-F238E27FC236}">
                <a16:creationId xmlns:a16="http://schemas.microsoft.com/office/drawing/2014/main" id="{1C0CE8E2-7A61-44ED-AEE0-33F609B8A6B0}"/>
              </a:ext>
            </a:extLst>
          </p:cNvPr>
          <p:cNvSpPr/>
          <p:nvPr/>
        </p:nvSpPr>
        <p:spPr>
          <a:xfrm rot="18869348">
            <a:off x="130504" y="3887013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A9B73E-3424-41F7-94E2-BD090E306158}"/>
              </a:ext>
            </a:extLst>
          </p:cNvPr>
          <p:cNvSpPr txBox="1"/>
          <p:nvPr/>
        </p:nvSpPr>
        <p:spPr>
          <a:xfrm>
            <a:off x="5166360" y="3333997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위 서울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CC4EB5-5834-4529-81DE-795003DA6E55}"/>
              </a:ext>
            </a:extLst>
          </p:cNvPr>
          <p:cNvSpPr txBox="1"/>
          <p:nvPr/>
        </p:nvSpPr>
        <p:spPr>
          <a:xfrm>
            <a:off x="5166360" y="3745010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위 인천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40D569-CF39-4AA6-882C-0E627E906E1A}"/>
              </a:ext>
            </a:extLst>
          </p:cNvPr>
          <p:cNvSpPr txBox="1"/>
          <p:nvPr/>
        </p:nvSpPr>
        <p:spPr>
          <a:xfrm>
            <a:off x="5166360" y="4155536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위 대구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4E2FE23-0F27-4ECB-99A1-2D462AEBC5B2}"/>
              </a:ext>
            </a:extLst>
          </p:cNvPr>
          <p:cNvSpPr/>
          <p:nvPr/>
        </p:nvSpPr>
        <p:spPr>
          <a:xfrm>
            <a:off x="1092530" y="3241965"/>
            <a:ext cx="6715496" cy="13187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EFA2D7-7C17-4CE6-8433-02D68918D94D}"/>
              </a:ext>
            </a:extLst>
          </p:cNvPr>
          <p:cNvSpPr txBox="1"/>
          <p:nvPr/>
        </p:nvSpPr>
        <p:spPr>
          <a:xfrm>
            <a:off x="1137062" y="3262179"/>
            <a:ext cx="955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지역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63D491A-D609-49F3-94BC-2A0C2FD7ACFA}"/>
              </a:ext>
            </a:extLst>
          </p:cNvPr>
          <p:cNvSpPr/>
          <p:nvPr/>
        </p:nvSpPr>
        <p:spPr>
          <a:xfrm>
            <a:off x="7856904" y="318510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AC78F-C9AB-40F7-9E85-0899E13BB9BD}"/>
              </a:ext>
            </a:extLst>
          </p:cNvPr>
          <p:cNvSpPr txBox="1"/>
          <p:nvPr/>
        </p:nvSpPr>
        <p:spPr>
          <a:xfrm>
            <a:off x="7855524" y="3231351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C9B01C8-945D-4F45-89FB-F06F1DE9B787}"/>
              </a:ext>
            </a:extLst>
          </p:cNvPr>
          <p:cNvSpPr/>
          <p:nvPr/>
        </p:nvSpPr>
        <p:spPr>
          <a:xfrm>
            <a:off x="52312" y="3215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620BBE-37E5-4E42-A018-BEF36C917FAF}"/>
              </a:ext>
            </a:extLst>
          </p:cNvPr>
          <p:cNvSpPr/>
          <p:nvPr/>
        </p:nvSpPr>
        <p:spPr>
          <a:xfrm>
            <a:off x="52311" y="475963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6AE1946-FDA1-42E7-8E86-4424E75911A1}"/>
              </a:ext>
            </a:extLst>
          </p:cNvPr>
          <p:cNvSpPr/>
          <p:nvPr/>
        </p:nvSpPr>
        <p:spPr>
          <a:xfrm>
            <a:off x="8005821" y="4722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26225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7D9E5A-9610-427A-A1C0-C72FDD0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통계</a:t>
            </a:r>
          </a:p>
        </p:txBody>
      </p:sp>
    </p:spTree>
    <p:extLst>
      <p:ext uri="{BB962C8B-B14F-4D97-AF65-F5344CB8AC3E}">
        <p14:creationId xmlns:p14="http://schemas.microsoft.com/office/powerpoint/2010/main" val="3383839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124711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7689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74168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04170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954980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주제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와 주제에 관한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한줄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소개를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이미지는 주제와 관련된 이미지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분석요약글을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분석 결과를 시각적으로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원형 차트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지역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부상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별로 미리 쿼리를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필터한다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버튼 또는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엔터를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입력하면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검색쿼리를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넘긴다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7DB2DED3-87A5-4945-AC03-7FDAD7763D99}"/>
              </a:ext>
            </a:extLst>
          </p:cNvPr>
          <p:cNvSpPr/>
          <p:nvPr/>
        </p:nvSpPr>
        <p:spPr>
          <a:xfrm>
            <a:off x="0" y="4257031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39" name="차트 38">
            <a:extLst>
              <a:ext uri="{FF2B5EF4-FFF2-40B4-BE49-F238E27FC236}">
                <a16:creationId xmlns:a16="http://schemas.microsoft.com/office/drawing/2014/main" id="{8A96D94D-13EF-44F2-9CAF-EFDE076937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1831490"/>
              </p:ext>
            </p:extLst>
          </p:nvPr>
        </p:nvGraphicFramePr>
        <p:xfrm>
          <a:off x="423175" y="4284357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" name="TextBox 39">
            <a:extLst>
              <a:ext uri="{FF2B5EF4-FFF2-40B4-BE49-F238E27FC236}">
                <a16:creationId xmlns:a16="http://schemas.microsoft.com/office/drawing/2014/main" id="{7C9FD3F0-C9D1-4A70-B068-6EA97A867A8D}"/>
              </a:ext>
            </a:extLst>
          </p:cNvPr>
          <p:cNvSpPr txBox="1"/>
          <p:nvPr/>
        </p:nvSpPr>
        <p:spPr>
          <a:xfrm>
            <a:off x="1682189" y="4423284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서울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0AABC2-A77D-4C50-8A9A-605BDF278D4A}"/>
              </a:ext>
            </a:extLst>
          </p:cNvPr>
          <p:cNvSpPr txBox="1"/>
          <p:nvPr/>
        </p:nvSpPr>
        <p:spPr>
          <a:xfrm>
            <a:off x="1682189" y="48342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인천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C33BF4-2A5E-4658-A6A5-C5923784CBCF}"/>
              </a:ext>
            </a:extLst>
          </p:cNvPr>
          <p:cNvSpPr txBox="1"/>
          <p:nvPr/>
        </p:nvSpPr>
        <p:spPr>
          <a:xfrm>
            <a:off x="1682189" y="52448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대구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4E5C56-146C-4691-8AE2-0FCE5EAE53F9}"/>
              </a:ext>
            </a:extLst>
          </p:cNvPr>
          <p:cNvSpPr txBox="1"/>
          <p:nvPr/>
        </p:nvSpPr>
        <p:spPr>
          <a:xfrm>
            <a:off x="0" y="4338766"/>
            <a:ext cx="832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지역</a:t>
            </a:r>
          </a:p>
        </p:txBody>
      </p:sp>
      <p:graphicFrame>
        <p:nvGraphicFramePr>
          <p:cNvPr id="68" name="차트 67">
            <a:extLst>
              <a:ext uri="{FF2B5EF4-FFF2-40B4-BE49-F238E27FC236}">
                <a16:creationId xmlns:a16="http://schemas.microsoft.com/office/drawing/2014/main" id="{BA5FD586-2AEE-4F28-ACE7-3E3C40F7C7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1756174"/>
              </p:ext>
            </p:extLst>
          </p:nvPr>
        </p:nvGraphicFramePr>
        <p:xfrm>
          <a:off x="3001796" y="4294670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9" name="TextBox 68">
            <a:extLst>
              <a:ext uri="{FF2B5EF4-FFF2-40B4-BE49-F238E27FC236}">
                <a16:creationId xmlns:a16="http://schemas.microsoft.com/office/drawing/2014/main" id="{CD78A94F-672F-4506-AB7D-FB0CE7DA614A}"/>
              </a:ext>
            </a:extLst>
          </p:cNvPr>
          <p:cNvSpPr txBox="1"/>
          <p:nvPr/>
        </p:nvSpPr>
        <p:spPr>
          <a:xfrm>
            <a:off x="4260810" y="44335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중공업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CA2248A-8C05-4C1E-87CA-81D1A9FE8C11}"/>
              </a:ext>
            </a:extLst>
          </p:cNvPr>
          <p:cNvSpPr txBox="1"/>
          <p:nvPr/>
        </p:nvSpPr>
        <p:spPr>
          <a:xfrm>
            <a:off x="4260810" y="48446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건설업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3ACB7BD-BDFA-4B90-B429-EE4554FC05B0}"/>
              </a:ext>
            </a:extLst>
          </p:cNvPr>
          <p:cNvSpPr txBox="1"/>
          <p:nvPr/>
        </p:nvSpPr>
        <p:spPr>
          <a:xfrm>
            <a:off x="4260810" y="5255136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조선업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16A6A1A-C9E1-4346-9C35-8B4D472EF87D}"/>
              </a:ext>
            </a:extLst>
          </p:cNvPr>
          <p:cNvSpPr txBox="1"/>
          <p:nvPr/>
        </p:nvSpPr>
        <p:spPr>
          <a:xfrm>
            <a:off x="2578621" y="4349079"/>
            <a:ext cx="832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업종</a:t>
            </a:r>
          </a:p>
        </p:txBody>
      </p:sp>
      <p:graphicFrame>
        <p:nvGraphicFramePr>
          <p:cNvPr id="73" name="차트 72">
            <a:extLst>
              <a:ext uri="{FF2B5EF4-FFF2-40B4-BE49-F238E27FC236}">
                <a16:creationId xmlns:a16="http://schemas.microsoft.com/office/drawing/2014/main" id="{F36D2ED7-A300-4F9D-AC94-E10BDE68EC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0950584"/>
              </p:ext>
            </p:extLst>
          </p:nvPr>
        </p:nvGraphicFramePr>
        <p:xfrm>
          <a:off x="5659003" y="4304983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4" name="TextBox 73">
            <a:extLst>
              <a:ext uri="{FF2B5EF4-FFF2-40B4-BE49-F238E27FC236}">
                <a16:creationId xmlns:a16="http://schemas.microsoft.com/office/drawing/2014/main" id="{04155135-FC20-4418-9941-6A101365DC22}"/>
              </a:ext>
            </a:extLst>
          </p:cNvPr>
          <p:cNvSpPr txBox="1"/>
          <p:nvPr/>
        </p:nvSpPr>
        <p:spPr>
          <a:xfrm>
            <a:off x="6918017" y="44439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골절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FE57174-6E08-408F-A21F-2A24EF33ED8B}"/>
              </a:ext>
            </a:extLst>
          </p:cNvPr>
          <p:cNvSpPr txBox="1"/>
          <p:nvPr/>
        </p:nvSpPr>
        <p:spPr>
          <a:xfrm>
            <a:off x="6918017" y="48549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화상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BF16A1-3127-4BD9-8288-05EFFA9F9D23}"/>
              </a:ext>
            </a:extLst>
          </p:cNvPr>
          <p:cNvSpPr txBox="1"/>
          <p:nvPr/>
        </p:nvSpPr>
        <p:spPr>
          <a:xfrm>
            <a:off x="6918017" y="5265449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낙상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AD3C85-2459-46B0-9000-62BB5AD7E201}"/>
              </a:ext>
            </a:extLst>
          </p:cNvPr>
          <p:cNvSpPr txBox="1"/>
          <p:nvPr/>
        </p:nvSpPr>
        <p:spPr>
          <a:xfrm>
            <a:off x="5235828" y="4359392"/>
            <a:ext cx="832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부상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8C90FA2-9FFE-4D54-BDA0-7CBD08FE42E3}"/>
              </a:ext>
            </a:extLst>
          </p:cNvPr>
          <p:cNvSpPr/>
          <p:nvPr/>
        </p:nvSpPr>
        <p:spPr>
          <a:xfrm>
            <a:off x="0" y="1822862"/>
            <a:ext cx="8603671" cy="118288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CC7303-B0EF-431B-821A-0F92CB474877}"/>
              </a:ext>
            </a:extLst>
          </p:cNvPr>
          <p:cNvSpPr txBox="1"/>
          <p:nvPr/>
        </p:nvSpPr>
        <p:spPr>
          <a:xfrm>
            <a:off x="67857" y="1935387"/>
            <a:ext cx="1479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산재 통계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F8B21B-7790-4195-91E4-904B61EC5EE9}"/>
              </a:ext>
            </a:extLst>
          </p:cNvPr>
          <p:cNvSpPr txBox="1"/>
          <p:nvPr/>
        </p:nvSpPr>
        <p:spPr>
          <a:xfrm>
            <a:off x="206578" y="2490827"/>
            <a:ext cx="6988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한줄</a:t>
            </a:r>
            <a:r>
              <a:rPr lang="ko-KR" altLang="en-US" dirty="0"/>
              <a:t> 소개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BE55AE-3461-4A4B-9AAA-528CE6E3DE19}"/>
              </a:ext>
            </a:extLst>
          </p:cNvPr>
          <p:cNvSpPr/>
          <p:nvPr/>
        </p:nvSpPr>
        <p:spPr>
          <a:xfrm>
            <a:off x="7057196" y="1968500"/>
            <a:ext cx="1299404" cy="89597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이미지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5750352"/>
            <a:ext cx="8603671" cy="48111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5752198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93417" y="5812308"/>
            <a:ext cx="326366" cy="32636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47914DA-0E1B-4369-9E70-CCD764D00B4E}"/>
              </a:ext>
            </a:extLst>
          </p:cNvPr>
          <p:cNvSpPr txBox="1"/>
          <p:nvPr/>
        </p:nvSpPr>
        <p:spPr>
          <a:xfrm>
            <a:off x="499533" y="3285067"/>
            <a:ext cx="74540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OOO</a:t>
            </a:r>
            <a:r>
              <a:rPr lang="ko-KR" altLang="en-US" dirty="0"/>
              <a:t>님의 </a:t>
            </a:r>
            <a:r>
              <a:rPr lang="en-US" altLang="ko-KR" dirty="0"/>
              <a:t>OOO</a:t>
            </a:r>
            <a:r>
              <a:rPr lang="ko-KR" altLang="en-US" dirty="0"/>
              <a:t>업은 부상순위 </a:t>
            </a:r>
            <a:r>
              <a:rPr lang="en-US" altLang="ko-KR" dirty="0"/>
              <a:t>OO</a:t>
            </a:r>
            <a:r>
              <a:rPr lang="ko-KR" altLang="en-US" dirty="0"/>
              <a:t>위 이며</a:t>
            </a:r>
            <a:r>
              <a:rPr lang="en-US" altLang="ko-KR" dirty="0"/>
              <a:t>, </a:t>
            </a:r>
            <a:r>
              <a:rPr lang="ko-KR" altLang="en-US" dirty="0"/>
              <a:t>가장 높은 부상 종류는 </a:t>
            </a:r>
            <a:r>
              <a:rPr lang="en-US" altLang="ko-KR" dirty="0"/>
              <a:t>OO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36D5D312-89F8-48B7-9AB9-2388EBC7DD6C}"/>
              </a:ext>
            </a:extLst>
          </p:cNvPr>
          <p:cNvSpPr/>
          <p:nvPr/>
        </p:nvSpPr>
        <p:spPr>
          <a:xfrm>
            <a:off x="7763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0635FEAC-12D7-49C4-8209-97A0EA2F704B}"/>
              </a:ext>
            </a:extLst>
          </p:cNvPr>
          <p:cNvSpPr/>
          <p:nvPr/>
        </p:nvSpPr>
        <p:spPr>
          <a:xfrm>
            <a:off x="831396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41249" y="190092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3C7825D-4448-4B98-BC96-9250A449316D}"/>
              </a:ext>
            </a:extLst>
          </p:cNvPr>
          <p:cNvSpPr/>
          <p:nvPr/>
        </p:nvSpPr>
        <p:spPr>
          <a:xfrm>
            <a:off x="208140" y="31628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2F5A591-3AD0-4F5C-9238-CEA0D23DD078}"/>
              </a:ext>
            </a:extLst>
          </p:cNvPr>
          <p:cNvSpPr/>
          <p:nvPr/>
        </p:nvSpPr>
        <p:spPr>
          <a:xfrm>
            <a:off x="33184" y="429073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321032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29614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30546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&gt;&gt; industrial_accident_statistics.html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지역별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부상별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통계 슬라이딩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industrial_accident_news_list.html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industrial_accident_news_detail_id.html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1855671"/>
            <a:ext cx="8603671" cy="4811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1857517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3417" y="1917627"/>
            <a:ext cx="326366" cy="326366"/>
          </a:xfrm>
          <a:prstGeom prst="rect">
            <a:avLst/>
          </a:prstGeom>
        </p:spPr>
      </p:pic>
      <p:graphicFrame>
        <p:nvGraphicFramePr>
          <p:cNvPr id="31" name="표 4">
            <a:extLst>
              <a:ext uri="{FF2B5EF4-FFF2-40B4-BE49-F238E27FC236}">
                <a16:creationId xmlns:a16="http://schemas.microsoft.com/office/drawing/2014/main" id="{C28346CC-9FDB-4C8F-97B6-31A655296F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3488962"/>
              </p:ext>
            </p:extLst>
          </p:nvPr>
        </p:nvGraphicFramePr>
        <p:xfrm>
          <a:off x="8466" y="2480724"/>
          <a:ext cx="8603672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96">
                  <a:extLst>
                    <a:ext uri="{9D8B030D-6E8A-4147-A177-3AD203B41FA5}">
                      <a16:colId xmlns:a16="http://schemas.microsoft.com/office/drawing/2014/main" val="3052106221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2663705773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97598236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15224190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750711354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420074711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679825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지역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업종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부상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요일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연령대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직종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123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99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8114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806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826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5802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3997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061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584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832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8E778E-7188-4F1F-AB93-AD3E2796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678742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55925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789146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필수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성공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형식 불일치시 경고 처리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불일치시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검증 및 경고 처리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네이버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구글로 로그인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페이지로 이동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337488" y="1944053"/>
            <a:ext cx="6105379" cy="41499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------------------------------------------------------------------------------------------------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계정이 </a:t>
            </a:r>
            <a:r>
              <a:rPr lang="ko-KR" altLang="en-US" sz="1000" dirty="0" err="1">
                <a:solidFill>
                  <a:schemeClr val="tx1"/>
                </a:solidFill>
              </a:rPr>
              <a:t>없으세요</a:t>
            </a:r>
            <a:r>
              <a:rPr lang="en-US" altLang="ko-KR" sz="1000" dirty="0">
                <a:solidFill>
                  <a:schemeClr val="tx1"/>
                </a:solidFill>
              </a:rPr>
              <a:t>?  </a:t>
            </a:r>
            <a:r>
              <a:rPr lang="ko-KR" altLang="en-US" sz="1100" b="1" dirty="0">
                <a:solidFill>
                  <a:schemeClr val="tx1"/>
                </a:solidFill>
              </a:rPr>
              <a:t>회원가입 </a:t>
            </a:r>
            <a:r>
              <a:rPr lang="ko-KR" altLang="en-US" sz="1000" dirty="0" err="1">
                <a:solidFill>
                  <a:schemeClr val="tx1"/>
                </a:solidFill>
              </a:rPr>
              <a:t>하러가기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0209E4C-5466-CD8E-2D96-63EC88036477}"/>
              </a:ext>
            </a:extLst>
          </p:cNvPr>
          <p:cNvSpPr/>
          <p:nvPr/>
        </p:nvSpPr>
        <p:spPr>
          <a:xfrm>
            <a:off x="2427513" y="2477648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>
                <a:solidFill>
                  <a:schemeClr val="bg2">
                    <a:lumMod val="75000"/>
                  </a:schemeClr>
                </a:solidFill>
              </a:rPr>
              <a:t>회원아이디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이메일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을 입력해 주세요</a:t>
            </a:r>
            <a:endParaRPr lang="ko-KR" altLang="en-US" sz="12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A0C0C11-757F-6F24-B51C-B7B1B7215BE7}"/>
              </a:ext>
            </a:extLst>
          </p:cNvPr>
          <p:cNvSpPr/>
          <p:nvPr/>
        </p:nvSpPr>
        <p:spPr>
          <a:xfrm>
            <a:off x="2427513" y="3112939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회원비밀번호를 입력해 주세요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6A3B47-F32F-BFFD-6C1C-0894817D6960}"/>
              </a:ext>
            </a:extLst>
          </p:cNvPr>
          <p:cNvSpPr/>
          <p:nvPr/>
        </p:nvSpPr>
        <p:spPr>
          <a:xfrm>
            <a:off x="2416918" y="3876993"/>
            <a:ext cx="3854548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0E489BE-AF35-70AB-6685-02C58F1A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11" y="4425371"/>
            <a:ext cx="3732952" cy="11972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944D87-566B-4E30-809D-CA99A406C50A}"/>
              </a:ext>
            </a:extLst>
          </p:cNvPr>
          <p:cNvSpPr/>
          <p:nvPr/>
        </p:nvSpPr>
        <p:spPr>
          <a:xfrm>
            <a:off x="1469738" y="200084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6C8EB-8B40-4603-9E57-BE9B8EB002FB}"/>
              </a:ext>
            </a:extLst>
          </p:cNvPr>
          <p:cNvSpPr/>
          <p:nvPr/>
        </p:nvSpPr>
        <p:spPr>
          <a:xfrm>
            <a:off x="2334253" y="379500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21DCC-A22D-46F1-9C1D-F366349E0EEE}"/>
              </a:ext>
            </a:extLst>
          </p:cNvPr>
          <p:cNvSpPr/>
          <p:nvPr/>
        </p:nvSpPr>
        <p:spPr>
          <a:xfrm>
            <a:off x="3412838" y="48092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C9E68D-AFE1-4BFC-AEE7-DAF47391613F}"/>
              </a:ext>
            </a:extLst>
          </p:cNvPr>
          <p:cNvSpPr/>
          <p:nvPr/>
        </p:nvSpPr>
        <p:spPr>
          <a:xfrm>
            <a:off x="3146138" y="549919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6D7D3-4A83-414D-9820-9F79F25387D7}"/>
              </a:ext>
            </a:extLst>
          </p:cNvPr>
          <p:cNvSpPr txBox="1"/>
          <p:nvPr/>
        </p:nvSpPr>
        <p:spPr>
          <a:xfrm>
            <a:off x="2344849" y="2794449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AB1AD-7B38-4FE5-AC2C-C4AA756355A4}"/>
              </a:ext>
            </a:extLst>
          </p:cNvPr>
          <p:cNvSpPr txBox="1"/>
          <p:nvPr/>
        </p:nvSpPr>
        <p:spPr>
          <a:xfrm>
            <a:off x="2325799" y="3390628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</p:spTree>
    <p:extLst>
      <p:ext uri="{BB962C8B-B14F-4D97-AF65-F5344CB8AC3E}">
        <p14:creationId xmlns:p14="http://schemas.microsoft.com/office/powerpoint/2010/main" val="23724260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294478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739934"/>
              </p:ext>
            </p:extLst>
          </p:nvPr>
        </p:nvGraphicFramePr>
        <p:xfrm>
          <a:off x="8603672" y="1180081"/>
          <a:ext cx="3588327" cy="62153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0414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2161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5656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 가능한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입력과 일치하는지 확인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7585822-A012-21F1-38E0-DD3EC605CCD4}"/>
              </a:ext>
            </a:extLst>
          </p:cNvPr>
          <p:cNvSpPr/>
          <p:nvPr/>
        </p:nvSpPr>
        <p:spPr>
          <a:xfrm>
            <a:off x="2766926" y="3047266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6~16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 err="1">
                <a:solidFill>
                  <a:schemeClr val="bg2">
                    <a:lumMod val="75000"/>
                  </a:schemeClr>
                </a:solidFill>
              </a:rPr>
              <a:t>영문소문자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숫자사용가능</a:t>
            </a:r>
            <a:endParaRPr lang="ko-KR" altLang="en-US" sz="10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D908B6D-6F18-BFDE-7514-0CF37797062E}"/>
              </a:ext>
            </a:extLst>
          </p:cNvPr>
          <p:cNvSpPr/>
          <p:nvPr/>
        </p:nvSpPr>
        <p:spPr>
          <a:xfrm>
            <a:off x="2766926" y="3604689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8~16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특수문자 모두 혼용 </a:t>
            </a:r>
            <a:endParaRPr lang="ko-KR" altLang="en-US" sz="10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B0F2DF4-EC2D-A4E2-D53A-D0187DA2A692}"/>
              </a:ext>
            </a:extLst>
          </p:cNvPr>
          <p:cNvSpPr/>
          <p:nvPr/>
        </p:nvSpPr>
        <p:spPr>
          <a:xfrm>
            <a:off x="2766926" y="4139950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비밀번호 다시 입력해주세요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5A5394-222E-4B20-990B-4B80333505B6}"/>
              </a:ext>
            </a:extLst>
          </p:cNvPr>
          <p:cNvSpPr txBox="1"/>
          <p:nvPr/>
        </p:nvSpPr>
        <p:spPr>
          <a:xfrm>
            <a:off x="3646114" y="2325222"/>
            <a:ext cx="131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6A91C-B512-49AC-8A5D-62BBD3B8871A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로그인 정보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A042A-CDDB-4C42-BC10-28E8BB579AD8}"/>
              </a:ext>
            </a:extLst>
          </p:cNvPr>
          <p:cNvSpPr txBox="1"/>
          <p:nvPr/>
        </p:nvSpPr>
        <p:spPr>
          <a:xfrm>
            <a:off x="1479883" y="3024800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E41F9-0CE6-486D-B12C-250CF15C4FF7}"/>
              </a:ext>
            </a:extLst>
          </p:cNvPr>
          <p:cNvSpPr txBox="1"/>
          <p:nvPr/>
        </p:nvSpPr>
        <p:spPr>
          <a:xfrm>
            <a:off x="1479883" y="3573863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045AC5-BE13-4D3D-B1EC-BB53E135AAB8}"/>
              </a:ext>
            </a:extLst>
          </p:cNvPr>
          <p:cNvSpPr txBox="1"/>
          <p:nvPr/>
        </p:nvSpPr>
        <p:spPr>
          <a:xfrm>
            <a:off x="1479883" y="4129294"/>
            <a:ext cx="1221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확인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86AEC-BACE-4E9F-98D3-A76BA8A8AD37}"/>
              </a:ext>
            </a:extLst>
          </p:cNvPr>
          <p:cNvSpPr txBox="1"/>
          <p:nvPr/>
        </p:nvSpPr>
        <p:spPr>
          <a:xfrm>
            <a:off x="2664489" y="3243367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D37CE4-2181-44AD-8775-60E8CE18EF2B}"/>
              </a:ext>
            </a:extLst>
          </p:cNvPr>
          <p:cNvSpPr txBox="1"/>
          <p:nvPr/>
        </p:nvSpPr>
        <p:spPr>
          <a:xfrm>
            <a:off x="2672508" y="3833671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EED28-96FC-4ACF-AE39-1A1432668DC5}"/>
              </a:ext>
            </a:extLst>
          </p:cNvPr>
          <p:cNvSpPr txBox="1"/>
          <p:nvPr/>
        </p:nvSpPr>
        <p:spPr>
          <a:xfrm>
            <a:off x="2664038" y="437082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비밀번호와 일치하지 않습니다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AD009AD-B77E-4DEB-9190-6ECEFD60B17A}"/>
              </a:ext>
            </a:extLst>
          </p:cNvPr>
          <p:cNvSpPr/>
          <p:nvPr/>
        </p:nvSpPr>
        <p:spPr>
          <a:xfrm>
            <a:off x="1291765" y="1924248"/>
            <a:ext cx="604148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07174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Box 44">
            <a:extLst>
              <a:ext uri="{FF2B5EF4-FFF2-40B4-BE49-F238E27FC236}">
                <a16:creationId xmlns:a16="http://schemas.microsoft.com/office/drawing/2014/main" id="{559BFEAF-4ABC-466A-99E4-88D326E3235D}"/>
              </a:ext>
            </a:extLst>
          </p:cNvPr>
          <p:cNvSpPr txBox="1"/>
          <p:nvPr/>
        </p:nvSpPr>
        <p:spPr>
          <a:xfrm>
            <a:off x="2813213" y="5739599"/>
            <a:ext cx="942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아니요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6060453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0136555"/>
              </p:ext>
            </p:extLst>
          </p:nvPr>
        </p:nvGraphicFramePr>
        <p:xfrm>
          <a:off x="8603672" y="1180080"/>
          <a:ext cx="3588327" cy="60563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23924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나이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숫자만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Default select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목록을 줘서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Default select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목록을 줘서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근속기간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(?)</a:t>
                      </a: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여부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 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yes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체크시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폼 입력 가능하게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4" y="35524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5B9561-DBF3-443C-A167-2524FE0E823A}"/>
              </a:ext>
            </a:extLst>
          </p:cNvPr>
          <p:cNvSpPr txBox="1"/>
          <p:nvPr/>
        </p:nvSpPr>
        <p:spPr>
          <a:xfrm>
            <a:off x="1394658" y="3523513"/>
            <a:ext cx="7855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중분류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B67A63E-18B8-4336-AFEF-EEC18DB47284}"/>
              </a:ext>
            </a:extLst>
          </p:cNvPr>
          <p:cNvSpPr/>
          <p:nvPr/>
        </p:nvSpPr>
        <p:spPr>
          <a:xfrm>
            <a:off x="5138003" y="35524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FB0EBA-624E-4601-90D4-3DB870961FB9}"/>
              </a:ext>
            </a:extLst>
          </p:cNvPr>
          <p:cNvSpPr txBox="1"/>
          <p:nvPr/>
        </p:nvSpPr>
        <p:spPr>
          <a:xfrm>
            <a:off x="4251117" y="3523513"/>
            <a:ext cx="8179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중분류</a:t>
            </a:r>
            <a:r>
              <a:rPr lang="en-US" altLang="ko-KR" sz="1100" dirty="0"/>
              <a:t>2</a:t>
            </a:r>
            <a:r>
              <a:rPr lang="ko-KR" altLang="en-US" sz="1100" dirty="0"/>
              <a:t>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62F652-FB52-4E55-9975-334C4CBE1207}"/>
              </a:ext>
            </a:extLst>
          </p:cNvPr>
          <p:cNvSpPr txBox="1"/>
          <p:nvPr/>
        </p:nvSpPr>
        <p:spPr>
          <a:xfrm>
            <a:off x="1425460" y="5775107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산재 여부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10" name="원형: 비어 있음 9">
            <a:extLst>
              <a:ext uri="{FF2B5EF4-FFF2-40B4-BE49-F238E27FC236}">
                <a16:creationId xmlns:a16="http://schemas.microsoft.com/office/drawing/2014/main" id="{FACB6F44-36ED-4022-9B41-249F48FAD2AE}"/>
              </a:ext>
            </a:extLst>
          </p:cNvPr>
          <p:cNvSpPr/>
          <p:nvPr/>
        </p:nvSpPr>
        <p:spPr>
          <a:xfrm>
            <a:off x="2628900" y="5863718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원형: 비어 있음 43">
            <a:extLst>
              <a:ext uri="{FF2B5EF4-FFF2-40B4-BE49-F238E27FC236}">
                <a16:creationId xmlns:a16="http://schemas.microsoft.com/office/drawing/2014/main" id="{295DBDF6-3A76-401B-8335-6E447DEA9FC4}"/>
              </a:ext>
            </a:extLst>
          </p:cNvPr>
          <p:cNvSpPr/>
          <p:nvPr/>
        </p:nvSpPr>
        <p:spPr>
          <a:xfrm>
            <a:off x="3621105" y="586603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3A4E71-AF48-4621-8662-9DFEBF9789D3}"/>
              </a:ext>
            </a:extLst>
          </p:cNvPr>
          <p:cNvSpPr txBox="1"/>
          <p:nvPr/>
        </p:nvSpPr>
        <p:spPr>
          <a:xfrm>
            <a:off x="2235355" y="5739599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예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150146" y="571923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336065" y="575473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539505" y="584334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531710" y="584567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145960" y="571923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D74B0266-E5A3-4992-8880-53622A5706D0}"/>
              </a:ext>
            </a:extLst>
          </p:cNvPr>
          <p:cNvSpPr/>
          <p:nvPr/>
        </p:nvSpPr>
        <p:spPr>
          <a:xfrm>
            <a:off x="2261319" y="506482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26215D9-222F-4C5E-834F-52DEB98BDD73}"/>
              </a:ext>
            </a:extLst>
          </p:cNvPr>
          <p:cNvSpPr txBox="1"/>
          <p:nvPr/>
        </p:nvSpPr>
        <p:spPr>
          <a:xfrm>
            <a:off x="1405237" y="5042473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근속기간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380680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45745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7358497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 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시간받는다면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어떻게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(???)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재해정도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(???)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4" y="305384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4319864" y="3023899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 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412067" y="3050527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7F1819D-953D-4788-8619-ABE01600CCEE}"/>
              </a:ext>
            </a:extLst>
          </p:cNvPr>
          <p:cNvSpPr/>
          <p:nvPr/>
        </p:nvSpPr>
        <p:spPr>
          <a:xfrm>
            <a:off x="2281543" y="355206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534DC8-206A-440C-B4C7-B56B327E2E6B}"/>
              </a:ext>
            </a:extLst>
          </p:cNvPr>
          <p:cNvSpPr txBox="1"/>
          <p:nvPr/>
        </p:nvSpPr>
        <p:spPr>
          <a:xfrm>
            <a:off x="1412066" y="3548749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재해정도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6682836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867199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329771"/>
              </p:ext>
            </p:extLst>
          </p:nvPr>
        </p:nvGraphicFramePr>
        <p:xfrm>
          <a:off x="8603672" y="1180080"/>
          <a:ext cx="3588327" cy="5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217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762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안내메시지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회원가입이 완료되었습니다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2958960" y="3692625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2876294" y="360623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264103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961769-84F3-4125-BF36-06860012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 페이지</a:t>
            </a:r>
          </a:p>
        </p:txBody>
      </p:sp>
    </p:spTree>
    <p:extLst>
      <p:ext uri="{BB962C8B-B14F-4D97-AF65-F5344CB8AC3E}">
        <p14:creationId xmlns:p14="http://schemas.microsoft.com/office/powerpoint/2010/main" val="25267502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08307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9778121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버튼 누르기 전에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불가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수정버튼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수정가능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37" name="표 57">
            <a:extLst>
              <a:ext uri="{FF2B5EF4-FFF2-40B4-BE49-F238E27FC236}">
                <a16:creationId xmlns:a16="http://schemas.microsoft.com/office/drawing/2014/main" id="{3BB9107F-6DE8-4B93-B616-F1235CB91D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749020"/>
              </p:ext>
            </p:extLst>
          </p:nvPr>
        </p:nvGraphicFramePr>
        <p:xfrm>
          <a:off x="103981" y="2535680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 정보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 정보 수정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나의 산재 리스트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변경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추가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50A635-2027-4F34-818D-8C665648693B}"/>
              </a:ext>
            </a:extLst>
          </p:cNvPr>
          <p:cNvSpPr txBox="1"/>
          <p:nvPr/>
        </p:nvSpPr>
        <p:spPr>
          <a:xfrm>
            <a:off x="3598176" y="2035969"/>
            <a:ext cx="1407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마이 페이지</a:t>
            </a:r>
          </a:p>
        </p:txBody>
      </p:sp>
    </p:spTree>
    <p:extLst>
      <p:ext uri="{BB962C8B-B14F-4D97-AF65-F5344CB8AC3E}">
        <p14:creationId xmlns:p14="http://schemas.microsoft.com/office/powerpoint/2010/main" val="13260353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0967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정보 수정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3640568" y="439114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비밀번호를 입력해 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615044" y="3939706"/>
            <a:ext cx="1170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비밀번호 입력</a:t>
            </a:r>
            <a:endParaRPr lang="ko-KR" altLang="en-US" sz="11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2607649" y="4365210"/>
            <a:ext cx="7924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비밀번호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86C185-7B11-49F8-87A9-C10087A26C10}"/>
              </a:ext>
            </a:extLst>
          </p:cNvPr>
          <p:cNvSpPr txBox="1"/>
          <p:nvPr/>
        </p:nvSpPr>
        <p:spPr>
          <a:xfrm>
            <a:off x="1913021" y="2953753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개인정보보호를 위하여 비밀번호 확인 후 회원정보의 관리</a:t>
            </a:r>
            <a:r>
              <a:rPr lang="en-US" altLang="ko-KR" sz="1000" dirty="0"/>
              <a:t>/</a:t>
            </a:r>
            <a:r>
              <a:rPr lang="ko-KR" altLang="en-US" sz="1000" dirty="0"/>
              <a:t>변경이 가능합니다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32C969-2945-4717-B0D6-64CE71C017A1}"/>
              </a:ext>
            </a:extLst>
          </p:cNvPr>
          <p:cNvSpPr txBox="1"/>
          <p:nvPr/>
        </p:nvSpPr>
        <p:spPr>
          <a:xfrm>
            <a:off x="1913021" y="3221010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아래 비밀번호 입력란에 비밀번호 입력 후 </a:t>
            </a:r>
            <a:r>
              <a:rPr lang="en-US" altLang="ko-KR" sz="1000" dirty="0"/>
              <a:t>“</a:t>
            </a:r>
            <a:r>
              <a:rPr lang="ko-KR" altLang="en-US" sz="1000" dirty="0"/>
              <a:t>비밀번호 확인</a:t>
            </a:r>
            <a:r>
              <a:rPr lang="en-US" altLang="ko-KR" sz="1000" dirty="0"/>
              <a:t>＂</a:t>
            </a:r>
            <a:r>
              <a:rPr lang="ko-KR" altLang="en-US" sz="1000" dirty="0"/>
              <a:t>을 클릭하세요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DD4908E-5715-42CA-870E-90E87CB5F8C5}"/>
              </a:ext>
            </a:extLst>
          </p:cNvPr>
          <p:cNvSpPr/>
          <p:nvPr/>
        </p:nvSpPr>
        <p:spPr>
          <a:xfrm>
            <a:off x="3525253" y="5143500"/>
            <a:ext cx="1822784" cy="3884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비밀번호 확인</a:t>
            </a:r>
          </a:p>
        </p:txBody>
      </p:sp>
    </p:spTree>
    <p:extLst>
      <p:ext uri="{BB962C8B-B14F-4D97-AF65-F5344CB8AC3E}">
        <p14:creationId xmlns:p14="http://schemas.microsoft.com/office/powerpoint/2010/main" val="23909260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97792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973646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78BCAA-E05B-4823-ADE6-45B425BC47B2}"/>
              </a:ext>
            </a:extLst>
          </p:cNvPr>
          <p:cNvSpPr txBox="1"/>
          <p:nvPr/>
        </p:nvSpPr>
        <p:spPr>
          <a:xfrm>
            <a:off x="3067213" y="5098249"/>
            <a:ext cx="942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아니요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8F802F4-A8C9-4B4E-B6F6-E38022758E7F}"/>
              </a:ext>
            </a:extLst>
          </p:cNvPr>
          <p:cNvSpPr/>
          <p:nvPr/>
        </p:nvSpPr>
        <p:spPr>
          <a:xfrm>
            <a:off x="2541016" y="27565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사람이름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675A5D-4200-4BAE-95E9-064E79E8C195}"/>
              </a:ext>
            </a:extLst>
          </p:cNvPr>
          <p:cNvSpPr txBox="1"/>
          <p:nvPr/>
        </p:nvSpPr>
        <p:spPr>
          <a:xfrm>
            <a:off x="1648658" y="1950007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E4DAE751-1AC7-40D5-9C60-940B129D3581}"/>
              </a:ext>
            </a:extLst>
          </p:cNvPr>
          <p:cNvSpPr/>
          <p:nvPr/>
        </p:nvSpPr>
        <p:spPr>
          <a:xfrm>
            <a:off x="2535544" y="32603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74D44AB-C61A-4C49-AAB8-AEC430108C8D}"/>
              </a:ext>
            </a:extLst>
          </p:cNvPr>
          <p:cNvSpPr/>
          <p:nvPr/>
        </p:nvSpPr>
        <p:spPr>
          <a:xfrm>
            <a:off x="2535543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12600E-7909-45A3-BC19-16A48B258D6B}"/>
              </a:ext>
            </a:extLst>
          </p:cNvPr>
          <p:cNvSpPr/>
          <p:nvPr/>
        </p:nvSpPr>
        <p:spPr>
          <a:xfrm>
            <a:off x="2535542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없이 </a:t>
            </a:r>
            <a:r>
              <a:rPr lang="en-US" altLang="ko-KR" sz="1200" dirty="0">
                <a:solidFill>
                  <a:schemeClr val="tx1"/>
                </a:solidFill>
              </a:rPr>
              <a:t>11</a:t>
            </a:r>
            <a:r>
              <a:rPr lang="ko-KR" altLang="en-US" sz="1200" dirty="0">
                <a:solidFill>
                  <a:schemeClr val="tx1"/>
                </a:solidFill>
              </a:rPr>
              <a:t>자리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CACD65-A086-40B6-B9D2-F7A2D0BF801C}"/>
              </a:ext>
            </a:extLst>
          </p:cNvPr>
          <p:cNvSpPr txBox="1"/>
          <p:nvPr/>
        </p:nvSpPr>
        <p:spPr>
          <a:xfrm>
            <a:off x="1659237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72C594F-5555-474A-A462-AF445A437A74}"/>
              </a:ext>
            </a:extLst>
          </p:cNvPr>
          <p:cNvSpPr txBox="1"/>
          <p:nvPr/>
        </p:nvSpPr>
        <p:spPr>
          <a:xfrm>
            <a:off x="1648658" y="3231413"/>
            <a:ext cx="7855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중분류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3A32F4-231E-4B8C-A983-320F8AF9B482}"/>
              </a:ext>
            </a:extLst>
          </p:cNvPr>
          <p:cNvSpPr txBox="1"/>
          <p:nvPr/>
        </p:nvSpPr>
        <p:spPr>
          <a:xfrm>
            <a:off x="1648659" y="37351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70D253-0578-41DC-9742-6E40188DAED4}"/>
              </a:ext>
            </a:extLst>
          </p:cNvPr>
          <p:cNvSpPr txBox="1"/>
          <p:nvPr/>
        </p:nvSpPr>
        <p:spPr>
          <a:xfrm>
            <a:off x="1679460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9B0FE0B-4CBA-4999-9829-C64C832A97DD}"/>
              </a:ext>
            </a:extLst>
          </p:cNvPr>
          <p:cNvSpPr/>
          <p:nvPr/>
        </p:nvSpPr>
        <p:spPr>
          <a:xfrm>
            <a:off x="5391859" y="27526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나이</a:t>
            </a: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40EDE411-D80B-4A4C-9BF7-91D6D9F35676}"/>
              </a:ext>
            </a:extLst>
          </p:cNvPr>
          <p:cNvSpPr/>
          <p:nvPr/>
        </p:nvSpPr>
        <p:spPr>
          <a:xfrm>
            <a:off x="5392003" y="32603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2263F7DC-4037-47D8-803C-BD6E4F72BF65}"/>
              </a:ext>
            </a:extLst>
          </p:cNvPr>
          <p:cNvSpPr/>
          <p:nvPr/>
        </p:nvSpPr>
        <p:spPr>
          <a:xfrm>
            <a:off x="5392002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9848021-6995-4E33-B4F0-8C890A8EED4C}"/>
              </a:ext>
            </a:extLst>
          </p:cNvPr>
          <p:cNvSpPr/>
          <p:nvPr/>
        </p:nvSpPr>
        <p:spPr>
          <a:xfrm>
            <a:off x="5392001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A2CE04-5E42-4A75-B15F-BB0CB8B9C88F}"/>
              </a:ext>
            </a:extLst>
          </p:cNvPr>
          <p:cNvSpPr txBox="1"/>
          <p:nvPr/>
        </p:nvSpPr>
        <p:spPr>
          <a:xfrm>
            <a:off x="4515696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5C36585-D939-44F0-AC92-736507DE5AA8}"/>
              </a:ext>
            </a:extLst>
          </p:cNvPr>
          <p:cNvSpPr txBox="1"/>
          <p:nvPr/>
        </p:nvSpPr>
        <p:spPr>
          <a:xfrm>
            <a:off x="4505117" y="3231413"/>
            <a:ext cx="8179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중분류</a:t>
            </a:r>
            <a:r>
              <a:rPr lang="en-US" altLang="ko-KR" sz="1100" dirty="0"/>
              <a:t>2</a:t>
            </a:r>
            <a:r>
              <a:rPr lang="ko-KR" altLang="en-US" sz="1100" dirty="0"/>
              <a:t>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83477B-25B0-492E-A4F0-2E99191FE305}"/>
              </a:ext>
            </a:extLst>
          </p:cNvPr>
          <p:cNvSpPr txBox="1"/>
          <p:nvPr/>
        </p:nvSpPr>
        <p:spPr>
          <a:xfrm>
            <a:off x="4505117" y="37351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195720-E57A-4D2B-9C72-0371BA12B92C}"/>
              </a:ext>
            </a:extLst>
          </p:cNvPr>
          <p:cNvSpPr txBox="1"/>
          <p:nvPr/>
        </p:nvSpPr>
        <p:spPr>
          <a:xfrm>
            <a:off x="4535919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3517B5-F8CB-42E3-B1E8-C461ED0DFE6C}"/>
              </a:ext>
            </a:extLst>
          </p:cNvPr>
          <p:cNvSpPr txBox="1"/>
          <p:nvPr/>
        </p:nvSpPr>
        <p:spPr>
          <a:xfrm>
            <a:off x="2486723" y="29978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8607E8-FF34-42C8-A626-3FBFEBECB100}"/>
              </a:ext>
            </a:extLst>
          </p:cNvPr>
          <p:cNvSpPr txBox="1"/>
          <p:nvPr/>
        </p:nvSpPr>
        <p:spPr>
          <a:xfrm>
            <a:off x="2517525" y="40177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81BE78-3DCF-4D39-BF29-C0F4B4FDEABF}"/>
              </a:ext>
            </a:extLst>
          </p:cNvPr>
          <p:cNvSpPr txBox="1"/>
          <p:nvPr/>
        </p:nvSpPr>
        <p:spPr>
          <a:xfrm>
            <a:off x="5323057" y="40142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EEE731A-49B1-4CA2-9DB0-97AFDBF1A8EF}"/>
              </a:ext>
            </a:extLst>
          </p:cNvPr>
          <p:cNvSpPr txBox="1"/>
          <p:nvPr/>
        </p:nvSpPr>
        <p:spPr>
          <a:xfrm>
            <a:off x="1679460" y="5133757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산재 여부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7" name="원형: 비어 있음 66">
            <a:extLst>
              <a:ext uri="{FF2B5EF4-FFF2-40B4-BE49-F238E27FC236}">
                <a16:creationId xmlns:a16="http://schemas.microsoft.com/office/drawing/2014/main" id="{9930F37D-086B-467B-B729-12EF7E4E3D9B}"/>
              </a:ext>
            </a:extLst>
          </p:cNvPr>
          <p:cNvSpPr/>
          <p:nvPr/>
        </p:nvSpPr>
        <p:spPr>
          <a:xfrm>
            <a:off x="2882900" y="5222368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8" name="원형: 비어 있음 67">
            <a:extLst>
              <a:ext uri="{FF2B5EF4-FFF2-40B4-BE49-F238E27FC236}">
                <a16:creationId xmlns:a16="http://schemas.microsoft.com/office/drawing/2014/main" id="{775FFE08-5073-4697-934F-5BE2EB930039}"/>
              </a:ext>
            </a:extLst>
          </p:cNvPr>
          <p:cNvSpPr/>
          <p:nvPr/>
        </p:nvSpPr>
        <p:spPr>
          <a:xfrm>
            <a:off x="3875105" y="522468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0E8B34-C348-4EFE-AFED-A79032497B60}"/>
              </a:ext>
            </a:extLst>
          </p:cNvPr>
          <p:cNvSpPr txBox="1"/>
          <p:nvPr/>
        </p:nvSpPr>
        <p:spPr>
          <a:xfrm>
            <a:off x="2489355" y="5098249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예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DED9DA0B-D090-4CE0-8E66-A657DBA4D894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1E2AB2-B455-417D-8006-466B8E6C37A8}"/>
              </a:ext>
            </a:extLst>
          </p:cNvPr>
          <p:cNvSpPr txBox="1"/>
          <p:nvPr/>
        </p:nvSpPr>
        <p:spPr>
          <a:xfrm>
            <a:off x="6404146" y="507788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0F7B02-E565-4C23-B4BA-CB85E1D72D96}"/>
              </a:ext>
            </a:extLst>
          </p:cNvPr>
          <p:cNvSpPr txBox="1"/>
          <p:nvPr/>
        </p:nvSpPr>
        <p:spPr>
          <a:xfrm>
            <a:off x="4590065" y="511338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73" name="원형: 비어 있음 72">
            <a:extLst>
              <a:ext uri="{FF2B5EF4-FFF2-40B4-BE49-F238E27FC236}">
                <a16:creationId xmlns:a16="http://schemas.microsoft.com/office/drawing/2014/main" id="{D8A32403-414B-4CF2-8589-5B5412E403E7}"/>
              </a:ext>
            </a:extLst>
          </p:cNvPr>
          <p:cNvSpPr/>
          <p:nvPr/>
        </p:nvSpPr>
        <p:spPr>
          <a:xfrm>
            <a:off x="5793505" y="520199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4" name="원형: 비어 있음 73">
            <a:extLst>
              <a:ext uri="{FF2B5EF4-FFF2-40B4-BE49-F238E27FC236}">
                <a16:creationId xmlns:a16="http://schemas.microsoft.com/office/drawing/2014/main" id="{AD71D93F-603C-4BED-9603-9BB8F823C409}"/>
              </a:ext>
            </a:extLst>
          </p:cNvPr>
          <p:cNvSpPr/>
          <p:nvPr/>
        </p:nvSpPr>
        <p:spPr>
          <a:xfrm>
            <a:off x="6785710" y="520432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3634AEE-7053-4544-B6DB-11130347E3C9}"/>
              </a:ext>
            </a:extLst>
          </p:cNvPr>
          <p:cNvSpPr txBox="1"/>
          <p:nvPr/>
        </p:nvSpPr>
        <p:spPr>
          <a:xfrm>
            <a:off x="5399960" y="507788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D96A8327-5C00-49C6-8074-A8D64E56146E}"/>
              </a:ext>
            </a:extLst>
          </p:cNvPr>
          <p:cNvSpPr/>
          <p:nvPr/>
        </p:nvSpPr>
        <p:spPr>
          <a:xfrm>
            <a:off x="2515319" y="477272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614BFCD-A03E-4927-8280-98349C7C9FEA}"/>
              </a:ext>
            </a:extLst>
          </p:cNvPr>
          <p:cNvSpPr txBox="1"/>
          <p:nvPr/>
        </p:nvSpPr>
        <p:spPr>
          <a:xfrm>
            <a:off x="1659237" y="4750373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근속기간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A7636D3-9752-4D85-B0CF-4E4C8618F4C9}"/>
              </a:ext>
            </a:extLst>
          </p:cNvPr>
          <p:cNvSpPr/>
          <p:nvPr/>
        </p:nvSpPr>
        <p:spPr>
          <a:xfrm>
            <a:off x="2548343" y="231300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37B149-9DD5-4C48-842D-F358323A7C73}"/>
              </a:ext>
            </a:extLst>
          </p:cNvPr>
          <p:cNvSpPr txBox="1"/>
          <p:nvPr/>
        </p:nvSpPr>
        <p:spPr>
          <a:xfrm>
            <a:off x="1666563" y="2287068"/>
            <a:ext cx="767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212488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05695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644352"/>
              </p:ext>
            </p:extLst>
          </p:nvPr>
        </p:nvGraphicFramePr>
        <p:xfrm>
          <a:off x="8603672" y="1180083"/>
          <a:ext cx="3588327" cy="5751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090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8836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7002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정보가져와서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재해정도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기능으로 삭제 여부 결정하기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8083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추가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리스트에서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된 목록 삭제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1825777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추가하기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1675370" y="544195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1DF89397-2A0C-41C5-BF63-94BFCC099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4849492"/>
              </p:ext>
            </p:extLst>
          </p:nvPr>
        </p:nvGraphicFramePr>
        <p:xfrm>
          <a:off x="1675370" y="3183933"/>
          <a:ext cx="54952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980">
                  <a:extLst>
                    <a:ext uri="{9D8B030D-6E8A-4147-A177-3AD203B41FA5}">
                      <a16:colId xmlns:a16="http://schemas.microsoft.com/office/drawing/2014/main" val="3149353794"/>
                    </a:ext>
                  </a:extLst>
                </a:gridCol>
                <a:gridCol w="1835115">
                  <a:extLst>
                    <a:ext uri="{9D8B030D-6E8A-4147-A177-3AD203B41FA5}">
                      <a16:colId xmlns:a16="http://schemas.microsoft.com/office/drawing/2014/main" val="3974470729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68747978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032703914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305164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재해일자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재해정도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15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2024-12-30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넘어짐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7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3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2024-09-30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14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38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2024-07-30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찢어짐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21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696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2024-04-30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76614"/>
                  </a:ext>
                </a:extLst>
              </a:tr>
            </a:tbl>
          </a:graphicData>
        </a:graphic>
      </p:graphicFrame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EBA8D50-D7BE-4102-83D8-ABFD0740C103}"/>
              </a:ext>
            </a:extLst>
          </p:cNvPr>
          <p:cNvSpPr/>
          <p:nvPr/>
        </p:nvSpPr>
        <p:spPr>
          <a:xfrm>
            <a:off x="4455939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삭제하기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F1216A5-DF98-4A5F-9688-B1DBF163D13A}"/>
              </a:ext>
            </a:extLst>
          </p:cNvPr>
          <p:cNvSpPr/>
          <p:nvPr/>
        </p:nvSpPr>
        <p:spPr>
          <a:xfrm>
            <a:off x="2652028" y="5211266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7467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2278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입력 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044920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폼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12023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</a:t>
            </a:r>
            <a:r>
              <a:rPr lang="ko-KR" altLang="en-US" sz="1100" b="1"/>
              <a:t>정보 입력</a:t>
            </a:r>
            <a:endParaRPr lang="ko-KR" altLang="en-US" sz="1100" b="1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3" y="303855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등록하기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4319864" y="3023899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351916" y="3038551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818E6E8-5B17-4807-996E-F4DBBA5C5F70}"/>
              </a:ext>
            </a:extLst>
          </p:cNvPr>
          <p:cNvSpPr/>
          <p:nvPr/>
        </p:nvSpPr>
        <p:spPr>
          <a:xfrm>
            <a:off x="2281543" y="344476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06D8AE-2D5A-4FAA-B29E-ECDD40E7CC90}"/>
              </a:ext>
            </a:extLst>
          </p:cNvPr>
          <p:cNvSpPr txBox="1"/>
          <p:nvPr/>
        </p:nvSpPr>
        <p:spPr>
          <a:xfrm>
            <a:off x="1351916" y="3444760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재해정도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173422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94151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896336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탈퇴 안내 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탈퇴시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user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초기화 및 세션처리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탈퇴하기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3788F-0E37-44EA-A62E-A555E27F6F69}"/>
              </a:ext>
            </a:extLst>
          </p:cNvPr>
          <p:cNvSpPr txBox="1"/>
          <p:nvPr/>
        </p:nvSpPr>
        <p:spPr>
          <a:xfrm>
            <a:off x="2249905" y="2803358"/>
            <a:ext cx="4012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정말 탈퇴 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43774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060C0-231F-48B5-97C7-6C5EC2DF9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뉴스</a:t>
            </a:r>
          </a:p>
        </p:txBody>
      </p:sp>
    </p:spTree>
    <p:extLst>
      <p:ext uri="{BB962C8B-B14F-4D97-AF65-F5344CB8AC3E}">
        <p14:creationId xmlns:p14="http://schemas.microsoft.com/office/powerpoint/2010/main" val="33049400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377748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7918955"/>
              </p:ext>
            </p:extLst>
          </p:nvPr>
        </p:nvGraphicFramePr>
        <p:xfrm>
          <a:off x="8603672" y="1180080"/>
          <a:ext cx="3588327" cy="56468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701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415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2261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기사이미지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뉴스 링크 저장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뉴스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정보 가져와 화면에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또는 이미지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원본 뉴스로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기사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(???)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595F223-A11D-B244-B9A0-B5A17CDA5204}"/>
              </a:ext>
            </a:extLst>
          </p:cNvPr>
          <p:cNvSpPr/>
          <p:nvPr/>
        </p:nvSpPr>
        <p:spPr>
          <a:xfrm>
            <a:off x="275119" y="1990338"/>
            <a:ext cx="8053431" cy="36875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EB0DC7-4DBF-0F36-C225-7EFCC67B293C}"/>
              </a:ext>
            </a:extLst>
          </p:cNvPr>
          <p:cNvSpPr/>
          <p:nvPr/>
        </p:nvSpPr>
        <p:spPr>
          <a:xfrm>
            <a:off x="1615043" y="2227234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1D95BDE-1637-E94E-184B-E7C89E5FC57D}"/>
              </a:ext>
            </a:extLst>
          </p:cNvPr>
          <p:cNvSpPr/>
          <p:nvPr/>
        </p:nvSpPr>
        <p:spPr>
          <a:xfrm>
            <a:off x="1615043" y="2517519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505921C-EFC5-9B98-CCC7-ADEB2725A46C}"/>
              </a:ext>
            </a:extLst>
          </p:cNvPr>
          <p:cNvSpPr/>
          <p:nvPr/>
        </p:nvSpPr>
        <p:spPr>
          <a:xfrm>
            <a:off x="1615043" y="3408107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A36684E-6B56-FADE-ECDF-822B743CF08B}"/>
              </a:ext>
            </a:extLst>
          </p:cNvPr>
          <p:cNvSpPr/>
          <p:nvPr/>
        </p:nvSpPr>
        <p:spPr>
          <a:xfrm>
            <a:off x="1615043" y="4588980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8BBEC8C-F3EA-FC4C-AE9F-73652C7E4ED6}"/>
              </a:ext>
            </a:extLst>
          </p:cNvPr>
          <p:cNvSpPr/>
          <p:nvPr/>
        </p:nvSpPr>
        <p:spPr>
          <a:xfrm>
            <a:off x="1615043" y="2957472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4AEBDA4-1EFE-71A9-B7B4-B5729D664208}"/>
              </a:ext>
            </a:extLst>
          </p:cNvPr>
          <p:cNvSpPr/>
          <p:nvPr/>
        </p:nvSpPr>
        <p:spPr>
          <a:xfrm>
            <a:off x="1615043" y="3702911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DC844A9-69BF-AD30-8BF4-4A8CBD3D7698}"/>
              </a:ext>
            </a:extLst>
          </p:cNvPr>
          <p:cNvSpPr/>
          <p:nvPr/>
        </p:nvSpPr>
        <p:spPr>
          <a:xfrm>
            <a:off x="1615043" y="4145624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E32B1D-5D2E-6EDE-0755-A3C40900A3B7}"/>
              </a:ext>
            </a:extLst>
          </p:cNvPr>
          <p:cNvSpPr/>
          <p:nvPr/>
        </p:nvSpPr>
        <p:spPr>
          <a:xfrm>
            <a:off x="1615043" y="4875862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259B4D-7C80-C259-C552-B61F64198742}"/>
              </a:ext>
            </a:extLst>
          </p:cNvPr>
          <p:cNvSpPr/>
          <p:nvPr/>
        </p:nvSpPr>
        <p:spPr>
          <a:xfrm>
            <a:off x="1615043" y="5329286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F314ACF-351E-8410-FA74-C8D895D2DD9D}"/>
              </a:ext>
            </a:extLst>
          </p:cNvPr>
          <p:cNvGrpSpPr/>
          <p:nvPr/>
        </p:nvGrpSpPr>
        <p:grpSpPr>
          <a:xfrm>
            <a:off x="8258986" y="1990338"/>
            <a:ext cx="208120" cy="3700872"/>
            <a:chOff x="8258986" y="1990338"/>
            <a:chExt cx="208120" cy="3700872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697B83F7-EC56-A29B-BE2C-B024631E2622}"/>
                </a:ext>
              </a:extLst>
            </p:cNvPr>
            <p:cNvSpPr/>
            <p:nvPr/>
          </p:nvSpPr>
          <p:spPr>
            <a:xfrm>
              <a:off x="8258986" y="1990338"/>
              <a:ext cx="206130" cy="370087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94A63603-5DED-7778-56D1-DC07E38E917E}"/>
                </a:ext>
              </a:extLst>
            </p:cNvPr>
            <p:cNvSpPr/>
            <p:nvPr/>
          </p:nvSpPr>
          <p:spPr>
            <a:xfrm>
              <a:off x="8258986" y="2197150"/>
              <a:ext cx="208120" cy="236896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1DF785C-B7EC-1669-4582-2956CB7CAFD9}"/>
              </a:ext>
            </a:extLst>
          </p:cNvPr>
          <p:cNvSpPr/>
          <p:nvPr/>
        </p:nvSpPr>
        <p:spPr>
          <a:xfrm>
            <a:off x="2759978" y="5838738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846343E-B1F6-DB92-6C16-B9DA1096D06D}"/>
              </a:ext>
            </a:extLst>
          </p:cNvPr>
          <p:cNvSpPr/>
          <p:nvPr/>
        </p:nvSpPr>
        <p:spPr>
          <a:xfrm>
            <a:off x="518562" y="2224455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64A70A1D-A872-3F76-0E98-5DB1B4239256}"/>
              </a:ext>
            </a:extLst>
          </p:cNvPr>
          <p:cNvSpPr/>
          <p:nvPr/>
        </p:nvSpPr>
        <p:spPr>
          <a:xfrm>
            <a:off x="518562" y="3408107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7202031-CF92-B844-8F4F-D42B89D773B0}"/>
              </a:ext>
            </a:extLst>
          </p:cNvPr>
          <p:cNvSpPr/>
          <p:nvPr/>
        </p:nvSpPr>
        <p:spPr>
          <a:xfrm>
            <a:off x="518562" y="4601148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616DA03-25A6-4438-B5D8-9E3264DCE2F3}"/>
              </a:ext>
            </a:extLst>
          </p:cNvPr>
          <p:cNvSpPr/>
          <p:nvPr/>
        </p:nvSpPr>
        <p:spPr>
          <a:xfrm>
            <a:off x="138553" y="1829520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60CD243-7955-4DE0-A39E-B3D903DD0F75}"/>
              </a:ext>
            </a:extLst>
          </p:cNvPr>
          <p:cNvSpPr/>
          <p:nvPr/>
        </p:nvSpPr>
        <p:spPr>
          <a:xfrm>
            <a:off x="439368" y="2143903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2845C53-3EB1-4749-A31C-BFE34420A83E}"/>
              </a:ext>
            </a:extLst>
          </p:cNvPr>
          <p:cNvSpPr/>
          <p:nvPr/>
        </p:nvSpPr>
        <p:spPr>
          <a:xfrm>
            <a:off x="439368" y="3328974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9F2C791-417C-4781-962A-60D7AB8A5A33}"/>
              </a:ext>
            </a:extLst>
          </p:cNvPr>
          <p:cNvSpPr/>
          <p:nvPr/>
        </p:nvSpPr>
        <p:spPr>
          <a:xfrm>
            <a:off x="424649" y="4499500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2D4480C-E441-46C0-B4C5-CA6D606E9EBD}"/>
              </a:ext>
            </a:extLst>
          </p:cNvPr>
          <p:cNvSpPr/>
          <p:nvPr/>
        </p:nvSpPr>
        <p:spPr>
          <a:xfrm>
            <a:off x="2601216" y="5625122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68439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46473-6DA8-4C85-8259-70D4CA3D7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안전교육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1CA613-5FAA-4D68-A805-C577DA387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7386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774725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안전교육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571408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안전교육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50713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292611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안전교육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안전교육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6300802"/>
              </p:ext>
            </p:extLst>
          </p:nvPr>
        </p:nvGraphicFramePr>
        <p:xfrm>
          <a:off x="8603672" y="1180080"/>
          <a:ext cx="3588327" cy="5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217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762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안전교육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추천 콘텐츠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Default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 기반 추천 콘텐츠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카드 슬라이딩으로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자료유형 필터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체크박스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박스 순으로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전체자료목록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Google Shape;22;p1">
            <a:extLst>
              <a:ext uri="{FF2B5EF4-FFF2-40B4-BE49-F238E27FC236}">
                <a16:creationId xmlns:a16="http://schemas.microsoft.com/office/drawing/2014/main" id="{40FD639F-A39B-4057-8F67-66194D5023D1}"/>
              </a:ext>
            </a:extLst>
          </p:cNvPr>
          <p:cNvSpPr/>
          <p:nvPr/>
        </p:nvSpPr>
        <p:spPr>
          <a:xfrm>
            <a:off x="1081804" y="2571452"/>
            <a:ext cx="5829300" cy="1514400"/>
          </a:xfrm>
          <a:prstGeom prst="rect">
            <a:avLst/>
          </a:prstGeom>
          <a:solidFill>
            <a:schemeClr val="lt2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lvl="0">
              <a:defRPr lang="ko-KR"/>
            </a:defPPr>
            <a:lvl1pPr marL="0" lv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" name="Google Shape;23;p1">
            <a:extLst>
              <a:ext uri="{FF2B5EF4-FFF2-40B4-BE49-F238E27FC236}">
                <a16:creationId xmlns:a16="http://schemas.microsoft.com/office/drawing/2014/main" id="{F94CEA44-AD25-4E2B-B257-ECB5965BB2A4}"/>
              </a:ext>
            </a:extLst>
          </p:cNvPr>
          <p:cNvSpPr txBox="1"/>
          <p:nvPr/>
        </p:nvSpPr>
        <p:spPr>
          <a:xfrm>
            <a:off x="1081804" y="2057103"/>
            <a:ext cx="222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lvl="0">
              <a:defRPr lang="ko-KR"/>
            </a:defPPr>
            <a:lvl1pPr marL="0" lv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 콘텐츠</a:t>
            </a:r>
            <a:endParaRPr/>
          </a:p>
        </p:txBody>
      </p:sp>
      <p:sp>
        <p:nvSpPr>
          <p:cNvPr id="13" name="Google Shape;24;p1">
            <a:extLst>
              <a:ext uri="{FF2B5EF4-FFF2-40B4-BE49-F238E27FC236}">
                <a16:creationId xmlns:a16="http://schemas.microsoft.com/office/drawing/2014/main" id="{27D4990F-C52B-4FC0-8271-8ACD9DEBE9DE}"/>
              </a:ext>
            </a:extLst>
          </p:cNvPr>
          <p:cNvSpPr/>
          <p:nvPr/>
        </p:nvSpPr>
        <p:spPr>
          <a:xfrm>
            <a:off x="1755698" y="2914353"/>
            <a:ext cx="1157400" cy="8445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lvl="0">
              <a:defRPr lang="ko-KR"/>
            </a:defPPr>
            <a:lvl1pPr marL="0" lv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" name="Google Shape;25;p1">
            <a:extLst>
              <a:ext uri="{FF2B5EF4-FFF2-40B4-BE49-F238E27FC236}">
                <a16:creationId xmlns:a16="http://schemas.microsoft.com/office/drawing/2014/main" id="{5C018E84-C335-433B-8A65-3A9700603530}"/>
              </a:ext>
            </a:extLst>
          </p:cNvPr>
          <p:cNvSpPr/>
          <p:nvPr/>
        </p:nvSpPr>
        <p:spPr>
          <a:xfrm>
            <a:off x="5079922" y="2906373"/>
            <a:ext cx="1157400" cy="8445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lvl="0">
              <a:defRPr lang="ko-KR"/>
            </a:defPPr>
            <a:lvl1pPr marL="0" lv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" name="Google Shape;26;p1">
            <a:extLst>
              <a:ext uri="{FF2B5EF4-FFF2-40B4-BE49-F238E27FC236}">
                <a16:creationId xmlns:a16="http://schemas.microsoft.com/office/drawing/2014/main" id="{06A6F641-28EE-4C74-9880-FD2697297918}"/>
              </a:ext>
            </a:extLst>
          </p:cNvPr>
          <p:cNvSpPr/>
          <p:nvPr/>
        </p:nvSpPr>
        <p:spPr>
          <a:xfrm>
            <a:off x="3417810" y="2906373"/>
            <a:ext cx="1157400" cy="8445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lvl="0">
              <a:defRPr lang="ko-KR"/>
            </a:defPPr>
            <a:lvl1pPr marL="0" lv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" name="Google Shape;27;p1">
            <a:extLst>
              <a:ext uri="{FF2B5EF4-FFF2-40B4-BE49-F238E27FC236}">
                <a16:creationId xmlns:a16="http://schemas.microsoft.com/office/drawing/2014/main" id="{C7FAFBB6-488C-464B-9263-0E20B25495F4}"/>
              </a:ext>
            </a:extLst>
          </p:cNvPr>
          <p:cNvSpPr txBox="1"/>
          <p:nvPr/>
        </p:nvSpPr>
        <p:spPr>
          <a:xfrm>
            <a:off x="6482477" y="3152003"/>
            <a:ext cx="42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lvl="0">
              <a:defRPr lang="ko-KR"/>
            </a:defPPr>
            <a:lvl1pPr marL="0" lv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&gt;</a:t>
            </a: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" name="Google Shape;28;p1">
            <a:extLst>
              <a:ext uri="{FF2B5EF4-FFF2-40B4-BE49-F238E27FC236}">
                <a16:creationId xmlns:a16="http://schemas.microsoft.com/office/drawing/2014/main" id="{D928FB90-6034-420E-9DE1-190B6384AC3F}"/>
              </a:ext>
            </a:extLst>
          </p:cNvPr>
          <p:cNvSpPr txBox="1"/>
          <p:nvPr/>
        </p:nvSpPr>
        <p:spPr>
          <a:xfrm>
            <a:off x="1288974" y="3153126"/>
            <a:ext cx="42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lvl="0">
              <a:defRPr lang="ko-KR"/>
            </a:defPPr>
            <a:lvl1pPr marL="0" lv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&lt;</a:t>
            </a: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" name="Google Shape;29;p1">
            <a:extLst>
              <a:ext uri="{FF2B5EF4-FFF2-40B4-BE49-F238E27FC236}">
                <a16:creationId xmlns:a16="http://schemas.microsoft.com/office/drawing/2014/main" id="{E7248793-4CCC-4C97-A7A7-A432AE96BA6C}"/>
              </a:ext>
            </a:extLst>
          </p:cNvPr>
          <p:cNvSpPr/>
          <p:nvPr/>
        </p:nvSpPr>
        <p:spPr>
          <a:xfrm>
            <a:off x="1081804" y="4328815"/>
            <a:ext cx="5829300" cy="441000"/>
          </a:xfrm>
          <a:prstGeom prst="rect">
            <a:avLst/>
          </a:prstGeom>
          <a:solidFill>
            <a:schemeClr val="lt2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lvl="0">
              <a:defRPr lang="ko-KR"/>
            </a:defPPr>
            <a:lvl1pPr marL="0" lv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자료유형 필터 / 검색</a:t>
            </a:r>
            <a:endParaRPr/>
          </a:p>
        </p:txBody>
      </p:sp>
      <p:sp>
        <p:nvSpPr>
          <p:cNvPr id="21" name="Google Shape;34;p1">
            <a:extLst>
              <a:ext uri="{FF2B5EF4-FFF2-40B4-BE49-F238E27FC236}">
                <a16:creationId xmlns:a16="http://schemas.microsoft.com/office/drawing/2014/main" id="{82B78A7A-A36F-401F-8E1C-7BCE88D6BC49}"/>
              </a:ext>
            </a:extLst>
          </p:cNvPr>
          <p:cNvSpPr/>
          <p:nvPr/>
        </p:nvSpPr>
        <p:spPr>
          <a:xfrm>
            <a:off x="1081803" y="5012665"/>
            <a:ext cx="5829300" cy="844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lvl="0">
              <a:defRPr lang="ko-KR"/>
            </a:defPPr>
            <a:lvl1pPr marL="0" lv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>
                <a:latin typeface="Malgun Gothic"/>
                <a:ea typeface="Malgun Gothic"/>
                <a:cs typeface="Malgun Gothic"/>
                <a:sym typeface="Malgun Gothic"/>
              </a:rPr>
              <a:t>전체자료목록</a:t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999066" y="245290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999139" y="426450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D3D8DC5-A40E-4175-872E-D2F6877CDBE8}"/>
              </a:ext>
            </a:extLst>
          </p:cNvPr>
          <p:cNvSpPr/>
          <p:nvPr/>
        </p:nvSpPr>
        <p:spPr>
          <a:xfrm>
            <a:off x="1006677" y="492627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955606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C1F2-5328-4756-8968-8C07AED4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산재 검색</a:t>
            </a:r>
          </a:p>
        </p:txBody>
      </p:sp>
    </p:spTree>
    <p:extLst>
      <p:ext uri="{BB962C8B-B14F-4D97-AF65-F5344CB8AC3E}">
        <p14:creationId xmlns:p14="http://schemas.microsoft.com/office/powerpoint/2010/main" val="21911676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38584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953094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528517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B23EE5-4830-38F5-ABCB-D3C5120861B9}"/>
              </a:ext>
            </a:extLst>
          </p:cNvPr>
          <p:cNvSpPr/>
          <p:nvPr/>
        </p:nvSpPr>
        <p:spPr>
          <a:xfrm>
            <a:off x="732492" y="2991364"/>
            <a:ext cx="6988627" cy="34713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658250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8727496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필터링하여 지도에 마킹 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표시되어 있는 총 발생 건수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반경에 따라 발생건수 업데이트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연동된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 </a:t>
                      </a:r>
                      <a:br>
                        <a:rPr lang="en-US" altLang="ko-KR" sz="11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 상세정보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상세정보 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100" b="0" dirty="0" err="1">
                          <a:solidFill>
                            <a:srgbClr val="FF0000"/>
                          </a:solidFill>
                        </a:rPr>
                        <a:t>발생년도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관할구역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소재지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) 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988C13-2B2E-F909-EC1E-B4FE5533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6" y="3387425"/>
            <a:ext cx="6493164" cy="302464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0D013E3-B0E5-9B84-6519-88988CDA57F4}"/>
              </a:ext>
            </a:extLst>
          </p:cNvPr>
          <p:cNvSpPr/>
          <p:nvPr/>
        </p:nvSpPr>
        <p:spPr>
          <a:xfrm>
            <a:off x="686484" y="2906373"/>
            <a:ext cx="6988627" cy="4304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근무지</a:t>
            </a:r>
            <a:r>
              <a:rPr lang="en-US" altLang="ko-KR" sz="1400" b="1" dirty="0">
                <a:solidFill>
                  <a:schemeClr val="tx1"/>
                </a:solidFill>
              </a:rPr>
              <a:t>/</a:t>
            </a:r>
            <a:r>
              <a:rPr lang="ko-KR" altLang="en-US" sz="1400" b="1" dirty="0">
                <a:solidFill>
                  <a:schemeClr val="tx1"/>
                </a:solidFill>
              </a:rPr>
              <a:t>산업재해 상황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</a:t>
            </a:r>
            <a:r>
              <a:rPr lang="ko-KR" altLang="en-US" sz="1000" b="1" dirty="0">
                <a:solidFill>
                  <a:schemeClr val="tx1"/>
                </a:solidFill>
              </a:rPr>
              <a:t>총 건수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700" dirty="0">
                <a:solidFill>
                  <a:schemeClr val="tx1"/>
                </a:solidFill>
              </a:rPr>
              <a:t>주변 산업재해 발생 현황을 확인하세요                                                                      </a:t>
            </a:r>
            <a:r>
              <a:rPr lang="en-US" altLang="ko-KR" sz="700" dirty="0">
                <a:solidFill>
                  <a:schemeClr val="tx1"/>
                </a:solidFill>
              </a:rPr>
              <a:t>		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6D3BF85-21DD-A604-CF53-EB9B6F671E55}"/>
              </a:ext>
            </a:extLst>
          </p:cNvPr>
          <p:cNvSpPr/>
          <p:nvPr/>
        </p:nvSpPr>
        <p:spPr>
          <a:xfrm>
            <a:off x="6819782" y="2296082"/>
            <a:ext cx="1371565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총 발생 건수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7E79A5F-30FF-A302-12D8-A30502C6697C}"/>
              </a:ext>
            </a:extLst>
          </p:cNvPr>
          <p:cNvSpPr/>
          <p:nvPr/>
        </p:nvSpPr>
        <p:spPr>
          <a:xfrm>
            <a:off x="392477" y="2310457"/>
            <a:ext cx="6260803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  						</a:t>
            </a:r>
            <a:r>
              <a:rPr lang="ko-KR" altLang="en-US" sz="2800" b="1" dirty="0">
                <a:solidFill>
                  <a:schemeClr val="tx1"/>
                </a:solidFill>
              </a:rPr>
              <a:t>🔍</a:t>
            </a:r>
            <a:endParaRPr lang="en-US" altLang="ko-KR" sz="2800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B0B057-1F02-5BB5-9536-741458F839D5}"/>
              </a:ext>
            </a:extLst>
          </p:cNvPr>
          <p:cNvSpPr/>
          <p:nvPr/>
        </p:nvSpPr>
        <p:spPr>
          <a:xfrm>
            <a:off x="1335824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30A59CC-0869-9970-969C-EB7B73631F4B}"/>
              </a:ext>
            </a:extLst>
          </p:cNvPr>
          <p:cNvSpPr/>
          <p:nvPr/>
        </p:nvSpPr>
        <p:spPr>
          <a:xfrm>
            <a:off x="283875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13174-412B-617A-1C4F-E0212F159BC7}"/>
              </a:ext>
            </a:extLst>
          </p:cNvPr>
          <p:cNvSpPr/>
          <p:nvPr/>
        </p:nvSpPr>
        <p:spPr>
          <a:xfrm>
            <a:off x="433804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말풍선: 사각형 8">
            <a:extLst>
              <a:ext uri="{FF2B5EF4-FFF2-40B4-BE49-F238E27FC236}">
                <a16:creationId xmlns:a16="http://schemas.microsoft.com/office/drawing/2014/main" id="{054A4F74-B9F7-E170-D668-B8915D9ECF53}"/>
              </a:ext>
            </a:extLst>
          </p:cNvPr>
          <p:cNvSpPr/>
          <p:nvPr/>
        </p:nvSpPr>
        <p:spPr>
          <a:xfrm>
            <a:off x="2941210" y="3498671"/>
            <a:ext cx="1655551" cy="509139"/>
          </a:xfrm>
          <a:prstGeom prst="wedgeRectCallout">
            <a:avLst>
              <a:gd name="adj1" fmla="val -40116"/>
              <a:gd name="adj2" fmla="val 85866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소재지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관할구역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 err="1">
                <a:solidFill>
                  <a:schemeClr val="tx1"/>
                </a:solidFill>
              </a:rPr>
              <a:t>발생년도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7162887-3326-462F-A4A7-3A7BAF7CC2C1}"/>
              </a:ext>
            </a:extLst>
          </p:cNvPr>
          <p:cNvSpPr/>
          <p:nvPr/>
        </p:nvSpPr>
        <p:spPr>
          <a:xfrm>
            <a:off x="331668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3F6A1A-D5B7-4655-A199-F905BAAA6FDF}"/>
              </a:ext>
            </a:extLst>
          </p:cNvPr>
          <p:cNvSpPr/>
          <p:nvPr/>
        </p:nvSpPr>
        <p:spPr>
          <a:xfrm>
            <a:off x="6853066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78D074A-3836-407F-9FE6-DDE064AB0E2D}"/>
              </a:ext>
            </a:extLst>
          </p:cNvPr>
          <p:cNvSpPr/>
          <p:nvPr/>
        </p:nvSpPr>
        <p:spPr>
          <a:xfrm>
            <a:off x="6692230" y="291447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9ED02C6-D2C7-47CA-9A4F-EC9B17A81868}"/>
              </a:ext>
            </a:extLst>
          </p:cNvPr>
          <p:cNvSpPr/>
          <p:nvPr/>
        </p:nvSpPr>
        <p:spPr>
          <a:xfrm>
            <a:off x="2693216" y="394231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11723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1791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926912"/>
              </p:ext>
            </p:extLst>
          </p:nvPr>
        </p:nvGraphicFramePr>
        <p:xfrm>
          <a:off x="8603672" y="1180080"/>
          <a:ext cx="3588327" cy="6037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 지역에 따라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마커표시된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 산업재해 목록 리스트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위치 기준 가까운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Top5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 산업재해 리스트 제공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9B4CC7-4047-AD24-079F-AC9E13AB8090}"/>
              </a:ext>
            </a:extLst>
          </p:cNvPr>
          <p:cNvSpPr/>
          <p:nvPr/>
        </p:nvSpPr>
        <p:spPr>
          <a:xfrm>
            <a:off x="498099" y="2484310"/>
            <a:ext cx="7921372" cy="4769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산업재해 목록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Top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5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9CEDE5-2964-B986-D05A-9A01041AB654}"/>
              </a:ext>
            </a:extLst>
          </p:cNvPr>
          <p:cNvSpPr/>
          <p:nvPr/>
        </p:nvSpPr>
        <p:spPr>
          <a:xfrm>
            <a:off x="498099" y="295376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782BCF-CB4C-9EAC-5C79-71E4ACF7DA31}"/>
              </a:ext>
            </a:extLst>
          </p:cNvPr>
          <p:cNvSpPr/>
          <p:nvPr/>
        </p:nvSpPr>
        <p:spPr>
          <a:xfrm>
            <a:off x="498099" y="351981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E0C5155-132A-0A51-5AF8-6A34DB21CA11}"/>
              </a:ext>
            </a:extLst>
          </p:cNvPr>
          <p:cNvSpPr/>
          <p:nvPr/>
        </p:nvSpPr>
        <p:spPr>
          <a:xfrm>
            <a:off x="498099" y="402974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DEDFE5-28AB-86DD-8801-EA74829CF65E}"/>
              </a:ext>
            </a:extLst>
          </p:cNvPr>
          <p:cNvSpPr/>
          <p:nvPr/>
        </p:nvSpPr>
        <p:spPr>
          <a:xfrm>
            <a:off x="498098" y="453966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A35A85-FFA4-7B7F-6D28-CF4164425CAE}"/>
              </a:ext>
            </a:extLst>
          </p:cNvPr>
          <p:cNvSpPr/>
          <p:nvPr/>
        </p:nvSpPr>
        <p:spPr>
          <a:xfrm>
            <a:off x="498097" y="511214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5️⃣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B7746F-ACE0-4C39-8831-58120F25C456}"/>
              </a:ext>
            </a:extLst>
          </p:cNvPr>
          <p:cNvSpPr/>
          <p:nvPr/>
        </p:nvSpPr>
        <p:spPr>
          <a:xfrm>
            <a:off x="359131" y="2305600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849315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4E7E2-68BB-43CD-AC4F-DC564D57D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병원 검색</a:t>
            </a:r>
          </a:p>
        </p:txBody>
      </p:sp>
    </p:spTree>
    <p:extLst>
      <p:ext uri="{BB962C8B-B14F-4D97-AF65-F5344CB8AC3E}">
        <p14:creationId xmlns:p14="http://schemas.microsoft.com/office/powerpoint/2010/main" val="33720866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39553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83426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794138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384753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Hospital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93521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산재지정의료기관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 위치기준 필터링 되어 나온 가까운 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Top10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 제공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의료기관 상세보기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Click&gt;&gt;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병원 상세 페이지로 이동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1958850"/>
            <a:ext cx="7921374" cy="8140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	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r>
              <a:rPr lang="ko-KR" altLang="en-US" sz="2400" b="1" dirty="0">
                <a:solidFill>
                  <a:schemeClr val="tx1"/>
                </a:solidFill>
              </a:rPr>
              <a:t>🔍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선택한 위치를 기준으로 가까운 산재지정의료기관을 찾아드립니다</a:t>
            </a:r>
            <a:r>
              <a:rPr lang="en-US" altLang="ko-KR" sz="800" dirty="0">
                <a:solidFill>
                  <a:schemeClr val="tx1"/>
                </a:solidFill>
              </a:rPr>
              <a:t>.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2A52295-7A4D-414D-945F-360595F9CECB}"/>
              </a:ext>
            </a:extLst>
          </p:cNvPr>
          <p:cNvSpPr/>
          <p:nvPr/>
        </p:nvSpPr>
        <p:spPr>
          <a:xfrm>
            <a:off x="1973982" y="2167306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28F4AFB-BF0F-2958-1157-4A699F801C27}"/>
              </a:ext>
            </a:extLst>
          </p:cNvPr>
          <p:cNvSpPr/>
          <p:nvPr/>
        </p:nvSpPr>
        <p:spPr>
          <a:xfrm>
            <a:off x="3662889" y="2172460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CE1E5D8-83CD-27C1-3581-DBB7E28AD163}"/>
              </a:ext>
            </a:extLst>
          </p:cNvPr>
          <p:cNvSpPr/>
          <p:nvPr/>
        </p:nvSpPr>
        <p:spPr>
          <a:xfrm>
            <a:off x="5467432" y="2181351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412040" y="2808575"/>
            <a:ext cx="7921375" cy="4586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❗ 산재 </a:t>
            </a:r>
            <a:r>
              <a:rPr lang="ko-KR" altLang="en-US" sz="800" b="1" dirty="0" err="1">
                <a:solidFill>
                  <a:schemeClr val="tx1"/>
                </a:solidFill>
              </a:rPr>
              <a:t>지정의료기관이란</a:t>
            </a:r>
            <a:r>
              <a:rPr lang="en-US" altLang="ko-KR" sz="8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b="1" dirty="0">
              <a:solidFill>
                <a:schemeClr val="tx1"/>
              </a:solidFill>
            </a:endParaRPr>
          </a:p>
          <a:p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근로복지공단이 지정한 의료기관으로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산업재해를 당한 근로자가 요양급여를 받을 수 있는 병원입니다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.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산재보험 적용을 받으며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치료비 부담 없이 진료를 받으실 수 있습니다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12039" y="342900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주변 산재지정의료기관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           Top 10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12038" y="371520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74AB6E-3C41-B2D7-3769-1211D70C4565}"/>
              </a:ext>
            </a:extLst>
          </p:cNvPr>
          <p:cNvSpPr/>
          <p:nvPr/>
        </p:nvSpPr>
        <p:spPr>
          <a:xfrm>
            <a:off x="412038" y="425289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F4B3FAC-DEC1-2747-EDAD-906604AA7793}"/>
              </a:ext>
            </a:extLst>
          </p:cNvPr>
          <p:cNvSpPr/>
          <p:nvPr/>
        </p:nvSpPr>
        <p:spPr>
          <a:xfrm>
            <a:off x="412037" y="4790588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499618-A5E6-FA6F-9E16-49F3B022FB75}"/>
              </a:ext>
            </a:extLst>
          </p:cNvPr>
          <p:cNvSpPr/>
          <p:nvPr/>
        </p:nvSpPr>
        <p:spPr>
          <a:xfrm>
            <a:off x="412037" y="535042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A66A60-525D-4F6C-B665-C5C68A2237C0}"/>
              </a:ext>
            </a:extLst>
          </p:cNvPr>
          <p:cNvSpPr/>
          <p:nvPr/>
        </p:nvSpPr>
        <p:spPr>
          <a:xfrm>
            <a:off x="273075" y="182286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E254A6F-3F09-4BAD-836A-FEAADB60E581}"/>
              </a:ext>
            </a:extLst>
          </p:cNvPr>
          <p:cNvSpPr/>
          <p:nvPr/>
        </p:nvSpPr>
        <p:spPr>
          <a:xfrm>
            <a:off x="273075" y="322685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C010669-6DD9-452C-993B-5DDFE60726EE}"/>
              </a:ext>
            </a:extLst>
          </p:cNvPr>
          <p:cNvSpPr/>
          <p:nvPr/>
        </p:nvSpPr>
        <p:spPr>
          <a:xfrm>
            <a:off x="7356666" y="380919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9358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975</TotalTime>
  <Words>2504</Words>
  <Application>Microsoft Office PowerPoint</Application>
  <PresentationFormat>와이드스크린</PresentationFormat>
  <Paragraphs>940</Paragraphs>
  <Slides>34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9" baseType="lpstr">
      <vt:lpstr>ui-sans-serif</vt:lpstr>
      <vt:lpstr>Malgun Gothic</vt:lpstr>
      <vt:lpstr>Malgun Gothic</vt:lpstr>
      <vt:lpstr>Arial</vt:lpstr>
      <vt:lpstr>Office 테마</vt:lpstr>
      <vt:lpstr>스토리보드 산재통계</vt:lpstr>
      <vt:lpstr>메인 , 헤더</vt:lpstr>
      <vt:lpstr>PowerPoint 프레젠테이션</vt:lpstr>
      <vt:lpstr>PowerPoint 프레젠테이션</vt:lpstr>
      <vt:lpstr>PowerPoint 프레젠테이션</vt:lpstr>
      <vt:lpstr>산재 통계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마이 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산재 뉴스</vt:lpstr>
      <vt:lpstr>PowerPoint 프레젠테이션</vt:lpstr>
      <vt:lpstr>안전교육</vt:lpstr>
      <vt:lpstr>PowerPoint 프레젠테이션</vt:lpstr>
      <vt:lpstr>PowerPoint 프레젠테이션</vt:lpstr>
      <vt:lpstr>주변 산재 검색</vt:lpstr>
      <vt:lpstr>PowerPoint 프레젠테이션</vt:lpstr>
      <vt:lpstr>PowerPoint 프레젠테이션</vt:lpstr>
      <vt:lpstr>PowerPoint 프레젠테이션</vt:lpstr>
      <vt:lpstr>주변 병원 검색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페이지 구성도</dc:title>
  <dc:creator>do yun choi</dc:creator>
  <cp:lastModifiedBy>do yun choi</cp:lastModifiedBy>
  <cp:revision>54</cp:revision>
  <dcterms:created xsi:type="dcterms:W3CDTF">2025-11-24T01:38:34Z</dcterms:created>
  <dcterms:modified xsi:type="dcterms:W3CDTF">2025-11-25T08:32:02Z</dcterms:modified>
</cp:coreProperties>
</file>