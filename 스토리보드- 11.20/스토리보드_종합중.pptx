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56" r:id="rId2"/>
    <p:sldId id="262" r:id="rId3"/>
    <p:sldId id="257" r:id="rId4"/>
    <p:sldId id="266" r:id="rId5"/>
    <p:sldId id="261" r:id="rId6"/>
    <p:sldId id="296" r:id="rId7"/>
    <p:sldId id="297" r:id="rId8"/>
    <p:sldId id="259" r:id="rId9"/>
    <p:sldId id="298" r:id="rId10"/>
    <p:sldId id="263" r:id="rId11"/>
    <p:sldId id="265" r:id="rId12"/>
    <p:sldId id="258" r:id="rId13"/>
    <p:sldId id="260" r:id="rId14"/>
    <p:sldId id="267" r:id="rId15"/>
    <p:sldId id="268" r:id="rId16"/>
    <p:sldId id="270" r:id="rId17"/>
    <p:sldId id="271" r:id="rId18"/>
    <p:sldId id="272" r:id="rId19"/>
    <p:sldId id="273" r:id="rId20"/>
    <p:sldId id="274" r:id="rId21"/>
    <p:sldId id="285" r:id="rId22"/>
    <p:sldId id="283" r:id="rId23"/>
    <p:sldId id="278" r:id="rId24"/>
    <p:sldId id="282" r:id="rId25"/>
    <p:sldId id="281" r:id="rId26"/>
    <p:sldId id="294" r:id="rId27"/>
    <p:sldId id="295" r:id="rId28"/>
    <p:sldId id="280" r:id="rId29"/>
    <p:sldId id="291" r:id="rId30"/>
    <p:sldId id="299" r:id="rId31"/>
    <p:sldId id="300" r:id="rId32"/>
    <p:sldId id="301" r:id="rId33"/>
    <p:sldId id="286" r:id="rId34"/>
    <p:sldId id="292" r:id="rId35"/>
    <p:sldId id="287" r:id="rId36"/>
    <p:sldId id="288" r:id="rId37"/>
    <p:sldId id="290" r:id="rId38"/>
    <p:sldId id="293" r:id="rId39"/>
    <p:sldId id="289" r:id="rId40"/>
    <p:sldId id="302" r:id="rId41"/>
    <p:sldId id="264" r:id="rId42"/>
    <p:sldId id="303" r:id="rId43"/>
    <p:sldId id="304" r:id="rId4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9727" autoAdjust="0"/>
  </p:normalViewPr>
  <p:slideViewPr>
    <p:cSldViewPr snapToGrid="0">
      <p:cViewPr varScale="1">
        <p:scale>
          <a:sx n="101" d="100"/>
          <a:sy n="101" d="100"/>
        </p:scale>
        <p:origin x="32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D3B-4D35-980D-445A6312232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D3B-4D35-980D-445A6312232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D3B-4D35-980D-445A63122326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FD3B-4D35-980D-445A631223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CF6-4F80-B38B-901ACB5E42A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F6-4F80-B38B-901ACB5E42AE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CF6-4F80-B38B-901ACB5E42AE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ECF6-4F80-B38B-901ACB5E42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68F-481D-B2BD-21EB88DDCA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68F-481D-B2BD-21EB88DDCA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68F-481D-B2BD-21EB88DDCAD2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6-968F-481D-B2BD-21EB88DDCA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445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756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comwel.or.kr/comwel/medi/orsc.jsp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805997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516000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0042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352561"/>
              </p:ext>
            </p:extLst>
          </p:nvPr>
        </p:nvGraphicFramePr>
        <p:xfrm>
          <a:off x="139700" y="2471582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교육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68331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129420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table 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서울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인천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대구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지역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136194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63884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4" y="2360160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7553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서비스 소개 </a:t>
            </a:r>
            <a:r>
              <a:rPr lang="en-US" altLang="ko-KR" dirty="0">
                <a:solidFill>
                  <a:schemeClr val="tx1"/>
                </a:solidFill>
              </a:rPr>
              <a:t>content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60494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1638102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895235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 기능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4" y="2360160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7553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핵심기능 </a:t>
            </a:r>
            <a:r>
              <a:rPr lang="en-US" altLang="ko-KR" dirty="0">
                <a:solidFill>
                  <a:schemeClr val="tx1"/>
                </a:solidFill>
              </a:rPr>
              <a:t>content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1" y="3095708"/>
            <a:ext cx="108307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비전</a:t>
            </a:r>
            <a:r>
              <a:rPr lang="en-US" altLang="ko-KR" sz="1200" dirty="0">
                <a:solidFill>
                  <a:schemeClr val="tx1"/>
                </a:solidFill>
              </a:rPr>
              <a:t> </a:t>
            </a:r>
            <a:r>
              <a:rPr lang="ko-KR" altLang="en-US" sz="1200" dirty="0">
                <a:solidFill>
                  <a:schemeClr val="tx1"/>
                </a:solidFill>
              </a:rPr>
              <a:t>및 목표</a:t>
            </a:r>
          </a:p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4E92DC8-C785-B896-6A1B-0C408F6907FD}"/>
              </a:ext>
            </a:extLst>
          </p:cNvPr>
          <p:cNvSpPr/>
          <p:nvPr/>
        </p:nvSpPr>
        <p:spPr>
          <a:xfrm>
            <a:off x="403878" y="347792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B0CD68E-45F7-9647-DD44-39C52A952553}"/>
              </a:ext>
            </a:extLst>
          </p:cNvPr>
          <p:cNvSpPr/>
          <p:nvPr/>
        </p:nvSpPr>
        <p:spPr>
          <a:xfrm>
            <a:off x="1660470" y="282620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063058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095314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비전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2572769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비전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목표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4" y="2360160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비전 및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7553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비전  </a:t>
            </a:r>
            <a:r>
              <a:rPr lang="en-US" altLang="ko-KR" dirty="0">
                <a:solidFill>
                  <a:schemeClr val="tx1"/>
                </a:solidFill>
              </a:rPr>
              <a:t>&amp; </a:t>
            </a:r>
            <a:r>
              <a:rPr lang="ko-KR" altLang="en-US" dirty="0">
                <a:solidFill>
                  <a:schemeClr val="tx1"/>
                </a:solidFill>
              </a:rPr>
              <a:t>목표 </a:t>
            </a:r>
            <a:r>
              <a:rPr lang="en-US" altLang="ko-KR" dirty="0">
                <a:solidFill>
                  <a:schemeClr val="tx1"/>
                </a:solidFill>
              </a:rPr>
              <a:t>content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비전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및</a:t>
            </a:r>
            <a:r>
              <a:rPr lang="en-US" altLang="ko-KR" sz="1200" b="1" dirty="0">
                <a:solidFill>
                  <a:schemeClr val="tx1"/>
                </a:solidFill>
              </a:rPr>
              <a:t> </a:t>
            </a:r>
            <a:r>
              <a:rPr lang="ko-KR" altLang="en-US" sz="1200" b="1" dirty="0">
                <a:solidFill>
                  <a:schemeClr val="tx1"/>
                </a:solidFill>
              </a:rPr>
              <a:t>목표</a:t>
            </a:r>
          </a:p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403879" y="38462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B10E162-26EB-195B-786C-DEC30A0F8378}"/>
              </a:ext>
            </a:extLst>
          </p:cNvPr>
          <p:cNvSpPr/>
          <p:nvPr/>
        </p:nvSpPr>
        <p:spPr>
          <a:xfrm>
            <a:off x="1660469" y="280917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00020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124711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0417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844808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주제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와 주제에 관한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한줄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소개를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이미지는 주제와 관련된 이미지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분석요약글을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정보를 받아와 분석 결과를 시각적으로 보여준다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원형 차트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부상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별로 미리 쿼리를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필터한다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버튼 또는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엔터를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입력하면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검색쿼리를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넘긴다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DB2DED3-87A5-4945-AC03-7FDAD7763D99}"/>
              </a:ext>
            </a:extLst>
          </p:cNvPr>
          <p:cNvSpPr/>
          <p:nvPr/>
        </p:nvSpPr>
        <p:spPr>
          <a:xfrm>
            <a:off x="0" y="4257031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39" name="차트 38">
            <a:extLst>
              <a:ext uri="{FF2B5EF4-FFF2-40B4-BE49-F238E27FC236}">
                <a16:creationId xmlns:a16="http://schemas.microsoft.com/office/drawing/2014/main" id="{8A96D94D-13EF-44F2-9CAF-EFDE076937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81831490"/>
              </p:ext>
            </p:extLst>
          </p:nvPr>
        </p:nvGraphicFramePr>
        <p:xfrm>
          <a:off x="423175" y="4284357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7C9FD3F0-C9D1-4A70-B068-6EA97A867A8D}"/>
              </a:ext>
            </a:extLst>
          </p:cNvPr>
          <p:cNvSpPr txBox="1"/>
          <p:nvPr/>
        </p:nvSpPr>
        <p:spPr>
          <a:xfrm>
            <a:off x="1682189" y="4423284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서울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F0AABC2-A77D-4C50-8A9A-605BDF278D4A}"/>
              </a:ext>
            </a:extLst>
          </p:cNvPr>
          <p:cNvSpPr txBox="1"/>
          <p:nvPr/>
        </p:nvSpPr>
        <p:spPr>
          <a:xfrm>
            <a:off x="1682189" y="48342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인천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C33BF4-2A5E-4658-A6A5-C5923784CBCF}"/>
              </a:ext>
            </a:extLst>
          </p:cNvPr>
          <p:cNvSpPr txBox="1"/>
          <p:nvPr/>
        </p:nvSpPr>
        <p:spPr>
          <a:xfrm>
            <a:off x="1682189" y="52448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대구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A4E5C56-146C-4691-8AE2-0FCE5EAE53F9}"/>
              </a:ext>
            </a:extLst>
          </p:cNvPr>
          <p:cNvSpPr txBox="1"/>
          <p:nvPr/>
        </p:nvSpPr>
        <p:spPr>
          <a:xfrm>
            <a:off x="0" y="4338766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지역</a:t>
            </a:r>
          </a:p>
        </p:txBody>
      </p:sp>
      <p:graphicFrame>
        <p:nvGraphicFramePr>
          <p:cNvPr id="68" name="차트 67">
            <a:extLst>
              <a:ext uri="{FF2B5EF4-FFF2-40B4-BE49-F238E27FC236}">
                <a16:creationId xmlns:a16="http://schemas.microsoft.com/office/drawing/2014/main" id="{BA5FD586-2AEE-4F28-ACE7-3E3C40F7C7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1756174"/>
              </p:ext>
            </p:extLst>
          </p:nvPr>
        </p:nvGraphicFramePr>
        <p:xfrm>
          <a:off x="3001796" y="4294670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9" name="TextBox 68">
            <a:extLst>
              <a:ext uri="{FF2B5EF4-FFF2-40B4-BE49-F238E27FC236}">
                <a16:creationId xmlns:a16="http://schemas.microsoft.com/office/drawing/2014/main" id="{CD78A94F-672F-4506-AB7D-FB0CE7DA614A}"/>
              </a:ext>
            </a:extLst>
          </p:cNvPr>
          <p:cNvSpPr txBox="1"/>
          <p:nvPr/>
        </p:nvSpPr>
        <p:spPr>
          <a:xfrm>
            <a:off x="4260810" y="4433597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중공업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A2248A-8C05-4C1E-87CA-81D1A9FE8C11}"/>
              </a:ext>
            </a:extLst>
          </p:cNvPr>
          <p:cNvSpPr txBox="1"/>
          <p:nvPr/>
        </p:nvSpPr>
        <p:spPr>
          <a:xfrm>
            <a:off x="4260810" y="48446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건설업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3ACB7BD-BDFA-4B90-B429-EE4554FC05B0}"/>
              </a:ext>
            </a:extLst>
          </p:cNvPr>
          <p:cNvSpPr txBox="1"/>
          <p:nvPr/>
        </p:nvSpPr>
        <p:spPr>
          <a:xfrm>
            <a:off x="4260810" y="5255136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조선업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16A6A1A-C9E1-4346-9C35-8B4D472EF87D}"/>
              </a:ext>
            </a:extLst>
          </p:cNvPr>
          <p:cNvSpPr txBox="1"/>
          <p:nvPr/>
        </p:nvSpPr>
        <p:spPr>
          <a:xfrm>
            <a:off x="2578621" y="4349079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업종</a:t>
            </a:r>
          </a:p>
        </p:txBody>
      </p:sp>
      <p:graphicFrame>
        <p:nvGraphicFramePr>
          <p:cNvPr id="73" name="차트 72">
            <a:extLst>
              <a:ext uri="{FF2B5EF4-FFF2-40B4-BE49-F238E27FC236}">
                <a16:creationId xmlns:a16="http://schemas.microsoft.com/office/drawing/2014/main" id="{F36D2ED7-A300-4F9D-AC94-E10BDE68ECB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0950584"/>
              </p:ext>
            </p:extLst>
          </p:nvPr>
        </p:nvGraphicFramePr>
        <p:xfrm>
          <a:off x="5659003" y="4304983"/>
          <a:ext cx="1398193" cy="12579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4" name="TextBox 73">
            <a:extLst>
              <a:ext uri="{FF2B5EF4-FFF2-40B4-BE49-F238E27FC236}">
                <a16:creationId xmlns:a16="http://schemas.microsoft.com/office/drawing/2014/main" id="{04155135-FC20-4418-9941-6A101365DC22}"/>
              </a:ext>
            </a:extLst>
          </p:cNvPr>
          <p:cNvSpPr txBox="1"/>
          <p:nvPr/>
        </p:nvSpPr>
        <p:spPr>
          <a:xfrm>
            <a:off x="6918017" y="4443910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</a:t>
            </a:r>
            <a:r>
              <a:rPr lang="ko-KR" altLang="en-US" sz="1100" dirty="0"/>
              <a:t>위 골절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FE57174-6E08-408F-A21F-2A24EF33ED8B}"/>
              </a:ext>
            </a:extLst>
          </p:cNvPr>
          <p:cNvSpPr txBox="1"/>
          <p:nvPr/>
        </p:nvSpPr>
        <p:spPr>
          <a:xfrm>
            <a:off x="6918017" y="4854923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2</a:t>
            </a:r>
            <a:r>
              <a:rPr lang="ko-KR" altLang="en-US" sz="1100" dirty="0"/>
              <a:t>위 화상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4BF16A1-3127-4BD9-8288-05EFFA9F9D23}"/>
              </a:ext>
            </a:extLst>
          </p:cNvPr>
          <p:cNvSpPr txBox="1"/>
          <p:nvPr/>
        </p:nvSpPr>
        <p:spPr>
          <a:xfrm>
            <a:off x="6918017" y="5265449"/>
            <a:ext cx="10356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3</a:t>
            </a:r>
            <a:r>
              <a:rPr lang="ko-KR" altLang="en-US" sz="1100" dirty="0"/>
              <a:t>위 낙상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AD3C85-2459-46B0-9000-62BB5AD7E201}"/>
              </a:ext>
            </a:extLst>
          </p:cNvPr>
          <p:cNvSpPr txBox="1"/>
          <p:nvPr/>
        </p:nvSpPr>
        <p:spPr>
          <a:xfrm>
            <a:off x="5235828" y="4359392"/>
            <a:ext cx="832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부상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8C90FA2-9FFE-4D54-BDA0-7CBD08FE42E3}"/>
              </a:ext>
            </a:extLst>
          </p:cNvPr>
          <p:cNvSpPr/>
          <p:nvPr/>
        </p:nvSpPr>
        <p:spPr>
          <a:xfrm>
            <a:off x="0" y="1822862"/>
            <a:ext cx="8603671" cy="118288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CC7303-B0EF-431B-821A-0F92CB474877}"/>
              </a:ext>
            </a:extLst>
          </p:cNvPr>
          <p:cNvSpPr txBox="1"/>
          <p:nvPr/>
        </p:nvSpPr>
        <p:spPr>
          <a:xfrm>
            <a:off x="67857" y="1935387"/>
            <a:ext cx="1479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산재 통계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F8B21B-7790-4195-91E4-904B61EC5EE9}"/>
              </a:ext>
            </a:extLst>
          </p:cNvPr>
          <p:cNvSpPr txBox="1"/>
          <p:nvPr/>
        </p:nvSpPr>
        <p:spPr>
          <a:xfrm>
            <a:off x="206578" y="2490827"/>
            <a:ext cx="6988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한줄</a:t>
            </a:r>
            <a:r>
              <a:rPr lang="ko-KR" altLang="en-US" dirty="0"/>
              <a:t> 소개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BE55AE-3461-4A4B-9AAA-528CE6E3DE19}"/>
              </a:ext>
            </a:extLst>
          </p:cNvPr>
          <p:cNvSpPr/>
          <p:nvPr/>
        </p:nvSpPr>
        <p:spPr>
          <a:xfrm>
            <a:off x="7057196" y="1968500"/>
            <a:ext cx="1299404" cy="89597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5750352"/>
            <a:ext cx="8603671" cy="48111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5752198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3417" y="5812308"/>
            <a:ext cx="326366" cy="326366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47914DA-0E1B-4369-9E70-CCD764D00B4E}"/>
              </a:ext>
            </a:extLst>
          </p:cNvPr>
          <p:cNvSpPr txBox="1"/>
          <p:nvPr/>
        </p:nvSpPr>
        <p:spPr>
          <a:xfrm>
            <a:off x="499533" y="3285067"/>
            <a:ext cx="7454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OOO</a:t>
            </a:r>
            <a:r>
              <a:rPr lang="ko-KR" altLang="en-US" dirty="0"/>
              <a:t>님의 </a:t>
            </a:r>
            <a:r>
              <a:rPr lang="en-US" altLang="ko-KR" dirty="0"/>
              <a:t>OOO</a:t>
            </a:r>
            <a:r>
              <a:rPr lang="ko-KR" altLang="en-US" dirty="0"/>
              <a:t>업은 부상순위 </a:t>
            </a:r>
            <a:r>
              <a:rPr lang="en-US" altLang="ko-KR" dirty="0"/>
              <a:t>OO</a:t>
            </a:r>
            <a:r>
              <a:rPr lang="ko-KR" altLang="en-US" dirty="0"/>
              <a:t>위 이며</a:t>
            </a:r>
            <a:r>
              <a:rPr lang="en-US" altLang="ko-KR" dirty="0"/>
              <a:t>, </a:t>
            </a:r>
            <a:r>
              <a:rPr lang="ko-KR" altLang="en-US" dirty="0"/>
              <a:t>가장 높은 부상 종류는 </a:t>
            </a:r>
            <a:r>
              <a:rPr lang="en-US" altLang="ko-KR" dirty="0"/>
              <a:t>OO</a:t>
            </a:r>
            <a:r>
              <a:rPr lang="ko-KR" altLang="en-US" dirty="0"/>
              <a:t>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36D5D312-89F8-48B7-9AB9-2388EBC7DD6C}"/>
              </a:ext>
            </a:extLst>
          </p:cNvPr>
          <p:cNvSpPr/>
          <p:nvPr/>
        </p:nvSpPr>
        <p:spPr>
          <a:xfrm>
            <a:off x="7763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635FEAC-12D7-49C4-8209-97A0EA2F704B}"/>
              </a:ext>
            </a:extLst>
          </p:cNvPr>
          <p:cNvSpPr/>
          <p:nvPr/>
        </p:nvSpPr>
        <p:spPr>
          <a:xfrm>
            <a:off x="8313965" y="58004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1249" y="190092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208140" y="31628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33184" y="429073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2961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0546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&gt;&gt; industrial_accident_statistics.html</a:t>
                      </a:r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지역별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부상별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통계 슬라이딩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industrial_accident_news_list.html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en-US" altLang="ko-KR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industrial_accident_news_detail_id.html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4CDFB43-F3F6-4146-941D-DB02300DA1F4}"/>
              </a:ext>
            </a:extLst>
          </p:cNvPr>
          <p:cNvSpPr/>
          <p:nvPr/>
        </p:nvSpPr>
        <p:spPr>
          <a:xfrm>
            <a:off x="0" y="1855671"/>
            <a:ext cx="8603671" cy="48111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검색창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C1CD89F3-6697-4B63-BC75-AACAC5C082DC}"/>
              </a:ext>
            </a:extLst>
          </p:cNvPr>
          <p:cNvSpPr/>
          <p:nvPr/>
        </p:nvSpPr>
        <p:spPr>
          <a:xfrm>
            <a:off x="-1" y="1857517"/>
            <a:ext cx="1123951" cy="47080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필터</a:t>
            </a:r>
          </a:p>
        </p:txBody>
      </p:sp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73ECFD17-9A6E-4481-8791-F6C6D2C61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3417" y="1917627"/>
            <a:ext cx="326366" cy="326366"/>
          </a:xfrm>
          <a:prstGeom prst="rect">
            <a:avLst/>
          </a:prstGeom>
        </p:spPr>
      </p:pic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C28346CC-9FDB-4C8F-97B6-31A655296F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3488962"/>
              </p:ext>
            </p:extLst>
          </p:nvPr>
        </p:nvGraphicFramePr>
        <p:xfrm>
          <a:off x="8466" y="2480724"/>
          <a:ext cx="8603672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96">
                  <a:extLst>
                    <a:ext uri="{9D8B030D-6E8A-4147-A177-3AD203B41FA5}">
                      <a16:colId xmlns:a16="http://schemas.microsoft.com/office/drawing/2014/main" val="3052106221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2663705773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97598236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15224190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1750711354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4200747119"/>
                    </a:ext>
                  </a:extLst>
                </a:gridCol>
                <a:gridCol w="1229096">
                  <a:extLst>
                    <a:ext uri="{9D8B030D-6E8A-4147-A177-3AD203B41FA5}">
                      <a16:colId xmlns:a16="http://schemas.microsoft.com/office/drawing/2014/main" val="3679825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지역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부상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요일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연령대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직종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123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999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81140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806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4826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802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9399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61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584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323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55925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89146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4478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39934"/>
              </p:ext>
            </p:extLst>
          </p:nvPr>
        </p:nvGraphicFramePr>
        <p:xfrm>
          <a:off x="8603672" y="1180081"/>
          <a:ext cx="3588327" cy="62153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041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2161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5656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2161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 44">
            <a:extLst>
              <a:ext uri="{FF2B5EF4-FFF2-40B4-BE49-F238E27FC236}">
                <a16:creationId xmlns:a16="http://schemas.microsoft.com/office/drawing/2014/main" id="{559BFEAF-4ABC-466A-99E4-88D326E3235D}"/>
              </a:ext>
            </a:extLst>
          </p:cNvPr>
          <p:cNvSpPr txBox="1"/>
          <p:nvPr/>
        </p:nvSpPr>
        <p:spPr>
          <a:xfrm>
            <a:off x="2813213" y="5739599"/>
            <a:ext cx="94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아니요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06045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908955"/>
              </p:ext>
            </p:extLst>
          </p:nvPr>
        </p:nvGraphicFramePr>
        <p:xfrm>
          <a:off x="8603672" y="1180084"/>
          <a:ext cx="3588327" cy="57063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774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4088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4789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나이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숫자만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Default 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목록을 줘서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Default 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목록을 줘서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근속기간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(?)</a:t>
                      </a: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여부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 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yes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체크시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폼 입력 가능하게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5B9561-DBF3-443C-A167-2524FE0E823A}"/>
              </a:ext>
            </a:extLst>
          </p:cNvPr>
          <p:cNvSpPr txBox="1"/>
          <p:nvPr/>
        </p:nvSpPr>
        <p:spPr>
          <a:xfrm>
            <a:off x="1394658" y="3523513"/>
            <a:ext cx="7855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9B67A63E-18B8-4336-AFEF-EEC18DB47284}"/>
              </a:ext>
            </a:extLst>
          </p:cNvPr>
          <p:cNvSpPr/>
          <p:nvPr/>
        </p:nvSpPr>
        <p:spPr>
          <a:xfrm>
            <a:off x="5138003" y="35524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bg1">
                    <a:lumMod val="65000"/>
                  </a:schemeClr>
                </a:solidFill>
              </a:rPr>
              <a:t>Daum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API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FB0EBA-624E-4601-90D4-3DB870961FB9}"/>
              </a:ext>
            </a:extLst>
          </p:cNvPr>
          <p:cNvSpPr txBox="1"/>
          <p:nvPr/>
        </p:nvSpPr>
        <p:spPr>
          <a:xfrm>
            <a:off x="4251117" y="3523513"/>
            <a:ext cx="8179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</a:t>
            </a:r>
            <a:r>
              <a:rPr lang="en-US" altLang="ko-KR" sz="1100" dirty="0"/>
              <a:t>2</a:t>
            </a:r>
            <a:r>
              <a:rPr lang="ko-KR" altLang="en-US" sz="1100" dirty="0"/>
              <a:t>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62F652-FB52-4E55-9975-334C4CBE1207}"/>
              </a:ext>
            </a:extLst>
          </p:cNvPr>
          <p:cNvSpPr txBox="1"/>
          <p:nvPr/>
        </p:nvSpPr>
        <p:spPr>
          <a:xfrm>
            <a:off x="1425460" y="5775107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산재 여부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10" name="원형: 비어 있음 9">
            <a:extLst>
              <a:ext uri="{FF2B5EF4-FFF2-40B4-BE49-F238E27FC236}">
                <a16:creationId xmlns:a16="http://schemas.microsoft.com/office/drawing/2014/main" id="{FACB6F44-36ED-4022-9B41-249F48FAD2AE}"/>
              </a:ext>
            </a:extLst>
          </p:cNvPr>
          <p:cNvSpPr/>
          <p:nvPr/>
        </p:nvSpPr>
        <p:spPr>
          <a:xfrm>
            <a:off x="2628900" y="5863718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원형: 비어 있음 43">
            <a:extLst>
              <a:ext uri="{FF2B5EF4-FFF2-40B4-BE49-F238E27FC236}">
                <a16:creationId xmlns:a16="http://schemas.microsoft.com/office/drawing/2014/main" id="{295DBDF6-3A76-401B-8335-6E447DEA9FC4}"/>
              </a:ext>
            </a:extLst>
          </p:cNvPr>
          <p:cNvSpPr/>
          <p:nvPr/>
        </p:nvSpPr>
        <p:spPr>
          <a:xfrm>
            <a:off x="3621105" y="586603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3A4E71-AF48-4621-8662-9DFEBF9789D3}"/>
              </a:ext>
            </a:extLst>
          </p:cNvPr>
          <p:cNvSpPr txBox="1"/>
          <p:nvPr/>
        </p:nvSpPr>
        <p:spPr>
          <a:xfrm>
            <a:off x="2235355" y="5739599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571923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575473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84334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84567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571923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74B0266-E5A3-4992-8880-53622A5706D0}"/>
              </a:ext>
            </a:extLst>
          </p:cNvPr>
          <p:cNvSpPr/>
          <p:nvPr/>
        </p:nvSpPr>
        <p:spPr>
          <a:xfrm>
            <a:off x="2261319" y="506482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6215D9-222F-4C5E-834F-52DEB98BDD73}"/>
              </a:ext>
            </a:extLst>
          </p:cNvPr>
          <p:cNvSpPr txBox="1"/>
          <p:nvPr/>
        </p:nvSpPr>
        <p:spPr>
          <a:xfrm>
            <a:off x="1405237" y="5042473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근속기간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45745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7358497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 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시간받는다면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어떻게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(???)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재해정도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(???)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4" y="305384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4319864" y="3023899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 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412067" y="3050527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7F1819D-953D-4788-8619-ABE01600CCEE}"/>
              </a:ext>
            </a:extLst>
          </p:cNvPr>
          <p:cNvSpPr/>
          <p:nvPr/>
        </p:nvSpPr>
        <p:spPr>
          <a:xfrm>
            <a:off x="2281543" y="355206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534DC8-206A-440C-B4C7-B56B327E2E6B}"/>
              </a:ext>
            </a:extLst>
          </p:cNvPr>
          <p:cNvSpPr txBox="1"/>
          <p:nvPr/>
        </p:nvSpPr>
        <p:spPr>
          <a:xfrm>
            <a:off x="1412066" y="3548749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재해정도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6682836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67199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 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0967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97792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973646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78BCAA-E05B-4823-ADE6-45B425BC47B2}"/>
              </a:ext>
            </a:extLst>
          </p:cNvPr>
          <p:cNvSpPr txBox="1"/>
          <p:nvPr/>
        </p:nvSpPr>
        <p:spPr>
          <a:xfrm>
            <a:off x="3067213" y="5098249"/>
            <a:ext cx="942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아니요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D8F802F4-A8C9-4B4E-B6F6-E38022758E7F}"/>
              </a:ext>
            </a:extLst>
          </p:cNvPr>
          <p:cNvSpPr/>
          <p:nvPr/>
        </p:nvSpPr>
        <p:spPr>
          <a:xfrm>
            <a:off x="2541016" y="27565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사람이름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7675A5D-4200-4BAE-95E9-064E79E8C195}"/>
              </a:ext>
            </a:extLst>
          </p:cNvPr>
          <p:cNvSpPr txBox="1"/>
          <p:nvPr/>
        </p:nvSpPr>
        <p:spPr>
          <a:xfrm>
            <a:off x="1648658" y="1950007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E4DAE751-1AC7-40D5-9C60-940B129D3581}"/>
              </a:ext>
            </a:extLst>
          </p:cNvPr>
          <p:cNvSpPr/>
          <p:nvPr/>
        </p:nvSpPr>
        <p:spPr>
          <a:xfrm>
            <a:off x="2535544" y="32603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74D44AB-C61A-4C49-AAB8-AEC430108C8D}"/>
              </a:ext>
            </a:extLst>
          </p:cNvPr>
          <p:cNvSpPr/>
          <p:nvPr/>
        </p:nvSpPr>
        <p:spPr>
          <a:xfrm>
            <a:off x="2535543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12600E-7909-45A3-BC19-16A48B258D6B}"/>
              </a:ext>
            </a:extLst>
          </p:cNvPr>
          <p:cNvSpPr/>
          <p:nvPr/>
        </p:nvSpPr>
        <p:spPr>
          <a:xfrm>
            <a:off x="2535542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- </a:t>
            </a:r>
            <a:r>
              <a:rPr lang="ko-KR" altLang="en-US" sz="1200" dirty="0">
                <a:solidFill>
                  <a:schemeClr val="tx1"/>
                </a:solidFill>
              </a:rPr>
              <a:t>없이 </a:t>
            </a:r>
            <a:r>
              <a:rPr lang="en-US" altLang="ko-KR" sz="1200" dirty="0">
                <a:solidFill>
                  <a:schemeClr val="tx1"/>
                </a:solidFill>
              </a:rPr>
              <a:t>11</a:t>
            </a:r>
            <a:r>
              <a:rPr lang="ko-KR" altLang="en-US" sz="1200" dirty="0">
                <a:solidFill>
                  <a:schemeClr val="tx1"/>
                </a:solidFill>
              </a:rPr>
              <a:t>자리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CACD65-A086-40B6-B9D2-F7A2D0BF801C}"/>
              </a:ext>
            </a:extLst>
          </p:cNvPr>
          <p:cNvSpPr txBox="1"/>
          <p:nvPr/>
        </p:nvSpPr>
        <p:spPr>
          <a:xfrm>
            <a:off x="1659237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2C594F-5555-474A-A462-AF445A437A74}"/>
              </a:ext>
            </a:extLst>
          </p:cNvPr>
          <p:cNvSpPr txBox="1"/>
          <p:nvPr/>
        </p:nvSpPr>
        <p:spPr>
          <a:xfrm>
            <a:off x="1648658" y="3231413"/>
            <a:ext cx="7855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B3A32F4-231E-4B8C-A983-320F8AF9B482}"/>
              </a:ext>
            </a:extLst>
          </p:cNvPr>
          <p:cNvSpPr txBox="1"/>
          <p:nvPr/>
        </p:nvSpPr>
        <p:spPr>
          <a:xfrm>
            <a:off x="1648659" y="37351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970D253-0578-41DC-9742-6E40188DAED4}"/>
              </a:ext>
            </a:extLst>
          </p:cNvPr>
          <p:cNvSpPr txBox="1"/>
          <p:nvPr/>
        </p:nvSpPr>
        <p:spPr>
          <a:xfrm>
            <a:off x="1679460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9B0FE0B-4CBA-4999-9829-C64C832A97DD}"/>
              </a:ext>
            </a:extLst>
          </p:cNvPr>
          <p:cNvSpPr/>
          <p:nvPr/>
        </p:nvSpPr>
        <p:spPr>
          <a:xfrm>
            <a:off x="5391859" y="27526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나이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40EDE411-D80B-4A4C-9BF7-91D6D9F35676}"/>
              </a:ext>
            </a:extLst>
          </p:cNvPr>
          <p:cNvSpPr/>
          <p:nvPr/>
        </p:nvSpPr>
        <p:spPr>
          <a:xfrm>
            <a:off x="5392003" y="3260387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2263F7DC-4037-47D8-803C-BD6E4F72BF65}"/>
              </a:ext>
            </a:extLst>
          </p:cNvPr>
          <p:cNvSpPr/>
          <p:nvPr/>
        </p:nvSpPr>
        <p:spPr>
          <a:xfrm>
            <a:off x="5392002" y="37598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 err="1">
                <a:solidFill>
                  <a:schemeClr val="tx1"/>
                </a:solidFill>
              </a:rPr>
              <a:t>Daum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API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9848021-6995-4E33-B4F0-8C890A8EED4C}"/>
              </a:ext>
            </a:extLst>
          </p:cNvPr>
          <p:cNvSpPr/>
          <p:nvPr/>
        </p:nvSpPr>
        <p:spPr>
          <a:xfrm>
            <a:off x="5392001" y="43017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2CE04-5E42-4A75-B15F-BB0CB8B9C88F}"/>
              </a:ext>
            </a:extLst>
          </p:cNvPr>
          <p:cNvSpPr txBox="1"/>
          <p:nvPr/>
        </p:nvSpPr>
        <p:spPr>
          <a:xfrm>
            <a:off x="4515696" y="27306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나이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C36585-D939-44F0-AC92-736507DE5AA8}"/>
              </a:ext>
            </a:extLst>
          </p:cNvPr>
          <p:cNvSpPr txBox="1"/>
          <p:nvPr/>
        </p:nvSpPr>
        <p:spPr>
          <a:xfrm>
            <a:off x="4505117" y="3231413"/>
            <a:ext cx="8179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중분류</a:t>
            </a:r>
            <a:r>
              <a:rPr lang="en-US" altLang="ko-KR" sz="1100" dirty="0"/>
              <a:t>2</a:t>
            </a:r>
            <a:r>
              <a:rPr lang="ko-KR" altLang="en-US" sz="1100" dirty="0"/>
              <a:t>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183477B-25B0-492E-A4F0-2E99191FE305}"/>
              </a:ext>
            </a:extLst>
          </p:cNvPr>
          <p:cNvSpPr txBox="1"/>
          <p:nvPr/>
        </p:nvSpPr>
        <p:spPr>
          <a:xfrm>
            <a:off x="4505117" y="37351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195720-E57A-4D2B-9C72-0371BA12B92C}"/>
              </a:ext>
            </a:extLst>
          </p:cNvPr>
          <p:cNvSpPr txBox="1"/>
          <p:nvPr/>
        </p:nvSpPr>
        <p:spPr>
          <a:xfrm>
            <a:off x="4535919" y="42793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3517B5-F8CB-42E3-B1E8-C461ED0DFE6C}"/>
              </a:ext>
            </a:extLst>
          </p:cNvPr>
          <p:cNvSpPr txBox="1"/>
          <p:nvPr/>
        </p:nvSpPr>
        <p:spPr>
          <a:xfrm>
            <a:off x="2486723" y="29978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8607E8-FF34-42C8-A626-3FBFEBECB100}"/>
              </a:ext>
            </a:extLst>
          </p:cNvPr>
          <p:cNvSpPr txBox="1"/>
          <p:nvPr/>
        </p:nvSpPr>
        <p:spPr>
          <a:xfrm>
            <a:off x="2517525" y="40177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81BE78-3DCF-4D39-BF29-C0F4B4FDEABF}"/>
              </a:ext>
            </a:extLst>
          </p:cNvPr>
          <p:cNvSpPr txBox="1"/>
          <p:nvPr/>
        </p:nvSpPr>
        <p:spPr>
          <a:xfrm>
            <a:off x="5323057" y="40142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EE731A-49B1-4CA2-9DB0-97AFDBF1A8EF}"/>
              </a:ext>
            </a:extLst>
          </p:cNvPr>
          <p:cNvSpPr txBox="1"/>
          <p:nvPr/>
        </p:nvSpPr>
        <p:spPr>
          <a:xfrm>
            <a:off x="1679460" y="5133757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산재 여부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67" name="원형: 비어 있음 66">
            <a:extLst>
              <a:ext uri="{FF2B5EF4-FFF2-40B4-BE49-F238E27FC236}">
                <a16:creationId xmlns:a16="http://schemas.microsoft.com/office/drawing/2014/main" id="{9930F37D-086B-467B-B729-12EF7E4E3D9B}"/>
              </a:ext>
            </a:extLst>
          </p:cNvPr>
          <p:cNvSpPr/>
          <p:nvPr/>
        </p:nvSpPr>
        <p:spPr>
          <a:xfrm>
            <a:off x="2882900" y="5222368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8" name="원형: 비어 있음 67">
            <a:extLst>
              <a:ext uri="{FF2B5EF4-FFF2-40B4-BE49-F238E27FC236}">
                <a16:creationId xmlns:a16="http://schemas.microsoft.com/office/drawing/2014/main" id="{775FFE08-5073-4697-934F-5BE2EB930039}"/>
              </a:ext>
            </a:extLst>
          </p:cNvPr>
          <p:cNvSpPr/>
          <p:nvPr/>
        </p:nvSpPr>
        <p:spPr>
          <a:xfrm>
            <a:off x="3875105" y="5224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A0E8B34-C348-4EFE-AFED-A79032497B60}"/>
              </a:ext>
            </a:extLst>
          </p:cNvPr>
          <p:cNvSpPr txBox="1"/>
          <p:nvPr/>
        </p:nvSpPr>
        <p:spPr>
          <a:xfrm>
            <a:off x="2489355" y="5098249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DED9DA0B-D090-4CE0-8E66-A657DBA4D894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1E2AB2-B455-417D-8006-466B8E6C37A8}"/>
              </a:ext>
            </a:extLst>
          </p:cNvPr>
          <p:cNvSpPr txBox="1"/>
          <p:nvPr/>
        </p:nvSpPr>
        <p:spPr>
          <a:xfrm>
            <a:off x="6404146" y="507788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70F7B02-E565-4C23-B4BA-CB85E1D72D96}"/>
              </a:ext>
            </a:extLst>
          </p:cNvPr>
          <p:cNvSpPr txBox="1"/>
          <p:nvPr/>
        </p:nvSpPr>
        <p:spPr>
          <a:xfrm>
            <a:off x="4590065" y="511338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3" name="원형: 비어 있음 72">
            <a:extLst>
              <a:ext uri="{FF2B5EF4-FFF2-40B4-BE49-F238E27FC236}">
                <a16:creationId xmlns:a16="http://schemas.microsoft.com/office/drawing/2014/main" id="{D8A32403-414B-4CF2-8589-5B5412E403E7}"/>
              </a:ext>
            </a:extLst>
          </p:cNvPr>
          <p:cNvSpPr/>
          <p:nvPr/>
        </p:nvSpPr>
        <p:spPr>
          <a:xfrm>
            <a:off x="5793505" y="520199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4" name="원형: 비어 있음 73">
            <a:extLst>
              <a:ext uri="{FF2B5EF4-FFF2-40B4-BE49-F238E27FC236}">
                <a16:creationId xmlns:a16="http://schemas.microsoft.com/office/drawing/2014/main" id="{AD71D93F-603C-4BED-9603-9BB8F823C409}"/>
              </a:ext>
            </a:extLst>
          </p:cNvPr>
          <p:cNvSpPr/>
          <p:nvPr/>
        </p:nvSpPr>
        <p:spPr>
          <a:xfrm>
            <a:off x="6785710" y="520432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3634AEE-7053-4544-B6DB-11130347E3C9}"/>
              </a:ext>
            </a:extLst>
          </p:cNvPr>
          <p:cNvSpPr txBox="1"/>
          <p:nvPr/>
        </p:nvSpPr>
        <p:spPr>
          <a:xfrm>
            <a:off x="5399960" y="507788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D96A8327-5C00-49C6-8074-A8D64E56146E}"/>
              </a:ext>
            </a:extLst>
          </p:cNvPr>
          <p:cNvSpPr/>
          <p:nvPr/>
        </p:nvSpPr>
        <p:spPr>
          <a:xfrm>
            <a:off x="2515319" y="477272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614BFCD-A03E-4927-8280-98349C7C9FEA}"/>
              </a:ext>
            </a:extLst>
          </p:cNvPr>
          <p:cNvSpPr txBox="1"/>
          <p:nvPr/>
        </p:nvSpPr>
        <p:spPr>
          <a:xfrm>
            <a:off x="1659237" y="4750373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근속기간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A7636D3-9752-4D85-B0CF-4E4C8618F4C9}"/>
              </a:ext>
            </a:extLst>
          </p:cNvPr>
          <p:cNvSpPr/>
          <p:nvPr/>
        </p:nvSpPr>
        <p:spPr>
          <a:xfrm>
            <a:off x="2548343" y="231300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아이디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F37B149-9DD5-4C48-842D-F358323A7C73}"/>
              </a:ext>
            </a:extLst>
          </p:cNvPr>
          <p:cNvSpPr txBox="1"/>
          <p:nvPr/>
        </p:nvSpPr>
        <p:spPr>
          <a:xfrm>
            <a:off x="1666563" y="2287068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5899B1A-FE19-458A-9F00-F2B42D180A8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725EF232-B36C-4D27-B422-714DD6C035A0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</p:spTree>
    <p:extLst>
      <p:ext uri="{BB962C8B-B14F-4D97-AF65-F5344CB8AC3E}">
        <p14:creationId xmlns:p14="http://schemas.microsoft.com/office/powerpoint/2010/main" val="2621248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0569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644352"/>
              </p:ext>
            </p:extLst>
          </p:nvPr>
        </p:nvGraphicFramePr>
        <p:xfrm>
          <a:off x="8603672" y="1180083"/>
          <a:ext cx="3588327" cy="5751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090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836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002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재해정도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8083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4849492"/>
              </p:ext>
            </p:extLst>
          </p:nvPr>
        </p:nvGraphicFramePr>
        <p:xfrm>
          <a:off x="1675370" y="3183933"/>
          <a:ext cx="54952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80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1835115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109904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재해정도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넘어짐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7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14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21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1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일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2227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044920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03855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4319864" y="3023899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038551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818E6E8-5B17-4807-996E-F4DBBA5C5F70}"/>
              </a:ext>
            </a:extLst>
          </p:cNvPr>
          <p:cNvSpPr/>
          <p:nvPr/>
        </p:nvSpPr>
        <p:spPr>
          <a:xfrm>
            <a:off x="2281543" y="344476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06D8AE-2D5A-4FAA-B29E-ECDD40E7CC90}"/>
              </a:ext>
            </a:extLst>
          </p:cNvPr>
          <p:cNvSpPr txBox="1"/>
          <p:nvPr/>
        </p:nvSpPr>
        <p:spPr>
          <a:xfrm>
            <a:off x="1351916" y="344476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재해정도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94151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77748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932633"/>
              </p:ext>
            </p:extLst>
          </p:nvPr>
        </p:nvGraphicFramePr>
        <p:xfrm>
          <a:off x="8603672" y="1180080"/>
          <a:ext cx="3588327" cy="56468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이미지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안전교육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774725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571408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144910126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main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585023122"/>
              </p:ext>
            </p:extLst>
          </p:nvPr>
        </p:nvGraphicFramePr>
        <p:xfrm>
          <a:off x="8603672" y="1180081"/>
          <a:ext cx="3588325" cy="5690023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01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288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main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안전교육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518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default</a:t>
                      </a:r>
                      <a:r>
                        <a:rPr lang="ko-KR" sz="1100" dirty="0"/>
                        <a:t>: 업종 기반 추천 콘텐츠</a:t>
                      </a:r>
                      <a:endParaRPr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자료유형 필터(체크박스)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 교재 </a:t>
                      </a:r>
                      <a:r>
                        <a:rPr lang="en-US" altLang="ko-KR" sz="1100" dirty="0"/>
                        <a:t>/ PPT </a:t>
                      </a:r>
                      <a:r>
                        <a:rPr lang="ko-KR" altLang="en-US" sz="1100" dirty="0"/>
                        <a:t>로 나누어 분류</a:t>
                      </a:r>
                      <a:r>
                        <a:rPr lang="en-US" altLang="ko-KR" sz="1100" dirty="0"/>
                        <a:t> 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검색 필터 </a:t>
                      </a:r>
                      <a:r>
                        <a:rPr lang="en-US" altLang="ko-KR" sz="1100" dirty="0"/>
                        <a:t>(selector) – </a:t>
                      </a: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키워드</a:t>
                      </a:r>
                      <a:r>
                        <a:rPr lang="en-US" altLang="ko-KR" sz="1100" dirty="0"/>
                        <a:t>(=</a:t>
                      </a:r>
                      <a:r>
                        <a:rPr lang="ko-KR" altLang="en-US" sz="1100" dirty="0"/>
                        <a:t>태그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13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텍스트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검색란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-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검색텍스트가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제목 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OR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키워드에 </a:t>
                      </a: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들어가있는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자료 검색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728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 콘텐츠</a:t>
            </a:r>
            <a:endParaRPr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60199" y="6292263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52BB3AB8-E9E2-670F-53AA-4EFAB576B196}"/>
              </a:ext>
            </a:extLst>
          </p:cNvPr>
          <p:cNvGrpSpPr/>
          <p:nvPr/>
        </p:nvGrpSpPr>
        <p:grpSpPr>
          <a:xfrm>
            <a:off x="567535" y="3091161"/>
            <a:ext cx="7404379" cy="2345050"/>
            <a:chOff x="-22034" y="2332583"/>
            <a:chExt cx="8613063" cy="2123346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58F642C1-AE9C-BA0C-6391-A5D10F03F320}"/>
                </a:ext>
              </a:extLst>
            </p:cNvPr>
            <p:cNvSpPr/>
            <p:nvPr/>
          </p:nvSpPr>
          <p:spPr>
            <a:xfrm>
              <a:off x="-22034" y="2332583"/>
              <a:ext cx="8613063" cy="21233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D900AE3-427B-6EEE-E52F-A098DF854A06}"/>
                </a:ext>
              </a:extLst>
            </p:cNvPr>
            <p:cNvSpPr txBox="1"/>
            <p:nvPr/>
          </p:nvSpPr>
          <p:spPr>
            <a:xfrm>
              <a:off x="7815321" y="3192305"/>
              <a:ext cx="163183" cy="3788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&gt;</a:t>
              </a:r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4169AC0D-4588-C0A6-1A11-9C89EC82F080}"/>
                </a:ext>
              </a:extLst>
            </p:cNvPr>
            <p:cNvGrpSpPr/>
            <p:nvPr/>
          </p:nvGrpSpPr>
          <p:grpSpPr>
            <a:xfrm>
              <a:off x="1251347" y="2594261"/>
              <a:ext cx="1844382" cy="1694170"/>
              <a:chOff x="488731" y="2624754"/>
              <a:chExt cx="1844382" cy="1694170"/>
            </a:xfrm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0D1EA7D0-EC6B-9AFB-23F6-CF254C0AD2A9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7EDEB38F-96BD-AA65-8B91-21CCD01CCEC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BD9E8A6-C223-A79B-0F41-28DCF06C6D49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21A9C0B-ED47-E557-98E1-B75D45DE7AE3}"/>
                </a:ext>
              </a:extLst>
            </p:cNvPr>
            <p:cNvGrpSpPr/>
            <p:nvPr/>
          </p:nvGrpSpPr>
          <p:grpSpPr>
            <a:xfrm>
              <a:off x="5691591" y="2586378"/>
              <a:ext cx="1844382" cy="1694170"/>
              <a:chOff x="488731" y="2624754"/>
              <a:chExt cx="1844382" cy="1694170"/>
            </a:xfrm>
          </p:grpSpPr>
          <p:sp>
            <p:nvSpPr>
              <p:cNvPr id="51" name="직사각형 50">
                <a:extLst>
                  <a:ext uri="{FF2B5EF4-FFF2-40B4-BE49-F238E27FC236}">
                    <a16:creationId xmlns:a16="http://schemas.microsoft.com/office/drawing/2014/main" id="{A4F385DA-4922-DF0C-E792-7DAAF6144865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2" name="직사각형 51">
                <a:extLst>
                  <a:ext uri="{FF2B5EF4-FFF2-40B4-BE49-F238E27FC236}">
                    <a16:creationId xmlns:a16="http://schemas.microsoft.com/office/drawing/2014/main" id="{EE641C1A-2B6A-BD4E-F5B0-35D07F14E86A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4C8FFC3-0DD5-2F15-C8D0-1985980FFEDA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60304954-153D-A405-A916-1E039EBD1574}"/>
                </a:ext>
              </a:extLst>
            </p:cNvPr>
            <p:cNvGrpSpPr/>
            <p:nvPr/>
          </p:nvGrpSpPr>
          <p:grpSpPr>
            <a:xfrm>
              <a:off x="3471469" y="2608486"/>
              <a:ext cx="1844382" cy="1694170"/>
              <a:chOff x="488731" y="2624754"/>
              <a:chExt cx="1844382" cy="1694170"/>
            </a:xfrm>
          </p:grpSpPr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7C6D9E7-FCA2-A6F5-84AB-A82E6DD000B3}"/>
                  </a:ext>
                </a:extLst>
              </p:cNvPr>
              <p:cNvSpPr/>
              <p:nvPr/>
            </p:nvSpPr>
            <p:spPr>
              <a:xfrm>
                <a:off x="488731" y="2624754"/>
                <a:ext cx="1844382" cy="1694170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FC3627AB-8A6D-B5C0-E6BB-82BD70CB49B2}"/>
                  </a:ext>
                </a:extLst>
              </p:cNvPr>
              <p:cNvSpPr/>
              <p:nvPr/>
            </p:nvSpPr>
            <p:spPr>
              <a:xfrm>
                <a:off x="776587" y="2777501"/>
                <a:ext cx="1258785" cy="1059988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이미지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DAD795A-9509-433E-0DD5-7218BCCF63DC}"/>
                  </a:ext>
                </a:extLst>
              </p:cNvPr>
              <p:cNvSpPr txBox="1"/>
              <p:nvPr/>
            </p:nvSpPr>
            <p:spPr>
              <a:xfrm>
                <a:off x="946389" y="3911216"/>
                <a:ext cx="9301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dirty="0"/>
                  <a:t>제목</a:t>
                </a: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A8F7C40-39D5-5E3A-1CDF-CF1198DEFD48}"/>
                </a:ext>
              </a:extLst>
            </p:cNvPr>
            <p:cNvSpPr txBox="1"/>
            <p:nvPr/>
          </p:nvSpPr>
          <p:spPr>
            <a:xfrm>
              <a:off x="517128" y="3201870"/>
              <a:ext cx="43647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&lt;</a:t>
              </a:r>
              <a:endParaRPr lang="ko-KR" altLang="en-US" dirty="0"/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67645" y="5620348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484917" y="552065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4414735F-6A8A-88ED-26FD-70AEC223AD40}"/>
              </a:ext>
            </a:extLst>
          </p:cNvPr>
          <p:cNvSpPr/>
          <p:nvPr/>
        </p:nvSpPr>
        <p:spPr>
          <a:xfrm>
            <a:off x="477534" y="6214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5D1A7A40-7C39-C7B0-8157-53F2B3A05D9D}"/>
              </a:ext>
            </a:extLst>
          </p:cNvPr>
          <p:cNvSpPr/>
          <p:nvPr/>
        </p:nvSpPr>
        <p:spPr>
          <a:xfrm>
            <a:off x="2909155" y="61957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>
                  <a:solidFill>
                    <a:schemeClr val="dk1"/>
                  </a:solidFill>
                  <a:latin typeface="Malgun Gothic"/>
                  <a:ea typeface="Malgun Gothic"/>
                  <a:sym typeface="Malgun Gothic"/>
                </a:rPr>
                <a:t>전체 교육자료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0598290F-7F84-A1B9-3464-E20FD3BAB3C5}"/>
              </a:ext>
            </a:extLst>
          </p:cNvPr>
          <p:cNvSpPr txBox="1"/>
          <p:nvPr/>
        </p:nvSpPr>
        <p:spPr>
          <a:xfrm>
            <a:off x="3714591" y="3131441"/>
            <a:ext cx="12557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업종별 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|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최근 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B01D005-5ABD-4C06-9CF3-ED0531F5D442}"/>
              </a:ext>
            </a:extLst>
          </p:cNvPr>
          <p:cNvSpPr/>
          <p:nvPr/>
        </p:nvSpPr>
        <p:spPr>
          <a:xfrm>
            <a:off x="878305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AA663A-877B-43EA-A627-E98A52E6A245}"/>
              </a:ext>
            </a:extLst>
          </p:cNvPr>
          <p:cNvSpPr txBox="1"/>
          <p:nvPr/>
        </p:nvSpPr>
        <p:spPr>
          <a:xfrm>
            <a:off x="1279425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동영상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ADECD2E-8868-43C7-BBFE-F4B2D0052B72}"/>
              </a:ext>
            </a:extLst>
          </p:cNvPr>
          <p:cNvSpPr/>
          <p:nvPr/>
        </p:nvSpPr>
        <p:spPr>
          <a:xfrm>
            <a:off x="2082755" y="5839077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CC872D-4934-43C9-ADBB-30B8DB8DE183}"/>
              </a:ext>
            </a:extLst>
          </p:cNvPr>
          <p:cNvSpPr txBox="1"/>
          <p:nvPr/>
        </p:nvSpPr>
        <p:spPr>
          <a:xfrm>
            <a:off x="2483875" y="5826773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OPS</a:t>
            </a:r>
            <a:endParaRPr lang="ko-KR" altLang="en-US" sz="12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5070BF3-A58E-4C37-BB7E-D24756CDDA25}"/>
              </a:ext>
            </a:extLst>
          </p:cNvPr>
          <p:cNvSpPr/>
          <p:nvPr/>
        </p:nvSpPr>
        <p:spPr>
          <a:xfrm>
            <a:off x="3353039" y="583531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971BC7-6A1B-4105-91AF-18413B350D6A}"/>
              </a:ext>
            </a:extLst>
          </p:cNvPr>
          <p:cNvSpPr txBox="1"/>
          <p:nvPr/>
        </p:nvSpPr>
        <p:spPr>
          <a:xfrm>
            <a:off x="3754159" y="582301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교재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20973F0-4017-4C39-A468-05EB7BC3F9EC}"/>
              </a:ext>
            </a:extLst>
          </p:cNvPr>
          <p:cNvSpPr/>
          <p:nvPr/>
        </p:nvSpPr>
        <p:spPr>
          <a:xfrm>
            <a:off x="462332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AA0779-66BE-48C3-9E8D-13908399725C}"/>
              </a:ext>
            </a:extLst>
          </p:cNvPr>
          <p:cNvSpPr txBox="1"/>
          <p:nvPr/>
        </p:nvSpPr>
        <p:spPr>
          <a:xfrm>
            <a:off x="502444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PPT</a:t>
            </a:r>
            <a:endParaRPr lang="ko-KR" altLang="en-US" sz="1200" dirty="0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D9CACA8-9093-4DC6-ABA6-A4B7F7568171}"/>
              </a:ext>
            </a:extLst>
          </p:cNvPr>
          <p:cNvSpPr/>
          <p:nvPr/>
        </p:nvSpPr>
        <p:spPr>
          <a:xfrm>
            <a:off x="5827773" y="5834136"/>
            <a:ext cx="324853" cy="2646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6EDFEC-90EE-41A1-95CB-D5875D808C19}"/>
              </a:ext>
            </a:extLst>
          </p:cNvPr>
          <p:cNvSpPr txBox="1"/>
          <p:nvPr/>
        </p:nvSpPr>
        <p:spPr>
          <a:xfrm>
            <a:off x="6228893" y="5821832"/>
            <a:ext cx="6709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Google Shape;17;p1"/>
          <p:cNvGraphicFramePr/>
          <p:nvPr>
            <p:extLst>
              <p:ext uri="{D42A27DB-BD31-4B8C-83A1-F6EECF244321}">
                <p14:modId xmlns:p14="http://schemas.microsoft.com/office/powerpoint/2010/main" val="3461835026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안전교육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" name="Google Shape;18;p1"/>
          <p:cNvGraphicFramePr/>
          <p:nvPr>
            <p:extLst>
              <p:ext uri="{D42A27DB-BD31-4B8C-83A1-F6EECF244321}">
                <p14:modId xmlns:p14="http://schemas.microsoft.com/office/powerpoint/2010/main" val="1035329533"/>
              </p:ext>
            </p:extLst>
          </p:nvPr>
        </p:nvGraphicFramePr>
        <p:xfrm>
          <a:off x="8603672" y="1180080"/>
          <a:ext cx="3588325" cy="6696285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5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5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5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안전교육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기반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목록리스트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교육자료 제목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최소 </a:t>
                      </a:r>
                      <a:r>
                        <a:rPr lang="en-US" altLang="ko-KR" sz="1100" dirty="0"/>
                        <a:t>5-6</a:t>
                      </a:r>
                      <a:r>
                        <a:rPr lang="ko-KR" altLang="en-US" sz="1100" dirty="0"/>
                        <a:t>개</a:t>
                      </a:r>
                      <a:r>
                        <a:rPr lang="en-US" altLang="ko-KR" sz="1100" dirty="0"/>
                        <a:t>,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-&gt; </a:t>
                      </a:r>
                      <a:r>
                        <a:rPr lang="ko-KR" altLang="en-US" sz="1100" dirty="0"/>
                        <a:t>키워드 항목 사용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내용요약</a:t>
                      </a:r>
                      <a:r>
                        <a:rPr lang="en-US" altLang="ko-KR" sz="1100" dirty="0"/>
                        <a:t>: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크롤링</a:t>
                      </a:r>
                      <a:r>
                        <a:rPr lang="ko-KR" altLang="en-US" sz="1100" dirty="0"/>
                        <a:t> 내용에 따라 추가 및 제거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 err="1"/>
                        <a:t>섬네일</a:t>
                      </a:r>
                      <a:r>
                        <a:rPr lang="ko-KR" altLang="en-US" sz="1100" dirty="0"/>
                        <a:t> 이미지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556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2352138A-2D9A-0034-8B74-04C1B8B490FA}"/>
              </a:ext>
            </a:extLst>
          </p:cNvPr>
          <p:cNvGrpSpPr/>
          <p:nvPr/>
        </p:nvGrpSpPr>
        <p:grpSpPr>
          <a:xfrm>
            <a:off x="502043" y="2862450"/>
            <a:ext cx="7404379" cy="332170"/>
            <a:chOff x="-255" y="4486803"/>
            <a:chExt cx="8603799" cy="481117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AFBDAC9-397E-B61D-18B0-EE4308A5BAD3}"/>
                </a:ext>
              </a:extLst>
            </p:cNvPr>
            <p:cNvSpPr/>
            <p:nvPr/>
          </p:nvSpPr>
          <p:spPr>
            <a:xfrm>
              <a:off x="-127" y="4486803"/>
              <a:ext cx="8603671" cy="48111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검색</a:t>
              </a:r>
            </a:p>
          </p:txBody>
        </p:sp>
        <p:pic>
          <p:nvPicPr>
            <p:cNvPr id="38" name="그래픽 37" descr="돋보기 단색으로 채워진">
              <a:extLst>
                <a:ext uri="{FF2B5EF4-FFF2-40B4-BE49-F238E27FC236}">
                  <a16:creationId xmlns:a16="http://schemas.microsoft.com/office/drawing/2014/main" id="{68AFFAE0-9DCE-2D1F-C899-C28D2D0FF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173119" y="4548552"/>
              <a:ext cx="326366" cy="326366"/>
            </a:xfrm>
            <a:prstGeom prst="rect">
              <a:avLst/>
            </a:prstGeom>
          </p:spPr>
        </p:pic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2CE310EE-9931-251E-2AF7-772794151427}"/>
                </a:ext>
              </a:extLst>
            </p:cNvPr>
            <p:cNvSpPr/>
            <p:nvPr/>
          </p:nvSpPr>
          <p:spPr>
            <a:xfrm>
              <a:off x="-255" y="4497116"/>
              <a:ext cx="1123951" cy="47080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필터</a:t>
              </a:r>
            </a:p>
          </p:txBody>
        </p:sp>
      </p:grp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502153" y="2200514"/>
            <a:ext cx="7404269" cy="66180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체크박스</a:t>
            </a:r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34403" y="3429001"/>
            <a:ext cx="1660728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6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16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/>
        </p:nvGraphicFramePr>
        <p:xfrm>
          <a:off x="494817" y="4051894"/>
          <a:ext cx="7404270" cy="2437102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399214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5698585"/>
                  </a:ext>
                </a:extLst>
              </a:tr>
              <a:tr h="10901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 교육자료 제목</a:t>
                      </a:r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썸네일 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이미지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94773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교육자료 제목</a:t>
                      </a:r>
                      <a:endParaRPr lang="en-US" altLang="ko-KR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썸네일</a:t>
                      </a:r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이미지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77482" y="4773097"/>
            <a:ext cx="4041648" cy="530600"/>
            <a:chOff x="577482" y="4773097"/>
            <a:chExt cx="4041648" cy="53060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48929" y="5876592"/>
            <a:ext cx="4041648" cy="530600"/>
            <a:chOff x="577482" y="4773097"/>
            <a:chExt cx="4041648" cy="53060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7482" y="4773097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77482" y="5042087"/>
              <a:ext cx="40416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요약 </a:t>
              </a:r>
              <a:r>
                <a:rPr lang="en-US" altLang="ko-KR" sz="1100" dirty="0"/>
                <a:t>(</a:t>
              </a:r>
              <a:r>
                <a:rPr lang="ko-KR" altLang="en-US" sz="1100" dirty="0"/>
                <a:t>옵션</a:t>
              </a:r>
              <a:r>
                <a:rPr lang="en-US" altLang="ko-KR" sz="1100" dirty="0"/>
                <a:t>)</a:t>
              </a:r>
              <a:endParaRPr lang="ko-KR" altLang="en-US" sz="1100" dirty="0"/>
            </a:p>
          </p:txBody>
        </p:sp>
      </p:grp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19378" y="40188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2104564" y="487596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74852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567667"/>
              </p:ext>
            </p:extLst>
          </p:nvPr>
        </p:nvGraphicFramePr>
        <p:xfrm>
          <a:off x="8603672" y="1180080"/>
          <a:ext cx="3588327" cy="75464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안전교육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교육상세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키워드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키워드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OPS/PPT/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교재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내용요약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관련자료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이런콘텐츠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어떠세요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항목의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섬네일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링크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807522" y="246522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교육 상세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048116" y="3002942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chemeClr val="tx1"/>
                </a:solidFill>
              </a:rPr>
              <a:t>교육 상세 </a:t>
            </a:r>
            <a:r>
              <a:rPr lang="en-US" altLang="ko-KR" dirty="0">
                <a:solidFill>
                  <a:schemeClr val="tx1"/>
                </a:solidFill>
              </a:rPr>
              <a:t>content	  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82787" y="300294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344168" y="3429000"/>
            <a:ext cx="1615045" cy="194767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이미지</a:t>
            </a:r>
          </a:p>
        </p:txBody>
      </p:sp>
    </p:spTree>
    <p:extLst>
      <p:ext uri="{BB962C8B-B14F-4D97-AF65-F5344CB8AC3E}">
        <p14:creationId xmlns:p14="http://schemas.microsoft.com/office/powerpoint/2010/main" val="11666001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858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58250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7002095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산재위치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또는 기타 아이디어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를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리스트형태로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2D67E2E-266C-446F-BA8E-6C00531C6B3F}"/>
              </a:ext>
            </a:extLst>
          </p:cNvPr>
          <p:cNvSpPr/>
          <p:nvPr/>
        </p:nvSpPr>
        <p:spPr>
          <a:xfrm>
            <a:off x="4319240" y="2699975"/>
            <a:ext cx="1419678" cy="183392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3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4</a:t>
            </a: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산재 </a:t>
            </a:r>
            <a:r>
              <a:rPr lang="en-US" altLang="ko-KR" dirty="0">
                <a:solidFill>
                  <a:schemeClr val="tx1"/>
                </a:solidFill>
              </a:rPr>
              <a:t>5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1791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3955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83426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0247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47850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1202691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기본정보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2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리뷰리스트로 바뀜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79910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75A896-0081-4CF6-923D-3DE999C21D2F}"/>
              </a:ext>
            </a:extLst>
          </p:cNvPr>
          <p:cNvSpPr/>
          <p:nvPr/>
        </p:nvSpPr>
        <p:spPr>
          <a:xfrm>
            <a:off x="4149234" y="290844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59381" y="441863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027129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149346"/>
              </p:ext>
            </p:extLst>
          </p:nvPr>
        </p:nvGraphicFramePr>
        <p:xfrm>
          <a:off x="8603672" y="1180080"/>
          <a:ext cx="3588327" cy="65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 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click&gt;&gt;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의료기관의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기본정보로 변경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버튼을 누르면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팝업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모달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화면에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D746EB-4A1B-C8C0-F101-2378BA96ABC2}"/>
              </a:ext>
            </a:extLst>
          </p:cNvPr>
          <p:cNvSpPr/>
          <p:nvPr/>
        </p:nvSpPr>
        <p:spPr>
          <a:xfrm>
            <a:off x="423186" y="383009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095EC09-4986-6F25-74F7-5EDEB9B69288}"/>
              </a:ext>
            </a:extLst>
          </p:cNvPr>
          <p:cNvSpPr/>
          <p:nvPr/>
        </p:nvSpPr>
        <p:spPr>
          <a:xfrm>
            <a:off x="423186" y="437838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4037436-F1F6-B019-DC88-D5BEE9087032}"/>
              </a:ext>
            </a:extLst>
          </p:cNvPr>
          <p:cNvSpPr/>
          <p:nvPr/>
        </p:nvSpPr>
        <p:spPr>
          <a:xfrm>
            <a:off x="423186" y="49264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97C161B-0470-FE71-9C11-5B133E7142E2}"/>
              </a:ext>
            </a:extLst>
          </p:cNvPr>
          <p:cNvSpPr/>
          <p:nvPr/>
        </p:nvSpPr>
        <p:spPr>
          <a:xfrm>
            <a:off x="423186" y="3424472"/>
            <a:ext cx="7921373" cy="40583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의료기관에 대한 </a:t>
            </a:r>
            <a:r>
              <a:rPr lang="ko-KR" altLang="en-US" sz="18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리뷰 목록</a:t>
            </a:r>
            <a:r>
              <a:rPr lang="en-US" altLang="ko-KR" sz="1100" b="1" dirty="0">
                <a:solidFill>
                  <a:schemeClr val="tx1"/>
                </a:solidFill>
              </a:rPr>
              <a:t>	</a:t>
            </a:r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291392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FA6D8E5-BDB5-4033-AE25-414795BD97A3}"/>
              </a:ext>
            </a:extLst>
          </p:cNvPr>
          <p:cNvSpPr/>
          <p:nvPr/>
        </p:nvSpPr>
        <p:spPr>
          <a:xfrm>
            <a:off x="300808" y="366912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2C6E47C-377F-48C3-975E-9EF52302EBB0}"/>
              </a:ext>
            </a:extLst>
          </p:cNvPr>
          <p:cNvSpPr/>
          <p:nvPr/>
        </p:nvSpPr>
        <p:spPr>
          <a:xfrm>
            <a:off x="6324599" y="4521200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수정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476EBE1-9DBD-4248-8335-C0EBD51912D0}"/>
              </a:ext>
            </a:extLst>
          </p:cNvPr>
          <p:cNvSpPr/>
          <p:nvPr/>
        </p:nvSpPr>
        <p:spPr>
          <a:xfrm>
            <a:off x="6910239" y="4520669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1B5266-C006-4C75-827C-BCD9ABB33668}"/>
              </a:ext>
            </a:extLst>
          </p:cNvPr>
          <p:cNvSpPr/>
          <p:nvPr/>
        </p:nvSpPr>
        <p:spPr>
          <a:xfrm>
            <a:off x="3455801" y="5801710"/>
            <a:ext cx="1702676" cy="30269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리뷰 작성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E010DCA-4238-472C-B4A3-D7C96B9464A2}"/>
              </a:ext>
            </a:extLst>
          </p:cNvPr>
          <p:cNvSpPr/>
          <p:nvPr/>
        </p:nvSpPr>
        <p:spPr>
          <a:xfrm>
            <a:off x="3315566" y="563914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💬상세 리뷰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342302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329291"/>
              </p:ext>
            </p:extLst>
          </p:nvPr>
        </p:nvGraphicFramePr>
        <p:xfrm>
          <a:off x="8603672" y="1180080"/>
          <a:ext cx="3588327" cy="6372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등록하기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후 리뷰 등록하기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로그인한 사용자 아이디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datetime auto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229238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등록하기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438572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7877545-EBBA-4883-BB42-B279F1986281}"/>
              </a:ext>
            </a:extLst>
          </p:cNvPr>
          <p:cNvSpPr/>
          <p:nvPr/>
        </p:nvSpPr>
        <p:spPr>
          <a:xfrm>
            <a:off x="2168119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009185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4141"/>
            <a:ext cx="7921373" cy="29767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>
                <a:solidFill>
                  <a:schemeClr val="tx1"/>
                </a:solidFill>
              </a:rPr>
              <a:t>        </a:t>
            </a:r>
            <a:r>
              <a:rPr lang="ko-KR" altLang="en-US" sz="1200" dirty="0">
                <a:solidFill>
                  <a:schemeClr val="tx1"/>
                </a:solidFill>
              </a:rPr>
              <a:t>💬리뷰 수정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034076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366119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수정 후 수정하기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&gt;&gt; 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목록으로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작성 페이지로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목록 페이지로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 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1891519" y="2228727"/>
            <a:ext cx="831133" cy="1966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3827775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5167C2DE-7E51-8D1D-D885-98D9C84DC3DD}"/>
              </a:ext>
            </a:extLst>
          </p:cNvPr>
          <p:cNvSpPr/>
          <p:nvPr/>
        </p:nvSpPr>
        <p:spPr>
          <a:xfrm>
            <a:off x="4253500" y="3094843"/>
            <a:ext cx="4091060" cy="329629"/>
          </a:xfrm>
          <a:prstGeom prst="round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리뷰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35116B8-4465-20AF-7ACF-2ECCD5D55C96}"/>
              </a:ext>
            </a:extLst>
          </p:cNvPr>
          <p:cNvSpPr/>
          <p:nvPr/>
        </p:nvSpPr>
        <p:spPr>
          <a:xfrm>
            <a:off x="1448717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수정하기  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181CF9F-D032-C8F4-FFA4-E474C2406EDA}"/>
              </a:ext>
            </a:extLst>
          </p:cNvPr>
          <p:cNvSpPr/>
          <p:nvPr/>
        </p:nvSpPr>
        <p:spPr>
          <a:xfrm>
            <a:off x="5537692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목록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F95FC08-9414-0F4D-9524-F55D456350FE}"/>
              </a:ext>
            </a:extLst>
          </p:cNvPr>
          <p:cNvSpPr/>
          <p:nvPr/>
        </p:nvSpPr>
        <p:spPr>
          <a:xfrm>
            <a:off x="802888" y="3900740"/>
            <a:ext cx="7103327" cy="177124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3E711A8-6157-2D66-1DD0-30268D38BD11}"/>
              </a:ext>
            </a:extLst>
          </p:cNvPr>
          <p:cNvSpPr/>
          <p:nvPr/>
        </p:nvSpPr>
        <p:spPr>
          <a:xfrm>
            <a:off x="3485958" y="5851286"/>
            <a:ext cx="178178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리뷰 작성하기   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548701C-5E3D-4C19-83A5-6042778997C1}"/>
              </a:ext>
            </a:extLst>
          </p:cNvPr>
          <p:cNvSpPr/>
          <p:nvPr/>
        </p:nvSpPr>
        <p:spPr>
          <a:xfrm>
            <a:off x="1337112" y="5654716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186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</TotalTime>
  <Words>3453</Words>
  <Application>Microsoft Office PowerPoint</Application>
  <PresentationFormat>와이드스크린</PresentationFormat>
  <Paragraphs>1273</Paragraphs>
  <Slides>43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48" baseType="lpstr">
      <vt:lpstr>ui-sans-serif</vt:lpstr>
      <vt:lpstr>Malgun Gothic</vt:lpstr>
      <vt:lpstr>Malgun Gothic</vt:lpstr>
      <vt:lpstr>Arial</vt:lpstr>
      <vt:lpstr>Office 테마</vt:lpstr>
      <vt:lpstr>스토리보드 산재통계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마이 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안전교육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70</cp:revision>
  <dcterms:created xsi:type="dcterms:W3CDTF">2025-11-24T01:38:34Z</dcterms:created>
  <dcterms:modified xsi:type="dcterms:W3CDTF">2025-11-25T14:01:31Z</dcterms:modified>
</cp:coreProperties>
</file>