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6002000" cy="11315700"/>
  <p:notesSz cx="6858000" cy="9144000"/>
  <p:embeddedFontLst>
    <p:embeddedFont>
      <p:font typeface="Gmarket Sans Bold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8A8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914400"/>
            <a:ext cx="14732000" cy="9486900"/>
          </a:xfrm>
          <a:prstGeom prst="rect">
            <a:avLst/>
          </a:prstGeom>
          <a:effectLst>
            <a:outerShdw dir="5580000" dist="145879" blurRad="284464">
              <a:srgbClr val="10245B">
                <a:alpha val="22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3009900" y="4711700"/>
            <a:ext cx="9982200" cy="18923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ctr" lvl="0">
              <a:lnSpc>
                <a:spcPct val="91299"/>
              </a:lnSpc>
            </a:pPr>
            <a:r>
              <a:rPr lang="ko-KR" sz="10666" b="false" i="false" u="none" strike="noStrike" spc="-426">
                <a:solidFill>
                  <a:srgbClr val="10245B"/>
                </a:solidFill>
                <a:ea typeface="Gmarket Sans Bold"/>
              </a:rPr>
              <a:t>스토리</a:t>
            </a:r>
            <a:r>
              <a:rPr lang="en-US" sz="10666" b="false" i="false" u="none" strike="noStrike" spc="-426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10666" b="false" i="false" u="none" strike="noStrike" spc="-426">
                <a:solidFill>
                  <a:srgbClr val="10245B"/>
                </a:solidFill>
                <a:ea typeface="Gmarket Sans Bold"/>
              </a:rPr>
              <a:t>보드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8A8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914400"/>
            <a:ext cx="14732000" cy="9486900"/>
          </a:xfrm>
          <a:prstGeom prst="rect">
            <a:avLst/>
          </a:prstGeom>
          <a:effectLst>
            <a:outerShdw dir="5580000" dist="145879" blurRad="284464">
              <a:srgbClr val="10245B">
                <a:alpha val="2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2819400"/>
            <a:ext cx="13131800" cy="6972300"/>
          </a:xfrm>
          <a:prstGeom prst="rect">
            <a:avLst/>
          </a:prstGeom>
          <a:effectLst>
            <a:outerShdw dir="5580000" dist="107327" blurRad="209287">
              <a:srgbClr val="10245B">
                <a:alpha val="22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1308100" y="1397000"/>
            <a:ext cx="3467100" cy="1422400"/>
          </a:xfrm>
          <a:prstGeom prst="rect">
            <a:avLst/>
          </a:prstGeom>
        </p:spPr>
        <p:txBody>
          <a:bodyPr anchor="t" rtlCol="false" lIns="0" tIns="152400" rIns="0" bIns="0"/>
          <a:lstStyle/>
          <a:p>
            <a:pPr algn="l" lvl="0">
              <a:lnSpc>
                <a:spcPct val="91299"/>
              </a:lnSpc>
            </a:pPr>
            <a:r>
              <a:rPr lang="en" sz="8000" b="false" i="false" u="none" strike="noStrike" spc="-320">
                <a:solidFill>
                  <a:srgbClr val="10245B"/>
                </a:solidFill>
                <a:ea typeface="Gmarket Sans Bold"/>
              </a:rPr>
              <a:t>비회원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3505200"/>
            <a:ext cx="4648200" cy="1320800"/>
          </a:xfrm>
          <a:prstGeom prst="rect">
            <a:avLst/>
          </a:prstGeom>
          <a:effectLst>
            <a:outerShdw dir="5580000" dist="20294" blurRad="39573">
              <a:srgbClr val="10245B">
                <a:alpha val="22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1943100" y="3695700"/>
            <a:ext cx="4660900" cy="9525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발생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현황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3505200"/>
            <a:ext cx="6159500" cy="1320800"/>
          </a:xfrm>
          <a:prstGeom prst="rect">
            <a:avLst/>
          </a:prstGeom>
          <a:effectLst>
            <a:outerShdw dir="5580000" dist="20294" blurRad="39573">
              <a:srgbClr val="10245B">
                <a:alpha val="22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1943100" y="3695700"/>
            <a:ext cx="6134100" cy="12573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지역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현황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순위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4991100"/>
            <a:ext cx="6159500" cy="1320800"/>
          </a:xfrm>
          <a:prstGeom prst="rect">
            <a:avLst/>
          </a:prstGeom>
          <a:effectLst>
            <a:outerShdw dir="5580000" dist="20294" blurRad="39573">
              <a:srgbClr val="10245B">
                <a:alpha val="22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1943100" y="5181600"/>
            <a:ext cx="6134100" cy="12573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업종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현황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순위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6438900"/>
            <a:ext cx="4648200" cy="1320800"/>
          </a:xfrm>
          <a:prstGeom prst="rect">
            <a:avLst/>
          </a:prstGeom>
          <a:effectLst>
            <a:outerShdw dir="5580000" dist="20294" blurRad="39573">
              <a:srgbClr val="10245B">
                <a:alpha val="22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943100" y="6629400"/>
            <a:ext cx="4660900" cy="12573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5333" b="false" i="false" u="none" strike="noStrike" spc="-21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333" b="false" i="false" u="none" strike="noStrike" spc="-213">
                <a:solidFill>
                  <a:srgbClr val="10245B"/>
                </a:solidFill>
                <a:ea typeface="Gmarket Sans Bold"/>
              </a:rPr>
              <a:t>뉴스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41500" y="7886700"/>
            <a:ext cx="4648200" cy="1320800"/>
          </a:xfrm>
          <a:prstGeom prst="rect">
            <a:avLst/>
          </a:prstGeom>
          <a:effectLst>
            <a:outerShdw dir="5580000" dist="20294" blurRad="39573">
              <a:srgbClr val="10245B">
                <a:alpha val="22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1943100" y="8077200"/>
            <a:ext cx="4660900" cy="12573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en" sz="5333" b="false" i="false" u="none" strike="noStrike" spc="-213">
                <a:solidFill>
                  <a:srgbClr val="10245B"/>
                </a:solidFill>
                <a:ea typeface="Gmarket Sans Bold"/>
              </a:rPr>
              <a:t>안전교육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88500" y="3365500"/>
            <a:ext cx="4051300" cy="3073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969500" y="3873500"/>
            <a:ext cx="3581400" cy="9525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1299"/>
              </a:lnSpc>
            </a:pP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지역</a:t>
            </a:r>
            <a:r>
              <a:rPr lang="en-US" sz="4000" b="false" i="false" u="none" strike="noStrike" spc="-16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4000" b="false" i="false" u="none" strike="noStrike" spc="-16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순위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06000" y="4991100"/>
            <a:ext cx="3581400" cy="952500"/>
          </a:xfrm>
          <a:prstGeom prst="rect">
            <a:avLst/>
          </a:prstGeom>
        </p:spPr>
        <p:txBody>
          <a:bodyPr anchor="t" rtlCol="false" lIns="0" tIns="76200" rIns="0" bIns="0"/>
          <a:lstStyle/>
          <a:p>
            <a:pPr algn="l" lvl="0">
              <a:lnSpc>
                <a:spcPct val="91299"/>
              </a:lnSpc>
            </a:pP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엄종</a:t>
            </a:r>
            <a:r>
              <a:rPr lang="en-US" sz="4000" b="false" i="false" u="none" strike="noStrike" spc="-16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4000" b="false" i="false" u="none" strike="noStrike" spc="-16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000" b="false" i="false" u="none" strike="noStrike" spc="-160">
                <a:solidFill>
                  <a:srgbClr val="10245B"/>
                </a:solidFill>
                <a:ea typeface="Gmarket Sans Bold"/>
              </a:rPr>
              <a:t>순위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96500" y="6553200"/>
            <a:ext cx="267970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8A8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914400"/>
            <a:ext cx="14732000" cy="9486900"/>
          </a:xfrm>
          <a:prstGeom prst="rect">
            <a:avLst/>
          </a:prstGeom>
          <a:effectLst>
            <a:outerShdw dir="5580000" dist="145879" blurRad="284464">
              <a:srgbClr val="10245B">
                <a:alpha val="2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2819400"/>
            <a:ext cx="13131800" cy="6972300"/>
          </a:xfrm>
          <a:prstGeom prst="rect">
            <a:avLst/>
          </a:prstGeom>
          <a:effectLst>
            <a:outerShdw dir="5580000" dist="107327" blurRad="209287">
              <a:srgbClr val="10245B">
                <a:alpha val="22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1308100" y="1397000"/>
            <a:ext cx="3467100" cy="1892300"/>
          </a:xfrm>
          <a:prstGeom prst="rect">
            <a:avLst/>
          </a:prstGeom>
        </p:spPr>
        <p:txBody>
          <a:bodyPr anchor="t" rtlCol="false" lIns="0" tIns="152400" rIns="0" bIns="0"/>
          <a:lstStyle/>
          <a:p>
            <a:pPr algn="l" lvl="0">
              <a:lnSpc>
                <a:spcPct val="91299"/>
              </a:lnSpc>
            </a:pPr>
            <a:r>
              <a:rPr lang="en" sz="8000" b="false" i="false" u="none" strike="noStrike" spc="-320">
                <a:solidFill>
                  <a:srgbClr val="10245B"/>
                </a:solidFill>
                <a:ea typeface="Gmarket Sans Bold"/>
              </a:rPr>
              <a:t>회원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35052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1917700" y="3657600"/>
            <a:ext cx="5664200" cy="762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거주지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근처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산재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47117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1917700" y="4864100"/>
            <a:ext cx="56642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직장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근처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산재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59690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1917700" y="6121400"/>
            <a:ext cx="56642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en" sz="4315" b="false" i="false" u="none" strike="noStrike" spc="-173">
                <a:solidFill>
                  <a:srgbClr val="10245B"/>
                </a:solidFill>
                <a:ea typeface="Gmarket Sans Bold"/>
              </a:rPr>
              <a:t>공지사항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72009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917700" y="7353300"/>
            <a:ext cx="56642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뉴스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72009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1917700" y="7353300"/>
            <a:ext cx="56642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4315" b="false" i="false" u="none" strike="noStrike" spc="-173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4315" b="false" i="false" u="none" strike="noStrike" spc="-173">
                <a:solidFill>
                  <a:srgbClr val="10245B"/>
                </a:solidFill>
                <a:ea typeface="Gmarket Sans Bold"/>
              </a:rPr>
              <a:t>뉴스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8369300"/>
            <a:ext cx="5778500" cy="1066800"/>
          </a:xfrm>
          <a:prstGeom prst="rect">
            <a:avLst/>
          </a:prstGeom>
          <a:effectLst>
            <a:outerShdw dir="5580000" dist="16423" blurRad="32024">
              <a:srgbClr val="10245B">
                <a:alpha val="22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1917700" y="8521700"/>
            <a:ext cx="56642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en" sz="4315" b="false" i="false" u="none" strike="noStrike" spc="-173">
                <a:solidFill>
                  <a:srgbClr val="10245B"/>
                </a:solidFill>
                <a:ea typeface="Gmarket Sans Bold"/>
              </a:rPr>
              <a:t>안전교육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07600" y="3454400"/>
            <a:ext cx="2857500" cy="2857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96500" y="6553200"/>
            <a:ext cx="267970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8A8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914400"/>
            <a:ext cx="14732000" cy="9486900"/>
          </a:xfrm>
          <a:prstGeom prst="rect">
            <a:avLst/>
          </a:prstGeom>
          <a:effectLst>
            <a:outerShdw dir="5580000" dist="145879" blurRad="284464">
              <a:srgbClr val="10245B">
                <a:alpha val="2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2819400"/>
            <a:ext cx="13131800" cy="6972300"/>
          </a:xfrm>
          <a:prstGeom prst="rect">
            <a:avLst/>
          </a:prstGeom>
          <a:effectLst>
            <a:outerShdw dir="5580000" dist="107327" blurRad="209287">
              <a:srgbClr val="10245B">
                <a:alpha val="22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1308100" y="1397000"/>
            <a:ext cx="6083300" cy="1422400"/>
          </a:xfrm>
          <a:prstGeom prst="rect">
            <a:avLst/>
          </a:prstGeom>
        </p:spPr>
        <p:txBody>
          <a:bodyPr anchor="t" rtlCol="false" lIns="0" tIns="152400" rIns="0" bIns="0"/>
          <a:lstStyle/>
          <a:p>
            <a:pPr algn="l" lvl="0">
              <a:lnSpc>
                <a:spcPct val="91299"/>
              </a:lnSpc>
            </a:pPr>
            <a:r>
              <a:rPr lang="en" sz="8000" b="false" i="false" u="none" strike="noStrike" spc="-320">
                <a:solidFill>
                  <a:srgbClr val="10245B"/>
                </a:solidFill>
                <a:ea typeface="Gmarket Sans Bold"/>
              </a:rPr>
              <a:t>마이페이지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3505200"/>
            <a:ext cx="7264400" cy="1397000"/>
          </a:xfrm>
          <a:prstGeom prst="rect">
            <a:avLst/>
          </a:prstGeom>
          <a:effectLst>
            <a:outerShdw dir="5580000" dist="21464" blurRad="41854">
              <a:srgbClr val="10245B">
                <a:alpha val="22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2070100" y="3746500"/>
            <a:ext cx="6946900" cy="11938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en" sz="5023" b="false" i="false" u="none" strike="noStrike" spc="-200">
                <a:solidFill>
                  <a:srgbClr val="10245B"/>
                </a:solidFill>
                <a:ea typeface="Gmarket Sans Bold"/>
              </a:rPr>
              <a:t>개인정보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5219700"/>
            <a:ext cx="7264400" cy="1397000"/>
          </a:xfrm>
          <a:prstGeom prst="rect">
            <a:avLst/>
          </a:prstGeom>
          <a:effectLst>
            <a:outerShdw dir="5580000" dist="21464" blurRad="41854">
              <a:srgbClr val="10245B">
                <a:alpha val="22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070100" y="5461000"/>
            <a:ext cx="6946900" cy="11938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산재</a:t>
            </a:r>
            <a:r>
              <a:rPr lang="en-US" sz="5023" b="false" i="false" u="none" strike="noStrike" spc="-20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정보</a:t>
            </a:r>
            <a:r>
              <a:rPr lang="en-US" sz="5023" b="false" i="false" u="none" strike="noStrike" spc="-20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이력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6934200"/>
            <a:ext cx="7264400" cy="1397000"/>
          </a:xfrm>
          <a:prstGeom prst="rect">
            <a:avLst/>
          </a:prstGeom>
          <a:effectLst>
            <a:outerShdw dir="5580000" dist="21464" blurRad="41854">
              <a:srgbClr val="10245B">
                <a:alpha val="22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70100" y="7175500"/>
            <a:ext cx="6946900" cy="11938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1299"/>
              </a:lnSpc>
            </a:pP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방문</a:t>
            </a:r>
            <a:r>
              <a:rPr lang="en-US" sz="5023" b="false" i="false" u="none" strike="noStrike" spc="-20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병원</a:t>
            </a:r>
            <a:r>
              <a:rPr lang="en-US" sz="5023" b="false" i="false" u="none" strike="noStrike" spc="-20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진료</a:t>
            </a:r>
            <a:r>
              <a:rPr lang="en-US" sz="5023" b="false" i="false" u="none" strike="noStrike" spc="-200">
                <a:solidFill>
                  <a:srgbClr val="10245B"/>
                </a:solidFill>
                <a:latin typeface="Gmarket Sans Bold"/>
              </a:rPr>
              <a:t> </a:t>
            </a:r>
            <a:r>
              <a:rPr lang="ko-KR" sz="5023" b="false" i="false" u="none" strike="noStrike" spc="-200">
                <a:solidFill>
                  <a:srgbClr val="10245B"/>
                </a:solidFill>
                <a:ea typeface="Gmarket Sans Bold"/>
              </a:rPr>
              <a:t>기록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0" y="3975100"/>
            <a:ext cx="4521200" cy="392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