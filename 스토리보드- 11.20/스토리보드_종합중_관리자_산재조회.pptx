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311" r:id="rId3"/>
    <p:sldId id="312" r:id="rId4"/>
    <p:sldId id="313" r:id="rId5"/>
    <p:sldId id="262" r:id="rId6"/>
    <p:sldId id="257" r:id="rId7"/>
    <p:sldId id="266" r:id="rId8"/>
    <p:sldId id="261" r:id="rId9"/>
    <p:sldId id="296" r:id="rId10"/>
    <p:sldId id="306" r:id="rId11"/>
    <p:sldId id="307" r:id="rId12"/>
    <p:sldId id="308" r:id="rId13"/>
    <p:sldId id="267" r:id="rId14"/>
    <p:sldId id="268" r:id="rId15"/>
    <p:sldId id="270" r:id="rId16"/>
    <p:sldId id="271" r:id="rId17"/>
    <p:sldId id="273" r:id="rId18"/>
    <p:sldId id="274" r:id="rId19"/>
    <p:sldId id="310" r:id="rId20"/>
    <p:sldId id="285" r:id="rId21"/>
    <p:sldId id="283" r:id="rId22"/>
    <p:sldId id="278" r:id="rId23"/>
    <p:sldId id="282" r:id="rId24"/>
    <p:sldId id="281" r:id="rId25"/>
    <p:sldId id="294" r:id="rId26"/>
    <p:sldId id="295" r:id="rId27"/>
    <p:sldId id="263" r:id="rId28"/>
    <p:sldId id="265" r:id="rId29"/>
    <p:sldId id="258" r:id="rId30"/>
    <p:sldId id="260" r:id="rId31"/>
    <p:sldId id="280" r:id="rId32"/>
    <p:sldId id="291" r:id="rId33"/>
    <p:sldId id="299" r:id="rId34"/>
    <p:sldId id="300" r:id="rId35"/>
    <p:sldId id="301" r:id="rId36"/>
    <p:sldId id="305" r:id="rId37"/>
    <p:sldId id="286" r:id="rId38"/>
    <p:sldId id="292" r:id="rId39"/>
    <p:sldId id="287" r:id="rId40"/>
    <p:sldId id="288" r:id="rId41"/>
    <p:sldId id="290" r:id="rId42"/>
    <p:sldId id="293" r:id="rId43"/>
    <p:sldId id="289" r:id="rId44"/>
    <p:sldId id="302" r:id="rId45"/>
    <p:sldId id="264" r:id="rId46"/>
    <p:sldId id="303" r:id="rId47"/>
    <p:sldId id="304" r:id="rId48"/>
    <p:sldId id="314" r:id="rId49"/>
    <p:sldId id="318" r:id="rId5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9727" autoAdjust="0"/>
  </p:normalViewPr>
  <p:slideViewPr>
    <p:cSldViewPr snapToGrid="0">
      <p:cViewPr varScale="1">
        <p:scale>
          <a:sx n="102" d="100"/>
          <a:sy n="102" d="100"/>
        </p:scale>
        <p:origin x="84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13A-48F6-A7D0-A01141C5F7A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13A-48F6-A7D0-A01141C5F7A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13A-48F6-A7D0-A01141C5F7A7}"/>
              </c:ext>
            </c:extLst>
          </c:dP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판매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3"/>
                      <c:pt idx="0">
                        <c:v>1분기</c:v>
                      </c:pt>
                      <c:pt idx="1">
                        <c:v>2분기</c:v>
                      </c:pt>
                      <c:pt idx="2">
                        <c:v>3분기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0-D4D1-45E9-8358-D3C8FA214E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D3B-4D35-980D-445A6312232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D3B-4D35-980D-445A6312232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D3B-4D35-980D-445A63122326}"/>
              </c:ext>
            </c:extLst>
          </c:dP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판매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3"/>
                      <c:pt idx="0">
                        <c:v>1분기</c:v>
                      </c:pt>
                      <c:pt idx="1">
                        <c:v>2분기</c:v>
                      </c:pt>
                      <c:pt idx="2">
                        <c:v>3분기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6-FD3B-4D35-980D-445A631223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CF6-4F80-B38B-901ACB5E42AE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ECF6-4F80-B38B-901ACB5E42AE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ECF6-4F80-B38B-901ACB5E42AE}"/>
              </c:ext>
            </c:extLst>
          </c:dP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판매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3"/>
                      <c:pt idx="0">
                        <c:v>1분기</c:v>
                      </c:pt>
                      <c:pt idx="1">
                        <c:v>2분기</c:v>
                      </c:pt>
                      <c:pt idx="2">
                        <c:v>3분기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6-ECF6-4F80-B38B-901ACB5E42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68F-481D-B2BD-21EB88DDCAD2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68F-481D-B2BD-21EB88DDCAD2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68F-481D-B2BD-21EB88DDCAD2}"/>
              </c:ext>
            </c:extLst>
          </c:dPt>
          <c:val>
            <c:numRef>
              <c:f>Sheet1!$B$2:$B$4</c:f>
              <c:numCache>
                <c:formatCode>General</c:formatCode>
                <c:ptCount val="3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</c:numCache>
            </c:numRef>
          </c:val>
          <c:extLst>
            <c:ext xmlns:c15="http://schemas.microsoft.com/office/drawing/2012/chart" uri="{02D57815-91ED-43cb-92C2-25804820EDAC}">
              <c15:filteredSeriesTitle>
                <c15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판매</c:v>
                      </c:pt>
                    </c:strCache>
                  </c:strRef>
                </c15:tx>
              </c15:filteredSeriesTitle>
            </c:ext>
            <c:ext xmlns:c15="http://schemas.microsoft.com/office/drawing/2012/chart" uri="{02D57815-91ED-43cb-92C2-25804820EDAC}">
              <c15:filteredCategoryTitle>
                <c15:cat>
                  <c:strRef>
                    <c:extLst>
                      <c:ext uri="{02D57815-91ED-43cb-92C2-25804820EDAC}">
                        <c15:formulaRef>
                          <c15:sqref>Sheet1!$A$2:$A$4</c15:sqref>
                        </c15:formulaRef>
                      </c:ext>
                    </c:extLst>
                    <c:strCache>
                      <c:ptCount val="3"/>
                      <c:pt idx="0">
                        <c:v>1분기</c:v>
                      </c:pt>
                      <c:pt idx="1">
                        <c:v>2분기</c:v>
                      </c:pt>
                      <c:pt idx="2">
                        <c:v>3분기</c:v>
                      </c:pt>
                    </c:strCache>
                  </c:strRef>
                </c15:cat>
              </c15:filteredCategoryTitle>
            </c:ext>
            <c:ext xmlns:c16="http://schemas.microsoft.com/office/drawing/2014/chart" uri="{C3380CC4-5D6E-409C-BE32-E72D297353CC}">
              <c16:uniqueId val="{00000006-968F-481D-B2BD-21EB88DDCA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DFF91-717C-4EE9-9C3F-09298E32B65B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5F57A-A7A3-460B-A3C5-F840737745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1684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4697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Ref : </a:t>
            </a:r>
            <a:r>
              <a:rPr lang="ko-KR" altLang="en-US" dirty="0" err="1"/>
              <a:t>쿠팡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25311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61964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7175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7561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55560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3138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회원가입의 직종이랑 직무코드 겹치는듯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86077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작성자도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5120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구성해야함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F57A-A7A3-460B-A3C5-F840737745D6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8416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75AC-7764-4B49-84EE-E35E15643FBD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464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8F75AC-7764-4B49-84EE-E35E15643FBD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9988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BF445A-7219-45CC-84A4-B8233C141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D0787E-6A0E-409C-A62B-F957BAF99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7D8E41-41F0-481C-99F5-596154A95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276CB26-82DD-439C-BB87-F51F68507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1945926-5937-403E-A2AE-FE6713249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665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1625D9-0240-48A3-A7CA-0606D5C8C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97F432-4EFB-43F5-AF68-14E225192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4D91237-E1E9-4600-A6E8-42178C3DB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899AB1-7EBD-4C38-BE12-194D24CCC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EAC3DF-21B2-4573-A20F-B95EAAD3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47096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05DD34-BA4E-40E9-98F6-2AB80E8A8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D8C4660-982D-47F4-A0B3-16771B27C3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C4C207-2820-4D68-9D04-E2012099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0F5A2B-A048-4326-BEF5-242045A0B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48D398-7098-4CFE-9D22-49F7B3E06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14837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BF731-5355-4438-BD17-672D45B79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95C5E3-DD9F-4B06-AECE-1F5252EF77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81A5144-08E6-45BD-AA8D-41AB17786D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7D695DE-FC4E-4257-B793-DC2F38EF7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A7A258-A9AA-4174-959C-247351FCE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4B3C00-EA0F-4F60-9BBF-241E78CCA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138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EF529F-9D2A-4109-9757-113D035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1082E3A-CDE9-4B1F-8640-A46BC239B1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2DF67C-3A67-4E6F-A5E4-1899B27226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0577BB0-77C2-4C76-AED1-C0B993982B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90AB154-6BF4-4A35-9FDF-AF21F5EBBC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2F238E0-2BEA-4676-987B-68244B85D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5183CA9-EC6B-4C18-81E4-FC4451C4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B19213-122D-42CE-B4F6-14891B9D1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1599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EFE33D-C1AF-46D8-A49F-76C76B438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D982B2-76A3-42A2-9F50-C1F86E67C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A4D668-2E63-4DD9-89E2-23D3FE890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8BAF317-C885-4E56-B3F0-2A2C9129B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2959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BCDB548-2A8A-40EB-9E2B-0644EE1FD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31AE109-0C75-4FEF-9458-31FFC3ABD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2E2398-DB24-4A57-87AC-A32EE0B480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56451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38F58C-33AE-4103-AFB3-FCEA17693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6163BB-E27E-4D3F-82AC-32D36E4404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3254FE4-AC80-4DBE-8CAA-616CE0443B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141C060-26C8-4C7E-AAE9-F10FA1DE6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6E2991-7DA1-4C3B-A0FB-2E27B1600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4244C9F-4EF2-4DC5-BDFE-17709090A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1928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3CC52D-D665-431E-AD2C-0C2CB8E63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52C73F-8A07-42CB-97F4-66319120BE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A23B3A-7732-4482-8ECD-529F4DA841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745679A-CA04-4763-BE4D-E37165CEF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639F77-E6AC-48D6-9978-3AAFFD6AE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975227-D572-4A83-A1ED-431B03A77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2653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2F6F2B-7D20-4404-9BDD-760D7CF88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4D7786-F7BF-42A8-8D4D-1D56AAD72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BDB759-CD4E-453B-9386-F37291A3C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76A4BF-EE32-48F1-A719-000BE833C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9AE2E0-A4C5-4C8F-A46A-7DB631ACD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82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11215E3-378D-44B3-920A-B6B27215C9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C2455D7-2D57-4438-ACCB-5993631B49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C26065-1FB2-4F8E-BC2D-9748CD9C9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72751E-9414-499F-B378-9980F5D6B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FCD185-1063-4156-B350-8B413C1A7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397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4C7BF92-72DE-4B94-9A1F-5A41D99CA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6164FA9-4957-4742-AE2F-2B941972A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12D05E-6D5B-4D2C-983D-164ED01796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232CE4-7861-4DD6-A53E-3B4D74DDF883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70BE70-DC93-4C0C-BED1-8C57C6BBDE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03A512-BC1F-4D8D-B14C-40B253D4A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5BA529-1B80-42DD-B23C-66CD6999B28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5003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postcode.map.daum.net/guid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portal.kosha.or.kr/archive/cent-archive/indust-arch/indust-page1" TargetMode="External"/><Relationship Id="rId2" Type="http://schemas.openxmlformats.org/officeDocument/2006/relationships/hyperlink" Target="http://sanjaenews.co.kr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omwel.or.kr/comwel/medi/orsc.jsp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image" Target="../media/image3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comwel.or.kr/comwel/medi/orsc.jsp" TargetMode="Externa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17F733-D0AF-4E22-9ACD-628454BDF3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074572"/>
          </a:xfrm>
        </p:spPr>
        <p:txBody>
          <a:bodyPr/>
          <a:lstStyle/>
          <a:p>
            <a:r>
              <a:rPr lang="ko-KR" altLang="en-US" dirty="0"/>
              <a:t>스토리보드 산재통계</a:t>
            </a:r>
          </a:p>
        </p:txBody>
      </p:sp>
    </p:spTree>
    <p:extLst>
      <p:ext uri="{BB962C8B-B14F-4D97-AF65-F5344CB8AC3E}">
        <p14:creationId xmlns:p14="http://schemas.microsoft.com/office/powerpoint/2010/main" val="10219289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BA063F-D905-4937-8ABC-3A50C4DF7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6E11D5-FA4D-468B-9D94-5167DC122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/>
              <a:t>API</a:t>
            </a:r>
          </a:p>
          <a:p>
            <a:r>
              <a:rPr lang="ko-KR" altLang="en-US" dirty="0" err="1"/>
              <a:t>크롤링</a:t>
            </a:r>
            <a:endParaRPr lang="en-US" altLang="ko-KR" dirty="0"/>
          </a:p>
          <a:p>
            <a:r>
              <a:rPr lang="ko-KR" altLang="en-US" dirty="0"/>
              <a:t>헤더</a:t>
            </a:r>
            <a:r>
              <a:rPr lang="en-US" altLang="ko-KR" dirty="0"/>
              <a:t>, </a:t>
            </a:r>
            <a:r>
              <a:rPr lang="ko-KR" altLang="en-US" dirty="0"/>
              <a:t>메인</a:t>
            </a:r>
            <a:endParaRPr lang="en-US" altLang="ko-KR" dirty="0"/>
          </a:p>
          <a:p>
            <a:r>
              <a:rPr lang="ko-KR" altLang="en-US" dirty="0"/>
              <a:t>소개</a:t>
            </a:r>
            <a:endParaRPr lang="en-US" altLang="ko-KR" dirty="0"/>
          </a:p>
          <a:p>
            <a:r>
              <a:rPr lang="ko-KR" altLang="en-US" dirty="0"/>
              <a:t>회원가입</a:t>
            </a:r>
            <a:endParaRPr lang="en-US" altLang="ko-KR" dirty="0"/>
          </a:p>
          <a:p>
            <a:r>
              <a:rPr lang="ko-KR" altLang="en-US" dirty="0"/>
              <a:t>마이페이지</a:t>
            </a:r>
            <a:endParaRPr lang="en-US" altLang="ko-KR" dirty="0"/>
          </a:p>
          <a:p>
            <a:r>
              <a:rPr lang="ko-KR" altLang="en-US" dirty="0"/>
              <a:t>산재 뉴스</a:t>
            </a:r>
            <a:endParaRPr lang="en-US" altLang="ko-KR" dirty="0"/>
          </a:p>
          <a:p>
            <a:r>
              <a:rPr lang="ko-KR" altLang="en-US" dirty="0"/>
              <a:t>산재 통계</a:t>
            </a:r>
            <a:endParaRPr lang="en-US" altLang="ko-KR" dirty="0"/>
          </a:p>
          <a:p>
            <a:r>
              <a:rPr lang="ko-KR" altLang="en-US" dirty="0"/>
              <a:t>안전 자료실</a:t>
            </a:r>
            <a:endParaRPr lang="en-US" altLang="ko-KR" dirty="0"/>
          </a:p>
          <a:p>
            <a:r>
              <a:rPr lang="ko-KR" altLang="en-US" dirty="0"/>
              <a:t>주변 산재 검색</a:t>
            </a:r>
            <a:endParaRPr lang="en-US" altLang="ko-KR" dirty="0"/>
          </a:p>
          <a:p>
            <a:r>
              <a:rPr lang="ko-KR" altLang="en-US" dirty="0"/>
              <a:t>주변 병원 검색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2450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22BFFE-C749-4DA6-89A4-9465C7BADC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API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BEACF3-F952-44E5-A6E6-8E02014F2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sz="1800" dirty="0" err="1"/>
              <a:t>Daum</a:t>
            </a:r>
            <a:r>
              <a:rPr lang="en-US" altLang="ko-KR" sz="1800" dirty="0"/>
              <a:t> </a:t>
            </a:r>
            <a:r>
              <a:rPr lang="ko-KR" altLang="en-US" sz="1800" dirty="0"/>
              <a:t>주소 </a:t>
            </a:r>
            <a:r>
              <a:rPr lang="en-US" altLang="ko-KR" sz="1800" dirty="0"/>
              <a:t>API</a:t>
            </a:r>
          </a:p>
          <a:p>
            <a:pPr marL="0" indent="0">
              <a:buNone/>
            </a:pPr>
            <a:r>
              <a:rPr lang="en-US" altLang="ko-KR" sz="1800" dirty="0"/>
              <a:t> - </a:t>
            </a:r>
            <a:r>
              <a:rPr lang="en-US" altLang="ko-KR" sz="1800" dirty="0">
                <a:hlinkClick r:id="rId2"/>
              </a:rPr>
              <a:t>https://postcode.map.daum.net/guide</a:t>
            </a:r>
            <a:endParaRPr lang="en-US" altLang="ko-KR" sz="1800" dirty="0"/>
          </a:p>
          <a:p>
            <a:pPr marL="0" indent="0">
              <a:buNone/>
            </a:pPr>
            <a:endParaRPr lang="en-US" altLang="ko-KR" sz="1800" dirty="0"/>
          </a:p>
          <a:p>
            <a:r>
              <a:rPr lang="en-US" altLang="ko-KR" sz="1800" dirty="0" err="1"/>
              <a:t>KakaoMap</a:t>
            </a:r>
            <a:r>
              <a:rPr lang="en-US" altLang="ko-KR" sz="1800" dirty="0"/>
              <a:t> API</a:t>
            </a:r>
          </a:p>
          <a:p>
            <a:pPr marL="0" indent="0">
              <a:buNone/>
            </a:pPr>
            <a:r>
              <a:rPr lang="en-US" altLang="ko-KR" sz="1800" dirty="0"/>
              <a:t> - </a:t>
            </a:r>
            <a:r>
              <a:rPr lang="en-US" altLang="ko-KR" sz="1200" b="0" dirty="0">
                <a:solidFill>
                  <a:srgbClr val="A5D6FF"/>
                </a:solidFill>
                <a:effectLst/>
                <a:latin typeface="Consolas" panose="020B0609020204030204" pitchFamily="49" charset="0"/>
              </a:rPr>
              <a:t>https://dapi.kakao.com/v2/local/search/address.json</a:t>
            </a:r>
            <a:endParaRPr lang="en-US" altLang="ko-KR" sz="1800" dirty="0"/>
          </a:p>
          <a:p>
            <a:endParaRPr lang="en-US" altLang="ko-KR" sz="1800" dirty="0"/>
          </a:p>
          <a:p>
            <a:r>
              <a:rPr lang="ko-KR" altLang="en-US" sz="1800" dirty="0" err="1"/>
              <a:t>산업재해수</a:t>
            </a:r>
            <a:r>
              <a:rPr lang="ko-KR" altLang="en-US" sz="1800" dirty="0"/>
              <a:t> </a:t>
            </a:r>
            <a:r>
              <a:rPr lang="en-US" altLang="ko-KR" sz="1800" dirty="0"/>
              <a:t>API</a:t>
            </a:r>
          </a:p>
          <a:p>
            <a:pPr marL="0" indent="0">
              <a:buNone/>
            </a:pPr>
            <a:r>
              <a:rPr lang="en-US" altLang="ko-KR" sz="1800" dirty="0"/>
              <a:t> - https://safemap.go.kr/opna/data/dataView.do?objtId=178</a:t>
            </a:r>
          </a:p>
          <a:p>
            <a:endParaRPr lang="en-US" altLang="ko-KR" sz="1800" dirty="0"/>
          </a:p>
          <a:p>
            <a:r>
              <a:rPr lang="en-US" altLang="ko-KR" sz="1800" dirty="0" err="1"/>
              <a:t>Kosis</a:t>
            </a:r>
            <a:r>
              <a:rPr lang="en-US" altLang="ko-KR" sz="1800" dirty="0"/>
              <a:t> API(</a:t>
            </a:r>
            <a:r>
              <a:rPr lang="ko-KR" altLang="en-US" sz="1800" dirty="0"/>
              <a:t>고용노동통계</a:t>
            </a:r>
            <a:r>
              <a:rPr lang="en-US" altLang="ko-KR" sz="1800" dirty="0"/>
              <a:t>)</a:t>
            </a:r>
          </a:p>
          <a:p>
            <a:pPr marL="0" indent="0">
              <a:buNone/>
            </a:pPr>
            <a:r>
              <a:rPr lang="en-US" altLang="ko-KR" sz="1800" dirty="0"/>
              <a:t> - </a:t>
            </a:r>
            <a:r>
              <a:rPr lang="en-US" altLang="ko-KR" sz="1200" dirty="0"/>
              <a:t>ttps://laborstat.moel.go.kr/hmp/tblInfo/TblInfoList.do?menuId=0010001100101102&amp;leftMenuId=0010001100101&amp;vwCdVal=MT_PTITLE&amp;upListVal=118_905</a:t>
            </a:r>
          </a:p>
          <a:p>
            <a:endParaRPr lang="en-US" altLang="ko-KR" sz="1800" dirty="0"/>
          </a:p>
          <a:p>
            <a:r>
              <a:rPr lang="ko-KR" altLang="en-US" sz="1800" dirty="0"/>
              <a:t>산재지정병원 </a:t>
            </a:r>
            <a:r>
              <a:rPr lang="en-US" altLang="ko-KR" sz="1800" dirty="0"/>
              <a:t>API</a:t>
            </a:r>
          </a:p>
          <a:p>
            <a:pPr marL="0" indent="0">
              <a:buNone/>
            </a:pPr>
            <a:r>
              <a:rPr lang="en-US" altLang="ko-KR" sz="1800" dirty="0"/>
              <a:t> - https://www.safemap.go.kr/</a:t>
            </a:r>
          </a:p>
        </p:txBody>
      </p:sp>
    </p:spTree>
    <p:extLst>
      <p:ext uri="{BB962C8B-B14F-4D97-AF65-F5344CB8AC3E}">
        <p14:creationId xmlns:p14="http://schemas.microsoft.com/office/powerpoint/2010/main" val="3416388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8C647-197F-472C-8D93-CE75798E7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크롤링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D5A2527-23FB-4DE3-B932-CAEAC3F53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산재뉴스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>
                <a:hlinkClick r:id="rId2"/>
              </a:rPr>
              <a:t>http://sanjaenews.co.kr/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 err="1"/>
              <a:t>산업안전포털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>
                <a:hlinkClick r:id="rId3"/>
              </a:rPr>
              <a:t>https://portal.kosha.or.kr/archive/cent-archive/indust-arch/indust-page1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산재지정 의료기관 찾기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- </a:t>
            </a:r>
            <a:r>
              <a:rPr lang="en-US" altLang="ko-KR" dirty="0">
                <a:hlinkClick r:id="rId4"/>
              </a:rPr>
              <a:t>https://www.comwel.or.kr/comwel/medi/orsc.jsp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3921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63FC1E-53BF-41EE-A318-AAEAA378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메인 </a:t>
            </a:r>
            <a:r>
              <a:rPr lang="en-US" altLang="ko-KR" dirty="0"/>
              <a:t>, </a:t>
            </a:r>
            <a:r>
              <a:rPr lang="ko-KR" altLang="en-US" dirty="0"/>
              <a:t>헤더</a:t>
            </a:r>
          </a:p>
        </p:txBody>
      </p:sp>
    </p:spTree>
    <p:extLst>
      <p:ext uri="{BB962C8B-B14F-4D97-AF65-F5344CB8AC3E}">
        <p14:creationId xmlns:p14="http://schemas.microsoft.com/office/powerpoint/2010/main" val="360651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05997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header,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9685321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비로그인시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 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회원가입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회원가입 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864350" y="1432535"/>
            <a:ext cx="16150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로그인 </a:t>
            </a:r>
            <a:r>
              <a:rPr lang="en-US" altLang="ko-KR" sz="1400" dirty="0"/>
              <a:t>| </a:t>
            </a:r>
            <a:r>
              <a:rPr lang="ko-KR" altLang="en-US" sz="1400" dirty="0"/>
              <a:t>회원가입</a:t>
            </a:r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02384"/>
              </p:ext>
            </p:extLst>
          </p:nvPr>
        </p:nvGraphicFramePr>
        <p:xfrm>
          <a:off x="139700" y="2471582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지도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서비스 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807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핵심 기능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비전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목표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950863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864349" y="141210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77521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300421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header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header,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0042645"/>
              </p:ext>
            </p:extLst>
          </p:nvPr>
        </p:nvGraphicFramePr>
        <p:xfrm>
          <a:off x="8603672" y="1180080"/>
          <a:ext cx="3588327" cy="5763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로그인시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사용자의 이름을 사용하여 환영인사 처리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로그아웃 처리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세션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마이 페이지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: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마이페이지 이동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0A710FF-E337-4594-BE0F-E1DC729C6982}"/>
              </a:ext>
            </a:extLst>
          </p:cNvPr>
          <p:cNvSpPr txBox="1"/>
          <p:nvPr/>
        </p:nvSpPr>
        <p:spPr>
          <a:xfrm>
            <a:off x="6905963" y="1442269"/>
            <a:ext cx="161504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로그아웃 </a:t>
            </a:r>
            <a:r>
              <a:rPr lang="en-US" altLang="ko-KR" sz="1100" dirty="0"/>
              <a:t>| </a:t>
            </a:r>
            <a:r>
              <a:rPr lang="ko-KR" altLang="en-US" sz="1100" dirty="0"/>
              <a:t>마이페이지</a:t>
            </a:r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980244"/>
              </p:ext>
            </p:extLst>
          </p:nvPr>
        </p:nvGraphicFramePr>
        <p:xfrm>
          <a:off x="139700" y="2471582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지도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서비스 소개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7807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핵심 기능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67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비전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목표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9950863"/>
                  </a:ext>
                </a:extLst>
              </a:tr>
            </a:tbl>
          </a:graphicData>
        </a:graphic>
      </p:graphicFrame>
      <p:sp>
        <p:nvSpPr>
          <p:cNvPr id="9" name="직사각형 8">
            <a:extLst>
              <a:ext uri="{FF2B5EF4-FFF2-40B4-BE49-F238E27FC236}">
                <a16:creationId xmlns:a16="http://schemas.microsoft.com/office/drawing/2014/main" id="{89BABEEB-D61E-4572-8483-5C33A5C4272A}"/>
              </a:ext>
            </a:extLst>
          </p:cNvPr>
          <p:cNvSpPr/>
          <p:nvPr/>
        </p:nvSpPr>
        <p:spPr>
          <a:xfrm>
            <a:off x="6864349" y="141210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E94E71-EB46-4BAB-802F-72C9E1782DDD}"/>
              </a:ext>
            </a:extLst>
          </p:cNvPr>
          <p:cNvSpPr txBox="1"/>
          <p:nvPr/>
        </p:nvSpPr>
        <p:spPr>
          <a:xfrm>
            <a:off x="4926932" y="1432535"/>
            <a:ext cx="18131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OOO</a:t>
            </a:r>
            <a:r>
              <a:rPr lang="ko-KR" altLang="en-US" sz="1400" dirty="0"/>
              <a:t>님 환영합니다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829595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3683314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홈페이지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7983826"/>
              </p:ext>
            </p:extLst>
          </p:nvPr>
        </p:nvGraphicFramePr>
        <p:xfrm>
          <a:off x="8603672" y="1180080"/>
          <a:ext cx="3588327" cy="5870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연령대별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발생형태별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1,2,3 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순위를 슬라이딩으로 보여준다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이동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범위 내 클릭하면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뉴스 상세 페이지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industrial_accident_news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table </a:t>
                      </a:r>
                      <a:r>
                        <a:rPr lang="ko-KR" alt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</a:t>
                      </a:r>
                      <a:endParaRPr lang="en-US" altLang="ko-KR" sz="11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섬네일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요약글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작성자가 입력된다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뉴스 리스트 페이지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8BDC760-B4AD-444E-B619-2FD56EF41606}"/>
              </a:ext>
            </a:extLst>
          </p:cNvPr>
          <p:cNvSpPr/>
          <p:nvPr/>
        </p:nvSpPr>
        <p:spPr>
          <a:xfrm>
            <a:off x="0" y="1822862"/>
            <a:ext cx="8603671" cy="13240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히어로 이미지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9D3E86-FB28-44C2-B1B5-25949B751E8A}"/>
              </a:ext>
            </a:extLst>
          </p:cNvPr>
          <p:cNvSpPr/>
          <p:nvPr/>
        </p:nvSpPr>
        <p:spPr>
          <a:xfrm>
            <a:off x="-1979" y="3167744"/>
            <a:ext cx="8603671" cy="14933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6B596E8-2383-4511-860C-5CEBAAD20629}"/>
              </a:ext>
            </a:extLst>
          </p:cNvPr>
          <p:cNvSpPr/>
          <p:nvPr/>
        </p:nvSpPr>
        <p:spPr>
          <a:xfrm>
            <a:off x="0" y="4709174"/>
            <a:ext cx="8603671" cy="14867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7255CB5-0DD7-4720-BFC9-E32D0609F82D}"/>
              </a:ext>
            </a:extLst>
          </p:cNvPr>
          <p:cNvSpPr/>
          <p:nvPr/>
        </p:nvSpPr>
        <p:spPr>
          <a:xfrm>
            <a:off x="17813" y="3215853"/>
            <a:ext cx="884712" cy="4755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산재 통계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D96EBBB-0431-4EC2-90A2-14E7BCB512E6}"/>
              </a:ext>
            </a:extLst>
          </p:cNvPr>
          <p:cNvSpPr/>
          <p:nvPr/>
        </p:nvSpPr>
        <p:spPr>
          <a:xfrm>
            <a:off x="17813" y="4716886"/>
            <a:ext cx="878774" cy="4310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산재 뉴스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1233D38-0148-451D-819B-41F95C845542}"/>
              </a:ext>
            </a:extLst>
          </p:cNvPr>
          <p:cNvSpPr/>
          <p:nvPr/>
        </p:nvSpPr>
        <p:spPr>
          <a:xfrm>
            <a:off x="100941" y="5091545"/>
            <a:ext cx="2659824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73CE053-0061-480D-9A03-E0F1027FE364}"/>
              </a:ext>
            </a:extLst>
          </p:cNvPr>
          <p:cNvSpPr/>
          <p:nvPr/>
        </p:nvSpPr>
        <p:spPr>
          <a:xfrm>
            <a:off x="225631" y="5242956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BA52B5B-D6D6-4786-BBAD-E99520AECA2D}"/>
              </a:ext>
            </a:extLst>
          </p:cNvPr>
          <p:cNvSpPr txBox="1"/>
          <p:nvPr/>
        </p:nvSpPr>
        <p:spPr>
          <a:xfrm>
            <a:off x="1615044" y="5238952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7A4E12-1C40-4350-BA62-47BECBF99EBD}"/>
              </a:ext>
            </a:extLst>
          </p:cNvPr>
          <p:cNvSpPr txBox="1"/>
          <p:nvPr/>
        </p:nvSpPr>
        <p:spPr>
          <a:xfrm>
            <a:off x="1666874" y="5683148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819A1AF-984A-4526-AC68-B3246648F072}"/>
              </a:ext>
            </a:extLst>
          </p:cNvPr>
          <p:cNvSpPr/>
          <p:nvPr/>
        </p:nvSpPr>
        <p:spPr>
          <a:xfrm>
            <a:off x="2838204" y="5091545"/>
            <a:ext cx="2659824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01AE18C-FEDA-4434-8293-64055F385CFE}"/>
              </a:ext>
            </a:extLst>
          </p:cNvPr>
          <p:cNvSpPr/>
          <p:nvPr/>
        </p:nvSpPr>
        <p:spPr>
          <a:xfrm>
            <a:off x="2962894" y="5242956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F1ACD3-C184-4F25-95EF-29F1B9DFAADA}"/>
              </a:ext>
            </a:extLst>
          </p:cNvPr>
          <p:cNvSpPr txBox="1"/>
          <p:nvPr/>
        </p:nvSpPr>
        <p:spPr>
          <a:xfrm>
            <a:off x="4352307" y="5238952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268FC70-AEC3-405C-B489-3F0548A592AD}"/>
              </a:ext>
            </a:extLst>
          </p:cNvPr>
          <p:cNvSpPr txBox="1"/>
          <p:nvPr/>
        </p:nvSpPr>
        <p:spPr>
          <a:xfrm>
            <a:off x="4404137" y="5683148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C9F3F06-FE66-4A24-8B9A-CC061AC1A18F}"/>
              </a:ext>
            </a:extLst>
          </p:cNvPr>
          <p:cNvSpPr/>
          <p:nvPr/>
        </p:nvSpPr>
        <p:spPr>
          <a:xfrm>
            <a:off x="5574348" y="5084572"/>
            <a:ext cx="2625563" cy="105454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08126CC8-6FF6-4FB1-B108-7C88591185A8}"/>
              </a:ext>
            </a:extLst>
          </p:cNvPr>
          <p:cNvSpPr/>
          <p:nvPr/>
        </p:nvSpPr>
        <p:spPr>
          <a:xfrm>
            <a:off x="5699039" y="5235983"/>
            <a:ext cx="1258785" cy="7422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9428F5-4701-459B-AE1E-5DE5F61A9112}"/>
              </a:ext>
            </a:extLst>
          </p:cNvPr>
          <p:cNvSpPr txBox="1"/>
          <p:nvPr/>
        </p:nvSpPr>
        <p:spPr>
          <a:xfrm>
            <a:off x="7088452" y="5231979"/>
            <a:ext cx="12587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요약글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8237C1D-E28D-4AD7-906D-4285DE847C3A}"/>
              </a:ext>
            </a:extLst>
          </p:cNvPr>
          <p:cNvSpPr txBox="1"/>
          <p:nvPr/>
        </p:nvSpPr>
        <p:spPr>
          <a:xfrm>
            <a:off x="7140282" y="5676175"/>
            <a:ext cx="9525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작성자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EE182F3-6220-4178-A907-7F8754A73014}"/>
              </a:ext>
            </a:extLst>
          </p:cNvPr>
          <p:cNvSpPr txBox="1"/>
          <p:nvPr/>
        </p:nvSpPr>
        <p:spPr>
          <a:xfrm>
            <a:off x="8005821" y="4771557"/>
            <a:ext cx="682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더보기</a:t>
            </a:r>
            <a:endParaRPr lang="ko-KR" altLang="en-US" sz="1100" dirty="0"/>
          </a:p>
        </p:txBody>
      </p:sp>
      <p:graphicFrame>
        <p:nvGraphicFramePr>
          <p:cNvPr id="41" name="차트 40">
            <a:extLst>
              <a:ext uri="{FF2B5EF4-FFF2-40B4-BE49-F238E27FC236}">
                <a16:creationId xmlns:a16="http://schemas.microsoft.com/office/drawing/2014/main" id="{13D7E1F3-FA78-4F00-B8BA-A3A21E87D926}"/>
              </a:ext>
            </a:extLst>
          </p:cNvPr>
          <p:cNvGraphicFramePr/>
          <p:nvPr/>
        </p:nvGraphicFramePr>
        <p:xfrm>
          <a:off x="3412046" y="3195070"/>
          <a:ext cx="1604908" cy="14439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2" name="1/2 액자 41">
            <a:extLst>
              <a:ext uri="{FF2B5EF4-FFF2-40B4-BE49-F238E27FC236}">
                <a16:creationId xmlns:a16="http://schemas.microsoft.com/office/drawing/2014/main" id="{26A28183-CF79-45F1-A20E-992DC1BDAA3B}"/>
              </a:ext>
            </a:extLst>
          </p:cNvPr>
          <p:cNvSpPr/>
          <p:nvPr/>
        </p:nvSpPr>
        <p:spPr>
          <a:xfrm rot="7936885">
            <a:off x="7971202" y="3820832"/>
            <a:ext cx="187244" cy="162734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3" name="1/2 액자 42">
            <a:extLst>
              <a:ext uri="{FF2B5EF4-FFF2-40B4-BE49-F238E27FC236}">
                <a16:creationId xmlns:a16="http://schemas.microsoft.com/office/drawing/2014/main" id="{1C0CE8E2-7A61-44ED-AEE0-33F609B8A6B0}"/>
              </a:ext>
            </a:extLst>
          </p:cNvPr>
          <p:cNvSpPr/>
          <p:nvPr/>
        </p:nvSpPr>
        <p:spPr>
          <a:xfrm rot="18869348">
            <a:off x="130504" y="3887013"/>
            <a:ext cx="187244" cy="162734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1A9B73E-3424-41F7-94E2-BD090E306158}"/>
              </a:ext>
            </a:extLst>
          </p:cNvPr>
          <p:cNvSpPr txBox="1"/>
          <p:nvPr/>
        </p:nvSpPr>
        <p:spPr>
          <a:xfrm>
            <a:off x="5166360" y="3333997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ko-KR" altLang="en-US" dirty="0"/>
              <a:t>위 </a:t>
            </a:r>
            <a:r>
              <a:rPr lang="en-US" altLang="ko-KR" dirty="0"/>
              <a:t>30</a:t>
            </a:r>
            <a:r>
              <a:rPr lang="ko-KR" altLang="en-US" dirty="0"/>
              <a:t>대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DCC4EB5-5834-4529-81DE-795003DA6E55}"/>
              </a:ext>
            </a:extLst>
          </p:cNvPr>
          <p:cNvSpPr txBox="1"/>
          <p:nvPr/>
        </p:nvSpPr>
        <p:spPr>
          <a:xfrm>
            <a:off x="5166360" y="3745010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2</a:t>
            </a:r>
            <a:r>
              <a:rPr lang="ko-KR" altLang="en-US" dirty="0"/>
              <a:t>위 </a:t>
            </a:r>
            <a:r>
              <a:rPr lang="en-US" altLang="ko-KR" dirty="0"/>
              <a:t>40</a:t>
            </a:r>
            <a:r>
              <a:rPr lang="ko-KR" altLang="en-US" dirty="0"/>
              <a:t>대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540D569-CF39-4AA6-882C-0E627E906E1A}"/>
              </a:ext>
            </a:extLst>
          </p:cNvPr>
          <p:cNvSpPr txBox="1"/>
          <p:nvPr/>
        </p:nvSpPr>
        <p:spPr>
          <a:xfrm>
            <a:off x="5166360" y="4155536"/>
            <a:ext cx="1188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위 </a:t>
            </a:r>
            <a:r>
              <a:rPr lang="en-US" altLang="ko-KR" dirty="0"/>
              <a:t>10</a:t>
            </a:r>
            <a:r>
              <a:rPr lang="ko-KR" altLang="en-US" dirty="0"/>
              <a:t>대</a:t>
            </a:r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4E2FE23-0F27-4ECB-99A1-2D462AEBC5B2}"/>
              </a:ext>
            </a:extLst>
          </p:cNvPr>
          <p:cNvSpPr/>
          <p:nvPr/>
        </p:nvSpPr>
        <p:spPr>
          <a:xfrm>
            <a:off x="1092530" y="3241965"/>
            <a:ext cx="6715496" cy="131874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8EFA2D7-7C17-4CE6-8433-02D68918D94D}"/>
              </a:ext>
            </a:extLst>
          </p:cNvPr>
          <p:cNvSpPr txBox="1"/>
          <p:nvPr/>
        </p:nvSpPr>
        <p:spPr>
          <a:xfrm>
            <a:off x="1137062" y="3262179"/>
            <a:ext cx="95596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연령대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F63D491A-D609-49F3-94BC-2A0C2FD7ACFA}"/>
              </a:ext>
            </a:extLst>
          </p:cNvPr>
          <p:cNvSpPr/>
          <p:nvPr/>
        </p:nvSpPr>
        <p:spPr>
          <a:xfrm>
            <a:off x="7856904" y="3185101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04AC78F-C9AB-40F7-9E85-0899E13BB9BD}"/>
              </a:ext>
            </a:extLst>
          </p:cNvPr>
          <p:cNvSpPr txBox="1"/>
          <p:nvPr/>
        </p:nvSpPr>
        <p:spPr>
          <a:xfrm>
            <a:off x="7855524" y="3231351"/>
            <a:ext cx="6828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 err="1"/>
              <a:t>더보기</a:t>
            </a:r>
            <a:endParaRPr lang="ko-KR" altLang="en-US" sz="1100" dirty="0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4C9B01C8-945D-4F45-89FB-F06F1DE9B787}"/>
              </a:ext>
            </a:extLst>
          </p:cNvPr>
          <p:cNvSpPr/>
          <p:nvPr/>
        </p:nvSpPr>
        <p:spPr>
          <a:xfrm>
            <a:off x="52312" y="3215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E1620BBE-37E5-4E42-A018-BEF36C917FAF}"/>
              </a:ext>
            </a:extLst>
          </p:cNvPr>
          <p:cNvSpPr/>
          <p:nvPr/>
        </p:nvSpPr>
        <p:spPr>
          <a:xfrm>
            <a:off x="52311" y="475963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6AE1946-FDA1-42E7-8E86-4424E75911A1}"/>
              </a:ext>
            </a:extLst>
          </p:cNvPr>
          <p:cNvSpPr/>
          <p:nvPr/>
        </p:nvSpPr>
        <p:spPr>
          <a:xfrm>
            <a:off x="8005821" y="472207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262257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0BF29B-5EAE-4EF4-B67A-285B6D1344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소개</a:t>
            </a:r>
          </a:p>
        </p:txBody>
      </p:sp>
    </p:spTree>
    <p:extLst>
      <p:ext uri="{BB962C8B-B14F-4D97-AF65-F5344CB8AC3E}">
        <p14:creationId xmlns:p14="http://schemas.microsoft.com/office/powerpoint/2010/main" val="3999273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0419107"/>
              </p:ext>
            </p:extLst>
          </p:nvPr>
        </p:nvGraphicFramePr>
        <p:xfrm>
          <a:off x="8603672" y="1180080"/>
          <a:ext cx="3588327" cy="6205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Depth2 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서비스소개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핵심기능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&amp;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목표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사이드 서브메뉴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메뉴 선택 시 글자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CSS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다르게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 소개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content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문제점 제기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산재지정병원 탐색 필요성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공공 데이터들이 흩어져 있어서 일반인이 한눈에 보기 쉽지 않음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1615043" y="2322244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서비스 소개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CFDD15-4B8A-557F-3F98-0E130AB40A05}"/>
              </a:ext>
            </a:extLst>
          </p:cNvPr>
          <p:cNvSpPr/>
          <p:nvPr/>
        </p:nvSpPr>
        <p:spPr>
          <a:xfrm>
            <a:off x="531969" y="2929631"/>
            <a:ext cx="1083075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726244" y="2929631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79C5A-C7B1-74B8-AFB8-984D2159021E}"/>
              </a:ext>
            </a:extLst>
          </p:cNvPr>
          <p:cNvSpPr txBox="1"/>
          <p:nvPr/>
        </p:nvSpPr>
        <p:spPr>
          <a:xfrm>
            <a:off x="558600" y="3095708"/>
            <a:ext cx="10564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서비스 소개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핵심기능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CDBFAA-F5AE-1197-E330-D115FDD8D528}"/>
              </a:ext>
            </a:extLst>
          </p:cNvPr>
          <p:cNvSpPr/>
          <p:nvPr/>
        </p:nvSpPr>
        <p:spPr>
          <a:xfrm>
            <a:off x="449304" y="2822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EF970E-1132-091C-CEE2-4EDB4DF44D7C}"/>
              </a:ext>
            </a:extLst>
          </p:cNvPr>
          <p:cNvSpPr/>
          <p:nvPr/>
        </p:nvSpPr>
        <p:spPr>
          <a:xfrm>
            <a:off x="1692869" y="278346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4FD7493-845A-5A34-EDD4-CE1F2AE0D169}"/>
              </a:ext>
            </a:extLst>
          </p:cNvPr>
          <p:cNvSpPr txBox="1"/>
          <p:nvPr/>
        </p:nvSpPr>
        <p:spPr>
          <a:xfrm>
            <a:off x="1988709" y="3199895"/>
            <a:ext cx="51093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i="1" dirty="0"/>
              <a:t>“</a:t>
            </a:r>
            <a:r>
              <a:rPr lang="ko-KR" altLang="en-US" sz="1200" i="1" dirty="0"/>
              <a:t>상단 히어로 메시지</a:t>
            </a:r>
            <a:r>
              <a:rPr lang="en-US" altLang="ko-KR" i="1" dirty="0"/>
              <a:t>”</a:t>
            </a:r>
            <a:endParaRPr lang="ko-KR" altLang="en-US" i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BB2D89-21A6-4800-D691-85E69E4DE54F}"/>
              </a:ext>
            </a:extLst>
          </p:cNvPr>
          <p:cNvSpPr txBox="1"/>
          <p:nvPr/>
        </p:nvSpPr>
        <p:spPr>
          <a:xfrm>
            <a:off x="1988709" y="3880539"/>
            <a:ext cx="17781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문제점 제기 및 필요성</a:t>
            </a:r>
            <a:r>
              <a:rPr lang="en-US" altLang="ko-KR" sz="1200" dirty="0"/>
              <a:t>)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80F22088-3EF5-3EE3-1326-11B0FAA08CB0}"/>
              </a:ext>
            </a:extLst>
          </p:cNvPr>
          <p:cNvSpPr/>
          <p:nvPr/>
        </p:nvSpPr>
        <p:spPr>
          <a:xfrm>
            <a:off x="2181225" y="4285151"/>
            <a:ext cx="1581990" cy="937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BAF7D5B-2D91-E6F2-9869-197009B5EB1A}"/>
              </a:ext>
            </a:extLst>
          </p:cNvPr>
          <p:cNvSpPr/>
          <p:nvPr/>
        </p:nvSpPr>
        <p:spPr>
          <a:xfrm>
            <a:off x="5567605" y="4285151"/>
            <a:ext cx="1581990" cy="937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71F4B62-0D36-B8F2-7937-ECF51238964A}"/>
              </a:ext>
            </a:extLst>
          </p:cNvPr>
          <p:cNvSpPr/>
          <p:nvPr/>
        </p:nvSpPr>
        <p:spPr>
          <a:xfrm>
            <a:off x="3874415" y="4285151"/>
            <a:ext cx="1581990" cy="9377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475AF1F-57ED-D7D1-E81A-F464B44AF0CE}"/>
              </a:ext>
            </a:extLst>
          </p:cNvPr>
          <p:cNvSpPr txBox="1"/>
          <p:nvPr/>
        </p:nvSpPr>
        <p:spPr>
          <a:xfrm>
            <a:off x="6800689" y="3019927"/>
            <a:ext cx="792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</a:t>
            </a:r>
            <a:r>
              <a:rPr lang="ko-KR" altLang="en-US" dirty="0"/>
              <a:t>상단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31955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5828876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898911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Depth2 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서비스소개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핵심기능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&amp;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목표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사이드 서브메뉴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메뉴 선택 시 글자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CSS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다르게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그룹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+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텍스트로  사용자 그룹 표현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설명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각 사용자의 니즈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서비스의 핵심 가치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가지 정도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1615043" y="2322244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서비스 소개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CFDD15-4B8A-557F-3F98-0E130AB40A05}"/>
              </a:ext>
            </a:extLst>
          </p:cNvPr>
          <p:cNvSpPr/>
          <p:nvPr/>
        </p:nvSpPr>
        <p:spPr>
          <a:xfrm>
            <a:off x="531969" y="2929631"/>
            <a:ext cx="1083075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726244" y="2929631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79C5A-C7B1-74B8-AFB8-984D2159021E}"/>
              </a:ext>
            </a:extLst>
          </p:cNvPr>
          <p:cNvSpPr txBox="1"/>
          <p:nvPr/>
        </p:nvSpPr>
        <p:spPr>
          <a:xfrm>
            <a:off x="558600" y="3095708"/>
            <a:ext cx="10564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>
                <a:solidFill>
                  <a:schemeClr val="tx1"/>
                </a:solidFill>
              </a:rPr>
              <a:t>서비스 소개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핵심기능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CDBFAA-F5AE-1197-E330-D115FDD8D528}"/>
              </a:ext>
            </a:extLst>
          </p:cNvPr>
          <p:cNvSpPr/>
          <p:nvPr/>
        </p:nvSpPr>
        <p:spPr>
          <a:xfrm>
            <a:off x="449304" y="2822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EF970E-1132-091C-CEE2-4EDB4DF44D7C}"/>
              </a:ext>
            </a:extLst>
          </p:cNvPr>
          <p:cNvSpPr/>
          <p:nvPr/>
        </p:nvSpPr>
        <p:spPr>
          <a:xfrm>
            <a:off x="2132277" y="3212697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BB2D89-21A6-4800-D691-85E69E4DE54F}"/>
              </a:ext>
            </a:extLst>
          </p:cNvPr>
          <p:cNvSpPr txBox="1"/>
          <p:nvPr/>
        </p:nvSpPr>
        <p:spPr>
          <a:xfrm>
            <a:off x="1846640" y="2975301"/>
            <a:ext cx="1467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(</a:t>
            </a:r>
            <a:r>
              <a:rPr lang="ko-KR" altLang="en-US" sz="1200" dirty="0"/>
              <a:t>사용자 그룹</a:t>
            </a:r>
            <a:r>
              <a:rPr lang="en-US" altLang="ko-KR" sz="1200" dirty="0"/>
              <a:t>)</a:t>
            </a: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CDECF4B-FB88-DEAA-6A8B-93CB7F31512A}"/>
              </a:ext>
            </a:extLst>
          </p:cNvPr>
          <p:cNvGrpSpPr/>
          <p:nvPr/>
        </p:nvGrpSpPr>
        <p:grpSpPr>
          <a:xfrm>
            <a:off x="2228526" y="3349810"/>
            <a:ext cx="1270004" cy="1561764"/>
            <a:chOff x="2453042" y="4143237"/>
            <a:chExt cx="1142809" cy="1257936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C14A3C1B-CB6D-902D-61AB-E3D84E668A8C}"/>
                </a:ext>
              </a:extLst>
            </p:cNvPr>
            <p:cNvSpPr/>
            <p:nvPr/>
          </p:nvSpPr>
          <p:spPr>
            <a:xfrm>
              <a:off x="2453042" y="4143237"/>
              <a:ext cx="1142809" cy="125793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22852921-ABFD-1500-4C8B-86236D7D1415}"/>
                </a:ext>
              </a:extLst>
            </p:cNvPr>
            <p:cNvSpPr/>
            <p:nvPr/>
          </p:nvSpPr>
          <p:spPr>
            <a:xfrm>
              <a:off x="2606272" y="4281613"/>
              <a:ext cx="836348" cy="7906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아이콘</a:t>
              </a:r>
              <a:r>
                <a:rPr lang="en-US" altLang="ko-KR" sz="1200" dirty="0">
                  <a:solidFill>
                    <a:schemeClr val="tx1"/>
                  </a:solidFill>
                </a:rPr>
                <a:t>/ </a:t>
              </a: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일러스트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D94DBB3-A2FA-694A-E55D-1D7E895863CE}"/>
                </a:ext>
              </a:extLst>
            </p:cNvPr>
            <p:cNvSpPr txBox="1"/>
            <p:nvPr/>
          </p:nvSpPr>
          <p:spPr>
            <a:xfrm>
              <a:off x="2557444" y="5091946"/>
              <a:ext cx="970977" cy="2484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현장근로자</a:t>
              </a:r>
              <a:endParaRPr lang="en-US" altLang="ko-KR" sz="1100" dirty="0"/>
            </a:p>
            <a:p>
              <a:pPr algn="ctr"/>
              <a:r>
                <a:rPr lang="en-US" altLang="ko-KR" sz="1000" dirty="0"/>
                <a:t>-</a:t>
              </a:r>
              <a:r>
                <a:rPr lang="ko-KR" altLang="en-US" sz="1000" dirty="0"/>
                <a:t>설명</a:t>
              </a: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EF983DAD-3034-4CDC-6075-1BF5E00A8FD3}"/>
              </a:ext>
            </a:extLst>
          </p:cNvPr>
          <p:cNvGrpSpPr/>
          <p:nvPr/>
        </p:nvGrpSpPr>
        <p:grpSpPr>
          <a:xfrm>
            <a:off x="3913271" y="3351047"/>
            <a:ext cx="1270004" cy="1623403"/>
            <a:chOff x="2453042" y="4143237"/>
            <a:chExt cx="1142809" cy="1307583"/>
          </a:xfrm>
        </p:grpSpPr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E9AE64E4-B5BF-9505-2D48-5B00168AD965}"/>
                </a:ext>
              </a:extLst>
            </p:cNvPr>
            <p:cNvSpPr/>
            <p:nvPr/>
          </p:nvSpPr>
          <p:spPr>
            <a:xfrm>
              <a:off x="2453042" y="4143237"/>
              <a:ext cx="1142809" cy="126368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14538D15-5F67-CE89-A2FC-C577E0707A2F}"/>
                </a:ext>
              </a:extLst>
            </p:cNvPr>
            <p:cNvSpPr/>
            <p:nvPr/>
          </p:nvSpPr>
          <p:spPr>
            <a:xfrm>
              <a:off x="2606272" y="4281613"/>
              <a:ext cx="836348" cy="7906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아이콘</a:t>
              </a:r>
              <a:r>
                <a:rPr lang="en-US" altLang="ko-KR" sz="1200" dirty="0">
                  <a:solidFill>
                    <a:schemeClr val="tx1"/>
                  </a:solidFill>
                </a:rPr>
                <a:t>/ </a:t>
              </a: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일러스트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AEA37EF5-1FBC-5CCD-3402-BA6F61693D57}"/>
                </a:ext>
              </a:extLst>
            </p:cNvPr>
            <p:cNvSpPr txBox="1"/>
            <p:nvPr/>
          </p:nvSpPr>
          <p:spPr>
            <a:xfrm>
              <a:off x="2534858" y="5103759"/>
              <a:ext cx="979176" cy="347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안전관리자</a:t>
              </a:r>
              <a:endParaRPr lang="en-US" altLang="ko-KR" sz="1100" dirty="0"/>
            </a:p>
            <a:p>
              <a:pPr algn="ctr"/>
              <a:r>
                <a:rPr lang="en-US" altLang="ko-KR" sz="1100" dirty="0"/>
                <a:t>-</a:t>
              </a:r>
              <a:r>
                <a:rPr lang="ko-KR" altLang="en-US" sz="1000" dirty="0"/>
                <a:t>설명</a:t>
              </a:r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F8851BE6-984C-7E75-0DB1-F574A5BA5BA3}"/>
              </a:ext>
            </a:extLst>
          </p:cNvPr>
          <p:cNvGrpSpPr/>
          <p:nvPr/>
        </p:nvGrpSpPr>
        <p:grpSpPr>
          <a:xfrm>
            <a:off x="5554990" y="3342670"/>
            <a:ext cx="1270004" cy="1568904"/>
            <a:chOff x="2453042" y="4143237"/>
            <a:chExt cx="1142809" cy="1263686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CCFB9AE-4FE9-24D5-F6B7-B22C4C3CDEB0}"/>
                </a:ext>
              </a:extLst>
            </p:cNvPr>
            <p:cNvSpPr/>
            <p:nvPr/>
          </p:nvSpPr>
          <p:spPr>
            <a:xfrm>
              <a:off x="2453042" y="4143237"/>
              <a:ext cx="1142809" cy="126368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F0F61FD0-8806-9B42-DFFA-B60D84A9F1E5}"/>
                </a:ext>
              </a:extLst>
            </p:cNvPr>
            <p:cNvSpPr/>
            <p:nvPr/>
          </p:nvSpPr>
          <p:spPr>
            <a:xfrm>
              <a:off x="2606272" y="4281613"/>
              <a:ext cx="836348" cy="7906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아이콘</a:t>
              </a:r>
              <a:r>
                <a:rPr lang="en-US" altLang="ko-KR" sz="1200" dirty="0">
                  <a:solidFill>
                    <a:schemeClr val="tx1"/>
                  </a:solidFill>
                </a:rPr>
                <a:t>/ </a:t>
              </a:r>
            </a:p>
            <a:p>
              <a:pPr algn="ctr"/>
              <a:r>
                <a:rPr lang="ko-KR" altLang="en-US" sz="1200" dirty="0">
                  <a:solidFill>
                    <a:schemeClr val="tx1"/>
                  </a:solidFill>
                </a:rPr>
                <a:t>일러스트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C20C170-914A-89E9-A17D-EE72489AEFC0}"/>
                </a:ext>
              </a:extLst>
            </p:cNvPr>
            <p:cNvSpPr txBox="1"/>
            <p:nvPr/>
          </p:nvSpPr>
          <p:spPr>
            <a:xfrm>
              <a:off x="2564152" y="5107422"/>
              <a:ext cx="979176" cy="2484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100" dirty="0"/>
                <a:t>기업운영자</a:t>
              </a:r>
              <a:r>
                <a:rPr lang="en-US" altLang="ko-KR" sz="1100" dirty="0"/>
                <a:t>?</a:t>
              </a:r>
            </a:p>
            <a:p>
              <a:pPr algn="ctr"/>
              <a:r>
                <a:rPr lang="en-US" altLang="ko-KR" sz="1000" dirty="0"/>
                <a:t>-</a:t>
              </a:r>
              <a:r>
                <a:rPr lang="ko-KR" altLang="en-US" sz="1000" dirty="0"/>
                <a:t>설명</a:t>
              </a:r>
            </a:p>
          </p:txBody>
        </p:sp>
      </p:grp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5E9302BC-7211-14E0-CA44-1E4AF9F0B064}"/>
              </a:ext>
            </a:extLst>
          </p:cNvPr>
          <p:cNvSpPr/>
          <p:nvPr/>
        </p:nvSpPr>
        <p:spPr>
          <a:xfrm>
            <a:off x="1996746" y="5184180"/>
            <a:ext cx="5205333" cy="987479"/>
          </a:xfrm>
          <a:prstGeom prst="roundRect">
            <a:avLst/>
          </a:prstGeom>
          <a:solidFill>
            <a:srgbClr val="DAE3F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01592F9-C3C7-42DA-774D-06C88220C778}"/>
              </a:ext>
            </a:extLst>
          </p:cNvPr>
          <p:cNvSpPr txBox="1"/>
          <p:nvPr/>
        </p:nvSpPr>
        <p:spPr>
          <a:xfrm>
            <a:off x="2100691" y="5317363"/>
            <a:ext cx="160268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[</a:t>
            </a:r>
            <a:r>
              <a:rPr lang="ko-KR" altLang="en-US" sz="1000" dirty="0"/>
              <a:t>서비스 핵심 가치</a:t>
            </a:r>
            <a:r>
              <a:rPr lang="en-US" altLang="ko-KR" sz="1000" dirty="0"/>
              <a:t>]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6383D8C6-83FE-24F7-6D7F-124FE29DCFD2}"/>
              </a:ext>
            </a:extLst>
          </p:cNvPr>
          <p:cNvSpPr/>
          <p:nvPr/>
        </p:nvSpPr>
        <p:spPr>
          <a:xfrm>
            <a:off x="1901204" y="5144577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991973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/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9366834"/>
              </p:ext>
            </p:extLst>
          </p:nvPr>
        </p:nvGraphicFramePr>
        <p:xfrm>
          <a:off x="8603672" y="1180080"/>
          <a:ext cx="3588327" cy="5702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소개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Depth2 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서비스소개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핵심기능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&amp;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목표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사이드 서브메뉴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메뉴 선택 시 글자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CSS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다르게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주요 기능 목록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글머리 기호로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맞춤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산재찾기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병원 찾기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산재통계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1615043" y="2322244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핵심기능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2CFDD15-4B8A-557F-3F98-0E130AB40A05}"/>
              </a:ext>
            </a:extLst>
          </p:cNvPr>
          <p:cNvSpPr/>
          <p:nvPr/>
        </p:nvSpPr>
        <p:spPr>
          <a:xfrm>
            <a:off x="531969" y="2929631"/>
            <a:ext cx="1083075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726244" y="2929631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779C5A-C7B1-74B8-AFB8-984D2159021E}"/>
              </a:ext>
            </a:extLst>
          </p:cNvPr>
          <p:cNvSpPr txBox="1"/>
          <p:nvPr/>
        </p:nvSpPr>
        <p:spPr>
          <a:xfrm>
            <a:off x="558600" y="3095708"/>
            <a:ext cx="10564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solidFill>
                  <a:schemeClr val="tx1"/>
                </a:solidFill>
              </a:rPr>
              <a:t>서비스 소개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b="1" dirty="0">
                <a:solidFill>
                  <a:schemeClr val="tx1"/>
                </a:solidFill>
              </a:rPr>
              <a:t>핵심기능</a:t>
            </a:r>
            <a:endParaRPr lang="en-US" altLang="ko-KR" sz="1200" b="1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CDBFAA-F5AE-1197-E330-D115FDD8D528}"/>
              </a:ext>
            </a:extLst>
          </p:cNvPr>
          <p:cNvSpPr/>
          <p:nvPr/>
        </p:nvSpPr>
        <p:spPr>
          <a:xfrm>
            <a:off x="449304" y="2822853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7EF970E-1132-091C-CEE2-4EDB4DF44D7C}"/>
              </a:ext>
            </a:extLst>
          </p:cNvPr>
          <p:cNvSpPr/>
          <p:nvPr/>
        </p:nvSpPr>
        <p:spPr>
          <a:xfrm>
            <a:off x="1692869" y="278346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6858001-D440-132C-BBFD-C6770682E9A4}"/>
              </a:ext>
            </a:extLst>
          </p:cNvPr>
          <p:cNvSpPr txBox="1"/>
          <p:nvPr/>
        </p:nvSpPr>
        <p:spPr>
          <a:xfrm>
            <a:off x="1887074" y="3057146"/>
            <a:ext cx="44777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통계 분석 → 맞춤 위험도 → 안전교육 → 병원</a:t>
            </a:r>
            <a:r>
              <a:rPr lang="en-US" altLang="ko-KR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/</a:t>
            </a:r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주변 산재 찾기까지</a:t>
            </a:r>
            <a:br>
              <a:rPr lang="ko-KR" altLang="en-US" sz="1000" dirty="0"/>
            </a:br>
            <a:r>
              <a:rPr lang="ko-KR" altLang="en-US" sz="1000" b="0" i="0" dirty="0">
                <a:solidFill>
                  <a:srgbClr val="555555"/>
                </a:solidFill>
                <a:effectLst/>
                <a:latin typeface="Arial" panose="020B0604020202020204" pitchFamily="34" charset="0"/>
              </a:rPr>
              <a:t>산업재해 예방과 대응을 한 번에 지원하는 주요 기능 영역</a:t>
            </a:r>
            <a:endParaRPr lang="ko-KR" altLang="en-US" sz="10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15F95A50-882B-0024-7961-2C5C3B8C7332}"/>
              </a:ext>
            </a:extLst>
          </p:cNvPr>
          <p:cNvSpPr/>
          <p:nvPr/>
        </p:nvSpPr>
        <p:spPr>
          <a:xfrm>
            <a:off x="1953269" y="3603421"/>
            <a:ext cx="5182821" cy="23448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주요 기능 목록</a:t>
            </a:r>
          </a:p>
        </p:txBody>
      </p:sp>
    </p:spTree>
    <p:extLst>
      <p:ext uri="{BB962C8B-B14F-4D97-AF65-F5344CB8AC3E}">
        <p14:creationId xmlns:p14="http://schemas.microsoft.com/office/powerpoint/2010/main" val="6870154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8E778E-7188-4F1F-AB93-AD3E27968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회원가입</a:t>
            </a:r>
          </a:p>
        </p:txBody>
      </p:sp>
    </p:spTree>
    <p:extLst>
      <p:ext uri="{BB962C8B-B14F-4D97-AF65-F5344CB8AC3E}">
        <p14:creationId xmlns:p14="http://schemas.microsoft.com/office/powerpoint/2010/main" val="36787429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94778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3969559"/>
              </p:ext>
            </p:extLst>
          </p:nvPr>
        </p:nvGraphicFramePr>
        <p:xfrm>
          <a:off x="8603672" y="1180080"/>
          <a:ext cx="3588327" cy="5894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필수 입력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성공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페이지로 이동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 형식 불일치시 경고 처리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불일치시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form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검증 및 경고 처리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카카오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네이버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구글로 로그인 하기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Aouth2.0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사용하여 소셜 로그인 처리 후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회원정보 입력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클릭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페이지로 이동 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5ABDF3B-5ACA-3C53-1278-5D2B8550EEAC}"/>
              </a:ext>
            </a:extLst>
          </p:cNvPr>
          <p:cNvSpPr/>
          <p:nvPr/>
        </p:nvSpPr>
        <p:spPr>
          <a:xfrm>
            <a:off x="1337488" y="1944053"/>
            <a:ext cx="6105379" cy="4149969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------------------------------------------------------------------------------------------------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계정이 </a:t>
            </a:r>
            <a:r>
              <a:rPr lang="ko-KR" altLang="en-US" sz="1000" dirty="0" err="1">
                <a:solidFill>
                  <a:schemeClr val="tx1"/>
                </a:solidFill>
              </a:rPr>
              <a:t>없으세요</a:t>
            </a:r>
            <a:r>
              <a:rPr lang="en-US" altLang="ko-KR" sz="1000" dirty="0">
                <a:solidFill>
                  <a:schemeClr val="tx1"/>
                </a:solidFill>
              </a:rPr>
              <a:t>?  </a:t>
            </a:r>
            <a:r>
              <a:rPr lang="ko-KR" altLang="en-US" sz="1100" b="1" dirty="0">
                <a:solidFill>
                  <a:schemeClr val="tx1"/>
                </a:solidFill>
              </a:rPr>
              <a:t>회원가입 </a:t>
            </a:r>
            <a:r>
              <a:rPr lang="ko-KR" altLang="en-US" sz="1000" dirty="0" err="1">
                <a:solidFill>
                  <a:schemeClr val="tx1"/>
                </a:solidFill>
              </a:rPr>
              <a:t>하러가기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0209E4C-5466-CD8E-2D96-63EC88036477}"/>
              </a:ext>
            </a:extLst>
          </p:cNvPr>
          <p:cNvSpPr/>
          <p:nvPr/>
        </p:nvSpPr>
        <p:spPr>
          <a:xfrm>
            <a:off x="2427513" y="2477648"/>
            <a:ext cx="3854548" cy="304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 err="1">
                <a:solidFill>
                  <a:schemeClr val="bg2">
                    <a:lumMod val="75000"/>
                  </a:schemeClr>
                </a:solidFill>
              </a:rPr>
              <a:t>회원아이디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</a:rPr>
              <a:t>(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이메일</a:t>
            </a:r>
            <a:r>
              <a:rPr lang="en-US" altLang="ko-KR" sz="1200" dirty="0">
                <a:solidFill>
                  <a:schemeClr val="bg2">
                    <a:lumMod val="75000"/>
                  </a:schemeClr>
                </a:solidFill>
              </a:rPr>
              <a:t>)</a:t>
            </a:r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을 입력해 주세요</a:t>
            </a:r>
            <a:endParaRPr lang="ko-KR" altLang="en-US" sz="1200" dirty="0"/>
          </a:p>
        </p:txBody>
      </p:sp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4A0C0C11-757F-6F24-B51C-B7B1B7215BE7}"/>
              </a:ext>
            </a:extLst>
          </p:cNvPr>
          <p:cNvSpPr/>
          <p:nvPr/>
        </p:nvSpPr>
        <p:spPr>
          <a:xfrm>
            <a:off x="2427513" y="3112939"/>
            <a:ext cx="3854548" cy="30400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bg2">
                    <a:lumMod val="75000"/>
                  </a:schemeClr>
                </a:solidFill>
              </a:rPr>
              <a:t>회원비밀번호를 입력해 주세요</a:t>
            </a:r>
            <a:endParaRPr lang="ko-KR" altLang="en-US" sz="1200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286A3B47-F32F-BFFD-6C1C-0894817D6960}"/>
              </a:ext>
            </a:extLst>
          </p:cNvPr>
          <p:cNvSpPr/>
          <p:nvPr/>
        </p:nvSpPr>
        <p:spPr>
          <a:xfrm>
            <a:off x="2416918" y="3876993"/>
            <a:ext cx="3854548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0E489BE-AF35-70AB-6685-02C58F1AE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111" y="4425371"/>
            <a:ext cx="3732952" cy="11972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8944D87-566B-4E30-809D-CA99A406C50A}"/>
              </a:ext>
            </a:extLst>
          </p:cNvPr>
          <p:cNvSpPr/>
          <p:nvPr/>
        </p:nvSpPr>
        <p:spPr>
          <a:xfrm>
            <a:off x="1469738" y="200084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926C8EB-8B40-4603-9E57-BE9B8EB002FB}"/>
              </a:ext>
            </a:extLst>
          </p:cNvPr>
          <p:cNvSpPr/>
          <p:nvPr/>
        </p:nvSpPr>
        <p:spPr>
          <a:xfrm>
            <a:off x="2334253" y="379500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BE021DCC-A22D-46F1-9C1D-F366349E0EEE}"/>
              </a:ext>
            </a:extLst>
          </p:cNvPr>
          <p:cNvSpPr/>
          <p:nvPr/>
        </p:nvSpPr>
        <p:spPr>
          <a:xfrm>
            <a:off x="3412838" y="480926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8AC9E68D-AFE1-4BFC-AEE7-DAF47391613F}"/>
              </a:ext>
            </a:extLst>
          </p:cNvPr>
          <p:cNvSpPr/>
          <p:nvPr/>
        </p:nvSpPr>
        <p:spPr>
          <a:xfrm>
            <a:off x="3146138" y="5499196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06D7D3-4A83-414D-9820-9F79F25387D7}"/>
              </a:ext>
            </a:extLst>
          </p:cNvPr>
          <p:cNvSpPr txBox="1"/>
          <p:nvPr/>
        </p:nvSpPr>
        <p:spPr>
          <a:xfrm>
            <a:off x="2344849" y="2794449"/>
            <a:ext cx="4036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아이디를 맞는 형식으로 입력해주세요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4AB1AD-7B38-4FE5-AC2C-C4AA756355A4}"/>
              </a:ext>
            </a:extLst>
          </p:cNvPr>
          <p:cNvSpPr txBox="1"/>
          <p:nvPr/>
        </p:nvSpPr>
        <p:spPr>
          <a:xfrm>
            <a:off x="2325799" y="3390628"/>
            <a:ext cx="40367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rgbClr val="FF0000"/>
                </a:solidFill>
              </a:rPr>
              <a:t>비밀번호는 필수 요소입니다</a:t>
            </a:r>
          </a:p>
        </p:txBody>
      </p:sp>
    </p:spTree>
    <p:extLst>
      <p:ext uri="{BB962C8B-B14F-4D97-AF65-F5344CB8AC3E}">
        <p14:creationId xmlns:p14="http://schemas.microsoft.com/office/powerpoint/2010/main" val="2372426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1429285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5598714"/>
              </p:ext>
            </p:extLst>
          </p:nvPr>
        </p:nvGraphicFramePr>
        <p:xfrm>
          <a:off x="8603672" y="1180081"/>
          <a:ext cx="3588327" cy="68859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0414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2161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15656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 가능한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ID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인지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형식이 맞는지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형식이 맞는지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확인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비밀번호 입력과 일치하는지 확인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확인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폼 검증이 끝난 후 회원 정보 입력 페이지로 이동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이때 아이디와 비밀번호를 세션에 임시 저장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216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216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216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2161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5.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67585822-A012-21F1-38E0-DD3EC605CCD4}"/>
              </a:ext>
            </a:extLst>
          </p:cNvPr>
          <p:cNvSpPr/>
          <p:nvPr/>
        </p:nvSpPr>
        <p:spPr>
          <a:xfrm>
            <a:off x="2766926" y="3047266"/>
            <a:ext cx="2545150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6~16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/ </a:t>
            </a:r>
            <a:r>
              <a:rPr lang="ko-KR" altLang="en-US" sz="1000" dirty="0" err="1">
                <a:solidFill>
                  <a:schemeClr val="bg2">
                    <a:lumMod val="75000"/>
                  </a:schemeClr>
                </a:solidFill>
              </a:rPr>
              <a:t>영문소문자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 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숫자사용가능</a:t>
            </a:r>
            <a:endParaRPr lang="ko-KR" altLang="en-US" sz="1000" dirty="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D908B6D-6F18-BFDE-7514-0CF37797062E}"/>
              </a:ext>
            </a:extLst>
          </p:cNvPr>
          <p:cNvSpPr/>
          <p:nvPr/>
        </p:nvSpPr>
        <p:spPr>
          <a:xfrm>
            <a:off x="2766926" y="3604689"/>
            <a:ext cx="2545150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8~16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/ 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문자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숫자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,</a:t>
            </a:r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특수문자 모두 혼용 </a:t>
            </a:r>
            <a:endParaRPr lang="ko-KR" altLang="en-US" sz="10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3B0F2DF4-EC2D-A4E2-D53A-D0187DA2A692}"/>
              </a:ext>
            </a:extLst>
          </p:cNvPr>
          <p:cNvSpPr/>
          <p:nvPr/>
        </p:nvSpPr>
        <p:spPr>
          <a:xfrm>
            <a:off x="2766926" y="4139950"/>
            <a:ext cx="2545150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2">
                    <a:lumMod val="75000"/>
                  </a:schemeClr>
                </a:solidFill>
              </a:rPr>
              <a:t>비밀번호 다시 입력해주세요</a:t>
            </a:r>
            <a:r>
              <a:rPr lang="en-US" altLang="ko-KR" sz="1000" dirty="0">
                <a:solidFill>
                  <a:schemeClr val="bg2">
                    <a:lumMod val="75000"/>
                  </a:schemeClr>
                </a:solidFill>
              </a:rPr>
              <a:t>. </a:t>
            </a:r>
            <a:endParaRPr lang="ko-KR" altLang="en-US" sz="1000" dirty="0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5A5394-222E-4B20-990B-4B80333505B6}"/>
              </a:ext>
            </a:extLst>
          </p:cNvPr>
          <p:cNvSpPr txBox="1"/>
          <p:nvPr/>
        </p:nvSpPr>
        <p:spPr>
          <a:xfrm>
            <a:off x="3646114" y="2325222"/>
            <a:ext cx="13114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회원 가입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86A91C-B512-49AC-8A5D-62BBD3B8871A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로그인 정보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6A042A-CDDB-4C42-BC10-28E8BB579AD8}"/>
              </a:ext>
            </a:extLst>
          </p:cNvPr>
          <p:cNvSpPr txBox="1"/>
          <p:nvPr/>
        </p:nvSpPr>
        <p:spPr>
          <a:xfrm>
            <a:off x="1479883" y="3024800"/>
            <a:ext cx="902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아이디 </a:t>
            </a:r>
            <a:r>
              <a:rPr lang="en-US" altLang="ko-KR" sz="1100" dirty="0"/>
              <a:t>: </a:t>
            </a:r>
            <a:endParaRPr lang="ko-KR" alt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7E41F9-0CE6-486D-B12C-250CF15C4FF7}"/>
              </a:ext>
            </a:extLst>
          </p:cNvPr>
          <p:cNvSpPr txBox="1"/>
          <p:nvPr/>
        </p:nvSpPr>
        <p:spPr>
          <a:xfrm>
            <a:off x="1479883" y="3573863"/>
            <a:ext cx="90237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비밀번호 </a:t>
            </a:r>
            <a:r>
              <a:rPr lang="en-US" altLang="ko-KR" sz="1100" dirty="0"/>
              <a:t>: </a:t>
            </a:r>
            <a:endParaRPr lang="ko-KR" altLang="en-US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045AC5-BE13-4D3D-B1EC-BB53E135AAB8}"/>
              </a:ext>
            </a:extLst>
          </p:cNvPr>
          <p:cNvSpPr txBox="1"/>
          <p:nvPr/>
        </p:nvSpPr>
        <p:spPr>
          <a:xfrm>
            <a:off x="1479883" y="4129294"/>
            <a:ext cx="12212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비밀번호 확인 </a:t>
            </a:r>
            <a:r>
              <a:rPr lang="en-US" altLang="ko-KR" sz="1100" dirty="0"/>
              <a:t>: </a:t>
            </a:r>
            <a:endParaRPr lang="ko-KR" altLang="en-US" sz="11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0486AEC-BACE-4E9F-98D3-A76BA8A8AD37}"/>
              </a:ext>
            </a:extLst>
          </p:cNvPr>
          <p:cNvSpPr txBox="1"/>
          <p:nvPr/>
        </p:nvSpPr>
        <p:spPr>
          <a:xfrm>
            <a:off x="2664489" y="3243367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아이디를 맞는 형식으로 입력해주세요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5D37CE4-2181-44AD-8775-60E8CE18EF2B}"/>
              </a:ext>
            </a:extLst>
          </p:cNvPr>
          <p:cNvSpPr txBox="1"/>
          <p:nvPr/>
        </p:nvSpPr>
        <p:spPr>
          <a:xfrm>
            <a:off x="2672508" y="3833671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비밀번호는 필수 요소입니다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BFEED28-96FC-4ACF-AE39-1A1432668DC5}"/>
              </a:ext>
            </a:extLst>
          </p:cNvPr>
          <p:cNvSpPr txBox="1"/>
          <p:nvPr/>
        </p:nvSpPr>
        <p:spPr>
          <a:xfrm>
            <a:off x="2664038" y="437082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비밀번호와 일치하지 않습니다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AD009AD-B77E-4DEB-9190-6ECEFD60B17A}"/>
              </a:ext>
            </a:extLst>
          </p:cNvPr>
          <p:cNvSpPr/>
          <p:nvPr/>
        </p:nvSpPr>
        <p:spPr>
          <a:xfrm>
            <a:off x="1291765" y="1924248"/>
            <a:ext cx="6041482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5013DA3-6237-4279-A332-3E0C49F859F5}"/>
              </a:ext>
            </a:extLst>
          </p:cNvPr>
          <p:cNvSpPr/>
          <p:nvPr/>
        </p:nvSpPr>
        <p:spPr>
          <a:xfrm>
            <a:off x="2882815" y="5184304"/>
            <a:ext cx="1727023" cy="30576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확인하기</a:t>
            </a:r>
          </a:p>
        </p:txBody>
      </p:sp>
    </p:spTree>
    <p:extLst>
      <p:ext uri="{BB962C8B-B14F-4D97-AF65-F5344CB8AC3E}">
        <p14:creationId xmlns:p14="http://schemas.microsoft.com/office/powerpoint/2010/main" val="5307174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393784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회원정보 입력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947959"/>
              </p:ext>
            </p:extLst>
          </p:nvPr>
        </p:nvGraphicFramePr>
        <p:xfrm>
          <a:off x="8603672" y="1180084"/>
          <a:ext cx="3588327" cy="5677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5661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359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페이지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 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45677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나이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숫자만 입력가능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집 주소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입력칸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daumAPI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사용하여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직장 주소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입력칸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daumAPI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사용하여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전화번호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-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없이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11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자리 숫자 입력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이메일 형식인지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성별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radio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남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여 체크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가입하기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폼 검증 후 가입처리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09FD97B-7EB9-4883-87ED-8C583A3A96A7}"/>
              </a:ext>
            </a:extLst>
          </p:cNvPr>
          <p:cNvSpPr/>
          <p:nvPr/>
        </p:nvSpPr>
        <p:spPr>
          <a:xfrm>
            <a:off x="2287016" y="304867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회원 정보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F712418C-516C-4A88-90CE-6916082B9C56}"/>
              </a:ext>
            </a:extLst>
          </p:cNvPr>
          <p:cNvSpPr/>
          <p:nvPr/>
        </p:nvSpPr>
        <p:spPr>
          <a:xfrm>
            <a:off x="2281543" y="40519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bg1">
                    <a:lumMod val="65000"/>
                  </a:schemeClr>
                </a:solidFill>
              </a:rPr>
              <a:t>Daum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API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E8125F4-512B-49C6-BBE2-013199A16BFF}"/>
              </a:ext>
            </a:extLst>
          </p:cNvPr>
          <p:cNvSpPr/>
          <p:nvPr/>
        </p:nvSpPr>
        <p:spPr>
          <a:xfrm>
            <a:off x="2281542" y="45938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- 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없이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11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자리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7E058-7779-459F-AA98-8F206CF9B283}"/>
              </a:ext>
            </a:extLst>
          </p:cNvPr>
          <p:cNvSpPr txBox="1"/>
          <p:nvPr/>
        </p:nvSpPr>
        <p:spPr>
          <a:xfrm>
            <a:off x="1405237" y="30227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이름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D45076-A8CA-4EAD-9C40-04BAECF437AF}"/>
              </a:ext>
            </a:extLst>
          </p:cNvPr>
          <p:cNvSpPr txBox="1"/>
          <p:nvPr/>
        </p:nvSpPr>
        <p:spPr>
          <a:xfrm>
            <a:off x="1394659" y="4027248"/>
            <a:ext cx="785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집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CB760FB-2D6A-4B6C-9A09-32689F45E014}"/>
              </a:ext>
            </a:extLst>
          </p:cNvPr>
          <p:cNvSpPr txBox="1"/>
          <p:nvPr/>
        </p:nvSpPr>
        <p:spPr>
          <a:xfrm>
            <a:off x="1425460" y="45714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전화번호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21FF8B7-A9DF-4B4D-9BCA-29278DD2FE07}"/>
              </a:ext>
            </a:extLst>
          </p:cNvPr>
          <p:cNvSpPr/>
          <p:nvPr/>
        </p:nvSpPr>
        <p:spPr>
          <a:xfrm>
            <a:off x="5137859" y="304476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4C4FF595-B300-4339-B57C-ACC8106A9127}"/>
              </a:ext>
            </a:extLst>
          </p:cNvPr>
          <p:cNvSpPr/>
          <p:nvPr/>
        </p:nvSpPr>
        <p:spPr>
          <a:xfrm>
            <a:off x="5138002" y="40519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bg1">
                    <a:lumMod val="65000"/>
                  </a:schemeClr>
                </a:solidFill>
              </a:rPr>
              <a:t>Daum</a:t>
            </a:r>
            <a:r>
              <a:rPr lang="ko-KR" altLang="en-US" sz="1200" dirty="0">
                <a:solidFill>
                  <a:schemeClr val="bg1">
                    <a:lumMod val="65000"/>
                  </a:schemeClr>
                </a:solidFill>
              </a:rPr>
              <a:t> </a:t>
            </a:r>
            <a:r>
              <a:rPr lang="en-US" altLang="ko-KR" sz="1200" dirty="0">
                <a:solidFill>
                  <a:schemeClr val="bg1">
                    <a:lumMod val="65000"/>
                  </a:schemeClr>
                </a:solidFill>
              </a:rPr>
              <a:t>API</a:t>
            </a:r>
            <a:endParaRPr lang="ko-KR" altLang="en-US" sz="12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F383403F-C47E-47FD-A274-8111FA8B7619}"/>
              </a:ext>
            </a:extLst>
          </p:cNvPr>
          <p:cNvSpPr/>
          <p:nvPr/>
        </p:nvSpPr>
        <p:spPr>
          <a:xfrm>
            <a:off x="5138001" y="45938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9A842F4-38DD-4D2B-952C-536ACE429F0C}"/>
              </a:ext>
            </a:extLst>
          </p:cNvPr>
          <p:cNvSpPr txBox="1"/>
          <p:nvPr/>
        </p:nvSpPr>
        <p:spPr>
          <a:xfrm>
            <a:off x="4261696" y="30227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나이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B896075-58F7-40E8-921D-22C531282175}"/>
              </a:ext>
            </a:extLst>
          </p:cNvPr>
          <p:cNvSpPr txBox="1"/>
          <p:nvPr/>
        </p:nvSpPr>
        <p:spPr>
          <a:xfrm>
            <a:off x="4251117" y="4027248"/>
            <a:ext cx="9040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직장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60A0AD-AFED-41AC-BEFA-E4EA1022A489}"/>
              </a:ext>
            </a:extLst>
          </p:cNvPr>
          <p:cNvSpPr txBox="1"/>
          <p:nvPr/>
        </p:nvSpPr>
        <p:spPr>
          <a:xfrm>
            <a:off x="4281919" y="45714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이메일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C57AE48-C6E2-4FEE-B103-F6409BDDDCEB}"/>
              </a:ext>
            </a:extLst>
          </p:cNvPr>
          <p:cNvSpPr txBox="1"/>
          <p:nvPr/>
        </p:nvSpPr>
        <p:spPr>
          <a:xfrm>
            <a:off x="2232723" y="3289963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이름은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0D09F2D-E97A-435D-AFF9-4DFECBBC4E90}"/>
              </a:ext>
            </a:extLst>
          </p:cNvPr>
          <p:cNvSpPr txBox="1"/>
          <p:nvPr/>
        </p:nvSpPr>
        <p:spPr>
          <a:xfrm>
            <a:off x="2263525" y="4309834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집 주소는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F4BCBE-4CE2-4999-AE00-5E3C56CC43AB}"/>
              </a:ext>
            </a:extLst>
          </p:cNvPr>
          <p:cNvSpPr txBox="1"/>
          <p:nvPr/>
        </p:nvSpPr>
        <p:spPr>
          <a:xfrm>
            <a:off x="5069057" y="430635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직장 주소는 필수 요소입니다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6C90B07-1962-4088-86B7-2182AE13A462}"/>
              </a:ext>
            </a:extLst>
          </p:cNvPr>
          <p:cNvSpPr txBox="1"/>
          <p:nvPr/>
        </p:nvSpPr>
        <p:spPr>
          <a:xfrm>
            <a:off x="6150146" y="4943570"/>
            <a:ext cx="516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여</a:t>
            </a:r>
            <a:endParaRPr lang="ko-KR" alt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2F3E2D-C0CA-41CC-90B5-9DAC80ABF473}"/>
              </a:ext>
            </a:extLst>
          </p:cNvPr>
          <p:cNvSpPr txBox="1"/>
          <p:nvPr/>
        </p:nvSpPr>
        <p:spPr>
          <a:xfrm>
            <a:off x="4336065" y="4979078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성별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0" name="원형: 비어 있음 49">
            <a:extLst>
              <a:ext uri="{FF2B5EF4-FFF2-40B4-BE49-F238E27FC236}">
                <a16:creationId xmlns:a16="http://schemas.microsoft.com/office/drawing/2014/main" id="{FCDCD1FB-0F03-4A20-B74C-0F94BF574C90}"/>
              </a:ext>
            </a:extLst>
          </p:cNvPr>
          <p:cNvSpPr/>
          <p:nvPr/>
        </p:nvSpPr>
        <p:spPr>
          <a:xfrm>
            <a:off x="5539505" y="5067689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1" name="원형: 비어 있음 50">
            <a:extLst>
              <a:ext uri="{FF2B5EF4-FFF2-40B4-BE49-F238E27FC236}">
                <a16:creationId xmlns:a16="http://schemas.microsoft.com/office/drawing/2014/main" id="{5BABA49B-0664-4C08-A19A-ACB5102735C5}"/>
              </a:ext>
            </a:extLst>
          </p:cNvPr>
          <p:cNvSpPr/>
          <p:nvPr/>
        </p:nvSpPr>
        <p:spPr>
          <a:xfrm>
            <a:off x="6531710" y="5070010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98A33B9-176F-4C15-A2B5-FD5FE453FCC2}"/>
              </a:ext>
            </a:extLst>
          </p:cNvPr>
          <p:cNvSpPr txBox="1"/>
          <p:nvPr/>
        </p:nvSpPr>
        <p:spPr>
          <a:xfrm>
            <a:off x="5145960" y="4943570"/>
            <a:ext cx="33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남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0B68DD7-4E8B-4BBD-A857-DD37D146E612}"/>
              </a:ext>
            </a:extLst>
          </p:cNvPr>
          <p:cNvSpPr txBox="1"/>
          <p:nvPr/>
        </p:nvSpPr>
        <p:spPr>
          <a:xfrm>
            <a:off x="5109357" y="3320399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나이는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43" name="사각형: 둥근 모서리 42">
            <a:extLst>
              <a:ext uri="{FF2B5EF4-FFF2-40B4-BE49-F238E27FC236}">
                <a16:creationId xmlns:a16="http://schemas.microsoft.com/office/drawing/2014/main" id="{AC10335B-097D-474A-B788-09D54C8D91DB}"/>
              </a:ext>
            </a:extLst>
          </p:cNvPr>
          <p:cNvSpPr/>
          <p:nvPr/>
        </p:nvSpPr>
        <p:spPr>
          <a:xfrm>
            <a:off x="4396994" y="5806901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가입하기</a:t>
            </a:r>
          </a:p>
        </p:txBody>
      </p:sp>
    </p:spTree>
    <p:extLst>
      <p:ext uri="{BB962C8B-B14F-4D97-AF65-F5344CB8AC3E}">
        <p14:creationId xmlns:p14="http://schemas.microsoft.com/office/powerpoint/2010/main" val="1538068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6755638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완료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회원가입 완료 페이지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329771"/>
              </p:ext>
            </p:extLst>
          </p:nvPr>
        </p:nvGraphicFramePr>
        <p:xfrm>
          <a:off x="8603672" y="1180080"/>
          <a:ext cx="3588327" cy="5677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217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7624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로그인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회원가입 완료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회원가입 안내메시지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847624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회원가입이 완료되었습니다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2958960" y="3692625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2876294" y="360623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264103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961769-84F3-4125-BF36-068600127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마이페이지</a:t>
            </a:r>
          </a:p>
        </p:txBody>
      </p:sp>
    </p:spTree>
    <p:extLst>
      <p:ext uri="{BB962C8B-B14F-4D97-AF65-F5344CB8AC3E}">
        <p14:creationId xmlns:p14="http://schemas.microsoft.com/office/powerpoint/2010/main" val="2526750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084327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상단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 상단</a:t>
                      </a: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3981473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 상단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모든 페이지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접근시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비밀번호를 한번 더 </a:t>
                      </a:r>
                      <a:r>
                        <a:rPr lang="ko-KR" alt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입력받아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보안 강화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16B8787C-D05F-4917-AEF4-5C6EDDFA0262}"/>
              </a:ext>
            </a:extLst>
          </p:cNvPr>
          <p:cNvSpPr/>
          <p:nvPr/>
        </p:nvSpPr>
        <p:spPr>
          <a:xfrm>
            <a:off x="579" y="1822862"/>
            <a:ext cx="8603092" cy="40259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57" name="표 57">
            <a:extLst>
              <a:ext uri="{FF2B5EF4-FFF2-40B4-BE49-F238E27FC236}">
                <a16:creationId xmlns:a16="http://schemas.microsoft.com/office/drawing/2014/main" id="{01494A31-BFA9-4644-BF9E-FA34A263BD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2411833"/>
              </p:ext>
            </p:extLst>
          </p:nvPr>
        </p:nvGraphicFramePr>
        <p:xfrm>
          <a:off x="150407" y="2566667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75931139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0147391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1524904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44161176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1075653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회원정보수정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회원 탈퇴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1869175"/>
                  </a:ext>
                </a:extLst>
              </a:tr>
            </a:tbl>
          </a:graphicData>
        </a:graphic>
      </p:graphicFrame>
      <p:sp>
        <p:nvSpPr>
          <p:cNvPr id="10" name="직사각형 9">
            <a:extLst>
              <a:ext uri="{FF2B5EF4-FFF2-40B4-BE49-F238E27FC236}">
                <a16:creationId xmlns:a16="http://schemas.microsoft.com/office/drawing/2014/main" id="{F725F475-DADC-4201-8502-4CE1E0F30F2C}"/>
              </a:ext>
            </a:extLst>
          </p:cNvPr>
          <p:cNvSpPr/>
          <p:nvPr/>
        </p:nvSpPr>
        <p:spPr>
          <a:xfrm>
            <a:off x="0" y="2252284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707719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2685938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정보 수정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체크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/>
        </p:nvGraphicFramePr>
        <p:xfrm>
          <a:off x="8603672" y="1180080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171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695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Member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에서 정보를 가져와 보여주기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39335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309FD97B-7EB9-4883-87ED-8C583A3A96A7}"/>
              </a:ext>
            </a:extLst>
          </p:cNvPr>
          <p:cNvSpPr/>
          <p:nvPr/>
        </p:nvSpPr>
        <p:spPr>
          <a:xfrm>
            <a:off x="3640568" y="4391145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bg1">
                    <a:lumMod val="65000"/>
                  </a:schemeClr>
                </a:solidFill>
              </a:rPr>
              <a:t>비밀번호를 입력해 주세요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615044" y="3939706"/>
            <a:ext cx="1170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/>
              <a:t>비밀번호 입력</a:t>
            </a:r>
            <a:endParaRPr lang="ko-KR" altLang="en-US" sz="11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A7E058-7779-459F-AA98-8F206CF9B283}"/>
              </a:ext>
            </a:extLst>
          </p:cNvPr>
          <p:cNvSpPr txBox="1"/>
          <p:nvPr/>
        </p:nvSpPr>
        <p:spPr>
          <a:xfrm>
            <a:off x="2607649" y="4365210"/>
            <a:ext cx="7924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비밀번호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86C185-7B11-49F8-87A9-C10087A26C10}"/>
              </a:ext>
            </a:extLst>
          </p:cNvPr>
          <p:cNvSpPr txBox="1"/>
          <p:nvPr/>
        </p:nvSpPr>
        <p:spPr>
          <a:xfrm>
            <a:off x="1913021" y="2953753"/>
            <a:ext cx="4746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º </a:t>
            </a:r>
            <a:r>
              <a:rPr lang="ko-KR" altLang="en-US" sz="1000" dirty="0"/>
              <a:t>개인정보보호를 위하여 비밀번호 확인 후 회원정보의 관리</a:t>
            </a:r>
            <a:r>
              <a:rPr lang="en-US" altLang="ko-KR" sz="1000" dirty="0"/>
              <a:t>/</a:t>
            </a:r>
            <a:r>
              <a:rPr lang="ko-KR" altLang="en-US" sz="1000" dirty="0"/>
              <a:t>변경이 가능합니다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32C969-2945-4717-B0D6-64CE71C017A1}"/>
              </a:ext>
            </a:extLst>
          </p:cNvPr>
          <p:cNvSpPr txBox="1"/>
          <p:nvPr/>
        </p:nvSpPr>
        <p:spPr>
          <a:xfrm>
            <a:off x="1913021" y="3221010"/>
            <a:ext cx="4746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º </a:t>
            </a:r>
            <a:r>
              <a:rPr lang="ko-KR" altLang="en-US" sz="1000" dirty="0"/>
              <a:t>아래 비밀번호 입력란에 비밀번호 입력 후 </a:t>
            </a:r>
            <a:r>
              <a:rPr lang="en-US" altLang="ko-KR" sz="1000" dirty="0"/>
              <a:t>“</a:t>
            </a:r>
            <a:r>
              <a:rPr lang="ko-KR" altLang="en-US" sz="1000" dirty="0"/>
              <a:t>비밀번호 확인</a:t>
            </a:r>
            <a:r>
              <a:rPr lang="en-US" altLang="ko-KR" sz="1000" dirty="0"/>
              <a:t>＂</a:t>
            </a:r>
            <a:r>
              <a:rPr lang="ko-KR" altLang="en-US" sz="1000" dirty="0"/>
              <a:t>을 클릭하세요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D4908E-5715-42CA-870E-90E87CB5F8C5}"/>
              </a:ext>
            </a:extLst>
          </p:cNvPr>
          <p:cNvSpPr/>
          <p:nvPr/>
        </p:nvSpPr>
        <p:spPr>
          <a:xfrm>
            <a:off x="3525253" y="5143500"/>
            <a:ext cx="1822784" cy="38847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/>
              <a:t>비밀번호 확인</a:t>
            </a:r>
          </a:p>
        </p:txBody>
      </p:sp>
    </p:spTree>
    <p:extLst>
      <p:ext uri="{BB962C8B-B14F-4D97-AF65-F5344CB8AC3E}">
        <p14:creationId xmlns:p14="http://schemas.microsoft.com/office/powerpoint/2010/main" val="2390926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268691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체크 후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1708533"/>
              </p:ext>
            </p:extLst>
          </p:nvPr>
        </p:nvGraphicFramePr>
        <p:xfrm>
          <a:off x="8603672" y="1180080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9171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4695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체크 후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Member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에서 정보를 가져와 보여주기 및 변경 폼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변경하기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폼 검증 후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반영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취소하기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1962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6393357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7" name="사각형: 둥근 모서리 36">
            <a:extLst>
              <a:ext uri="{FF2B5EF4-FFF2-40B4-BE49-F238E27FC236}">
                <a16:creationId xmlns:a16="http://schemas.microsoft.com/office/drawing/2014/main" id="{D8F802F4-A8C9-4B4E-B6F6-E38022758E7F}"/>
              </a:ext>
            </a:extLst>
          </p:cNvPr>
          <p:cNvSpPr/>
          <p:nvPr/>
        </p:nvSpPr>
        <p:spPr>
          <a:xfrm>
            <a:off x="2541016" y="275657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사람이름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7675A5D-4200-4BAE-95E9-064E79E8C195}"/>
              </a:ext>
            </a:extLst>
          </p:cNvPr>
          <p:cNvSpPr txBox="1"/>
          <p:nvPr/>
        </p:nvSpPr>
        <p:spPr>
          <a:xfrm>
            <a:off x="1648658" y="1950007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회원 정보</a:t>
            </a:r>
          </a:p>
        </p:txBody>
      </p:sp>
      <p:sp>
        <p:nvSpPr>
          <p:cNvPr id="40" name="사각형: 둥근 모서리 39">
            <a:extLst>
              <a:ext uri="{FF2B5EF4-FFF2-40B4-BE49-F238E27FC236}">
                <a16:creationId xmlns:a16="http://schemas.microsoft.com/office/drawing/2014/main" id="{274D44AB-C61A-4C49-AAB8-AEC430108C8D}"/>
              </a:ext>
            </a:extLst>
          </p:cNvPr>
          <p:cNvSpPr/>
          <p:nvPr/>
        </p:nvSpPr>
        <p:spPr>
          <a:xfrm>
            <a:off x="2535543" y="37598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tx1"/>
                </a:solidFill>
              </a:rPr>
              <a:t>Daum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API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5B12600E-7909-45A3-BC19-16A48B258D6B}"/>
              </a:ext>
            </a:extLst>
          </p:cNvPr>
          <p:cNvSpPr/>
          <p:nvPr/>
        </p:nvSpPr>
        <p:spPr>
          <a:xfrm>
            <a:off x="2535542" y="43017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- </a:t>
            </a:r>
            <a:r>
              <a:rPr lang="ko-KR" altLang="en-US" sz="1200" dirty="0">
                <a:solidFill>
                  <a:schemeClr val="tx1"/>
                </a:solidFill>
              </a:rPr>
              <a:t>없이 </a:t>
            </a:r>
            <a:r>
              <a:rPr lang="en-US" altLang="ko-KR" sz="1200" dirty="0">
                <a:solidFill>
                  <a:schemeClr val="tx1"/>
                </a:solidFill>
              </a:rPr>
              <a:t>11</a:t>
            </a:r>
            <a:r>
              <a:rPr lang="ko-KR" altLang="en-US" sz="1200" dirty="0">
                <a:solidFill>
                  <a:schemeClr val="tx1"/>
                </a:solidFill>
              </a:rPr>
              <a:t>자리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6CACD65-A086-40B6-B9D2-F7A2D0BF801C}"/>
              </a:ext>
            </a:extLst>
          </p:cNvPr>
          <p:cNvSpPr txBox="1"/>
          <p:nvPr/>
        </p:nvSpPr>
        <p:spPr>
          <a:xfrm>
            <a:off x="1659237" y="27306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이름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3A32F4-231E-4B8C-A983-320F8AF9B482}"/>
              </a:ext>
            </a:extLst>
          </p:cNvPr>
          <p:cNvSpPr txBox="1"/>
          <p:nvPr/>
        </p:nvSpPr>
        <p:spPr>
          <a:xfrm>
            <a:off x="1648659" y="3735148"/>
            <a:ext cx="7855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집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970D253-0578-41DC-9742-6E40188DAED4}"/>
              </a:ext>
            </a:extLst>
          </p:cNvPr>
          <p:cNvSpPr txBox="1"/>
          <p:nvPr/>
        </p:nvSpPr>
        <p:spPr>
          <a:xfrm>
            <a:off x="1679460" y="42793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전화번호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55" name="사각형: 둥근 모서리 54">
            <a:extLst>
              <a:ext uri="{FF2B5EF4-FFF2-40B4-BE49-F238E27FC236}">
                <a16:creationId xmlns:a16="http://schemas.microsoft.com/office/drawing/2014/main" id="{B9B0FE0B-4CBA-4999-9829-C64C832A97DD}"/>
              </a:ext>
            </a:extLst>
          </p:cNvPr>
          <p:cNvSpPr/>
          <p:nvPr/>
        </p:nvSpPr>
        <p:spPr>
          <a:xfrm>
            <a:off x="5391859" y="275266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나이</a:t>
            </a: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2263F7DC-4037-47D8-803C-BD6E4F72BF65}"/>
              </a:ext>
            </a:extLst>
          </p:cNvPr>
          <p:cNvSpPr/>
          <p:nvPr/>
        </p:nvSpPr>
        <p:spPr>
          <a:xfrm>
            <a:off x="5392002" y="375989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 err="1">
                <a:solidFill>
                  <a:schemeClr val="tx1"/>
                </a:solidFill>
              </a:rPr>
              <a:t>Daum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API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09848021-6995-4E33-B4F0-8C890A8EED4C}"/>
              </a:ext>
            </a:extLst>
          </p:cNvPr>
          <p:cNvSpPr/>
          <p:nvPr/>
        </p:nvSpPr>
        <p:spPr>
          <a:xfrm>
            <a:off x="5392001" y="4301700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1A2CE04-5E42-4A75-B15F-BB0CB8B9C88F}"/>
              </a:ext>
            </a:extLst>
          </p:cNvPr>
          <p:cNvSpPr txBox="1"/>
          <p:nvPr/>
        </p:nvSpPr>
        <p:spPr>
          <a:xfrm>
            <a:off x="4515696" y="2730638"/>
            <a:ext cx="641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*</a:t>
            </a:r>
            <a:r>
              <a:rPr lang="ko-KR" altLang="en-US" sz="1100" dirty="0"/>
              <a:t>나이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183477B-25B0-492E-A4F0-2E99191FE305}"/>
              </a:ext>
            </a:extLst>
          </p:cNvPr>
          <p:cNvSpPr txBox="1"/>
          <p:nvPr/>
        </p:nvSpPr>
        <p:spPr>
          <a:xfrm>
            <a:off x="4505117" y="3735148"/>
            <a:ext cx="9040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직장 주소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0195720-E57A-4D2B-9C72-0371BA12B92C}"/>
              </a:ext>
            </a:extLst>
          </p:cNvPr>
          <p:cNvSpPr txBox="1"/>
          <p:nvPr/>
        </p:nvSpPr>
        <p:spPr>
          <a:xfrm>
            <a:off x="4535919" y="4279352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이메일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D3517B5-F8CB-42E3-B1E8-C461ED0DFE6C}"/>
              </a:ext>
            </a:extLst>
          </p:cNvPr>
          <p:cNvSpPr txBox="1"/>
          <p:nvPr/>
        </p:nvSpPr>
        <p:spPr>
          <a:xfrm>
            <a:off x="2486723" y="2997863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이름은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D8607E8-FF34-42C8-A626-3FBFEBECB100}"/>
              </a:ext>
            </a:extLst>
          </p:cNvPr>
          <p:cNvSpPr txBox="1"/>
          <p:nvPr/>
        </p:nvSpPr>
        <p:spPr>
          <a:xfrm>
            <a:off x="2517525" y="4017734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집 주소는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481BE78-3DCF-4D39-BF29-C0F4B4FDEABF}"/>
              </a:ext>
            </a:extLst>
          </p:cNvPr>
          <p:cNvSpPr txBox="1"/>
          <p:nvPr/>
        </p:nvSpPr>
        <p:spPr>
          <a:xfrm>
            <a:off x="5323057" y="401425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직장 주소는 필수 요소입니다</a:t>
            </a:r>
          </a:p>
        </p:txBody>
      </p:sp>
      <p:sp>
        <p:nvSpPr>
          <p:cNvPr id="70" name="사각형: 둥근 모서리 69">
            <a:extLst>
              <a:ext uri="{FF2B5EF4-FFF2-40B4-BE49-F238E27FC236}">
                <a16:creationId xmlns:a16="http://schemas.microsoft.com/office/drawing/2014/main" id="{DED9DA0B-D090-4CE0-8E66-A657DBA4D894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51E2AB2-B455-417D-8006-466B8E6C37A8}"/>
              </a:ext>
            </a:extLst>
          </p:cNvPr>
          <p:cNvSpPr txBox="1"/>
          <p:nvPr/>
        </p:nvSpPr>
        <p:spPr>
          <a:xfrm>
            <a:off x="6404146" y="5077880"/>
            <a:ext cx="5164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여</a:t>
            </a:r>
            <a:endParaRPr lang="ko-KR" altLang="en-US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70F7B02-E565-4C23-B4BA-CB85E1D72D96}"/>
              </a:ext>
            </a:extLst>
          </p:cNvPr>
          <p:cNvSpPr txBox="1"/>
          <p:nvPr/>
        </p:nvSpPr>
        <p:spPr>
          <a:xfrm>
            <a:off x="4590065" y="5113388"/>
            <a:ext cx="8732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성별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73" name="원형: 비어 있음 72">
            <a:extLst>
              <a:ext uri="{FF2B5EF4-FFF2-40B4-BE49-F238E27FC236}">
                <a16:creationId xmlns:a16="http://schemas.microsoft.com/office/drawing/2014/main" id="{D8A32403-414B-4CF2-8589-5B5412E403E7}"/>
              </a:ext>
            </a:extLst>
          </p:cNvPr>
          <p:cNvSpPr/>
          <p:nvPr/>
        </p:nvSpPr>
        <p:spPr>
          <a:xfrm>
            <a:off x="5793505" y="5201999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4" name="원형: 비어 있음 73">
            <a:extLst>
              <a:ext uri="{FF2B5EF4-FFF2-40B4-BE49-F238E27FC236}">
                <a16:creationId xmlns:a16="http://schemas.microsoft.com/office/drawing/2014/main" id="{AD71D93F-603C-4BED-9603-9BB8F823C409}"/>
              </a:ext>
            </a:extLst>
          </p:cNvPr>
          <p:cNvSpPr/>
          <p:nvPr/>
        </p:nvSpPr>
        <p:spPr>
          <a:xfrm>
            <a:off x="6785710" y="5204320"/>
            <a:ext cx="97367" cy="116453"/>
          </a:xfrm>
          <a:prstGeom prst="donu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3634AEE-7053-4544-B6DB-11130347E3C9}"/>
              </a:ext>
            </a:extLst>
          </p:cNvPr>
          <p:cNvSpPr txBox="1"/>
          <p:nvPr/>
        </p:nvSpPr>
        <p:spPr>
          <a:xfrm>
            <a:off x="5399960" y="5077880"/>
            <a:ext cx="330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남</a:t>
            </a:r>
          </a:p>
        </p:txBody>
      </p:sp>
      <p:sp>
        <p:nvSpPr>
          <p:cNvPr id="78" name="사각형: 둥근 모서리 77">
            <a:extLst>
              <a:ext uri="{FF2B5EF4-FFF2-40B4-BE49-F238E27FC236}">
                <a16:creationId xmlns:a16="http://schemas.microsoft.com/office/drawing/2014/main" id="{1A7636D3-9752-4D85-B0CF-4E4C8618F4C9}"/>
              </a:ext>
            </a:extLst>
          </p:cNvPr>
          <p:cNvSpPr/>
          <p:nvPr/>
        </p:nvSpPr>
        <p:spPr>
          <a:xfrm>
            <a:off x="2548343" y="2313003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아이디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0F37B149-9DD5-4C48-842D-F358323A7C73}"/>
              </a:ext>
            </a:extLst>
          </p:cNvPr>
          <p:cNvSpPr txBox="1"/>
          <p:nvPr/>
        </p:nvSpPr>
        <p:spPr>
          <a:xfrm>
            <a:off x="1666563" y="2287068"/>
            <a:ext cx="7676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*</a:t>
            </a:r>
            <a:r>
              <a:rPr lang="ko-KR" altLang="en-US" sz="1100" dirty="0"/>
              <a:t>아이디 </a:t>
            </a:r>
            <a:r>
              <a:rPr lang="en-US" altLang="ko-KR" sz="1100" dirty="0"/>
              <a:t>:</a:t>
            </a:r>
            <a:endParaRPr lang="ko-KR" altLang="en-US" sz="11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5899B1A-FE19-458A-9F00-F2B42D180A87}"/>
              </a:ext>
            </a:extLst>
          </p:cNvPr>
          <p:cNvSpPr/>
          <p:nvPr/>
        </p:nvSpPr>
        <p:spPr>
          <a:xfrm>
            <a:off x="2163029" y="5677920"/>
            <a:ext cx="2055823" cy="3666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/>
              <a:t>변경</a:t>
            </a:r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725EF232-B36C-4D27-B422-714DD6C035A0}"/>
              </a:ext>
            </a:extLst>
          </p:cNvPr>
          <p:cNvSpPr/>
          <p:nvPr/>
        </p:nvSpPr>
        <p:spPr>
          <a:xfrm>
            <a:off x="4363947" y="5678481"/>
            <a:ext cx="2055823" cy="36662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취소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1CE7A3B-08CE-4AE7-B7E4-E56C5D640F9E}"/>
              </a:ext>
            </a:extLst>
          </p:cNvPr>
          <p:cNvSpPr txBox="1"/>
          <p:nvPr/>
        </p:nvSpPr>
        <p:spPr>
          <a:xfrm>
            <a:off x="5323057" y="2986888"/>
            <a:ext cx="403678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>
                <a:solidFill>
                  <a:srgbClr val="FF0000"/>
                </a:solidFill>
              </a:rPr>
              <a:t>나이는 필수 요소입니다</a:t>
            </a:r>
            <a:r>
              <a:rPr lang="en-US" altLang="ko-KR" sz="1000" dirty="0">
                <a:solidFill>
                  <a:srgbClr val="FF0000"/>
                </a:solidFill>
              </a:rPr>
              <a:t>.</a:t>
            </a:r>
            <a:endParaRPr lang="ko-KR" alt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248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308027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리스트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1804240"/>
              </p:ext>
            </p:extLst>
          </p:nvPr>
        </p:nvGraphicFramePr>
        <p:xfrm>
          <a:off x="8603672" y="1180083"/>
          <a:ext cx="3588327" cy="5918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80909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8836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리스트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70026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정보가져와서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처리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일련번호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 :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재해일자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Date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타입으로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발생형태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Check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기능으로 삭제 여부 결정하기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한 페이지당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개씩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18083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추가하기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추가 페이지로 이동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리스트에서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check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된 목록 삭제 처리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992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산재 정보</a:t>
            </a:r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1825777" y="5615092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추가하기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1675370" y="544195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graphicFrame>
        <p:nvGraphicFramePr>
          <p:cNvPr id="3" name="표 8">
            <a:extLst>
              <a:ext uri="{FF2B5EF4-FFF2-40B4-BE49-F238E27FC236}">
                <a16:creationId xmlns:a16="http://schemas.microsoft.com/office/drawing/2014/main" id="{1DF89397-2A0C-41C5-BF63-94BFCC0992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181391"/>
              </p:ext>
            </p:extLst>
          </p:nvPr>
        </p:nvGraphicFramePr>
        <p:xfrm>
          <a:off x="1675370" y="3183933"/>
          <a:ext cx="5495236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980">
                  <a:extLst>
                    <a:ext uri="{9D8B030D-6E8A-4147-A177-3AD203B41FA5}">
                      <a16:colId xmlns:a16="http://schemas.microsoft.com/office/drawing/2014/main" val="3149353794"/>
                    </a:ext>
                  </a:extLst>
                </a:gridCol>
                <a:gridCol w="471520">
                  <a:extLst>
                    <a:ext uri="{9D8B030D-6E8A-4147-A177-3AD203B41FA5}">
                      <a16:colId xmlns:a16="http://schemas.microsoft.com/office/drawing/2014/main" val="3974470729"/>
                    </a:ext>
                  </a:extLst>
                </a:gridCol>
                <a:gridCol w="1231321">
                  <a:extLst>
                    <a:ext uri="{9D8B030D-6E8A-4147-A177-3AD203B41FA5}">
                      <a16:colId xmlns:a16="http://schemas.microsoft.com/office/drawing/2014/main" val="68747978"/>
                    </a:ext>
                  </a:extLst>
                </a:gridCol>
                <a:gridCol w="1231321">
                  <a:extLst>
                    <a:ext uri="{9D8B030D-6E8A-4147-A177-3AD203B41FA5}">
                      <a16:colId xmlns:a16="http://schemas.microsoft.com/office/drawing/2014/main" val="840738960"/>
                    </a:ext>
                  </a:extLst>
                </a:gridCol>
                <a:gridCol w="1099047">
                  <a:extLst>
                    <a:ext uri="{9D8B030D-6E8A-4147-A177-3AD203B41FA5}">
                      <a16:colId xmlns:a16="http://schemas.microsoft.com/office/drawing/2014/main" val="1032703914"/>
                    </a:ext>
                  </a:extLst>
                </a:gridCol>
                <a:gridCol w="1099047">
                  <a:extLst>
                    <a:ext uri="{9D8B030D-6E8A-4147-A177-3AD203B41FA5}">
                      <a16:colId xmlns:a16="http://schemas.microsoft.com/office/drawing/2014/main" val="13051646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일련번호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재해일자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발생형태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질병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8158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2024-12-30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건설업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진폐증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77335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2024-09-30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중공업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골절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38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2024-07-30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건설업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찢어짐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06965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</a:rPr>
                        <a:t>ㅁ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2024-04-30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solidFill>
                            <a:schemeClr val="tx1"/>
                          </a:solidFill>
                        </a:rPr>
                        <a:t>중공업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골절</a:t>
                      </a: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-</a:t>
                      </a:r>
                      <a:endParaRPr lang="ko-KR" alt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376614"/>
                  </a:ext>
                </a:extLst>
              </a:tr>
            </a:tbl>
          </a:graphicData>
        </a:graphic>
      </p:graphicFrame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CEBA8D50-D7BE-4102-83D8-ABFD0740C103}"/>
              </a:ext>
            </a:extLst>
          </p:cNvPr>
          <p:cNvSpPr/>
          <p:nvPr/>
        </p:nvSpPr>
        <p:spPr>
          <a:xfrm>
            <a:off x="4455939" y="5615092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삭제하기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F1216A5-DF98-4A5F-9688-B1DBF163D13A}"/>
              </a:ext>
            </a:extLst>
          </p:cNvPr>
          <p:cNvSpPr/>
          <p:nvPr/>
        </p:nvSpPr>
        <p:spPr>
          <a:xfrm>
            <a:off x="2652028" y="5211266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074674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271171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관리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입력 폼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7447040"/>
              </p:ext>
            </p:extLst>
          </p:nvPr>
        </p:nvGraphicFramePr>
        <p:xfrm>
          <a:off x="8603672" y="1180083"/>
          <a:ext cx="3588327" cy="573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27044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467125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관리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폼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354031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select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광업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제조업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건설업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…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중분류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 따라 바뀜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select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광업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석탄광업 및 채석업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석회석</a:t>
                      </a:r>
                      <a:r>
                        <a:rPr lang="en-US" altLang="ko-KR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금속</a:t>
                      </a:r>
                      <a:r>
                        <a:rPr lang="en-US" altLang="ko-KR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비금속광업</a:t>
                      </a:r>
                      <a:r>
                        <a:rPr lang="ko-KR" altLang="en-U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</a:t>
                      </a:r>
                      <a:r>
                        <a:rPr lang="ko-KR" altLang="en-US" sz="10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기타광업</a:t>
                      </a:r>
                      <a:endParaRPr lang="en-US" altLang="ko-KR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endParaRPr lang="en-US" altLang="ko-KR" sz="10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건설업</a:t>
                      </a:r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</a:rPr>
                        <a:t>건설업</a:t>
                      </a:r>
                      <a:endParaRPr lang="en-US" altLang="ko-KR" sz="10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000" b="0" dirty="0">
                          <a:solidFill>
                            <a:schemeClr val="tx1"/>
                          </a:solidFill>
                        </a:rPr>
                        <a:t>….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발생형태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질병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Radio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재해일자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Date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타입으로 받기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YYYY-MM-DD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발생주소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다음주소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3441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Form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 입력 검증이 모두 통과했다면 가입확인 페이지로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53A409-D3ED-453C-8BA8-EE44AC117474}"/>
              </a:ext>
            </a:extLst>
          </p:cNvPr>
          <p:cNvSpPr txBox="1"/>
          <p:nvPr/>
        </p:nvSpPr>
        <p:spPr>
          <a:xfrm>
            <a:off x="1479883" y="2694554"/>
            <a:ext cx="12023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b="1" dirty="0"/>
              <a:t>산재 </a:t>
            </a:r>
            <a:r>
              <a:rPr lang="ko-KR" altLang="en-US" sz="1100" b="1"/>
              <a:t>정보 입력</a:t>
            </a:r>
            <a:endParaRPr lang="ko-KR" altLang="en-US" sz="1100" b="1" dirty="0"/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0C80538E-C0D3-4534-93CA-4D4BDD7B7BF4}"/>
              </a:ext>
            </a:extLst>
          </p:cNvPr>
          <p:cNvSpPr/>
          <p:nvPr/>
        </p:nvSpPr>
        <p:spPr>
          <a:xfrm>
            <a:off x="2281543" y="3675476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4" name="사각형: 둥근 모서리 23">
            <a:extLst>
              <a:ext uri="{FF2B5EF4-FFF2-40B4-BE49-F238E27FC236}">
                <a16:creationId xmlns:a16="http://schemas.microsoft.com/office/drawing/2014/main" id="{C21FF8B7-A9DF-4B4D-9BCA-29278DD2FE07}"/>
              </a:ext>
            </a:extLst>
          </p:cNvPr>
          <p:cNvSpPr/>
          <p:nvPr/>
        </p:nvSpPr>
        <p:spPr>
          <a:xfrm>
            <a:off x="1528194" y="4548011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4372664" y="5703026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등록하기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995F06-0A8B-40EF-AC28-9A19A76A2933}"/>
              </a:ext>
            </a:extLst>
          </p:cNvPr>
          <p:cNvSpPr txBox="1"/>
          <p:nvPr/>
        </p:nvSpPr>
        <p:spPr>
          <a:xfrm>
            <a:off x="1472235" y="418859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발생형태 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E00F82D-76CE-4AF0-AE17-A571ABE3D6B0}"/>
              </a:ext>
            </a:extLst>
          </p:cNvPr>
          <p:cNvSpPr txBox="1"/>
          <p:nvPr/>
        </p:nvSpPr>
        <p:spPr>
          <a:xfrm>
            <a:off x="1351916" y="3675476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재해일자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4222255" y="546279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EFE5CA5-578B-425C-A594-811BFD7A077D}"/>
              </a:ext>
            </a:extLst>
          </p:cNvPr>
          <p:cNvSpPr/>
          <p:nvPr/>
        </p:nvSpPr>
        <p:spPr>
          <a:xfrm>
            <a:off x="2281543" y="3177817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78ADDEF-1924-41EE-9977-5C53768B90A0}"/>
              </a:ext>
            </a:extLst>
          </p:cNvPr>
          <p:cNvSpPr/>
          <p:nvPr/>
        </p:nvSpPr>
        <p:spPr>
          <a:xfrm>
            <a:off x="5137859" y="3184032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3C7CF6-8420-40A9-91B6-9B154B5B42EA}"/>
              </a:ext>
            </a:extLst>
          </p:cNvPr>
          <p:cNvSpPr txBox="1"/>
          <p:nvPr/>
        </p:nvSpPr>
        <p:spPr>
          <a:xfrm>
            <a:off x="4319864" y="316316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중분류</a:t>
            </a:r>
            <a:r>
              <a:rPr lang="en-US" altLang="ko-KR" sz="1000" dirty="0"/>
              <a:t>2::</a:t>
            </a:r>
            <a:endParaRPr lang="ko-KR" altLang="en-US" sz="10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19152C-C274-4842-B44E-91F10111CA5D}"/>
              </a:ext>
            </a:extLst>
          </p:cNvPr>
          <p:cNvSpPr txBox="1"/>
          <p:nvPr/>
        </p:nvSpPr>
        <p:spPr>
          <a:xfrm>
            <a:off x="1351916" y="3177817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중분류</a:t>
            </a:r>
            <a:r>
              <a:rPr lang="en-US" altLang="ko-KR" sz="1000" dirty="0"/>
              <a:t>1</a:t>
            </a:r>
            <a:r>
              <a:rPr lang="ko-KR" altLang="en-US" sz="1000" dirty="0"/>
              <a:t>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55CEE9-71E0-4C35-9A1C-5D190BF390B2}"/>
              </a:ext>
            </a:extLst>
          </p:cNvPr>
          <p:cNvSpPr txBox="1"/>
          <p:nvPr/>
        </p:nvSpPr>
        <p:spPr>
          <a:xfrm>
            <a:off x="2778671" y="4188595"/>
            <a:ext cx="9946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질병</a:t>
            </a:r>
            <a:r>
              <a:rPr lang="en-US" altLang="ko-KR" sz="1000" dirty="0"/>
              <a:t>:</a:t>
            </a:r>
            <a:endParaRPr lang="ko-KR" altLang="en-US" sz="1000" dirty="0"/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7E5A9285-C8BC-4B5C-ACB6-FD7FBE5B1562}"/>
              </a:ext>
            </a:extLst>
          </p:cNvPr>
          <p:cNvSpPr/>
          <p:nvPr/>
        </p:nvSpPr>
        <p:spPr>
          <a:xfrm>
            <a:off x="2281543" y="4249372"/>
            <a:ext cx="121122" cy="1208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DB13C94-89F5-452E-A5F5-A9A3573347FE}"/>
              </a:ext>
            </a:extLst>
          </p:cNvPr>
          <p:cNvSpPr/>
          <p:nvPr/>
        </p:nvSpPr>
        <p:spPr>
          <a:xfrm>
            <a:off x="3323359" y="4249372"/>
            <a:ext cx="121122" cy="12082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3AFBE759-03EC-4886-A843-EA52EECC313E}"/>
              </a:ext>
            </a:extLst>
          </p:cNvPr>
          <p:cNvSpPr/>
          <p:nvPr/>
        </p:nvSpPr>
        <p:spPr>
          <a:xfrm>
            <a:off x="5157300" y="3675475"/>
            <a:ext cx="1877399" cy="21691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12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5F9FB7-303C-4A87-ADF1-B3C74B31FBA7}"/>
              </a:ext>
            </a:extLst>
          </p:cNvPr>
          <p:cNvSpPr txBox="1"/>
          <p:nvPr/>
        </p:nvSpPr>
        <p:spPr>
          <a:xfrm>
            <a:off x="4319864" y="3646170"/>
            <a:ext cx="86947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/>
              <a:t>*</a:t>
            </a:r>
            <a:r>
              <a:rPr lang="ko-KR" altLang="en-US" sz="1000" dirty="0"/>
              <a:t>발생주소 </a:t>
            </a:r>
            <a:r>
              <a:rPr lang="en-US" altLang="ko-KR" sz="1000" dirty="0"/>
              <a:t>: 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8173422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494560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 탈퇴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회원탈퇴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5896336"/>
              </p:ext>
            </p:extLst>
          </p:nvPr>
        </p:nvGraphicFramePr>
        <p:xfrm>
          <a:off x="8603672" y="1180081"/>
          <a:ext cx="3588327" cy="56779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7052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81663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마이페이지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회원탈퇴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21453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탈퇴 안내 메시지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21453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탈퇴시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해당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user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초기화 및 세션처리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6865342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46167D8-10B4-4A7F-AD2F-87FA47159416}"/>
              </a:ext>
            </a:extLst>
          </p:cNvPr>
          <p:cNvSpPr/>
          <p:nvPr/>
        </p:nvSpPr>
        <p:spPr>
          <a:xfrm>
            <a:off x="1291765" y="1924248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973DA8CD-69BB-4D40-8A98-EA02C224F86F}"/>
              </a:ext>
            </a:extLst>
          </p:cNvPr>
          <p:cNvSpPr/>
          <p:nvPr/>
        </p:nvSpPr>
        <p:spPr>
          <a:xfrm>
            <a:off x="1291765" y="1924248"/>
            <a:ext cx="6161798" cy="423592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9B6151FC-E3BD-41BB-80D5-72CA5DC7DFA7}"/>
              </a:ext>
            </a:extLst>
          </p:cNvPr>
          <p:cNvSpPr/>
          <p:nvPr/>
        </p:nvSpPr>
        <p:spPr>
          <a:xfrm>
            <a:off x="4372664" y="5703026"/>
            <a:ext cx="2479755" cy="216915"/>
          </a:xfrm>
          <a:prstGeom prst="round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탈퇴하기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FE57521-A2FC-4B06-ACC9-5967AF278877}"/>
              </a:ext>
            </a:extLst>
          </p:cNvPr>
          <p:cNvSpPr/>
          <p:nvPr/>
        </p:nvSpPr>
        <p:spPr>
          <a:xfrm>
            <a:off x="4222255" y="5462799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53788F-0E37-44EA-A62E-A555E27F6F69}"/>
              </a:ext>
            </a:extLst>
          </p:cNvPr>
          <p:cNvSpPr txBox="1"/>
          <p:nvPr/>
        </p:nvSpPr>
        <p:spPr>
          <a:xfrm>
            <a:off x="2249905" y="2803358"/>
            <a:ext cx="4012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정말 탈퇴 하시겠습니까</a:t>
            </a:r>
            <a:r>
              <a:rPr lang="en-US" altLang="ko-KR" dirty="0"/>
              <a:t>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43774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7060C0-231F-48B5-97C7-6C5EC2DF9A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산재 뉴스</a:t>
            </a:r>
          </a:p>
        </p:txBody>
      </p:sp>
    </p:spTree>
    <p:extLst>
      <p:ext uri="{BB962C8B-B14F-4D97-AF65-F5344CB8AC3E}">
        <p14:creationId xmlns:p14="http://schemas.microsoft.com/office/powerpoint/2010/main" val="33049400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3785848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11563"/>
              </p:ext>
            </p:extLst>
          </p:nvPr>
        </p:nvGraphicFramePr>
        <p:xfrm>
          <a:off x="8603672" y="1180080"/>
          <a:ext cx="3588327" cy="581448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5701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5415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122614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 뉴스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사이트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기사이미지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제목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요약글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기사 작성일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원본 뉴스 링크 저장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뉴스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db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에서 정보 가져와 화면에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이미지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내용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클릭시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원본 뉴스 링크를 타고 페이지 이동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한 페이지당 기사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10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개씩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5415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6595F223-A11D-B244-B9A0-B5A17CDA5204}"/>
              </a:ext>
            </a:extLst>
          </p:cNvPr>
          <p:cNvSpPr/>
          <p:nvPr/>
        </p:nvSpPr>
        <p:spPr>
          <a:xfrm>
            <a:off x="275119" y="1990338"/>
            <a:ext cx="8053431" cy="368758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D5EB0DC7-4DBF-0F36-C225-7EFCC67B293C}"/>
              </a:ext>
            </a:extLst>
          </p:cNvPr>
          <p:cNvSpPr/>
          <p:nvPr/>
        </p:nvSpPr>
        <p:spPr>
          <a:xfrm>
            <a:off x="1615043" y="2227234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B1D95BDE-1637-E94E-184B-E7C89E5FC57D}"/>
              </a:ext>
            </a:extLst>
          </p:cNvPr>
          <p:cNvSpPr/>
          <p:nvPr/>
        </p:nvSpPr>
        <p:spPr>
          <a:xfrm>
            <a:off x="1615043" y="2517519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4505921C-EFC5-9B98-CCC7-ADEB2725A46C}"/>
              </a:ext>
            </a:extLst>
          </p:cNvPr>
          <p:cNvSpPr/>
          <p:nvPr/>
        </p:nvSpPr>
        <p:spPr>
          <a:xfrm>
            <a:off x="1615043" y="3408107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0A36684E-6B56-FADE-ECDF-822B743CF08B}"/>
              </a:ext>
            </a:extLst>
          </p:cNvPr>
          <p:cNvSpPr/>
          <p:nvPr/>
        </p:nvSpPr>
        <p:spPr>
          <a:xfrm>
            <a:off x="1615043" y="4588980"/>
            <a:ext cx="969092" cy="21478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기사 제목</a:t>
            </a: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E8BBEC8C-F3EA-FC4C-AE9F-73652C7E4ED6}"/>
              </a:ext>
            </a:extLst>
          </p:cNvPr>
          <p:cNvSpPr/>
          <p:nvPr/>
        </p:nvSpPr>
        <p:spPr>
          <a:xfrm>
            <a:off x="1615043" y="2957472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4AEBDA4-1EFE-71A9-B7B4-B5729D664208}"/>
              </a:ext>
            </a:extLst>
          </p:cNvPr>
          <p:cNvSpPr/>
          <p:nvPr/>
        </p:nvSpPr>
        <p:spPr>
          <a:xfrm>
            <a:off x="1615043" y="3702911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6DC844A9-69BF-AD30-8BF4-4A8CBD3D7698}"/>
              </a:ext>
            </a:extLst>
          </p:cNvPr>
          <p:cNvSpPr/>
          <p:nvPr/>
        </p:nvSpPr>
        <p:spPr>
          <a:xfrm>
            <a:off x="1615043" y="4145624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62E32B1D-5D2E-6EDE-0755-A3C40900A3B7}"/>
              </a:ext>
            </a:extLst>
          </p:cNvPr>
          <p:cNvSpPr/>
          <p:nvPr/>
        </p:nvSpPr>
        <p:spPr>
          <a:xfrm>
            <a:off x="1615043" y="4875862"/>
            <a:ext cx="6610525" cy="37061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기사 간단 내용</a:t>
            </a: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73259B4D-7C80-C259-C552-B61F64198742}"/>
              </a:ext>
            </a:extLst>
          </p:cNvPr>
          <p:cNvSpPr/>
          <p:nvPr/>
        </p:nvSpPr>
        <p:spPr>
          <a:xfrm>
            <a:off x="1615043" y="5329286"/>
            <a:ext cx="809375" cy="14330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작성 날짜</a:t>
            </a:r>
          </a:p>
        </p:txBody>
      </p: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7F314ACF-351E-8410-FA74-C8D895D2DD9D}"/>
              </a:ext>
            </a:extLst>
          </p:cNvPr>
          <p:cNvGrpSpPr/>
          <p:nvPr/>
        </p:nvGrpSpPr>
        <p:grpSpPr>
          <a:xfrm>
            <a:off x="8258986" y="1990338"/>
            <a:ext cx="208120" cy="3700872"/>
            <a:chOff x="8258986" y="1990338"/>
            <a:chExt cx="208120" cy="3700872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697B83F7-EC56-A29B-BE2C-B024631E2622}"/>
                </a:ext>
              </a:extLst>
            </p:cNvPr>
            <p:cNvSpPr/>
            <p:nvPr/>
          </p:nvSpPr>
          <p:spPr>
            <a:xfrm>
              <a:off x="8258986" y="1990338"/>
              <a:ext cx="206130" cy="3700872"/>
            </a:xfrm>
            <a:prstGeom prst="rect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사각형: 둥근 모서리 37">
              <a:extLst>
                <a:ext uri="{FF2B5EF4-FFF2-40B4-BE49-F238E27FC236}">
                  <a16:creationId xmlns:a16="http://schemas.microsoft.com/office/drawing/2014/main" id="{94A63603-5DED-7778-56D1-DC07E38E917E}"/>
                </a:ext>
              </a:extLst>
            </p:cNvPr>
            <p:cNvSpPr/>
            <p:nvPr/>
          </p:nvSpPr>
          <p:spPr>
            <a:xfrm>
              <a:off x="8258986" y="2197150"/>
              <a:ext cx="208120" cy="236896"/>
            </a:xfrm>
            <a:prstGeom prst="roundRect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21DF785C-B7EC-1669-4582-2956CB7CAFD9}"/>
              </a:ext>
            </a:extLst>
          </p:cNvPr>
          <p:cNvSpPr/>
          <p:nvPr/>
        </p:nvSpPr>
        <p:spPr>
          <a:xfrm>
            <a:off x="2759978" y="5838738"/>
            <a:ext cx="3103927" cy="21007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1 | 2 | 3 | 4 | 5 | 6 | </a:t>
            </a:r>
            <a:r>
              <a:rPr lang="ko-KR" altLang="en-US" sz="1200" dirty="0">
                <a:solidFill>
                  <a:schemeClr val="tx1"/>
                </a:solidFill>
              </a:rPr>
              <a:t>다음 </a:t>
            </a:r>
            <a:r>
              <a:rPr lang="en-US" altLang="ko-KR" sz="1200" dirty="0">
                <a:solidFill>
                  <a:schemeClr val="tx1"/>
                </a:solidFill>
              </a:rPr>
              <a:t>|</a:t>
            </a:r>
            <a:r>
              <a:rPr lang="ko-KR" altLang="en-US" sz="1200" dirty="0" err="1">
                <a:solidFill>
                  <a:schemeClr val="tx1"/>
                </a:solidFill>
              </a:rPr>
              <a:t>맨끝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3846343E-B1F6-DB92-6C16-B9DA1096D06D}"/>
              </a:ext>
            </a:extLst>
          </p:cNvPr>
          <p:cNvSpPr/>
          <p:nvPr/>
        </p:nvSpPr>
        <p:spPr>
          <a:xfrm>
            <a:off x="518562" y="2224455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64A70A1D-A872-3F76-0E98-5DB1B4239256}"/>
              </a:ext>
            </a:extLst>
          </p:cNvPr>
          <p:cNvSpPr/>
          <p:nvPr/>
        </p:nvSpPr>
        <p:spPr>
          <a:xfrm>
            <a:off x="518562" y="3408107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54" name="사각형: 둥근 모서리 53">
            <a:extLst>
              <a:ext uri="{FF2B5EF4-FFF2-40B4-BE49-F238E27FC236}">
                <a16:creationId xmlns:a16="http://schemas.microsoft.com/office/drawing/2014/main" id="{77202031-CF92-B844-8F4F-D42B89D773B0}"/>
              </a:ext>
            </a:extLst>
          </p:cNvPr>
          <p:cNvSpPr/>
          <p:nvPr/>
        </p:nvSpPr>
        <p:spPr>
          <a:xfrm>
            <a:off x="518562" y="4601148"/>
            <a:ext cx="907891" cy="796637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기사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616DA03-25A6-4438-B5D8-9E3264DCE2F3}"/>
              </a:ext>
            </a:extLst>
          </p:cNvPr>
          <p:cNvSpPr/>
          <p:nvPr/>
        </p:nvSpPr>
        <p:spPr>
          <a:xfrm>
            <a:off x="138553" y="1829520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960CD243-7955-4DE0-A39E-B3D903DD0F75}"/>
              </a:ext>
            </a:extLst>
          </p:cNvPr>
          <p:cNvSpPr/>
          <p:nvPr/>
        </p:nvSpPr>
        <p:spPr>
          <a:xfrm>
            <a:off x="439368" y="2143903"/>
            <a:ext cx="7817628" cy="1181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E2845C53-3EB1-4749-A31C-BFE34420A83E}"/>
              </a:ext>
            </a:extLst>
          </p:cNvPr>
          <p:cNvSpPr/>
          <p:nvPr/>
        </p:nvSpPr>
        <p:spPr>
          <a:xfrm>
            <a:off x="439368" y="3328974"/>
            <a:ext cx="7817628" cy="1181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39F2C791-417C-4781-962A-60D7AB8A5A33}"/>
              </a:ext>
            </a:extLst>
          </p:cNvPr>
          <p:cNvSpPr/>
          <p:nvPr/>
        </p:nvSpPr>
        <p:spPr>
          <a:xfrm>
            <a:off x="424649" y="4499500"/>
            <a:ext cx="7817628" cy="11813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42D4480C-E441-46C0-B4C5-CA6D606E9EBD}"/>
              </a:ext>
            </a:extLst>
          </p:cNvPr>
          <p:cNvSpPr/>
          <p:nvPr/>
        </p:nvSpPr>
        <p:spPr>
          <a:xfrm>
            <a:off x="2601216" y="5625122"/>
            <a:ext cx="300815" cy="314383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768439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7D9E5A-9610-427A-A1C0-C72FDD0AC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산재 통계</a:t>
            </a:r>
          </a:p>
        </p:txBody>
      </p:sp>
    </p:spTree>
    <p:extLst>
      <p:ext uri="{BB962C8B-B14F-4D97-AF65-F5344CB8AC3E}">
        <p14:creationId xmlns:p14="http://schemas.microsoft.com/office/powerpoint/2010/main" val="33838391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657151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6768917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674168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1224626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7171690"/>
              </p:ext>
            </p:extLst>
          </p:nvPr>
        </p:nvGraphicFramePr>
        <p:xfrm>
          <a:off x="8603672" y="1180080"/>
          <a:ext cx="3588327" cy="58700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산재 통계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주제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와 주제에 관한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한줄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소개를 보여준다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이미지는 주제와 관련된 이미지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정보를 받아와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분석요약글을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보여준다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정보를 받아와 분석 결과를 시각적으로 보여준다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원형 차트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연령대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중분류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발생형태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별로 미리 쿼리를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필터한다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5.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버튼 또는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엔터를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입력하면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검색쿼리를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넘긴다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7DB2DED3-87A5-4945-AC03-7FDAD7763D99}"/>
              </a:ext>
            </a:extLst>
          </p:cNvPr>
          <p:cNvSpPr/>
          <p:nvPr/>
        </p:nvSpPr>
        <p:spPr>
          <a:xfrm>
            <a:off x="0" y="4257031"/>
            <a:ext cx="8603671" cy="14933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aphicFrame>
        <p:nvGraphicFramePr>
          <p:cNvPr id="39" name="차트 38">
            <a:extLst>
              <a:ext uri="{FF2B5EF4-FFF2-40B4-BE49-F238E27FC236}">
                <a16:creationId xmlns:a16="http://schemas.microsoft.com/office/drawing/2014/main" id="{8A96D94D-13EF-44F2-9CAF-EFDE0769370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81831490"/>
              </p:ext>
            </p:extLst>
          </p:nvPr>
        </p:nvGraphicFramePr>
        <p:xfrm>
          <a:off x="423175" y="4284357"/>
          <a:ext cx="1398193" cy="12579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0" name="TextBox 39">
            <a:extLst>
              <a:ext uri="{FF2B5EF4-FFF2-40B4-BE49-F238E27FC236}">
                <a16:creationId xmlns:a16="http://schemas.microsoft.com/office/drawing/2014/main" id="{7C9FD3F0-C9D1-4A70-B068-6EA97A867A8D}"/>
              </a:ext>
            </a:extLst>
          </p:cNvPr>
          <p:cNvSpPr txBox="1"/>
          <p:nvPr/>
        </p:nvSpPr>
        <p:spPr>
          <a:xfrm>
            <a:off x="1682189" y="4423284"/>
            <a:ext cx="1035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1</a:t>
            </a:r>
            <a:r>
              <a:rPr lang="ko-KR" altLang="en-US" sz="1100" dirty="0"/>
              <a:t>위 </a:t>
            </a:r>
            <a:r>
              <a:rPr lang="en-US" altLang="ko-KR" sz="1100" dirty="0"/>
              <a:t>40</a:t>
            </a:r>
            <a:r>
              <a:rPr lang="ko-KR" altLang="en-US" sz="1100" dirty="0"/>
              <a:t>대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F0AABC2-A77D-4C50-8A9A-605BDF278D4A}"/>
              </a:ext>
            </a:extLst>
          </p:cNvPr>
          <p:cNvSpPr txBox="1"/>
          <p:nvPr/>
        </p:nvSpPr>
        <p:spPr>
          <a:xfrm>
            <a:off x="1682189" y="4834297"/>
            <a:ext cx="1035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</a:t>
            </a:r>
            <a:r>
              <a:rPr lang="ko-KR" altLang="en-US" sz="1100" dirty="0"/>
              <a:t>위 </a:t>
            </a:r>
            <a:r>
              <a:rPr lang="en-US" altLang="ko-KR" sz="1100" dirty="0"/>
              <a:t>30</a:t>
            </a:r>
            <a:r>
              <a:rPr lang="ko-KR" altLang="en-US" sz="1100" dirty="0"/>
              <a:t>대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EC33BF4-2A5E-4658-A6A5-C5923784CBCF}"/>
              </a:ext>
            </a:extLst>
          </p:cNvPr>
          <p:cNvSpPr txBox="1"/>
          <p:nvPr/>
        </p:nvSpPr>
        <p:spPr>
          <a:xfrm>
            <a:off x="1682189" y="5244823"/>
            <a:ext cx="1035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</a:t>
            </a:r>
            <a:r>
              <a:rPr lang="ko-KR" altLang="en-US" sz="1100" dirty="0"/>
              <a:t>위 </a:t>
            </a:r>
            <a:r>
              <a:rPr lang="en-US" altLang="ko-KR" sz="1100" dirty="0"/>
              <a:t>10</a:t>
            </a:r>
            <a:r>
              <a:rPr lang="ko-KR" altLang="en-US" sz="1100" dirty="0"/>
              <a:t>대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A4E5C56-146C-4691-8AE2-0FCE5EAE53F9}"/>
              </a:ext>
            </a:extLst>
          </p:cNvPr>
          <p:cNvSpPr txBox="1"/>
          <p:nvPr/>
        </p:nvSpPr>
        <p:spPr>
          <a:xfrm>
            <a:off x="0" y="4338766"/>
            <a:ext cx="832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연령대</a:t>
            </a:r>
          </a:p>
        </p:txBody>
      </p:sp>
      <p:graphicFrame>
        <p:nvGraphicFramePr>
          <p:cNvPr id="68" name="차트 67">
            <a:extLst>
              <a:ext uri="{FF2B5EF4-FFF2-40B4-BE49-F238E27FC236}">
                <a16:creationId xmlns:a16="http://schemas.microsoft.com/office/drawing/2014/main" id="{BA5FD586-2AEE-4F28-ACE7-3E3C40F7C7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01756174"/>
              </p:ext>
            </p:extLst>
          </p:nvPr>
        </p:nvGraphicFramePr>
        <p:xfrm>
          <a:off x="3001796" y="4294670"/>
          <a:ext cx="1398193" cy="12579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CD78A94F-672F-4506-AB7D-FB0CE7DA614A}"/>
              </a:ext>
            </a:extLst>
          </p:cNvPr>
          <p:cNvSpPr txBox="1"/>
          <p:nvPr/>
        </p:nvSpPr>
        <p:spPr>
          <a:xfrm>
            <a:off x="4260810" y="4433597"/>
            <a:ext cx="1035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1</a:t>
            </a:r>
            <a:r>
              <a:rPr lang="ko-KR" altLang="en-US" sz="1100" dirty="0"/>
              <a:t>위 중공업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CA2248A-8C05-4C1E-87CA-81D1A9FE8C11}"/>
              </a:ext>
            </a:extLst>
          </p:cNvPr>
          <p:cNvSpPr txBox="1"/>
          <p:nvPr/>
        </p:nvSpPr>
        <p:spPr>
          <a:xfrm>
            <a:off x="4260810" y="4844610"/>
            <a:ext cx="1035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</a:t>
            </a:r>
            <a:r>
              <a:rPr lang="ko-KR" altLang="en-US" sz="1100" dirty="0"/>
              <a:t>위 건설업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3ACB7BD-BDFA-4B90-B429-EE4554FC05B0}"/>
              </a:ext>
            </a:extLst>
          </p:cNvPr>
          <p:cNvSpPr txBox="1"/>
          <p:nvPr/>
        </p:nvSpPr>
        <p:spPr>
          <a:xfrm>
            <a:off x="4260810" y="5255136"/>
            <a:ext cx="1035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</a:t>
            </a:r>
            <a:r>
              <a:rPr lang="ko-KR" altLang="en-US" sz="1100" dirty="0"/>
              <a:t>위 어업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16A6A1A-C9E1-4346-9C35-8B4D472EF87D}"/>
              </a:ext>
            </a:extLst>
          </p:cNvPr>
          <p:cNvSpPr txBox="1"/>
          <p:nvPr/>
        </p:nvSpPr>
        <p:spPr>
          <a:xfrm>
            <a:off x="2578621" y="4349079"/>
            <a:ext cx="832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중분류</a:t>
            </a:r>
            <a:r>
              <a:rPr lang="en-US" altLang="ko-KR" dirty="0"/>
              <a:t>1</a:t>
            </a:r>
            <a:endParaRPr lang="ko-KR" altLang="en-US" dirty="0"/>
          </a:p>
        </p:txBody>
      </p:sp>
      <p:graphicFrame>
        <p:nvGraphicFramePr>
          <p:cNvPr id="73" name="차트 72">
            <a:extLst>
              <a:ext uri="{FF2B5EF4-FFF2-40B4-BE49-F238E27FC236}">
                <a16:creationId xmlns:a16="http://schemas.microsoft.com/office/drawing/2014/main" id="{F36D2ED7-A300-4F9D-AC94-E10BDE68EC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0950584"/>
              </p:ext>
            </p:extLst>
          </p:nvPr>
        </p:nvGraphicFramePr>
        <p:xfrm>
          <a:off x="5659003" y="4304983"/>
          <a:ext cx="1398193" cy="12579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04155135-FC20-4418-9941-6A101365DC22}"/>
              </a:ext>
            </a:extLst>
          </p:cNvPr>
          <p:cNvSpPr txBox="1"/>
          <p:nvPr/>
        </p:nvSpPr>
        <p:spPr>
          <a:xfrm>
            <a:off x="6918017" y="4443910"/>
            <a:ext cx="1035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1</a:t>
            </a:r>
            <a:r>
              <a:rPr lang="ko-KR" altLang="en-US" sz="1100" dirty="0"/>
              <a:t>위 찢어짐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FE57174-6E08-408F-A21F-2A24EF33ED8B}"/>
              </a:ext>
            </a:extLst>
          </p:cNvPr>
          <p:cNvSpPr txBox="1"/>
          <p:nvPr/>
        </p:nvSpPr>
        <p:spPr>
          <a:xfrm>
            <a:off x="6918017" y="4854923"/>
            <a:ext cx="1035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2</a:t>
            </a:r>
            <a:r>
              <a:rPr lang="ko-KR" altLang="en-US" sz="1100" dirty="0"/>
              <a:t>위 넘어짐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4BF16A1-3127-4BD9-8288-05EFFA9F9D23}"/>
              </a:ext>
            </a:extLst>
          </p:cNvPr>
          <p:cNvSpPr txBox="1"/>
          <p:nvPr/>
        </p:nvSpPr>
        <p:spPr>
          <a:xfrm>
            <a:off x="6918017" y="5265449"/>
            <a:ext cx="103561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3</a:t>
            </a:r>
            <a:r>
              <a:rPr lang="ko-KR" altLang="en-US" sz="1100" dirty="0"/>
              <a:t>위 부딪침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1AD3C85-2459-46B0-9000-62BB5AD7E201}"/>
              </a:ext>
            </a:extLst>
          </p:cNvPr>
          <p:cNvSpPr txBox="1"/>
          <p:nvPr/>
        </p:nvSpPr>
        <p:spPr>
          <a:xfrm>
            <a:off x="5235828" y="4359392"/>
            <a:ext cx="832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발생형태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8C90FA2-9FFE-4D54-BDA0-7CBD08FE42E3}"/>
              </a:ext>
            </a:extLst>
          </p:cNvPr>
          <p:cNvSpPr/>
          <p:nvPr/>
        </p:nvSpPr>
        <p:spPr>
          <a:xfrm>
            <a:off x="0" y="1822862"/>
            <a:ext cx="8603671" cy="11828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CC7303-B0EF-431B-821A-0F92CB474877}"/>
              </a:ext>
            </a:extLst>
          </p:cNvPr>
          <p:cNvSpPr txBox="1"/>
          <p:nvPr/>
        </p:nvSpPr>
        <p:spPr>
          <a:xfrm>
            <a:off x="67857" y="1935387"/>
            <a:ext cx="1479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산재 통계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F8B21B-7790-4195-91E4-904B61EC5EE9}"/>
              </a:ext>
            </a:extLst>
          </p:cNvPr>
          <p:cNvSpPr txBox="1"/>
          <p:nvPr/>
        </p:nvSpPr>
        <p:spPr>
          <a:xfrm>
            <a:off x="206578" y="2490827"/>
            <a:ext cx="6988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한줄</a:t>
            </a:r>
            <a:r>
              <a:rPr lang="ko-KR" altLang="en-US" dirty="0"/>
              <a:t> 소개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2BE55AE-3461-4A4B-9AAA-528CE6E3DE19}"/>
              </a:ext>
            </a:extLst>
          </p:cNvPr>
          <p:cNvSpPr/>
          <p:nvPr/>
        </p:nvSpPr>
        <p:spPr>
          <a:xfrm>
            <a:off x="7057196" y="1968500"/>
            <a:ext cx="1299404" cy="895975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이미지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4CDFB43-F3F6-4146-941D-DB02300DA1F4}"/>
              </a:ext>
            </a:extLst>
          </p:cNvPr>
          <p:cNvSpPr/>
          <p:nvPr/>
        </p:nvSpPr>
        <p:spPr>
          <a:xfrm>
            <a:off x="0" y="5750352"/>
            <a:ext cx="8603671" cy="4811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검색창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1CD89F3-6697-4B63-BC75-AACAC5C082DC}"/>
              </a:ext>
            </a:extLst>
          </p:cNvPr>
          <p:cNvSpPr/>
          <p:nvPr/>
        </p:nvSpPr>
        <p:spPr>
          <a:xfrm>
            <a:off x="-1" y="5752198"/>
            <a:ext cx="1123951" cy="47080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필터</a:t>
            </a:r>
          </a:p>
        </p:txBody>
      </p:sp>
      <p:pic>
        <p:nvPicPr>
          <p:cNvPr id="24" name="그래픽 23" descr="돋보기 단색으로 채워진">
            <a:extLst>
              <a:ext uri="{FF2B5EF4-FFF2-40B4-BE49-F238E27FC236}">
                <a16:creationId xmlns:a16="http://schemas.microsoft.com/office/drawing/2014/main" id="{73ECFD17-9A6E-4481-8791-F6C6D2C619E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93417" y="5812308"/>
            <a:ext cx="326366" cy="326366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247914DA-0E1B-4369-9E70-CCD764D00B4E}"/>
              </a:ext>
            </a:extLst>
          </p:cNvPr>
          <p:cNvSpPr txBox="1"/>
          <p:nvPr/>
        </p:nvSpPr>
        <p:spPr>
          <a:xfrm>
            <a:off x="499533" y="3285067"/>
            <a:ext cx="74540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OOO</a:t>
            </a:r>
            <a:r>
              <a:rPr lang="ko-KR" altLang="en-US" dirty="0"/>
              <a:t>님의 </a:t>
            </a:r>
            <a:r>
              <a:rPr lang="en-US" altLang="ko-KR" dirty="0"/>
              <a:t>OOO</a:t>
            </a:r>
            <a:r>
              <a:rPr lang="ko-KR" altLang="en-US" dirty="0"/>
              <a:t>업은 부상순위 </a:t>
            </a:r>
            <a:r>
              <a:rPr lang="en-US" altLang="ko-KR" dirty="0"/>
              <a:t>OO</a:t>
            </a:r>
            <a:r>
              <a:rPr lang="ko-KR" altLang="en-US" dirty="0"/>
              <a:t>위 이며</a:t>
            </a:r>
            <a:r>
              <a:rPr lang="en-US" altLang="ko-KR" dirty="0"/>
              <a:t>, </a:t>
            </a:r>
            <a:r>
              <a:rPr lang="ko-KR" altLang="en-US" dirty="0"/>
              <a:t>가장 높은 부상 종류는 </a:t>
            </a:r>
            <a:r>
              <a:rPr lang="en-US" altLang="ko-KR" dirty="0"/>
              <a:t>OO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36D5D312-89F8-48B7-9AB9-2388EBC7DD6C}"/>
              </a:ext>
            </a:extLst>
          </p:cNvPr>
          <p:cNvSpPr/>
          <p:nvPr/>
        </p:nvSpPr>
        <p:spPr>
          <a:xfrm>
            <a:off x="77635" y="580044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0635FEAC-12D7-49C4-8209-97A0EA2F704B}"/>
              </a:ext>
            </a:extLst>
          </p:cNvPr>
          <p:cNvSpPr/>
          <p:nvPr/>
        </p:nvSpPr>
        <p:spPr>
          <a:xfrm>
            <a:off x="8313965" y="5800448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5</a:t>
            </a:r>
            <a:endParaRPr lang="ko-KR" altLang="en-US" sz="1400" dirty="0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DC8FB421-9CFE-4432-A811-F0208FB58046}"/>
              </a:ext>
            </a:extLst>
          </p:cNvPr>
          <p:cNvSpPr/>
          <p:nvPr/>
        </p:nvSpPr>
        <p:spPr>
          <a:xfrm>
            <a:off x="41249" y="190092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53C7825D-4448-4B98-BC96-9250A449316D}"/>
              </a:ext>
            </a:extLst>
          </p:cNvPr>
          <p:cNvSpPr/>
          <p:nvPr/>
        </p:nvSpPr>
        <p:spPr>
          <a:xfrm>
            <a:off x="208140" y="316285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B2F5A591-3AD0-4F5C-9238-CEA0D23DD078}"/>
              </a:ext>
            </a:extLst>
          </p:cNvPr>
          <p:cNvSpPr/>
          <p:nvPr/>
        </p:nvSpPr>
        <p:spPr>
          <a:xfrm>
            <a:off x="33184" y="4290734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321032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2032814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main &gt; 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 통계 페이지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ko-KR" altLang="en-US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검색 후</a:t>
                      </a:r>
                      <a:r>
                        <a:rPr lang="en-US" altLang="ko-KR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305465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산재 통계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&gt;&gt; industrial_accident_statistics.html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지역별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업종별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부상별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통계 슬라이딩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industrial_accident_news_list.html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범위 내 클릭하면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en-US" altLang="ko-KR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industrial_accident_news_detail_id.html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4CDFB43-F3F6-4146-941D-DB02300DA1F4}"/>
              </a:ext>
            </a:extLst>
          </p:cNvPr>
          <p:cNvSpPr/>
          <p:nvPr/>
        </p:nvSpPr>
        <p:spPr>
          <a:xfrm>
            <a:off x="0" y="1855671"/>
            <a:ext cx="8603671" cy="481117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검색창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C1CD89F3-6697-4B63-BC75-AACAC5C082DC}"/>
              </a:ext>
            </a:extLst>
          </p:cNvPr>
          <p:cNvSpPr/>
          <p:nvPr/>
        </p:nvSpPr>
        <p:spPr>
          <a:xfrm>
            <a:off x="-1" y="1857517"/>
            <a:ext cx="1123951" cy="470804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필터</a:t>
            </a:r>
          </a:p>
        </p:txBody>
      </p:sp>
      <p:pic>
        <p:nvPicPr>
          <p:cNvPr id="24" name="그래픽 23" descr="돋보기 단색으로 채워진">
            <a:extLst>
              <a:ext uri="{FF2B5EF4-FFF2-40B4-BE49-F238E27FC236}">
                <a16:creationId xmlns:a16="http://schemas.microsoft.com/office/drawing/2014/main" id="{73ECFD17-9A6E-4481-8791-F6C6D2C619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93417" y="1917627"/>
            <a:ext cx="326366" cy="326366"/>
          </a:xfrm>
          <a:prstGeom prst="rect">
            <a:avLst/>
          </a:prstGeom>
        </p:spPr>
      </p:pic>
      <p:graphicFrame>
        <p:nvGraphicFramePr>
          <p:cNvPr id="31" name="표 4">
            <a:extLst>
              <a:ext uri="{FF2B5EF4-FFF2-40B4-BE49-F238E27FC236}">
                <a16:creationId xmlns:a16="http://schemas.microsoft.com/office/drawing/2014/main" id="{C28346CC-9FDB-4C8F-97B6-31A655296FF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13488962"/>
              </p:ext>
            </p:extLst>
          </p:nvPr>
        </p:nvGraphicFramePr>
        <p:xfrm>
          <a:off x="8466" y="2480724"/>
          <a:ext cx="8603672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096">
                  <a:extLst>
                    <a:ext uri="{9D8B030D-6E8A-4147-A177-3AD203B41FA5}">
                      <a16:colId xmlns:a16="http://schemas.microsoft.com/office/drawing/2014/main" val="3052106221"/>
                    </a:ext>
                  </a:extLst>
                </a:gridCol>
                <a:gridCol w="1229096">
                  <a:extLst>
                    <a:ext uri="{9D8B030D-6E8A-4147-A177-3AD203B41FA5}">
                      <a16:colId xmlns:a16="http://schemas.microsoft.com/office/drawing/2014/main" val="2663705773"/>
                    </a:ext>
                  </a:extLst>
                </a:gridCol>
                <a:gridCol w="1229096">
                  <a:extLst>
                    <a:ext uri="{9D8B030D-6E8A-4147-A177-3AD203B41FA5}">
                      <a16:colId xmlns:a16="http://schemas.microsoft.com/office/drawing/2014/main" val="3975982369"/>
                    </a:ext>
                  </a:extLst>
                </a:gridCol>
                <a:gridCol w="1229096">
                  <a:extLst>
                    <a:ext uri="{9D8B030D-6E8A-4147-A177-3AD203B41FA5}">
                      <a16:colId xmlns:a16="http://schemas.microsoft.com/office/drawing/2014/main" val="1152241909"/>
                    </a:ext>
                  </a:extLst>
                </a:gridCol>
                <a:gridCol w="1229096">
                  <a:extLst>
                    <a:ext uri="{9D8B030D-6E8A-4147-A177-3AD203B41FA5}">
                      <a16:colId xmlns:a16="http://schemas.microsoft.com/office/drawing/2014/main" val="1750711354"/>
                    </a:ext>
                  </a:extLst>
                </a:gridCol>
                <a:gridCol w="1229096">
                  <a:extLst>
                    <a:ext uri="{9D8B030D-6E8A-4147-A177-3AD203B41FA5}">
                      <a16:colId xmlns:a16="http://schemas.microsoft.com/office/drawing/2014/main" val="4200747119"/>
                    </a:ext>
                  </a:extLst>
                </a:gridCol>
                <a:gridCol w="1229096">
                  <a:extLst>
                    <a:ext uri="{9D8B030D-6E8A-4147-A177-3AD203B41FA5}">
                      <a16:colId xmlns:a16="http://schemas.microsoft.com/office/drawing/2014/main" val="3679825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지역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업종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부상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요일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연령대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직종</a:t>
                      </a: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3123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991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81140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8063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7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48265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802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93997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061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6584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8323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246473-6DA8-4C85-8259-70D4CA3D7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안전 자료실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1CA613-5FAA-4D68-A805-C577DA3874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97386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06626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0030882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4507130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1"/>
          <p:cNvGraphicFramePr/>
          <p:nvPr>
            <p:extLst>
              <p:ext uri="{D42A27DB-BD31-4B8C-83A1-F6EECF244321}">
                <p14:modId xmlns:p14="http://schemas.microsoft.com/office/powerpoint/2010/main" val="3753489264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프로젝트 명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화면코드</a:t>
                      </a:r>
                      <a:endParaRPr dirty="0"/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안전자료실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버전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박소윤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일자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2025-11-24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 경로 :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 main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상단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Google Shape;18;p1"/>
          <p:cNvGraphicFramePr/>
          <p:nvPr>
            <p:extLst>
              <p:ext uri="{D42A27DB-BD31-4B8C-83A1-F6EECF244321}">
                <p14:modId xmlns:p14="http://schemas.microsoft.com/office/powerpoint/2010/main" val="2317625951"/>
              </p:ext>
            </p:extLst>
          </p:nvPr>
        </p:nvGraphicFramePr>
        <p:xfrm>
          <a:off x="8603672" y="1180081"/>
          <a:ext cx="3588325" cy="569002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5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154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288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main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 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상단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518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1.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 err="1"/>
                        <a:t>추천콘텐츠</a:t>
                      </a:r>
                      <a:r>
                        <a:rPr lang="en-US" altLang="ko-KR" sz="1100" dirty="0"/>
                        <a:t> </a:t>
                      </a:r>
                      <a:r>
                        <a:rPr lang="ko-KR" altLang="en-US" sz="1100" dirty="0"/>
                        <a:t>영역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 err="1"/>
                        <a:t>default</a:t>
                      </a:r>
                      <a:r>
                        <a:rPr lang="ko-KR" sz="1100" dirty="0"/>
                        <a:t>: 업종 기반 추천 콘텐츠</a:t>
                      </a:r>
                      <a:endParaRPr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/>
                        <a:t>카드 슬라이드로 출력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이미지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안전교육 자료 이미지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제목 </a:t>
                      </a:r>
                      <a:r>
                        <a:rPr lang="en-US" altLang="ko-KR" sz="1100" dirty="0"/>
                        <a:t>: </a:t>
                      </a:r>
                      <a:r>
                        <a:rPr lang="ko-KR" altLang="en-US" sz="1100" dirty="0"/>
                        <a:t>안전교육 자료 제목</a:t>
                      </a:r>
                      <a:endParaRPr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728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2.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dirty="0"/>
                        <a:t>자료유형 필터(체크박스)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동영상 </a:t>
                      </a:r>
                      <a:r>
                        <a:rPr lang="en-US" altLang="ko-KR" sz="1100" dirty="0"/>
                        <a:t>/ OPS</a:t>
                      </a:r>
                      <a:r>
                        <a:rPr lang="en-US" altLang="ko-KR" sz="1100" b="0" i="0" u="none" strike="noStrike" kern="1200" cap="none" dirty="0">
                          <a:solidFill>
                            <a:schemeClr val="dk1"/>
                          </a:solidFill>
                          <a:effectLst/>
                          <a:latin typeface="맑은 고딕"/>
                          <a:ea typeface="맑은 고딕"/>
                          <a:cs typeface="맑은 고딕"/>
                        </a:rPr>
                        <a:t>(One Point Sheet)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 교재 </a:t>
                      </a:r>
                      <a:r>
                        <a:rPr lang="en-US" altLang="ko-KR" sz="1100" dirty="0"/>
                        <a:t>/ PPT </a:t>
                      </a:r>
                      <a:r>
                        <a:rPr lang="ko-KR" altLang="en-US" sz="1100" dirty="0"/>
                        <a:t>로 나누어 분류</a:t>
                      </a:r>
                      <a:r>
                        <a:rPr lang="en-US" altLang="ko-KR" sz="1100" dirty="0"/>
                        <a:t> </a:t>
                      </a:r>
                      <a:endParaRPr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728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3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r>
                        <a:rPr lang="ko-KR" altLang="en-US" sz="1100" dirty="0"/>
                        <a:t>검색 필터 </a:t>
                      </a:r>
                      <a:r>
                        <a:rPr lang="en-US" altLang="ko-KR" sz="1100" dirty="0"/>
                        <a:t>(selector) – </a:t>
                      </a:r>
                      <a:r>
                        <a:rPr lang="ko-KR" altLang="en-US" sz="1100" dirty="0"/>
                        <a:t>제목 </a:t>
                      </a:r>
                      <a:r>
                        <a:rPr lang="en-US" altLang="ko-KR" sz="1100" dirty="0"/>
                        <a:t>/ </a:t>
                      </a:r>
                      <a:r>
                        <a:rPr lang="ko-KR" altLang="en-US" sz="1100" dirty="0"/>
                        <a:t>키워드</a:t>
                      </a:r>
                      <a:r>
                        <a:rPr lang="en-US" altLang="ko-KR" sz="1100" dirty="0"/>
                        <a:t>(=</a:t>
                      </a:r>
                      <a:r>
                        <a:rPr lang="ko-KR" altLang="en-US" sz="1100" dirty="0"/>
                        <a:t>태그</a:t>
                      </a:r>
                      <a:r>
                        <a:rPr lang="en-US" altLang="ko-KR" sz="1100" dirty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6139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sz="1100" u="none" strike="noStrike" cap="none" dirty="0">
                          <a:solidFill>
                            <a:schemeClr val="dk1"/>
                          </a:solidFill>
                        </a:rPr>
                        <a:t>4</a:t>
                      </a: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텍스트 </a:t>
                      </a:r>
                      <a:r>
                        <a:rPr lang="ko-KR" altLang="en-US" sz="1100" u="none" strike="noStrike" cap="none" dirty="0" err="1">
                          <a:solidFill>
                            <a:schemeClr val="dk1"/>
                          </a:solidFill>
                        </a:rPr>
                        <a:t>검색란</a:t>
                      </a: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- </a:t>
                      </a:r>
                      <a:r>
                        <a:rPr lang="ko-KR" altLang="en-US" sz="1100" u="none" strike="noStrike" cap="none" dirty="0" err="1">
                          <a:solidFill>
                            <a:schemeClr val="dk1"/>
                          </a:solidFill>
                        </a:rPr>
                        <a:t>검색텍스트가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 제목 </a:t>
                      </a:r>
                      <a:r>
                        <a:rPr lang="en-US" altLang="ko-KR" sz="1100" u="none" strike="noStrike" cap="none" dirty="0">
                          <a:solidFill>
                            <a:schemeClr val="dk1"/>
                          </a:solidFill>
                        </a:rPr>
                        <a:t>OR 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키워드에 </a:t>
                      </a:r>
                      <a:r>
                        <a:rPr lang="ko-KR" altLang="en-US" sz="1100" u="none" strike="noStrike" cap="none" dirty="0" err="1">
                          <a:solidFill>
                            <a:schemeClr val="dk1"/>
                          </a:solidFill>
                        </a:rPr>
                        <a:t>들어가있는</a:t>
                      </a:r>
                      <a:r>
                        <a:rPr lang="ko-KR" altLang="en-US" sz="1100" u="none" strike="noStrike" cap="none" dirty="0">
                          <a:solidFill>
                            <a:schemeClr val="dk1"/>
                          </a:solidFill>
                        </a:rPr>
                        <a:t> 자료 검색</a:t>
                      </a: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728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8728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Google Shape;19;p1"/>
          <p:cNvSpPr/>
          <p:nvPr/>
        </p:nvSpPr>
        <p:spPr>
          <a:xfrm>
            <a:off x="1615044" y="1179953"/>
            <a:ext cx="6988500" cy="642900"/>
          </a:xfrm>
          <a:prstGeom prst="rect">
            <a:avLst/>
          </a:prstGeom>
          <a:solidFill>
            <a:srgbClr val="BFBFBF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1180080"/>
            <a:ext cx="1614900" cy="642900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endParaRPr/>
          </a:p>
        </p:txBody>
      </p:sp>
      <p:sp>
        <p:nvSpPr>
          <p:cNvPr id="23" name="Google Shape;23;p1"/>
          <p:cNvSpPr txBox="1"/>
          <p:nvPr/>
        </p:nvSpPr>
        <p:spPr>
          <a:xfrm>
            <a:off x="567534" y="2767233"/>
            <a:ext cx="1520233" cy="276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200" b="0" i="0" u="none" strike="noStrike" cap="none" dirty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추천 콘텐츠</a:t>
            </a:r>
            <a:endParaRPr sz="1200" dirty="0"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2352138A-2D9A-0034-8B74-04C1B8B490FA}"/>
              </a:ext>
            </a:extLst>
          </p:cNvPr>
          <p:cNvGrpSpPr/>
          <p:nvPr/>
        </p:nvGrpSpPr>
        <p:grpSpPr>
          <a:xfrm>
            <a:off x="560199" y="6292263"/>
            <a:ext cx="7404379" cy="332170"/>
            <a:chOff x="-255" y="4486803"/>
            <a:chExt cx="8603799" cy="48111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AFBDAC9-397E-B61D-18B0-EE4308A5BAD3}"/>
                </a:ext>
              </a:extLst>
            </p:cNvPr>
            <p:cNvSpPr/>
            <p:nvPr/>
          </p:nvSpPr>
          <p:spPr>
            <a:xfrm>
              <a:off x="-127" y="4486803"/>
              <a:ext cx="8603671" cy="4811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검색</a:t>
              </a:r>
            </a:p>
          </p:txBody>
        </p:sp>
        <p:pic>
          <p:nvPicPr>
            <p:cNvPr id="38" name="그래픽 37" descr="돋보기 단색으로 채워진">
              <a:extLst>
                <a:ext uri="{FF2B5EF4-FFF2-40B4-BE49-F238E27FC236}">
                  <a16:creationId xmlns:a16="http://schemas.microsoft.com/office/drawing/2014/main" id="{68AFFAE0-9DCE-2D1F-C899-C28D2D0FF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173119" y="4548552"/>
              <a:ext cx="326366" cy="326366"/>
            </a:xfrm>
            <a:prstGeom prst="rect">
              <a:avLst/>
            </a:prstGeom>
          </p:spPr>
        </p:pic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2CE310EE-9931-251E-2AF7-772794151427}"/>
                </a:ext>
              </a:extLst>
            </p:cNvPr>
            <p:cNvSpPr/>
            <p:nvPr/>
          </p:nvSpPr>
          <p:spPr>
            <a:xfrm>
              <a:off x="-255" y="4497116"/>
              <a:ext cx="1123951" cy="4708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필터</a:t>
              </a: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52BB3AB8-E9E2-670F-53AA-4EFAB576B196}"/>
              </a:ext>
            </a:extLst>
          </p:cNvPr>
          <p:cNvGrpSpPr/>
          <p:nvPr/>
        </p:nvGrpSpPr>
        <p:grpSpPr>
          <a:xfrm>
            <a:off x="567535" y="3091161"/>
            <a:ext cx="7404379" cy="2345050"/>
            <a:chOff x="-22034" y="2332583"/>
            <a:chExt cx="8613063" cy="2123346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58F642C1-AE9C-BA0C-6391-A5D10F03F320}"/>
                </a:ext>
              </a:extLst>
            </p:cNvPr>
            <p:cNvSpPr/>
            <p:nvPr/>
          </p:nvSpPr>
          <p:spPr>
            <a:xfrm>
              <a:off x="-22034" y="2332583"/>
              <a:ext cx="8613063" cy="21233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BD900AE3-427B-6EEE-E52F-A098DF854A06}"/>
                </a:ext>
              </a:extLst>
            </p:cNvPr>
            <p:cNvSpPr txBox="1"/>
            <p:nvPr/>
          </p:nvSpPr>
          <p:spPr>
            <a:xfrm>
              <a:off x="7815321" y="3192305"/>
              <a:ext cx="163183" cy="378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&gt;</a:t>
              </a:r>
              <a:endParaRPr lang="ko-KR" altLang="en-US" dirty="0"/>
            </a:p>
          </p:txBody>
        </p:sp>
        <p:grpSp>
          <p:nvGrpSpPr>
            <p:cNvPr id="49" name="그룹 48">
              <a:extLst>
                <a:ext uri="{FF2B5EF4-FFF2-40B4-BE49-F238E27FC236}">
                  <a16:creationId xmlns:a16="http://schemas.microsoft.com/office/drawing/2014/main" id="{4169AC0D-4588-C0A6-1A11-9C89EC82F080}"/>
                </a:ext>
              </a:extLst>
            </p:cNvPr>
            <p:cNvGrpSpPr/>
            <p:nvPr/>
          </p:nvGrpSpPr>
          <p:grpSpPr>
            <a:xfrm>
              <a:off x="1251347" y="2594261"/>
              <a:ext cx="1844382" cy="1694170"/>
              <a:chOff x="488731" y="2624754"/>
              <a:chExt cx="1844382" cy="1694170"/>
            </a:xfrm>
          </p:grpSpPr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0D1EA7D0-EC6B-9AFB-23F6-CF254C0AD2A9}"/>
                  </a:ext>
                </a:extLst>
              </p:cNvPr>
              <p:cNvSpPr/>
              <p:nvPr/>
            </p:nvSpPr>
            <p:spPr>
              <a:xfrm>
                <a:off x="488731" y="2624754"/>
                <a:ext cx="1844382" cy="169417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7EDEB38F-96BD-AA65-8B91-21CCD01CCECA}"/>
                  </a:ext>
                </a:extLst>
              </p:cNvPr>
              <p:cNvSpPr/>
              <p:nvPr/>
            </p:nvSpPr>
            <p:spPr>
              <a:xfrm>
                <a:off x="776587" y="2777501"/>
                <a:ext cx="1258785" cy="10599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이미지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BBD9E8A6-C223-A79B-0F41-28DCF06C6D49}"/>
                  </a:ext>
                </a:extLst>
              </p:cNvPr>
              <p:cNvSpPr txBox="1"/>
              <p:nvPr/>
            </p:nvSpPr>
            <p:spPr>
              <a:xfrm>
                <a:off x="946389" y="3911216"/>
                <a:ext cx="930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제목</a:t>
                </a:r>
              </a:p>
            </p:txBody>
          </p:sp>
        </p:grp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321A9C0B-ED47-E557-98E1-B75D45DE7AE3}"/>
                </a:ext>
              </a:extLst>
            </p:cNvPr>
            <p:cNvGrpSpPr/>
            <p:nvPr/>
          </p:nvGrpSpPr>
          <p:grpSpPr>
            <a:xfrm>
              <a:off x="5691591" y="2586378"/>
              <a:ext cx="1844382" cy="1694170"/>
              <a:chOff x="488731" y="2624754"/>
              <a:chExt cx="1844382" cy="1694170"/>
            </a:xfrm>
          </p:grpSpPr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A4F385DA-4922-DF0C-E792-7DAAF6144865}"/>
                  </a:ext>
                </a:extLst>
              </p:cNvPr>
              <p:cNvSpPr/>
              <p:nvPr/>
            </p:nvSpPr>
            <p:spPr>
              <a:xfrm>
                <a:off x="488731" y="2624754"/>
                <a:ext cx="1844382" cy="169417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EE641C1A-2B6A-BD4E-F5B0-35D07F14E86A}"/>
                  </a:ext>
                </a:extLst>
              </p:cNvPr>
              <p:cNvSpPr/>
              <p:nvPr/>
            </p:nvSpPr>
            <p:spPr>
              <a:xfrm>
                <a:off x="776587" y="2777501"/>
                <a:ext cx="1258785" cy="10599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이미지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4C8FFC3-0DD5-2F15-C8D0-1985980FFEDA}"/>
                  </a:ext>
                </a:extLst>
              </p:cNvPr>
              <p:cNvSpPr txBox="1"/>
              <p:nvPr/>
            </p:nvSpPr>
            <p:spPr>
              <a:xfrm>
                <a:off x="946389" y="3911216"/>
                <a:ext cx="930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제목</a:t>
                </a:r>
              </a:p>
            </p:txBody>
          </p:sp>
        </p:grpSp>
        <p:grpSp>
          <p:nvGrpSpPr>
            <p:cNvPr id="54" name="그룹 53">
              <a:extLst>
                <a:ext uri="{FF2B5EF4-FFF2-40B4-BE49-F238E27FC236}">
                  <a16:creationId xmlns:a16="http://schemas.microsoft.com/office/drawing/2014/main" id="{60304954-153D-A405-A916-1E039EBD1574}"/>
                </a:ext>
              </a:extLst>
            </p:cNvPr>
            <p:cNvGrpSpPr/>
            <p:nvPr/>
          </p:nvGrpSpPr>
          <p:grpSpPr>
            <a:xfrm>
              <a:off x="3471469" y="2608486"/>
              <a:ext cx="1844382" cy="1694170"/>
              <a:chOff x="488731" y="2624754"/>
              <a:chExt cx="1844382" cy="1694170"/>
            </a:xfrm>
          </p:grpSpPr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37C6D9E7-FCA2-A6F5-84AB-A82E6DD000B3}"/>
                  </a:ext>
                </a:extLst>
              </p:cNvPr>
              <p:cNvSpPr/>
              <p:nvPr/>
            </p:nvSpPr>
            <p:spPr>
              <a:xfrm>
                <a:off x="488731" y="2624754"/>
                <a:ext cx="1844382" cy="169417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FC3627AB-8A6D-B5C0-E6BB-82BD70CB49B2}"/>
                  </a:ext>
                </a:extLst>
              </p:cNvPr>
              <p:cNvSpPr/>
              <p:nvPr/>
            </p:nvSpPr>
            <p:spPr>
              <a:xfrm>
                <a:off x="776587" y="2777501"/>
                <a:ext cx="1258785" cy="1059988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dirty="0">
                    <a:solidFill>
                      <a:schemeClr val="tx1"/>
                    </a:solidFill>
                  </a:rPr>
                  <a:t>이미지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DAD795A-9509-433E-0DD5-7218BCCF63DC}"/>
                  </a:ext>
                </a:extLst>
              </p:cNvPr>
              <p:cNvSpPr txBox="1"/>
              <p:nvPr/>
            </p:nvSpPr>
            <p:spPr>
              <a:xfrm>
                <a:off x="946389" y="3911216"/>
                <a:ext cx="93017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dirty="0"/>
                  <a:t>제목</a:t>
                </a:r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BA8F7C40-39D5-5E3A-1CDF-CF1198DEFD48}"/>
                </a:ext>
              </a:extLst>
            </p:cNvPr>
            <p:cNvSpPr txBox="1"/>
            <p:nvPr/>
          </p:nvSpPr>
          <p:spPr>
            <a:xfrm>
              <a:off x="517128" y="3201870"/>
              <a:ext cx="4364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/>
                <a:t>&lt;</a:t>
              </a:r>
              <a:endParaRPr lang="ko-KR" altLang="en-US" dirty="0"/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FFCC216-20AC-B620-92DB-38636EEAA7FB}"/>
              </a:ext>
            </a:extLst>
          </p:cNvPr>
          <p:cNvSpPr/>
          <p:nvPr/>
        </p:nvSpPr>
        <p:spPr>
          <a:xfrm>
            <a:off x="567645" y="5620348"/>
            <a:ext cx="7404269" cy="6618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8AB2CACF-145C-5AE0-B4EF-006826A02F38}"/>
              </a:ext>
            </a:extLst>
          </p:cNvPr>
          <p:cNvSpPr/>
          <p:nvPr/>
        </p:nvSpPr>
        <p:spPr>
          <a:xfrm>
            <a:off x="484917" y="552065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FCC97C3-8B87-028A-C1BE-5D2AAE4BE79B}"/>
              </a:ext>
            </a:extLst>
          </p:cNvPr>
          <p:cNvSpPr/>
          <p:nvPr/>
        </p:nvSpPr>
        <p:spPr>
          <a:xfrm>
            <a:off x="450825" y="302305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4414735F-6A8A-88ED-26FD-70AEC223AD40}"/>
              </a:ext>
            </a:extLst>
          </p:cNvPr>
          <p:cNvSpPr/>
          <p:nvPr/>
        </p:nvSpPr>
        <p:spPr>
          <a:xfrm>
            <a:off x="477534" y="621494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5D1A7A40-7C39-C7B0-8157-53F2B3A05D9D}"/>
              </a:ext>
            </a:extLst>
          </p:cNvPr>
          <p:cNvSpPr/>
          <p:nvPr/>
        </p:nvSpPr>
        <p:spPr>
          <a:xfrm>
            <a:off x="2909155" y="6195764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C0AFA082-8659-FA47-6C38-61FBBAA41A92}"/>
              </a:ext>
            </a:extLst>
          </p:cNvPr>
          <p:cNvGrpSpPr/>
          <p:nvPr/>
        </p:nvGrpSpPr>
        <p:grpSpPr>
          <a:xfrm>
            <a:off x="546431" y="2084894"/>
            <a:ext cx="7307492" cy="453020"/>
            <a:chOff x="567534" y="2272425"/>
            <a:chExt cx="7307492" cy="453020"/>
          </a:xfrm>
        </p:grpSpPr>
        <p:sp>
          <p:nvSpPr>
            <p:cNvPr id="67" name="Google Shape;23;p1">
              <a:extLst>
                <a:ext uri="{FF2B5EF4-FFF2-40B4-BE49-F238E27FC236}">
                  <a16:creationId xmlns:a16="http://schemas.microsoft.com/office/drawing/2014/main" id="{ECEAA6D1-1F7A-C6B3-2E9B-699C43275D87}"/>
                </a:ext>
              </a:extLst>
            </p:cNvPr>
            <p:cNvSpPr txBox="1"/>
            <p:nvPr/>
          </p:nvSpPr>
          <p:spPr>
            <a:xfrm>
              <a:off x="567534" y="2272425"/>
              <a:ext cx="1767293" cy="36929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ko-KR" altLang="en-US" b="1" dirty="0">
                  <a:solidFill>
                    <a:schemeClr val="dk1"/>
                  </a:solidFill>
                  <a:latin typeface="Malgun Gothic"/>
                  <a:ea typeface="Malgun Gothic"/>
                  <a:sym typeface="Malgun Gothic"/>
                </a:rPr>
                <a:t>전체 교육자료</a:t>
              </a:r>
              <a:endParaRPr b="1" dirty="0"/>
            </a:p>
          </p:txBody>
        </p: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A264761D-8EE0-94A6-C11E-5AEC1318A2BB}"/>
                </a:ext>
              </a:extLst>
            </p:cNvPr>
            <p:cNvCxnSpPr/>
            <p:nvPr/>
          </p:nvCxnSpPr>
          <p:spPr>
            <a:xfrm>
              <a:off x="567534" y="2725445"/>
              <a:ext cx="7307492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TextBox 70">
            <a:extLst>
              <a:ext uri="{FF2B5EF4-FFF2-40B4-BE49-F238E27FC236}">
                <a16:creationId xmlns:a16="http://schemas.microsoft.com/office/drawing/2014/main" id="{0598290F-7F84-A1B9-3464-E20FD3BAB3C5}"/>
              </a:ext>
            </a:extLst>
          </p:cNvPr>
          <p:cNvSpPr txBox="1"/>
          <p:nvPr/>
        </p:nvSpPr>
        <p:spPr>
          <a:xfrm>
            <a:off x="3714591" y="3131441"/>
            <a:ext cx="12557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업종별 </a:t>
            </a:r>
            <a:r>
              <a:rPr lang="en-US" altLang="ko-KR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| </a:t>
            </a:r>
            <a:r>
              <a:rPr lang="ko-KR" altLang="en-US" sz="1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최근 본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B01D005-5ABD-4C06-9CF3-ED0531F5D442}"/>
              </a:ext>
            </a:extLst>
          </p:cNvPr>
          <p:cNvSpPr/>
          <p:nvPr/>
        </p:nvSpPr>
        <p:spPr>
          <a:xfrm>
            <a:off x="878305" y="5835316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AA663A-877B-43EA-A627-E98A52E6A245}"/>
              </a:ext>
            </a:extLst>
          </p:cNvPr>
          <p:cNvSpPr txBox="1"/>
          <p:nvPr/>
        </p:nvSpPr>
        <p:spPr>
          <a:xfrm>
            <a:off x="1279425" y="5823012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동영상</a:t>
            </a: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4ADECD2E-8868-43C7-BBFE-F4B2D0052B72}"/>
              </a:ext>
            </a:extLst>
          </p:cNvPr>
          <p:cNvSpPr/>
          <p:nvPr/>
        </p:nvSpPr>
        <p:spPr>
          <a:xfrm>
            <a:off x="2082755" y="5839077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1CC872D-4934-43C9-ADBB-30B8DB8DE183}"/>
              </a:ext>
            </a:extLst>
          </p:cNvPr>
          <p:cNvSpPr txBox="1"/>
          <p:nvPr/>
        </p:nvSpPr>
        <p:spPr>
          <a:xfrm>
            <a:off x="2483875" y="5826773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OPS</a:t>
            </a:r>
            <a:endParaRPr lang="ko-KR" altLang="en-US" sz="1200" dirty="0"/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05070BF3-A58E-4C37-BB7E-D24756CDDA25}"/>
              </a:ext>
            </a:extLst>
          </p:cNvPr>
          <p:cNvSpPr/>
          <p:nvPr/>
        </p:nvSpPr>
        <p:spPr>
          <a:xfrm>
            <a:off x="3353039" y="5835316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971BC7-6A1B-4105-91AF-18413B350D6A}"/>
              </a:ext>
            </a:extLst>
          </p:cNvPr>
          <p:cNvSpPr txBox="1"/>
          <p:nvPr/>
        </p:nvSpPr>
        <p:spPr>
          <a:xfrm>
            <a:off x="3754159" y="5823012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교재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20973F0-4017-4C39-A468-05EB7BC3F9EC}"/>
              </a:ext>
            </a:extLst>
          </p:cNvPr>
          <p:cNvSpPr/>
          <p:nvPr/>
        </p:nvSpPr>
        <p:spPr>
          <a:xfrm>
            <a:off x="4623323" y="5834136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AA0779-66BE-48C3-9E8D-13908399725C}"/>
              </a:ext>
            </a:extLst>
          </p:cNvPr>
          <p:cNvSpPr txBox="1"/>
          <p:nvPr/>
        </p:nvSpPr>
        <p:spPr>
          <a:xfrm>
            <a:off x="5024443" y="5821832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PPT</a:t>
            </a:r>
            <a:endParaRPr lang="ko-KR" altLang="en-US" sz="1200" dirty="0"/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BD9CACA8-9093-4DC6-ABA6-A4B7F7568171}"/>
              </a:ext>
            </a:extLst>
          </p:cNvPr>
          <p:cNvSpPr/>
          <p:nvPr/>
        </p:nvSpPr>
        <p:spPr>
          <a:xfrm>
            <a:off x="5827773" y="5834136"/>
            <a:ext cx="324853" cy="26469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36EDFEC-90EE-41A1-95CB-D5875D808C19}"/>
              </a:ext>
            </a:extLst>
          </p:cNvPr>
          <p:cNvSpPr txBox="1"/>
          <p:nvPr/>
        </p:nvSpPr>
        <p:spPr>
          <a:xfrm>
            <a:off x="6228893" y="5821832"/>
            <a:ext cx="670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기타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Google Shape;17;p1"/>
          <p:cNvGraphicFramePr/>
          <p:nvPr>
            <p:extLst>
              <p:ext uri="{D42A27DB-BD31-4B8C-83A1-F6EECF244321}">
                <p14:modId xmlns:p14="http://schemas.microsoft.com/office/powerpoint/2010/main" val="2530538905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프로젝트 명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화면코드</a:t>
                      </a:r>
                      <a:endParaRPr dirty="0"/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버전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작성자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박소윤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일자</a:t>
                      </a:r>
                      <a:endParaRPr/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>
                          <a:solidFill>
                            <a:schemeClr val="dk1"/>
                          </a:solidFill>
                        </a:rPr>
                        <a:t>2025-11-24</a:t>
                      </a:r>
                      <a:endParaRPr sz="14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 gridSpan="6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400" b="0" u="none" strike="noStrike" cap="none" dirty="0">
                          <a:solidFill>
                            <a:schemeClr val="dk1"/>
                          </a:solidFill>
                        </a:rPr>
                        <a:t>화면 경로 :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안전 자료실 검색 후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400" b="0" u="none" strike="noStrike" cap="none" dirty="0">
                          <a:solidFill>
                            <a:schemeClr val="dk1"/>
                          </a:solidFill>
                        </a:rPr>
                        <a:t>하단</a:t>
                      </a:r>
                      <a:r>
                        <a:rPr lang="en-US" altLang="ko-KR" sz="14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4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90000" marB="90000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Google Shape;18;p1"/>
          <p:cNvGraphicFramePr/>
          <p:nvPr>
            <p:extLst>
              <p:ext uri="{D42A27DB-BD31-4B8C-83A1-F6EECF244321}">
                <p14:modId xmlns:p14="http://schemas.microsoft.com/office/powerpoint/2010/main" val="1022306155"/>
              </p:ext>
            </p:extLst>
          </p:nvPr>
        </p:nvGraphicFramePr>
        <p:xfrm>
          <a:off x="8603672" y="1180080"/>
          <a:ext cx="3588325" cy="669628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357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0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5250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600" b="0" u="none" strike="noStrike" cap="none">
                          <a:solidFill>
                            <a:schemeClr val="dk1"/>
                          </a:solidFill>
                        </a:rPr>
                        <a:t>description</a:t>
                      </a:r>
                      <a:endParaRPr sz="16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37525"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메인 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&gt; 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안전 자료실 검색 후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(</a:t>
                      </a:r>
                      <a:r>
                        <a:rPr lang="ko-KR" altLang="en-US" sz="1600" b="0" u="none" strike="noStrike" cap="none" dirty="0">
                          <a:solidFill>
                            <a:schemeClr val="dk1"/>
                          </a:solidFill>
                        </a:rPr>
                        <a:t>하단</a:t>
                      </a:r>
                      <a:r>
                        <a:rPr lang="en-US" altLang="ko-KR" sz="1600" b="0" u="none" strike="noStrike" cap="none" dirty="0">
                          <a:solidFill>
                            <a:schemeClr val="dk1"/>
                          </a:solidFill>
                        </a:rPr>
                        <a:t>)</a:t>
                      </a:r>
                      <a:endParaRPr sz="16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ko-K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1.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검색결과 기반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교육자료 목록리스트</a:t>
                      </a:r>
                      <a:endParaRPr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sz="1100" u="none" strike="noStrike" cap="none">
                          <a:solidFill>
                            <a:schemeClr val="dk1"/>
                          </a:solidFill>
                        </a:rPr>
                        <a:t>2.</a:t>
                      </a: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교육자료 제목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태그 </a:t>
                      </a:r>
                      <a:r>
                        <a:rPr lang="en-US" altLang="ko-KR" sz="1100" dirty="0"/>
                        <a:t>: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태그 최소 </a:t>
                      </a:r>
                      <a:r>
                        <a:rPr lang="en-US" altLang="ko-KR" sz="1100" dirty="0"/>
                        <a:t>5-6</a:t>
                      </a:r>
                      <a:r>
                        <a:rPr lang="ko-KR" altLang="en-US" sz="1100" dirty="0"/>
                        <a:t>개</a:t>
                      </a:r>
                      <a:r>
                        <a:rPr lang="en-US" altLang="ko-KR" sz="1100" dirty="0"/>
                        <a:t>,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 err="1"/>
                        <a:t>크롤링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-&gt; </a:t>
                      </a:r>
                      <a:r>
                        <a:rPr lang="ko-KR" altLang="en-US" sz="1100" dirty="0"/>
                        <a:t>키워드 항목 사용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/>
                        <a:t>내용요약</a:t>
                      </a:r>
                      <a:r>
                        <a:rPr lang="en-US" altLang="ko-KR" sz="1100" dirty="0"/>
                        <a:t>: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 err="1"/>
                        <a:t>크롤링</a:t>
                      </a:r>
                      <a:r>
                        <a:rPr lang="ko-KR" altLang="en-US" sz="1100" dirty="0"/>
                        <a:t> 내용에 따라 추가 및 제거</a:t>
                      </a: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dirty="0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r>
                        <a:rPr lang="ko-KR" altLang="en-US" sz="1100" dirty="0" err="1"/>
                        <a:t>섬네일</a:t>
                      </a:r>
                      <a:r>
                        <a:rPr lang="ko-KR" altLang="en-US" sz="1100" dirty="0"/>
                        <a:t> 이미지</a:t>
                      </a: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400" u="none" strike="noStrike" cap="none"/>
                      </a:pPr>
                      <a:endParaRPr lang="en-US" altLang="ko-KR" sz="1100" dirty="0"/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556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lang="en-US" altLang="ko-KR"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375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 anchor="ctr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 sz="1400" u="none" strike="noStrike" cap="none"/>
                      </a:pPr>
                      <a:endParaRPr sz="110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9" name="Google Shape;19;p1"/>
          <p:cNvSpPr/>
          <p:nvPr/>
        </p:nvSpPr>
        <p:spPr>
          <a:xfrm>
            <a:off x="1615044" y="1179953"/>
            <a:ext cx="6988500" cy="642900"/>
          </a:xfrm>
          <a:prstGeom prst="rect">
            <a:avLst/>
          </a:prstGeom>
          <a:solidFill>
            <a:srgbClr val="BFBFBF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헤더</a:t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1180080"/>
            <a:ext cx="1614900" cy="642900"/>
          </a:xfrm>
          <a:prstGeom prst="rect">
            <a:avLst/>
          </a:prstGeom>
          <a:solidFill>
            <a:srgbClr val="595959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로고</a:t>
            </a:r>
            <a:endParaRPr/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2352138A-2D9A-0034-8B74-04C1B8B490FA}"/>
              </a:ext>
            </a:extLst>
          </p:cNvPr>
          <p:cNvGrpSpPr/>
          <p:nvPr/>
        </p:nvGrpSpPr>
        <p:grpSpPr>
          <a:xfrm>
            <a:off x="502043" y="2862450"/>
            <a:ext cx="7404379" cy="332170"/>
            <a:chOff x="-255" y="4486803"/>
            <a:chExt cx="8603799" cy="481117"/>
          </a:xfrm>
        </p:grpSpPr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AFBDAC9-397E-B61D-18B0-EE4308A5BAD3}"/>
                </a:ext>
              </a:extLst>
            </p:cNvPr>
            <p:cNvSpPr/>
            <p:nvPr/>
          </p:nvSpPr>
          <p:spPr>
            <a:xfrm>
              <a:off x="-127" y="4486803"/>
              <a:ext cx="8603671" cy="48111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>
                  <a:solidFill>
                    <a:schemeClr val="tx1"/>
                  </a:solidFill>
                </a:rPr>
                <a:t>검색</a:t>
              </a:r>
            </a:p>
          </p:txBody>
        </p:sp>
        <p:pic>
          <p:nvPicPr>
            <p:cNvPr id="38" name="그래픽 37" descr="돋보기 단색으로 채워진">
              <a:extLst>
                <a:ext uri="{FF2B5EF4-FFF2-40B4-BE49-F238E27FC236}">
                  <a16:creationId xmlns:a16="http://schemas.microsoft.com/office/drawing/2014/main" id="{68AFFAE0-9DCE-2D1F-C899-C28D2D0FF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173119" y="4548552"/>
              <a:ext cx="326366" cy="326366"/>
            </a:xfrm>
            <a:prstGeom prst="rect">
              <a:avLst/>
            </a:prstGeom>
          </p:spPr>
        </p:pic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2CE310EE-9931-251E-2AF7-772794151427}"/>
                </a:ext>
              </a:extLst>
            </p:cNvPr>
            <p:cNvSpPr/>
            <p:nvPr/>
          </p:nvSpPr>
          <p:spPr>
            <a:xfrm>
              <a:off x="-255" y="4497116"/>
              <a:ext cx="1123951" cy="47080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dirty="0"/>
                <a:t>필터</a:t>
              </a:r>
            </a:p>
          </p:txBody>
        </p:sp>
      </p:grp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2FFCC216-20AC-B620-92DB-38636EEAA7FB}"/>
              </a:ext>
            </a:extLst>
          </p:cNvPr>
          <p:cNvSpPr/>
          <p:nvPr/>
        </p:nvSpPr>
        <p:spPr>
          <a:xfrm>
            <a:off x="502153" y="2200514"/>
            <a:ext cx="7404269" cy="6618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체크박스</a:t>
            </a:r>
          </a:p>
        </p:txBody>
      </p:sp>
      <p:sp>
        <p:nvSpPr>
          <p:cNvPr id="2" name="Google Shape;23;p1">
            <a:extLst>
              <a:ext uri="{FF2B5EF4-FFF2-40B4-BE49-F238E27FC236}">
                <a16:creationId xmlns:a16="http://schemas.microsoft.com/office/drawing/2014/main" id="{B79359C4-C06E-B9A2-0301-7FF508A4E401}"/>
              </a:ext>
            </a:extLst>
          </p:cNvPr>
          <p:cNvSpPr txBox="1"/>
          <p:nvPr/>
        </p:nvSpPr>
        <p:spPr>
          <a:xfrm>
            <a:off x="434403" y="3429001"/>
            <a:ext cx="1660728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b="1" dirty="0">
                <a:solidFill>
                  <a:schemeClr val="dk1"/>
                </a:solidFill>
                <a:latin typeface="Malgun Gothic"/>
                <a:ea typeface="Malgun Gothic"/>
                <a:sym typeface="Malgun Gothic"/>
              </a:rPr>
              <a:t>검색결과</a:t>
            </a:r>
            <a:endParaRPr sz="1600" b="1" dirty="0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91C5788D-3F32-7885-9969-54E88FE52D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814238"/>
              </p:ext>
            </p:extLst>
          </p:nvPr>
        </p:nvGraphicFramePr>
        <p:xfrm>
          <a:off x="494817" y="4051894"/>
          <a:ext cx="7404270" cy="2437102"/>
        </p:xfrm>
        <a:graphic>
          <a:graphicData uri="http://schemas.openxmlformats.org/drawingml/2006/table">
            <a:tbl>
              <a:tblPr firstRow="1" bandRow="1"/>
              <a:tblGrid>
                <a:gridCol w="5832831">
                  <a:extLst>
                    <a:ext uri="{9D8B030D-6E8A-4147-A177-3AD203B41FA5}">
                      <a16:colId xmlns:a16="http://schemas.microsoft.com/office/drawing/2014/main" val="610372560"/>
                    </a:ext>
                  </a:extLst>
                </a:gridCol>
                <a:gridCol w="1571439">
                  <a:extLst>
                    <a:ext uri="{9D8B030D-6E8A-4147-A177-3AD203B41FA5}">
                      <a16:colId xmlns:a16="http://schemas.microsoft.com/office/drawing/2014/main" val="1554072574"/>
                    </a:ext>
                  </a:extLst>
                </a:gridCol>
              </a:tblGrid>
              <a:tr h="399214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698585"/>
                  </a:ext>
                </a:extLst>
              </a:tr>
              <a:tr h="1090156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 교육자료 제목</a:t>
                      </a:r>
                      <a:endParaRPr lang="en-US" altLang="ko-KR" dirty="0"/>
                    </a:p>
                    <a:p>
                      <a:pPr latinLnBrk="1"/>
                      <a:endParaRPr lang="en-US" altLang="ko-K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2619439"/>
                  </a:ext>
                </a:extLst>
              </a:tr>
              <a:tr h="947732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교육자료 제목</a:t>
                      </a:r>
                      <a:endParaRPr lang="en-US" altLang="ko-KR" dirty="0"/>
                    </a:p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0912220"/>
                  </a:ext>
                </a:extLst>
              </a:tr>
            </a:tbl>
          </a:graphicData>
        </a:graphic>
      </p:graphicFrame>
      <p:grpSp>
        <p:nvGrpSpPr>
          <p:cNvPr id="8" name="그룹 7">
            <a:extLst>
              <a:ext uri="{FF2B5EF4-FFF2-40B4-BE49-F238E27FC236}">
                <a16:creationId xmlns:a16="http://schemas.microsoft.com/office/drawing/2014/main" id="{94A2782A-D3E8-898C-BD5D-F5F8F7D349EC}"/>
              </a:ext>
            </a:extLst>
          </p:cNvPr>
          <p:cNvGrpSpPr/>
          <p:nvPr/>
        </p:nvGrpSpPr>
        <p:grpSpPr>
          <a:xfrm>
            <a:off x="577482" y="4773097"/>
            <a:ext cx="4041648" cy="530600"/>
            <a:chOff x="577482" y="4773097"/>
            <a:chExt cx="4041648" cy="53060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C3AA75E-8599-C0D2-C3A8-E39063397693}"/>
                </a:ext>
              </a:extLst>
            </p:cNvPr>
            <p:cNvSpPr txBox="1"/>
            <p:nvPr/>
          </p:nvSpPr>
          <p:spPr>
            <a:xfrm>
              <a:off x="577482" y="4773097"/>
              <a:ext cx="25680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……</a:t>
              </a:r>
              <a:endParaRPr lang="ko-KR" altLang="en-US" sz="10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498A1D5-094B-4384-198E-09B0A5415157}"/>
                </a:ext>
              </a:extLst>
            </p:cNvPr>
            <p:cNvSpPr txBox="1"/>
            <p:nvPr/>
          </p:nvSpPr>
          <p:spPr>
            <a:xfrm>
              <a:off x="577482" y="5042087"/>
              <a:ext cx="40416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내용 요약 </a:t>
              </a:r>
              <a:r>
                <a:rPr lang="en-US" altLang="ko-KR" sz="1100" dirty="0"/>
                <a:t>(</a:t>
              </a:r>
              <a:r>
                <a:rPr lang="ko-KR" altLang="en-US" sz="1100" dirty="0"/>
                <a:t>옵션</a:t>
              </a:r>
              <a:r>
                <a:rPr lang="en-US" altLang="ko-KR" sz="1100" dirty="0"/>
                <a:t>)</a:t>
              </a:r>
              <a:endParaRPr lang="ko-KR" altLang="en-US" sz="1100" dirty="0"/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7DCB0964-8A29-61AA-A26E-722DAB73ADB2}"/>
              </a:ext>
            </a:extLst>
          </p:cNvPr>
          <p:cNvGrpSpPr/>
          <p:nvPr/>
        </p:nvGrpSpPr>
        <p:grpSpPr>
          <a:xfrm>
            <a:off x="548929" y="5876592"/>
            <a:ext cx="4041648" cy="530600"/>
            <a:chOff x="577482" y="4773097"/>
            <a:chExt cx="4041648" cy="53060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15C5AB6-873B-FAA0-789D-741BC343B241}"/>
                </a:ext>
              </a:extLst>
            </p:cNvPr>
            <p:cNvSpPr txBox="1"/>
            <p:nvPr/>
          </p:nvSpPr>
          <p:spPr>
            <a:xfrm>
              <a:off x="577482" y="4773097"/>
              <a:ext cx="256805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/ </a:t>
              </a:r>
              <a:r>
                <a:rPr lang="ko-KR" altLang="en-US" sz="1000" dirty="0"/>
                <a:t>태그 </a:t>
              </a:r>
              <a:r>
                <a:rPr lang="en-US" altLang="ko-KR" sz="1000" dirty="0"/>
                <a:t>……</a:t>
              </a:r>
              <a:endParaRPr lang="ko-KR" altLang="en-US" sz="10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181C4E66-808D-0A9C-63D1-DF3C64A6211E}"/>
                </a:ext>
              </a:extLst>
            </p:cNvPr>
            <p:cNvSpPr txBox="1"/>
            <p:nvPr/>
          </p:nvSpPr>
          <p:spPr>
            <a:xfrm>
              <a:off x="577482" y="5042087"/>
              <a:ext cx="404164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100" dirty="0"/>
                <a:t>내용 요약 </a:t>
              </a:r>
              <a:r>
                <a:rPr lang="en-US" altLang="ko-KR" sz="1100" dirty="0"/>
                <a:t>(</a:t>
              </a:r>
              <a:r>
                <a:rPr lang="ko-KR" altLang="en-US" sz="1100" dirty="0"/>
                <a:t>옵션</a:t>
              </a:r>
              <a:r>
                <a:rPr lang="en-US" altLang="ko-KR" sz="1100" dirty="0"/>
                <a:t>)</a:t>
              </a:r>
              <a:endParaRPr lang="ko-KR" altLang="en-US" sz="1100" dirty="0"/>
            </a:p>
          </p:txBody>
        </p:sp>
      </p:grp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DFCC97C3-8B87-028A-C1BE-5D2AAE4BE79B}"/>
              </a:ext>
            </a:extLst>
          </p:cNvPr>
          <p:cNvSpPr/>
          <p:nvPr/>
        </p:nvSpPr>
        <p:spPr>
          <a:xfrm>
            <a:off x="419378" y="401882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211070F2-EE87-ABDA-7900-ACA0719D4C20}"/>
              </a:ext>
            </a:extLst>
          </p:cNvPr>
          <p:cNvSpPr/>
          <p:nvPr/>
        </p:nvSpPr>
        <p:spPr>
          <a:xfrm>
            <a:off x="2104564" y="4875964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CB11AAA-75AE-4732-AB33-29FEA235BEB4}"/>
              </a:ext>
            </a:extLst>
          </p:cNvPr>
          <p:cNvSpPr/>
          <p:nvPr/>
        </p:nvSpPr>
        <p:spPr>
          <a:xfrm>
            <a:off x="6679038" y="4597307"/>
            <a:ext cx="893834" cy="8440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06E267A-F00A-42B4-BE74-5F9D8D0DB3D1}"/>
              </a:ext>
            </a:extLst>
          </p:cNvPr>
          <p:cNvSpPr/>
          <p:nvPr/>
        </p:nvSpPr>
        <p:spPr>
          <a:xfrm>
            <a:off x="6679038" y="5627228"/>
            <a:ext cx="893834" cy="8440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</p:spTree>
    <p:extLst>
      <p:ext uri="{BB962C8B-B14F-4D97-AF65-F5344CB8AC3E}">
        <p14:creationId xmlns:p14="http://schemas.microsoft.com/office/powerpoint/2010/main" val="128428284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3132347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644621"/>
              </p:ext>
            </p:extLst>
          </p:nvPr>
        </p:nvGraphicFramePr>
        <p:xfrm>
          <a:off x="8603672" y="1180080"/>
          <a:ext cx="3588327" cy="73787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자료 이름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이미지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안전교육 자료 이미지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태그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키워드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자료형태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OPS/PPT/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교재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동영상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기타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내용요약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내용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807522" y="2465225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교육 상세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1048116" y="3002942"/>
            <a:ext cx="5877017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F0BB55-E055-F3AD-8928-7E13726EB4DD}"/>
              </a:ext>
            </a:extLst>
          </p:cNvPr>
          <p:cNvSpPr/>
          <p:nvPr/>
        </p:nvSpPr>
        <p:spPr>
          <a:xfrm>
            <a:off x="882787" y="300294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C778B3-9477-7B90-9347-1744D206ACDE}"/>
              </a:ext>
            </a:extLst>
          </p:cNvPr>
          <p:cNvSpPr/>
          <p:nvPr/>
        </p:nvSpPr>
        <p:spPr>
          <a:xfrm>
            <a:off x="1331556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36009-1E84-40D9-8452-AF2B6FABE2A7}"/>
              </a:ext>
            </a:extLst>
          </p:cNvPr>
          <p:cNvSpPr txBox="1"/>
          <p:nvPr/>
        </p:nvSpPr>
        <p:spPr>
          <a:xfrm>
            <a:off x="1331556" y="3175728"/>
            <a:ext cx="369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1CE361-EBE9-451A-88CB-DF32FF4ACCFC}"/>
              </a:ext>
            </a:extLst>
          </p:cNvPr>
          <p:cNvSpPr txBox="1"/>
          <p:nvPr/>
        </p:nvSpPr>
        <p:spPr>
          <a:xfrm>
            <a:off x="3230041" y="4174709"/>
            <a:ext cx="32275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태그 </a:t>
            </a:r>
            <a:r>
              <a:rPr lang="en-US" altLang="ko-KR" sz="1400" dirty="0"/>
              <a:t>: </a:t>
            </a:r>
            <a:r>
              <a:rPr lang="ko-KR" altLang="en-US" sz="1400" dirty="0"/>
              <a:t>태그</a:t>
            </a:r>
            <a:r>
              <a:rPr lang="en-US" altLang="ko-KR" sz="1400" dirty="0"/>
              <a:t>1, </a:t>
            </a:r>
            <a:r>
              <a:rPr lang="ko-KR" altLang="en-US" sz="1400" dirty="0"/>
              <a:t>태그</a:t>
            </a:r>
            <a:r>
              <a:rPr lang="en-US" altLang="ko-KR" sz="1400" dirty="0"/>
              <a:t>2, </a:t>
            </a:r>
            <a:r>
              <a:rPr lang="ko-KR" altLang="en-US" sz="1400" dirty="0"/>
              <a:t>태그</a:t>
            </a:r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95EAD1-4567-4613-B6A6-24BCC6A86F0C}"/>
              </a:ext>
            </a:extLst>
          </p:cNvPr>
          <p:cNvSpPr txBox="1"/>
          <p:nvPr/>
        </p:nvSpPr>
        <p:spPr>
          <a:xfrm>
            <a:off x="3230041" y="3713445"/>
            <a:ext cx="23143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자료 형태 </a:t>
            </a:r>
            <a:r>
              <a:rPr lang="en-US" altLang="ko-KR" sz="1400" dirty="0"/>
              <a:t>: PPT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08462B3-1C8A-4768-828F-6E576B11708A}"/>
              </a:ext>
            </a:extLst>
          </p:cNvPr>
          <p:cNvSpPr/>
          <p:nvPr/>
        </p:nvSpPr>
        <p:spPr>
          <a:xfrm>
            <a:off x="3322109" y="4781209"/>
            <a:ext cx="2372396" cy="68627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내용</a:t>
            </a:r>
          </a:p>
        </p:txBody>
      </p:sp>
    </p:spTree>
    <p:extLst>
      <p:ext uri="{BB962C8B-B14F-4D97-AF65-F5344CB8AC3E}">
        <p14:creationId xmlns:p14="http://schemas.microsoft.com/office/powerpoint/2010/main" val="116660016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178511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박소윤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94055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안전 자료실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자료상세 페이지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관련자료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이런콘텐츠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어떠세요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항목의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섬네일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제목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링크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C15B562-7F11-2149-BB2A-EB5BB9DC1A72}"/>
              </a:ext>
            </a:extLst>
          </p:cNvPr>
          <p:cNvSpPr txBox="1"/>
          <p:nvPr/>
        </p:nvSpPr>
        <p:spPr>
          <a:xfrm>
            <a:off x="807522" y="2465225"/>
            <a:ext cx="16150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 dirty="0"/>
              <a:t>관련 자료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F1800C-8F4C-6EB4-3231-F93F45D3F228}"/>
              </a:ext>
            </a:extLst>
          </p:cNvPr>
          <p:cNvSpPr/>
          <p:nvPr/>
        </p:nvSpPr>
        <p:spPr>
          <a:xfrm>
            <a:off x="491884" y="3002942"/>
            <a:ext cx="7334119" cy="3382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AF0BB55-E055-F3AD-8928-7E13726EB4DD}"/>
              </a:ext>
            </a:extLst>
          </p:cNvPr>
          <p:cNvSpPr/>
          <p:nvPr/>
        </p:nvSpPr>
        <p:spPr>
          <a:xfrm>
            <a:off x="409219" y="291654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C778B3-9477-7B90-9347-1744D206ACDE}"/>
              </a:ext>
            </a:extLst>
          </p:cNvPr>
          <p:cNvSpPr/>
          <p:nvPr/>
        </p:nvSpPr>
        <p:spPr>
          <a:xfrm>
            <a:off x="1331556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036009-1E84-40D9-8452-AF2B6FABE2A7}"/>
              </a:ext>
            </a:extLst>
          </p:cNvPr>
          <p:cNvSpPr txBox="1"/>
          <p:nvPr/>
        </p:nvSpPr>
        <p:spPr>
          <a:xfrm>
            <a:off x="1281107" y="3353849"/>
            <a:ext cx="369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35C8542-72BC-4B0D-B287-7709063DF0A8}"/>
              </a:ext>
            </a:extLst>
          </p:cNvPr>
          <p:cNvSpPr/>
          <p:nvPr/>
        </p:nvSpPr>
        <p:spPr>
          <a:xfrm>
            <a:off x="3262113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D9B6AC-91CE-4152-8A93-8BC40DE65638}"/>
              </a:ext>
            </a:extLst>
          </p:cNvPr>
          <p:cNvSpPr txBox="1"/>
          <p:nvPr/>
        </p:nvSpPr>
        <p:spPr>
          <a:xfrm>
            <a:off x="3211664" y="3353849"/>
            <a:ext cx="369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53AE670-FEF4-46C7-AC24-9AB108ACE4BE}"/>
              </a:ext>
            </a:extLst>
          </p:cNvPr>
          <p:cNvSpPr/>
          <p:nvPr/>
        </p:nvSpPr>
        <p:spPr>
          <a:xfrm>
            <a:off x="5243119" y="3807373"/>
            <a:ext cx="1615045" cy="166010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이미지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70E1308-0BF9-4364-8DAF-5A195CD52CB8}"/>
              </a:ext>
            </a:extLst>
          </p:cNvPr>
          <p:cNvSpPr txBox="1"/>
          <p:nvPr/>
        </p:nvSpPr>
        <p:spPr>
          <a:xfrm>
            <a:off x="5192670" y="3353849"/>
            <a:ext cx="3694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자료 이름</a:t>
            </a:r>
          </a:p>
        </p:txBody>
      </p:sp>
      <p:sp>
        <p:nvSpPr>
          <p:cNvPr id="18" name="1/2 액자 17">
            <a:extLst>
              <a:ext uri="{FF2B5EF4-FFF2-40B4-BE49-F238E27FC236}">
                <a16:creationId xmlns:a16="http://schemas.microsoft.com/office/drawing/2014/main" id="{2802CFE5-1F41-4EE5-A878-114242E99261}"/>
              </a:ext>
            </a:extLst>
          </p:cNvPr>
          <p:cNvSpPr/>
          <p:nvPr/>
        </p:nvSpPr>
        <p:spPr>
          <a:xfrm rot="19002226">
            <a:off x="662152" y="4363895"/>
            <a:ext cx="491884" cy="472966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1/2 액자 18">
            <a:extLst>
              <a:ext uri="{FF2B5EF4-FFF2-40B4-BE49-F238E27FC236}">
                <a16:creationId xmlns:a16="http://schemas.microsoft.com/office/drawing/2014/main" id="{69A34B69-3FFB-4757-9269-7F5CF031CA69}"/>
              </a:ext>
            </a:extLst>
          </p:cNvPr>
          <p:cNvSpPr/>
          <p:nvPr/>
        </p:nvSpPr>
        <p:spPr>
          <a:xfrm rot="8009119">
            <a:off x="7096140" y="4326002"/>
            <a:ext cx="491884" cy="472966"/>
          </a:xfrm>
          <a:prstGeom prst="halfFra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51631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A1C1F2-5328-4756-8968-8C07AED4E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주변 산재 검색</a:t>
            </a:r>
          </a:p>
        </p:txBody>
      </p:sp>
    </p:spTree>
    <p:extLst>
      <p:ext uri="{BB962C8B-B14F-4D97-AF65-F5344CB8AC3E}">
        <p14:creationId xmlns:p14="http://schemas.microsoft.com/office/powerpoint/2010/main" val="219116764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1118495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산재 검색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953094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산재 검색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15285171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3EB23EE5-4830-38F5-ABCB-D3C5120861B9}"/>
              </a:ext>
            </a:extLst>
          </p:cNvPr>
          <p:cNvSpPr/>
          <p:nvPr/>
        </p:nvSpPr>
        <p:spPr>
          <a:xfrm>
            <a:off x="732492" y="2991364"/>
            <a:ext cx="6988627" cy="347133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469890"/>
              </p:ext>
            </p:extLst>
          </p:nvPr>
        </p:nvGraphicFramePr>
        <p:xfrm>
          <a:off x="-22034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산재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7002095"/>
              </p:ext>
            </p:extLst>
          </p:nvPr>
        </p:nvGraphicFramePr>
        <p:xfrm>
          <a:off x="8603672" y="1180080"/>
          <a:ext cx="3588327" cy="5894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근무지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사고지역 위치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검색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선택에 따른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산업재해수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와 </a:t>
                      </a:r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KaKao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필터링하여 지도에 마킹 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지도에 표시되어 있는 총 발생 건수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 반경에 따라 발생건수 업데이트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마커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연동된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산업재해수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 </a:t>
                      </a:r>
                      <a:br>
                        <a:rPr lang="en-US" altLang="ko-KR" sz="1100" b="0" dirty="0">
                          <a:solidFill>
                            <a:schemeClr val="tx1"/>
                          </a:solidFill>
                        </a:rPr>
                      </a:b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추가 상세정보 확인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상세정보 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100" b="0" dirty="0" err="1">
                          <a:solidFill>
                            <a:srgbClr val="FF0000"/>
                          </a:solidFill>
                        </a:rPr>
                        <a:t>발생년도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관할구역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rgbClr val="FF0000"/>
                          </a:solidFill>
                        </a:rPr>
                        <a:t>소재지</a:t>
                      </a:r>
                      <a:r>
                        <a:rPr lang="en-US" altLang="ko-KR" sz="1100" b="0" dirty="0">
                          <a:solidFill>
                            <a:srgbClr val="FF0000"/>
                          </a:solidFill>
                        </a:rPr>
                        <a:t>) 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4.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사고지역은 개인 산재 데이터를 기준으로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리스트이름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산재위치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또는 기타 아이디어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를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리스트형태로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드롭다운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팝업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으로 구현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09988C13-2B2E-F909-EC1E-B4FE553347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556" y="3387425"/>
            <a:ext cx="6493164" cy="3024640"/>
          </a:xfrm>
          <a:prstGeom prst="rect">
            <a:avLst/>
          </a:prstGeom>
        </p:spPr>
      </p:pic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20D013E3-B0E5-9B84-6519-88988CDA57F4}"/>
              </a:ext>
            </a:extLst>
          </p:cNvPr>
          <p:cNvSpPr/>
          <p:nvPr/>
        </p:nvSpPr>
        <p:spPr>
          <a:xfrm>
            <a:off x="686484" y="2906373"/>
            <a:ext cx="6988627" cy="43041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근무지</a:t>
            </a:r>
            <a:r>
              <a:rPr lang="en-US" altLang="ko-KR" sz="1400" b="1" dirty="0">
                <a:solidFill>
                  <a:schemeClr val="tx1"/>
                </a:solidFill>
              </a:rPr>
              <a:t>/</a:t>
            </a:r>
            <a:r>
              <a:rPr lang="ko-KR" altLang="en-US" sz="1400" b="1" dirty="0">
                <a:solidFill>
                  <a:schemeClr val="tx1"/>
                </a:solidFill>
              </a:rPr>
              <a:t>산업재해 상황 </a:t>
            </a:r>
            <a:r>
              <a:rPr lang="en-US" altLang="ko-KR" sz="1400" b="1" dirty="0">
                <a:solidFill>
                  <a:schemeClr val="tx1"/>
                </a:solidFill>
              </a:rPr>
              <a:t>					          </a:t>
            </a:r>
            <a:endParaRPr lang="en-US" altLang="ko-KR" sz="1000" b="1" dirty="0">
              <a:solidFill>
                <a:schemeClr val="tx1"/>
              </a:solidFill>
            </a:endParaRPr>
          </a:p>
          <a:p>
            <a:r>
              <a:rPr lang="ko-KR" altLang="en-US" sz="700" dirty="0">
                <a:solidFill>
                  <a:schemeClr val="tx1"/>
                </a:solidFill>
              </a:rPr>
              <a:t>주변 산업재해 발생 현황을 확인하세요                                                                      </a:t>
            </a:r>
            <a:r>
              <a:rPr lang="en-US" altLang="ko-KR" sz="700" dirty="0">
                <a:solidFill>
                  <a:schemeClr val="tx1"/>
                </a:solidFill>
              </a:rPr>
              <a:t>		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6D3BF85-21DD-A604-CF53-EB9B6F671E55}"/>
              </a:ext>
            </a:extLst>
          </p:cNvPr>
          <p:cNvSpPr/>
          <p:nvPr/>
        </p:nvSpPr>
        <p:spPr>
          <a:xfrm>
            <a:off x="6819782" y="2296082"/>
            <a:ext cx="1371565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총 발생 건수</a:t>
            </a:r>
            <a:endParaRPr lang="en-US" altLang="ko-KR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7E79A5F-30FF-A302-12D8-A30502C6697C}"/>
              </a:ext>
            </a:extLst>
          </p:cNvPr>
          <p:cNvSpPr/>
          <p:nvPr/>
        </p:nvSpPr>
        <p:spPr>
          <a:xfrm>
            <a:off x="392477" y="2310457"/>
            <a:ext cx="6260803" cy="53340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위치선택</a:t>
            </a:r>
            <a:r>
              <a:rPr lang="en-US" altLang="ko-KR" sz="1400" b="1" dirty="0">
                <a:solidFill>
                  <a:schemeClr val="tx1"/>
                </a:solidFill>
              </a:rPr>
              <a:t>:  						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CAB0B057-1F02-5BB5-9536-741458F839D5}"/>
              </a:ext>
            </a:extLst>
          </p:cNvPr>
          <p:cNvSpPr/>
          <p:nvPr/>
        </p:nvSpPr>
        <p:spPr>
          <a:xfrm>
            <a:off x="1335824" y="2360160"/>
            <a:ext cx="1419678" cy="3921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집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630A59CC-0869-9970-969C-EB7B73631F4B}"/>
              </a:ext>
            </a:extLst>
          </p:cNvPr>
          <p:cNvSpPr/>
          <p:nvPr/>
        </p:nvSpPr>
        <p:spPr>
          <a:xfrm>
            <a:off x="2838753" y="2360160"/>
            <a:ext cx="1419678" cy="3921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근무지 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06213174-412B-617A-1C4F-E0212F159BC7}"/>
              </a:ext>
            </a:extLst>
          </p:cNvPr>
          <p:cNvSpPr/>
          <p:nvPr/>
        </p:nvSpPr>
        <p:spPr>
          <a:xfrm>
            <a:off x="4338043" y="2360160"/>
            <a:ext cx="1419678" cy="39216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사고지역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말풍선: 사각형 8">
            <a:extLst>
              <a:ext uri="{FF2B5EF4-FFF2-40B4-BE49-F238E27FC236}">
                <a16:creationId xmlns:a16="http://schemas.microsoft.com/office/drawing/2014/main" id="{054A4F74-B9F7-E170-D668-B8915D9ECF53}"/>
              </a:ext>
            </a:extLst>
          </p:cNvPr>
          <p:cNvSpPr/>
          <p:nvPr/>
        </p:nvSpPr>
        <p:spPr>
          <a:xfrm>
            <a:off x="2941210" y="3498671"/>
            <a:ext cx="1655551" cy="509139"/>
          </a:xfrm>
          <a:prstGeom prst="wedgeRectCallout">
            <a:avLst>
              <a:gd name="adj1" fmla="val -40116"/>
              <a:gd name="adj2" fmla="val 85866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dirty="0">
                <a:solidFill>
                  <a:schemeClr val="tx1"/>
                </a:solidFill>
              </a:rPr>
              <a:t>소재지</a:t>
            </a:r>
            <a:r>
              <a:rPr lang="en-US" altLang="ko-KR" sz="8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800" dirty="0">
                <a:solidFill>
                  <a:schemeClr val="tx1"/>
                </a:solidFill>
              </a:rPr>
              <a:t>관할구역</a:t>
            </a:r>
            <a:r>
              <a:rPr lang="en-US" altLang="ko-KR" sz="8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800" dirty="0" err="1">
                <a:solidFill>
                  <a:schemeClr val="tx1"/>
                </a:solidFill>
              </a:rPr>
              <a:t>발생년도</a:t>
            </a:r>
            <a:r>
              <a:rPr lang="en-US" altLang="ko-KR" sz="800" dirty="0">
                <a:solidFill>
                  <a:schemeClr val="tx1"/>
                </a:solidFill>
              </a:rPr>
              <a:t>: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7162887-3326-462F-A4A7-3A7BAF7CC2C1}"/>
              </a:ext>
            </a:extLst>
          </p:cNvPr>
          <p:cNvSpPr/>
          <p:nvPr/>
        </p:nvSpPr>
        <p:spPr>
          <a:xfrm>
            <a:off x="331668" y="220968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D3F6A1A-D5B7-4655-A199-F905BAAA6FDF}"/>
              </a:ext>
            </a:extLst>
          </p:cNvPr>
          <p:cNvSpPr/>
          <p:nvPr/>
        </p:nvSpPr>
        <p:spPr>
          <a:xfrm>
            <a:off x="6853066" y="220968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9ED02C6-D2C7-47CA-9A4F-EC9B17A81868}"/>
              </a:ext>
            </a:extLst>
          </p:cNvPr>
          <p:cNvSpPr/>
          <p:nvPr/>
        </p:nvSpPr>
        <p:spPr>
          <a:xfrm>
            <a:off x="2693216" y="3942311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2D67E2E-266C-446F-BA8E-6C00531C6B3F}"/>
              </a:ext>
            </a:extLst>
          </p:cNvPr>
          <p:cNvSpPr/>
          <p:nvPr/>
        </p:nvSpPr>
        <p:spPr>
          <a:xfrm>
            <a:off x="4319240" y="2699975"/>
            <a:ext cx="1419678" cy="183392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산재 </a:t>
            </a:r>
            <a:r>
              <a:rPr lang="en-US" altLang="ko-KR" dirty="0">
                <a:solidFill>
                  <a:schemeClr val="tx1"/>
                </a:solidFill>
              </a:rPr>
              <a:t>1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산재 </a:t>
            </a:r>
            <a:r>
              <a:rPr lang="en-US" altLang="ko-KR" dirty="0">
                <a:solidFill>
                  <a:schemeClr val="tx1"/>
                </a:solidFill>
              </a:rPr>
              <a:t>2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산재 </a:t>
            </a:r>
            <a:r>
              <a:rPr lang="en-US" altLang="ko-KR" dirty="0">
                <a:solidFill>
                  <a:schemeClr val="tx1"/>
                </a:solidFill>
              </a:rPr>
              <a:t>3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산재 </a:t>
            </a:r>
            <a:r>
              <a:rPr lang="en-US" altLang="ko-KR" dirty="0">
                <a:solidFill>
                  <a:schemeClr val="tx1"/>
                </a:solidFill>
              </a:rPr>
              <a:t>4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산재 </a:t>
            </a:r>
            <a:r>
              <a:rPr lang="en-US" altLang="ko-KR" dirty="0">
                <a:solidFill>
                  <a:schemeClr val="tx1"/>
                </a:solidFill>
              </a:rPr>
              <a:t>5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05155C6-DB09-49CD-9E4A-B7F42F99F78C}"/>
              </a:ext>
            </a:extLst>
          </p:cNvPr>
          <p:cNvSpPr/>
          <p:nvPr/>
        </p:nvSpPr>
        <p:spPr>
          <a:xfrm>
            <a:off x="4302341" y="2270889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4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117230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692845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Location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7926912"/>
              </p:ext>
            </p:extLst>
          </p:nvPr>
        </p:nvGraphicFramePr>
        <p:xfrm>
          <a:off x="8603672" y="1180080"/>
          <a:ext cx="3588327" cy="60376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 주변 산재 검색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근무지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 지역에 따라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지도에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마커표시된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 산업재해 목록 리스트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사용자의 위치 기준 가까운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Top5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개 산업재해 리스트 제공 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C9B4CC7-4047-AD24-079F-AC9E13AB8090}"/>
              </a:ext>
            </a:extLst>
          </p:cNvPr>
          <p:cNvSpPr/>
          <p:nvPr/>
        </p:nvSpPr>
        <p:spPr>
          <a:xfrm>
            <a:off x="498099" y="2484310"/>
            <a:ext cx="7921372" cy="476923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산업재해 목록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Top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5</a:t>
            </a:r>
            <a:r>
              <a:rPr lang="ko-KR" altLang="en-US" sz="1400" b="1" dirty="0">
                <a:solidFill>
                  <a:schemeClr val="tx1"/>
                </a:solidFill>
              </a:rPr>
              <a:t>  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E9CEDE5-2964-B986-D05A-9A01041AB654}"/>
              </a:ext>
            </a:extLst>
          </p:cNvPr>
          <p:cNvSpPr/>
          <p:nvPr/>
        </p:nvSpPr>
        <p:spPr>
          <a:xfrm>
            <a:off x="498099" y="2953763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F1782BCF-CB4C-9EAC-5C79-71E4ACF7DA31}"/>
              </a:ext>
            </a:extLst>
          </p:cNvPr>
          <p:cNvSpPr/>
          <p:nvPr/>
        </p:nvSpPr>
        <p:spPr>
          <a:xfrm>
            <a:off x="498099" y="3519819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2️⃣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E0C5155-132A-0A51-5AF8-6A34DB21CA11}"/>
              </a:ext>
            </a:extLst>
          </p:cNvPr>
          <p:cNvSpPr/>
          <p:nvPr/>
        </p:nvSpPr>
        <p:spPr>
          <a:xfrm>
            <a:off x="498099" y="4029742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3️⃣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7EDEDFE5-28AB-86DD-8801-EA74829CF65E}"/>
              </a:ext>
            </a:extLst>
          </p:cNvPr>
          <p:cNvSpPr/>
          <p:nvPr/>
        </p:nvSpPr>
        <p:spPr>
          <a:xfrm>
            <a:off x="498098" y="4539665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4️⃣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89A35A85-FFA4-7B7F-6D28-CF4164425CAE}"/>
              </a:ext>
            </a:extLst>
          </p:cNvPr>
          <p:cNvSpPr/>
          <p:nvPr/>
        </p:nvSpPr>
        <p:spPr>
          <a:xfrm>
            <a:off x="498097" y="5112141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5️⃣ </a:t>
            </a:r>
            <a:r>
              <a:rPr lang="ko-KR" altLang="en-US" sz="1000" dirty="0">
                <a:solidFill>
                  <a:schemeClr val="tx1"/>
                </a:solidFill>
              </a:rPr>
              <a:t>소재지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 err="1">
                <a:solidFill>
                  <a:schemeClr val="tx1"/>
                </a:solidFill>
              </a:rPr>
              <a:t>관활구역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발생연도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FB7746F-ACE0-4C39-8831-58120F25C456}"/>
              </a:ext>
            </a:extLst>
          </p:cNvPr>
          <p:cNvSpPr/>
          <p:nvPr/>
        </p:nvSpPr>
        <p:spPr>
          <a:xfrm>
            <a:off x="359131" y="2305600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8493157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4E7E2-68BB-43CD-AC4F-DC564D57D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주변 병원 검색</a:t>
            </a:r>
          </a:p>
        </p:txBody>
      </p:sp>
    </p:spTree>
    <p:extLst>
      <p:ext uri="{BB962C8B-B14F-4D97-AF65-F5344CB8AC3E}">
        <p14:creationId xmlns:p14="http://schemas.microsoft.com/office/powerpoint/2010/main" val="33720866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2830585"/>
              </p:ext>
            </p:extLst>
          </p:nvPr>
        </p:nvGraphicFramePr>
        <p:xfrm>
          <a:off x="0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페이지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983426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메인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페이지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비로그인시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로그인이 필요하다고 사용자에게 알린다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메인 홈페이지로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 페이지로 이동한다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0080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431D5FEF-EB2C-5721-0007-3DF8199DB229}"/>
              </a:ext>
            </a:extLst>
          </p:cNvPr>
          <p:cNvSpPr/>
          <p:nvPr/>
        </p:nvSpPr>
        <p:spPr>
          <a:xfrm>
            <a:off x="1317339" y="2785205"/>
            <a:ext cx="5150842" cy="174779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로그인이 필요한 서비스 입니다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  <a:p>
            <a:pPr algn="ctr"/>
            <a:endParaRPr lang="en-US" altLang="ko-KR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5669C7-CF63-AE91-F131-90B6DBA4EA1B}"/>
              </a:ext>
            </a:extLst>
          </p:cNvPr>
          <p:cNvSpPr/>
          <p:nvPr/>
        </p:nvSpPr>
        <p:spPr>
          <a:xfrm>
            <a:off x="2070034" y="3827528"/>
            <a:ext cx="1698607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메인 화면으로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79D877F-C349-9CBE-B2DB-5EEABC391913}"/>
              </a:ext>
            </a:extLst>
          </p:cNvPr>
          <p:cNvSpPr/>
          <p:nvPr/>
        </p:nvSpPr>
        <p:spPr>
          <a:xfrm>
            <a:off x="4071881" y="3827529"/>
            <a:ext cx="1615044" cy="32717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로그인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771FF94-DC1E-4BD3-B75A-E721C222A06C}"/>
              </a:ext>
            </a:extLst>
          </p:cNvPr>
          <p:cNvSpPr/>
          <p:nvPr/>
        </p:nvSpPr>
        <p:spPr>
          <a:xfrm>
            <a:off x="1987368" y="3741135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48655F43-C557-41EE-92C4-9ABDB4A7446A}"/>
              </a:ext>
            </a:extLst>
          </p:cNvPr>
          <p:cNvSpPr/>
          <p:nvPr/>
        </p:nvSpPr>
        <p:spPr>
          <a:xfrm>
            <a:off x="1317338" y="2698812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E5119761-A54E-4298-BF89-D300D3C5D7F1}"/>
              </a:ext>
            </a:extLst>
          </p:cNvPr>
          <p:cNvSpPr/>
          <p:nvPr/>
        </p:nvSpPr>
        <p:spPr>
          <a:xfrm>
            <a:off x="3989215" y="3750660"/>
            <a:ext cx="165329" cy="172786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47941387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0444753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6935213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사용자 집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근무지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사고지역 위치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후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검색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&gt;&gt;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선택에 따른 산재지정의료기관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필터링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선택 위치기준 필터링 되어 나온 가까운 의료기관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Top10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리스트 제공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각 의료기관 상세보기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Click&gt;&gt;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병원 상세 페이지로 이동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216732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A47732E-A579-039A-2AAF-8559DC51A5C1}"/>
              </a:ext>
            </a:extLst>
          </p:cNvPr>
          <p:cNvSpPr/>
          <p:nvPr/>
        </p:nvSpPr>
        <p:spPr>
          <a:xfrm>
            <a:off x="412041" y="1958850"/>
            <a:ext cx="7921374" cy="814066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ko-KR" altLang="en-US" sz="1400" b="1" dirty="0">
                <a:solidFill>
                  <a:schemeClr val="tx1"/>
                </a:solidFill>
              </a:rPr>
              <a:t>위치선택</a:t>
            </a:r>
            <a:r>
              <a:rPr lang="en-US" altLang="ko-KR" sz="1400" b="1" dirty="0">
                <a:solidFill>
                  <a:schemeClr val="tx1"/>
                </a:solidFill>
              </a:rPr>
              <a:t>:							             </a:t>
            </a:r>
          </a:p>
          <a:p>
            <a:r>
              <a:rPr lang="en-US" altLang="ko-KR" sz="1400" b="1" dirty="0">
                <a:solidFill>
                  <a:schemeClr val="tx1"/>
                </a:solidFill>
              </a:rPr>
              <a:t>							        </a:t>
            </a:r>
            <a:endParaRPr lang="en-US" altLang="ko-KR" sz="2400" b="1" dirty="0">
              <a:solidFill>
                <a:schemeClr val="tx1"/>
              </a:solidFill>
            </a:endParaRPr>
          </a:p>
          <a:p>
            <a:r>
              <a:rPr lang="ko-KR" altLang="en-US" sz="800" dirty="0">
                <a:solidFill>
                  <a:schemeClr val="tx1"/>
                </a:solidFill>
              </a:rPr>
              <a:t>선택한 위치를 기준으로 가까운 산재지정의료기관을 찾아드립니다</a:t>
            </a:r>
            <a:r>
              <a:rPr lang="en-US" altLang="ko-KR" sz="800" dirty="0">
                <a:solidFill>
                  <a:schemeClr val="tx1"/>
                </a:solidFill>
              </a:rPr>
              <a:t>.   </a:t>
            </a: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12A52295-7A4D-414D-945F-360595F9CECB}"/>
              </a:ext>
            </a:extLst>
          </p:cNvPr>
          <p:cNvSpPr/>
          <p:nvPr/>
        </p:nvSpPr>
        <p:spPr>
          <a:xfrm>
            <a:off x="1973982" y="2167306"/>
            <a:ext cx="1419678" cy="2783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집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D28F4AFB-BF0F-2958-1157-4A699F801C27}"/>
              </a:ext>
            </a:extLst>
          </p:cNvPr>
          <p:cNvSpPr/>
          <p:nvPr/>
        </p:nvSpPr>
        <p:spPr>
          <a:xfrm>
            <a:off x="3662889" y="2172460"/>
            <a:ext cx="1419678" cy="2783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근무지 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CE1E5D8-83CD-27C1-3581-DBB7E28AD163}"/>
              </a:ext>
            </a:extLst>
          </p:cNvPr>
          <p:cNvSpPr/>
          <p:nvPr/>
        </p:nvSpPr>
        <p:spPr>
          <a:xfrm>
            <a:off x="5467432" y="2181351"/>
            <a:ext cx="1419678" cy="2783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</a:rPr>
              <a:t>사고지역  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DA37BA-C399-1446-B76E-66554809278E}"/>
              </a:ext>
            </a:extLst>
          </p:cNvPr>
          <p:cNvSpPr/>
          <p:nvPr/>
        </p:nvSpPr>
        <p:spPr>
          <a:xfrm>
            <a:off x="412040" y="2808575"/>
            <a:ext cx="7921375" cy="458608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dirty="0">
                <a:solidFill>
                  <a:schemeClr val="tx1"/>
                </a:solidFill>
              </a:rPr>
              <a:t>❗ 산재 </a:t>
            </a:r>
            <a:r>
              <a:rPr lang="ko-KR" altLang="en-US" sz="800" b="1" dirty="0" err="1">
                <a:solidFill>
                  <a:schemeClr val="tx1"/>
                </a:solidFill>
              </a:rPr>
              <a:t>지정의료기관이란</a:t>
            </a:r>
            <a:r>
              <a:rPr lang="en-US" altLang="ko-KR" sz="800" b="1" dirty="0">
                <a:solidFill>
                  <a:schemeClr val="tx1"/>
                </a:solidFill>
              </a:rPr>
              <a:t>?</a:t>
            </a:r>
          </a:p>
          <a:p>
            <a:endParaRPr lang="en-US" altLang="ko-KR" sz="800" b="1" dirty="0">
              <a:solidFill>
                <a:schemeClr val="tx1"/>
              </a:solidFill>
            </a:endParaRPr>
          </a:p>
          <a:p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근로복지공단이 지정한 의료기관으로</a:t>
            </a:r>
            <a:r>
              <a:rPr lang="en-US" altLang="ko-KR" sz="700" b="0" i="0" dirty="0">
                <a:solidFill>
                  <a:srgbClr val="334155"/>
                </a:solidFill>
                <a:effectLst/>
                <a:latin typeface="ui-sans-serif"/>
              </a:rPr>
              <a:t>, </a:t>
            </a:r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산업재해를 당한 근로자가 요양급여를 받을 수 있는 병원입니다</a:t>
            </a:r>
            <a:r>
              <a:rPr lang="en-US" altLang="ko-KR" sz="700" b="0" i="0" dirty="0">
                <a:solidFill>
                  <a:srgbClr val="334155"/>
                </a:solidFill>
                <a:effectLst/>
                <a:latin typeface="ui-sans-serif"/>
              </a:rPr>
              <a:t>. </a:t>
            </a:r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산재보험 적용을 받으며</a:t>
            </a:r>
            <a:r>
              <a:rPr lang="en-US" altLang="ko-KR" sz="700" b="0" i="0" dirty="0">
                <a:solidFill>
                  <a:srgbClr val="334155"/>
                </a:solidFill>
                <a:effectLst/>
                <a:latin typeface="ui-sans-serif"/>
              </a:rPr>
              <a:t>, </a:t>
            </a:r>
            <a:r>
              <a:rPr lang="ko-KR" altLang="en-US" sz="700" b="0" i="0" dirty="0">
                <a:solidFill>
                  <a:srgbClr val="334155"/>
                </a:solidFill>
                <a:effectLst/>
                <a:latin typeface="ui-sans-serif"/>
              </a:rPr>
              <a:t>치료비 부담 없이 진료를 받으실 수 있습니다</a:t>
            </a:r>
            <a:r>
              <a:rPr lang="en-US" altLang="ko-KR" sz="800" b="0" i="0" dirty="0">
                <a:solidFill>
                  <a:srgbClr val="334155"/>
                </a:solidFill>
                <a:effectLst/>
                <a:latin typeface="ui-sans-serif"/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12039" y="3429000"/>
            <a:ext cx="7921373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b="1" dirty="0">
                <a:solidFill>
                  <a:schemeClr val="tx1"/>
                </a:solidFill>
              </a:rPr>
              <a:t>주변 산재지정의료기관 </a:t>
            </a:r>
            <a:r>
              <a:rPr lang="en-US" altLang="ko-KR" sz="1400" b="1" dirty="0">
                <a:solidFill>
                  <a:schemeClr val="tx1"/>
                </a:solidFill>
              </a:rPr>
              <a:t>				         </a:t>
            </a:r>
            <a:r>
              <a:rPr lang="ko-KR" altLang="en-US" sz="1400" b="1" dirty="0">
                <a:solidFill>
                  <a:schemeClr val="tx1"/>
                </a:solidFill>
              </a:rPr>
              <a:t> </a:t>
            </a:r>
            <a:r>
              <a:rPr lang="en-US" altLang="ko-KR" sz="1400" b="1" dirty="0">
                <a:solidFill>
                  <a:schemeClr val="tx1"/>
                </a:solidFill>
              </a:rPr>
              <a:t>	           Top 10</a:t>
            </a:r>
            <a:r>
              <a:rPr lang="ko-KR" altLang="en-US" sz="1400" b="1" dirty="0">
                <a:solidFill>
                  <a:schemeClr val="tx1"/>
                </a:solidFill>
              </a:rPr>
              <a:t>  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12038" y="3715204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1️⃣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E74AB6E-3C41-B2D7-3769-1211D70C4565}"/>
              </a:ext>
            </a:extLst>
          </p:cNvPr>
          <p:cNvSpPr/>
          <p:nvPr/>
        </p:nvSpPr>
        <p:spPr>
          <a:xfrm>
            <a:off x="412038" y="4252896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2️⃣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4F4B3FAC-DEC1-2747-EDAD-906604AA7793}"/>
              </a:ext>
            </a:extLst>
          </p:cNvPr>
          <p:cNvSpPr/>
          <p:nvPr/>
        </p:nvSpPr>
        <p:spPr>
          <a:xfrm>
            <a:off x="412037" y="4790588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3️⃣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5499618-A5E6-FA6F-9E16-49F3B022FB75}"/>
              </a:ext>
            </a:extLst>
          </p:cNvPr>
          <p:cNvSpPr/>
          <p:nvPr/>
        </p:nvSpPr>
        <p:spPr>
          <a:xfrm>
            <a:off x="412037" y="5350429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4️⃣ </a:t>
            </a:r>
            <a:r>
              <a:rPr lang="ko-KR" altLang="en-US" sz="1000" dirty="0">
                <a:solidFill>
                  <a:schemeClr val="tx1"/>
                </a:solidFill>
              </a:rPr>
              <a:t>의료 기관명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dirty="0">
                <a:solidFill>
                  <a:schemeClr val="tx1"/>
                </a:solidFill>
              </a:rPr>
              <a:t>     </a:t>
            </a:r>
            <a:r>
              <a:rPr lang="ko-KR" altLang="en-US" sz="1000" dirty="0">
                <a:solidFill>
                  <a:schemeClr val="tx1"/>
                </a:solidFill>
              </a:rPr>
              <a:t>주소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</a:p>
          <a:p>
            <a:r>
              <a:rPr lang="ko-KR" altLang="en-US" sz="1000" dirty="0">
                <a:solidFill>
                  <a:schemeClr val="tx1"/>
                </a:solidFill>
              </a:rPr>
              <a:t>     전화번호</a:t>
            </a:r>
            <a:r>
              <a:rPr lang="en-US" altLang="ko-KR" sz="1000" dirty="0">
                <a:solidFill>
                  <a:schemeClr val="tx1"/>
                </a:solidFill>
              </a:rPr>
              <a:t>:</a:t>
            </a:r>
            <a:r>
              <a:rPr lang="ko-KR" altLang="en-US" sz="1000" dirty="0">
                <a:solidFill>
                  <a:schemeClr val="tx1"/>
                </a:solidFill>
              </a:rPr>
              <a:t> </a:t>
            </a:r>
            <a:r>
              <a:rPr lang="en-US" altLang="ko-KR" sz="1000" dirty="0">
                <a:solidFill>
                  <a:schemeClr val="tx1"/>
                </a:solidFill>
              </a:rPr>
              <a:t>						 	              &gt;&gt;</a:t>
            </a:r>
            <a:r>
              <a:rPr lang="ko-KR" altLang="en-US" sz="1000" dirty="0">
                <a:solidFill>
                  <a:schemeClr val="tx1"/>
                </a:solidFill>
              </a:rPr>
              <a:t>상세보기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19A66A60-525D-4F6C-B665-C5C68A2237C0}"/>
              </a:ext>
            </a:extLst>
          </p:cNvPr>
          <p:cNvSpPr/>
          <p:nvPr/>
        </p:nvSpPr>
        <p:spPr>
          <a:xfrm>
            <a:off x="273075" y="1822862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AE254A6F-3F09-4BAD-836A-FEAADB60E581}"/>
              </a:ext>
            </a:extLst>
          </p:cNvPr>
          <p:cNvSpPr/>
          <p:nvPr/>
        </p:nvSpPr>
        <p:spPr>
          <a:xfrm>
            <a:off x="273075" y="322685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C010669-6DD9-452C-993B-5DDFE60726EE}"/>
              </a:ext>
            </a:extLst>
          </p:cNvPr>
          <p:cNvSpPr/>
          <p:nvPr/>
        </p:nvSpPr>
        <p:spPr>
          <a:xfrm>
            <a:off x="7356666" y="380919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3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8935841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25725" y="3303766"/>
            <a:ext cx="7921373" cy="12764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종별 </a:t>
            </a:r>
            <a:r>
              <a:rPr lang="en-US" altLang="ko-KR" sz="1200" dirty="0">
                <a:solidFill>
                  <a:schemeClr val="tx1"/>
                </a:solidFill>
              </a:rPr>
              <a:t>:	 ex) </a:t>
            </a:r>
            <a:r>
              <a:rPr lang="ko-KR" altLang="en-US" sz="1200" dirty="0">
                <a:solidFill>
                  <a:schemeClr val="tx1"/>
                </a:solidFill>
              </a:rPr>
              <a:t>요양병원 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부가기능</a:t>
            </a:r>
            <a:r>
              <a:rPr lang="en-US" altLang="ko-KR" sz="1200" dirty="0">
                <a:solidFill>
                  <a:schemeClr val="tx1"/>
                </a:solidFill>
              </a:rPr>
              <a:t>: 	ex)</a:t>
            </a:r>
            <a:r>
              <a:rPr lang="ko-KR" altLang="en-US" sz="1200" dirty="0">
                <a:solidFill>
                  <a:schemeClr val="tx1"/>
                </a:solidFill>
              </a:rPr>
              <a:t> 진폐요양 </a:t>
            </a:r>
            <a:endParaRPr lang="en-US" altLang="ko-KR" sz="1200" dirty="0">
              <a:solidFill>
                <a:schemeClr val="tx1"/>
              </a:solidFill>
            </a:endParaRPr>
          </a:p>
          <a:p>
            <a:r>
              <a:rPr lang="ko-KR" altLang="en-US" sz="1200" dirty="0">
                <a:solidFill>
                  <a:schemeClr val="tx1"/>
                </a:solidFill>
              </a:rPr>
              <a:t>재활인증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만료일</a:t>
            </a:r>
            <a:r>
              <a:rPr lang="en-US" altLang="ko-KR" sz="1200" dirty="0">
                <a:solidFill>
                  <a:schemeClr val="tx1"/>
                </a:solidFill>
              </a:rPr>
              <a:t>): 2026-12-31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진료제한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기간</a:t>
            </a:r>
            <a:r>
              <a:rPr lang="en-US" altLang="ko-KR" sz="1200" dirty="0">
                <a:solidFill>
                  <a:schemeClr val="tx1"/>
                </a:solidFill>
              </a:rPr>
              <a:t>) : -</a:t>
            </a:r>
          </a:p>
          <a:p>
            <a:r>
              <a:rPr lang="ko-KR" altLang="en-US" sz="1200" dirty="0">
                <a:solidFill>
                  <a:schemeClr val="tx1"/>
                </a:solidFill>
              </a:rPr>
              <a:t>의료기관평가 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평가연도</a:t>
            </a:r>
            <a:r>
              <a:rPr lang="en-US" altLang="ko-KR" sz="1200" dirty="0">
                <a:solidFill>
                  <a:schemeClr val="tx1"/>
                </a:solidFill>
              </a:rPr>
              <a:t>): - </a:t>
            </a: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5821196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747897"/>
              </p:ext>
            </p:extLst>
          </p:nvPr>
        </p:nvGraphicFramePr>
        <p:xfrm>
          <a:off x="8603672" y="1180080"/>
          <a:ext cx="3588327" cy="58945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상단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  <a:hlinkClick r:id="rId2"/>
                        </a:rPr>
                        <a:t>https://www.comwel.or.kr/comwel/medi/orsc.jsp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크롤링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하여 해당 산재 지정 의료기관 상세기본 정보 가져오기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 상세정보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가져오기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b="0" dirty="0" err="1">
                          <a:solidFill>
                            <a:schemeClr val="tx1"/>
                          </a:solidFill>
                        </a:rPr>
                        <a:t>Kakao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지도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API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를 활용하여 해당 산재 지정 의료기관 위치를 마커 표시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줌 레벨 만들어보면서 체크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A47732E-A579-039A-2AAF-8559DC51A5C1}"/>
              </a:ext>
            </a:extLst>
          </p:cNvPr>
          <p:cNvSpPr/>
          <p:nvPr/>
        </p:nvSpPr>
        <p:spPr>
          <a:xfrm>
            <a:off x="412041" y="2131648"/>
            <a:ext cx="7921374" cy="609544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ko-KR" sz="1400" b="1" dirty="0">
              <a:solidFill>
                <a:schemeClr val="tx1"/>
              </a:solidFill>
            </a:endParaRPr>
          </a:p>
          <a:p>
            <a:r>
              <a:rPr lang="en-US" altLang="ko-KR" sz="1400" dirty="0">
                <a:solidFill>
                  <a:schemeClr val="tx1"/>
                </a:solidFill>
              </a:rPr>
              <a:t>1️⃣ </a:t>
            </a:r>
            <a:r>
              <a:rPr lang="ko-KR" altLang="en-US" sz="1400" dirty="0">
                <a:solidFill>
                  <a:schemeClr val="tx1"/>
                </a:solidFill>
              </a:rPr>
              <a:t>의료기관명</a:t>
            </a:r>
            <a:endParaRPr lang="en-US" altLang="ko-KR" sz="1400" dirty="0">
              <a:solidFill>
                <a:schemeClr val="tx1"/>
              </a:solidFill>
            </a:endParaRPr>
          </a:p>
          <a:p>
            <a:endParaRPr lang="en-US" altLang="ko-KR" sz="1400" b="1" dirty="0">
              <a:solidFill>
                <a:schemeClr val="tx1"/>
              </a:solidFill>
            </a:endParaRPr>
          </a:p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EADA37BA-C399-1446-B76E-66554809278E}"/>
              </a:ext>
            </a:extLst>
          </p:cNvPr>
          <p:cNvSpPr/>
          <p:nvPr/>
        </p:nvSpPr>
        <p:spPr>
          <a:xfrm>
            <a:off x="1891519" y="2228727"/>
            <a:ext cx="831133" cy="196672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800" b="1" i="0" dirty="0">
                <a:solidFill>
                  <a:schemeClr val="tx1"/>
                </a:solidFill>
                <a:effectLst/>
                <a:latin typeface="ui-sans-serif"/>
              </a:rPr>
              <a:t>거리</a:t>
            </a:r>
            <a:r>
              <a:rPr lang="en-US" altLang="ko-KR" sz="800" b="1" i="0" dirty="0">
                <a:solidFill>
                  <a:schemeClr val="tx1"/>
                </a:solidFill>
                <a:effectLst/>
                <a:latin typeface="ui-sans-serif"/>
              </a:rPr>
              <a:t>:     0.8km</a:t>
            </a:r>
            <a:r>
              <a:rPr lang="en-US" altLang="ko-KR" sz="800" b="0" i="0" dirty="0">
                <a:solidFill>
                  <a:srgbClr val="334155"/>
                </a:solidFill>
                <a:effectLst/>
                <a:latin typeface="ui-sans-serif"/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25725" y="3097090"/>
            <a:ext cx="7921373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기본정보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1735230D-AC52-E088-E3DC-BDF27002CB77}"/>
              </a:ext>
            </a:extLst>
          </p:cNvPr>
          <p:cNvSpPr/>
          <p:nvPr/>
        </p:nvSpPr>
        <p:spPr>
          <a:xfrm>
            <a:off x="412037" y="2496993"/>
            <a:ext cx="7921373" cy="372166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000" dirty="0">
                <a:solidFill>
                  <a:schemeClr val="tx1"/>
                </a:solidFill>
              </a:rPr>
              <a:t>  주소 </a:t>
            </a:r>
            <a:r>
              <a:rPr lang="en-US" altLang="ko-KR" sz="1000" dirty="0">
                <a:solidFill>
                  <a:schemeClr val="tx1"/>
                </a:solidFill>
              </a:rPr>
              <a:t>				    </a:t>
            </a:r>
            <a:r>
              <a:rPr lang="ko-KR" altLang="en-US" sz="1000" dirty="0">
                <a:solidFill>
                  <a:schemeClr val="tx1"/>
                </a:solidFill>
              </a:rPr>
              <a:t>전화번호</a:t>
            </a:r>
            <a:endParaRPr lang="en-US" altLang="ko-KR" sz="1000" dirty="0">
              <a:solidFill>
                <a:schemeClr val="tx1"/>
              </a:solidFill>
            </a:endParaRPr>
          </a:p>
          <a:p>
            <a:r>
              <a:rPr lang="en-US" altLang="ko-KR" sz="1000" b="1" dirty="0">
                <a:solidFill>
                  <a:schemeClr val="tx1"/>
                </a:solidFill>
                <a:latin typeface="ui-sans-serif"/>
              </a:rPr>
              <a:t>    ex)</a:t>
            </a:r>
            <a:r>
              <a:rPr lang="ko-KR" altLang="en-US" sz="1000" b="1" i="0" dirty="0">
                <a:solidFill>
                  <a:srgbClr val="0F172A"/>
                </a:solidFill>
                <a:effectLst/>
                <a:latin typeface="ui-sans-serif"/>
              </a:rPr>
              <a:t>서울특별시 종로구 대학로 </a:t>
            </a:r>
            <a:r>
              <a:rPr lang="en-US" altLang="ko-KR" sz="1000" b="1" i="0" dirty="0">
                <a:solidFill>
                  <a:srgbClr val="0F172A"/>
                </a:solidFill>
                <a:effectLst/>
                <a:latin typeface="ui-sans-serif"/>
              </a:rPr>
              <a:t>101</a:t>
            </a:r>
            <a:r>
              <a:rPr lang="en-US" altLang="ko-KR" sz="1000" dirty="0">
                <a:solidFill>
                  <a:schemeClr val="tx1"/>
                </a:solidFill>
              </a:rPr>
              <a:t> 	</a:t>
            </a:r>
            <a:r>
              <a:rPr lang="en-US" altLang="ko-KR" sz="1000" b="1" dirty="0">
                <a:solidFill>
                  <a:schemeClr val="tx1"/>
                </a:solidFill>
              </a:rPr>
              <a:t>                         ex) 02-2072-2114</a:t>
            </a:r>
          </a:p>
        </p:txBody>
      </p: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5B01B261-018F-1972-F95A-F2A29EE5D0BA}"/>
              </a:ext>
            </a:extLst>
          </p:cNvPr>
          <p:cNvSpPr/>
          <p:nvPr/>
        </p:nvSpPr>
        <p:spPr>
          <a:xfrm>
            <a:off x="412036" y="4614247"/>
            <a:ext cx="7921373" cy="166663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C438A21-BDB9-82D2-BA28-499D756C932D}"/>
              </a:ext>
            </a:extLst>
          </p:cNvPr>
          <p:cNvSpPr/>
          <p:nvPr/>
        </p:nvSpPr>
        <p:spPr>
          <a:xfrm>
            <a:off x="412036" y="4562902"/>
            <a:ext cx="7921373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위치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pic>
        <p:nvPicPr>
          <p:cNvPr id="39" name="그림 38">
            <a:extLst>
              <a:ext uri="{FF2B5EF4-FFF2-40B4-BE49-F238E27FC236}">
                <a16:creationId xmlns:a16="http://schemas.microsoft.com/office/drawing/2014/main" id="{B8A08974-DF31-D653-B804-468A12B34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629" y="4984640"/>
            <a:ext cx="4705564" cy="1271236"/>
          </a:xfrm>
          <a:prstGeom prst="rect">
            <a:avLst/>
          </a:prstGeom>
        </p:spPr>
      </p:pic>
      <p:sp>
        <p:nvSpPr>
          <p:cNvPr id="19" name="직사각형 18">
            <a:extLst>
              <a:ext uri="{FF2B5EF4-FFF2-40B4-BE49-F238E27FC236}">
                <a16:creationId xmlns:a16="http://schemas.microsoft.com/office/drawing/2014/main" id="{0BBFF38D-AA72-4206-BB48-55B7A5D46FD0}"/>
              </a:ext>
            </a:extLst>
          </p:cNvPr>
          <p:cNvSpPr/>
          <p:nvPr/>
        </p:nvSpPr>
        <p:spPr>
          <a:xfrm>
            <a:off x="286759" y="1978594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7D259DD-C29D-494F-887A-1FCD8CD4297D}"/>
              </a:ext>
            </a:extLst>
          </p:cNvPr>
          <p:cNvSpPr/>
          <p:nvPr/>
        </p:nvSpPr>
        <p:spPr>
          <a:xfrm>
            <a:off x="266226" y="4512721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8819838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25725" y="2326681"/>
            <a:ext cx="7921373" cy="275952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en-US" altLang="ko-KR" sz="1200" b="0">
                <a:solidFill>
                  <a:schemeClr val="tx1"/>
                </a:solidFill>
              </a:rPr>
              <a:t>Kakao </a:t>
            </a:r>
            <a:r>
              <a:rPr lang="ko-KR" altLang="en-US" sz="1200" b="0">
                <a:solidFill>
                  <a:schemeClr val="tx1"/>
                </a:solidFill>
              </a:rPr>
              <a:t>지도 </a:t>
            </a:r>
            <a:r>
              <a:rPr lang="en-US" altLang="ko-KR" sz="1200" b="0">
                <a:solidFill>
                  <a:schemeClr val="tx1"/>
                </a:solidFill>
              </a:rPr>
              <a:t>API</a:t>
            </a:r>
            <a:r>
              <a:rPr lang="ko-KR" altLang="en-US" sz="1200" b="0">
                <a:solidFill>
                  <a:schemeClr val="tx1"/>
                </a:solidFill>
              </a:rPr>
              <a:t>를 활용하여 해당 산재 지정 의료기관 위치를 마커 표시</a:t>
            </a:r>
            <a:endParaRPr lang="en-US" altLang="ko-KR" sz="1200" b="0">
              <a:solidFill>
                <a:schemeClr val="tx1"/>
              </a:solidFill>
            </a:endParaRPr>
          </a:p>
          <a:p>
            <a:pPr latinLnBrk="1"/>
            <a:r>
              <a:rPr lang="ko-KR" altLang="en-US" sz="1200" b="0">
                <a:solidFill>
                  <a:schemeClr val="tx1"/>
                </a:solidFill>
              </a:rPr>
              <a:t>줌 레벨 만들어보면서 체크</a:t>
            </a:r>
            <a:endParaRPr lang="ko-KR" altLang="en-US" sz="1200" b="0" dirty="0">
              <a:solidFill>
                <a:schemeClr val="tx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786603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118233"/>
              </p:ext>
            </p:extLst>
          </p:nvPr>
        </p:nvGraphicFramePr>
        <p:xfrm>
          <a:off x="8603672" y="1180080"/>
          <a:ext cx="3588327" cy="61974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47252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67635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하단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11600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작성자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ID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내용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 날짜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만약 로그인한 사용자가 입력한 리뷰라면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삭제하기 버튼 추가 구현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수정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출력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삭제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: 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삭제하시겠습니까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? Alert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창 띄우고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한번더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사용자에게 인지 시키기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4877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3.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작성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작성 </a:t>
                      </a: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화면에 출력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6763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6763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676351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헤더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18678B02-49BE-7067-C3A7-84DA09CC1DAC}"/>
              </a:ext>
            </a:extLst>
          </p:cNvPr>
          <p:cNvSpPr/>
          <p:nvPr/>
        </p:nvSpPr>
        <p:spPr>
          <a:xfrm>
            <a:off x="425725" y="2119629"/>
            <a:ext cx="7918834" cy="329629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리뷰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FD746EB-4A1B-C8C0-F101-2378BA96ABC2}"/>
              </a:ext>
            </a:extLst>
          </p:cNvPr>
          <p:cNvSpPr/>
          <p:nvPr/>
        </p:nvSpPr>
        <p:spPr>
          <a:xfrm>
            <a:off x="423186" y="2852632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1….. 					              2025-10-23   	             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095EC09-4986-6F25-74F7-5EDEB9B69288}"/>
              </a:ext>
            </a:extLst>
          </p:cNvPr>
          <p:cNvSpPr/>
          <p:nvPr/>
        </p:nvSpPr>
        <p:spPr>
          <a:xfrm>
            <a:off x="423186" y="3406426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2….. 				  	              2023-10-23 	            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4037436-F1F6-B019-DC88-D5BEE9087032}"/>
              </a:ext>
            </a:extLst>
          </p:cNvPr>
          <p:cNvSpPr/>
          <p:nvPr/>
        </p:nvSpPr>
        <p:spPr>
          <a:xfrm>
            <a:off x="423186" y="3948994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3….. 					              2022-10-23 	             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A876387E-51E2-459B-A203-E6CA649973EC}"/>
              </a:ext>
            </a:extLst>
          </p:cNvPr>
          <p:cNvSpPr/>
          <p:nvPr/>
        </p:nvSpPr>
        <p:spPr>
          <a:xfrm>
            <a:off x="314085" y="1936463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2C6E47C-377F-48C3-975E-9EF52302EBB0}"/>
              </a:ext>
            </a:extLst>
          </p:cNvPr>
          <p:cNvSpPr/>
          <p:nvPr/>
        </p:nvSpPr>
        <p:spPr>
          <a:xfrm>
            <a:off x="7358474" y="4234620"/>
            <a:ext cx="486833" cy="2316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수정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476EBE1-9DBD-4248-8335-C0EBD51912D0}"/>
              </a:ext>
            </a:extLst>
          </p:cNvPr>
          <p:cNvSpPr/>
          <p:nvPr/>
        </p:nvSpPr>
        <p:spPr>
          <a:xfrm>
            <a:off x="7846577" y="4242577"/>
            <a:ext cx="486833" cy="231657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삭제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D1B5266-C006-4C75-827C-BCD9ABB33668}"/>
              </a:ext>
            </a:extLst>
          </p:cNvPr>
          <p:cNvSpPr/>
          <p:nvPr/>
        </p:nvSpPr>
        <p:spPr>
          <a:xfrm>
            <a:off x="3361691" y="5339259"/>
            <a:ext cx="1702676" cy="30269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리뷰 작성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EE010DCA-4238-472C-B4A3-D7C96B9464A2}"/>
              </a:ext>
            </a:extLst>
          </p:cNvPr>
          <p:cNvSpPr/>
          <p:nvPr/>
        </p:nvSpPr>
        <p:spPr>
          <a:xfrm>
            <a:off x="3222725" y="5155163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774DABA-A602-44B5-B093-8E8983803FAA}"/>
              </a:ext>
            </a:extLst>
          </p:cNvPr>
          <p:cNvSpPr/>
          <p:nvPr/>
        </p:nvSpPr>
        <p:spPr>
          <a:xfrm>
            <a:off x="423186" y="4526367"/>
            <a:ext cx="7921373" cy="55984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작성자</a:t>
            </a:r>
            <a:r>
              <a:rPr lang="en-US" altLang="ko-KR" sz="1000" dirty="0">
                <a:solidFill>
                  <a:schemeClr val="tx1"/>
                </a:solidFill>
              </a:rPr>
              <a:t>ID:   </a:t>
            </a:r>
            <a:r>
              <a:rPr lang="ko-KR" altLang="en-US" sz="1000" dirty="0">
                <a:solidFill>
                  <a:schemeClr val="tx1"/>
                </a:solidFill>
              </a:rPr>
              <a:t>여기 병원  별로</a:t>
            </a:r>
            <a:r>
              <a:rPr lang="en-US" altLang="ko-KR" sz="1000" dirty="0">
                <a:solidFill>
                  <a:schemeClr val="tx1"/>
                </a:solidFill>
              </a:rPr>
              <a:t>2….. 				  	              2023-10-23 	             </a:t>
            </a:r>
          </a:p>
        </p:txBody>
      </p:sp>
    </p:spTree>
    <p:extLst>
      <p:ext uri="{BB962C8B-B14F-4D97-AF65-F5344CB8AC3E}">
        <p14:creationId xmlns:p14="http://schemas.microsoft.com/office/powerpoint/2010/main" val="319968072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425725" y="2408660"/>
            <a:ext cx="7921373" cy="29767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        </a:t>
            </a:r>
            <a:r>
              <a:rPr lang="ko-KR" altLang="en-US" sz="1200" dirty="0">
                <a:solidFill>
                  <a:schemeClr val="tx1"/>
                </a:solidFill>
              </a:rPr>
              <a:t>💬상세 리뷰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3716515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-&gt;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리뷰 작성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743073"/>
              </p:ext>
            </p:extLst>
          </p:nvPr>
        </p:nvGraphicFramePr>
        <p:xfrm>
          <a:off x="8603672" y="1180080"/>
          <a:ext cx="3588327" cy="6372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-&gt;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리뷰 작성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등록하기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작성 후 리뷰 등록하기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&gt;&gt; 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목록으로 이동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아이디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로그인한 사용자 아이디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작성일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datetime auto</a:t>
                      </a:r>
                    </a:p>
                    <a:p>
                      <a:pPr latinLnBrk="1"/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취소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</a:t>
                      </a:r>
                    </a:p>
                    <a:p>
                      <a:pPr latinLnBrk="1"/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닫기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167C2DE-7E51-8D1D-D885-98D9C84DC3DD}"/>
              </a:ext>
            </a:extLst>
          </p:cNvPr>
          <p:cNvSpPr/>
          <p:nvPr/>
        </p:nvSpPr>
        <p:spPr>
          <a:xfrm>
            <a:off x="423187" y="2199362"/>
            <a:ext cx="7921373" cy="32962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리뷰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35116B8-4465-20AF-7ACF-2ECCD5D55C96}"/>
              </a:ext>
            </a:extLst>
          </p:cNvPr>
          <p:cNvSpPr/>
          <p:nvPr/>
        </p:nvSpPr>
        <p:spPr>
          <a:xfrm>
            <a:off x="2292387" y="4955805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리뷰 등록하기  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181CF9F-D032-C8F4-FFA4-E474C2406EDA}"/>
              </a:ext>
            </a:extLst>
          </p:cNvPr>
          <p:cNvSpPr/>
          <p:nvPr/>
        </p:nvSpPr>
        <p:spPr>
          <a:xfrm>
            <a:off x="4385728" y="4955805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취소 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F95FC08-9414-0F4D-9524-F55D456350FE}"/>
              </a:ext>
            </a:extLst>
          </p:cNvPr>
          <p:cNvSpPr/>
          <p:nvPr/>
        </p:nvSpPr>
        <p:spPr>
          <a:xfrm>
            <a:off x="802888" y="3005259"/>
            <a:ext cx="7103327" cy="17712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7877545-EBBA-4883-BB42-B279F1986281}"/>
              </a:ext>
            </a:extLst>
          </p:cNvPr>
          <p:cNvSpPr/>
          <p:nvPr/>
        </p:nvSpPr>
        <p:spPr>
          <a:xfrm>
            <a:off x="2168119" y="4759235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00091857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F6111DAB-1574-66D9-B8C6-89A9A8AB7675}"/>
              </a:ext>
            </a:extLst>
          </p:cNvPr>
          <p:cNvSpPr/>
          <p:nvPr/>
        </p:nvSpPr>
        <p:spPr>
          <a:xfrm>
            <a:off x="324827" y="2522172"/>
            <a:ext cx="7921373" cy="2976737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>
                <a:solidFill>
                  <a:schemeClr val="tx1"/>
                </a:solidFill>
              </a:rPr>
              <a:t>        </a:t>
            </a:r>
            <a:r>
              <a:rPr lang="ko-KR" altLang="en-US" sz="1200" dirty="0">
                <a:solidFill>
                  <a:schemeClr val="tx1"/>
                </a:solidFill>
              </a:rPr>
              <a:t>💬리뷰 수정</a:t>
            </a:r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  <a:p>
            <a:endParaRPr lang="en-US" altLang="ko-KR" sz="1200" dirty="0">
              <a:solidFill>
                <a:schemeClr val="tx1"/>
              </a:solidFill>
            </a:endParaRPr>
          </a:p>
        </p:txBody>
      </p:sp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845691"/>
              </p:ext>
            </p:extLst>
          </p:nvPr>
        </p:nvGraphicFramePr>
        <p:xfrm>
          <a:off x="-22034" y="0"/>
          <a:ext cx="12192000" cy="139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김용찬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,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이하랑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 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 main 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 -&gt; 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리뷰 수정 </a:t>
                      </a:r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637242"/>
              </p:ext>
            </p:extLst>
          </p:nvPr>
        </p:nvGraphicFramePr>
        <p:xfrm>
          <a:off x="8603672" y="1180080"/>
          <a:ext cx="3588327" cy="63729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main 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주변 병원 검색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병원 상세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 -&gt;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리뷰 수정 </a:t>
                      </a:r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수정하기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리뷰 수정 후 수정하기 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Click &gt;&gt;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수정되었습니다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.alert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창 하나 띄우고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닫기</a:t>
                      </a: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b="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취소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: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dirty="0" err="1">
                          <a:solidFill>
                            <a:schemeClr val="tx1"/>
                          </a:solidFill>
                        </a:rPr>
                        <a:t>모달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 닫기</a:t>
                      </a:r>
                    </a:p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793A9D98-CD7B-4FF1-A7DD-B746C9BF81E4}"/>
              </a:ext>
            </a:extLst>
          </p:cNvPr>
          <p:cNvSpPr/>
          <p:nvPr/>
        </p:nvSpPr>
        <p:spPr>
          <a:xfrm>
            <a:off x="0" y="6408846"/>
            <a:ext cx="8603671" cy="64126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err="1">
                <a:solidFill>
                  <a:schemeClr val="tx1"/>
                </a:solidFill>
              </a:rPr>
              <a:t>푸터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5167C2DE-7E51-8D1D-D885-98D9C84DC3DD}"/>
              </a:ext>
            </a:extLst>
          </p:cNvPr>
          <p:cNvSpPr/>
          <p:nvPr/>
        </p:nvSpPr>
        <p:spPr>
          <a:xfrm>
            <a:off x="322288" y="2312874"/>
            <a:ext cx="7921374" cy="329629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tx1"/>
                </a:solidFill>
              </a:rPr>
              <a:t>리뷰</a:t>
            </a:r>
            <a:endParaRPr lang="en-US" altLang="ko-KR" sz="1050" b="1" dirty="0">
              <a:solidFill>
                <a:schemeClr val="tx1"/>
              </a:solidFill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E35116B8-4465-20AF-7ACF-2ECCD5D55C96}"/>
              </a:ext>
            </a:extLst>
          </p:cNvPr>
          <p:cNvSpPr/>
          <p:nvPr/>
        </p:nvSpPr>
        <p:spPr>
          <a:xfrm>
            <a:off x="1347819" y="5069317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수정하기  </a:t>
            </a: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2181CF9F-D032-C8F4-FFA4-E474C2406EDA}"/>
              </a:ext>
            </a:extLst>
          </p:cNvPr>
          <p:cNvSpPr/>
          <p:nvPr/>
        </p:nvSpPr>
        <p:spPr>
          <a:xfrm>
            <a:off x="5436794" y="5069317"/>
            <a:ext cx="1781789" cy="304000"/>
          </a:xfrm>
          <a:prstGeom prst="roundRect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bg1"/>
                </a:solidFill>
              </a:rPr>
              <a:t>취소 </a:t>
            </a:r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0F95FC08-9414-0F4D-9524-F55D456350FE}"/>
              </a:ext>
            </a:extLst>
          </p:cNvPr>
          <p:cNvSpPr/>
          <p:nvPr/>
        </p:nvSpPr>
        <p:spPr>
          <a:xfrm>
            <a:off x="701990" y="3118771"/>
            <a:ext cx="7103327" cy="1771242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548701C-5E3D-4C19-83A5-6042778997C1}"/>
              </a:ext>
            </a:extLst>
          </p:cNvPr>
          <p:cNvSpPr/>
          <p:nvPr/>
        </p:nvSpPr>
        <p:spPr>
          <a:xfrm>
            <a:off x="1236214" y="4872747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32218614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A4E7E2-68BB-43CD-AC4F-DC564D57D1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관리자페이지</a:t>
            </a:r>
          </a:p>
        </p:txBody>
      </p:sp>
    </p:spTree>
    <p:extLst>
      <p:ext uri="{BB962C8B-B14F-4D97-AF65-F5344CB8AC3E}">
        <p14:creationId xmlns:p14="http://schemas.microsoft.com/office/powerpoint/2010/main" val="22198660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4">
            <a:extLst>
              <a:ext uri="{FF2B5EF4-FFF2-40B4-BE49-F238E27FC236}">
                <a16:creationId xmlns:a16="http://schemas.microsoft.com/office/drawing/2014/main" id="{1C198DA1-F73E-4D1D-A031-D1055E458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4051008"/>
              </p:ext>
            </p:extLst>
          </p:nvPr>
        </p:nvGraphicFramePr>
        <p:xfrm>
          <a:off x="0" y="0"/>
          <a:ext cx="12192000" cy="118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475387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415398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8316165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402805809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364956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360963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프로젝트 명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화면코드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회원산재정보조회</a:t>
                      </a:r>
                    </a:p>
                  </a:txBody>
                  <a:tcPr marT="90000" marB="9000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버전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79480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작성자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 err="1">
                          <a:solidFill>
                            <a:schemeClr val="tx1"/>
                          </a:solidFill>
                        </a:rPr>
                        <a:t>최도윤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2025-11-24</a:t>
                      </a:r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3361103"/>
                  </a:ext>
                </a:extLst>
              </a:tr>
              <a:tr h="370840">
                <a:tc grid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화면경로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: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관리자로그인 </a:t>
                      </a:r>
                      <a:r>
                        <a:rPr lang="en-US" altLang="ko-KR" sz="1400" b="0" dirty="0">
                          <a:solidFill>
                            <a:schemeClr val="tx1"/>
                          </a:solidFill>
                        </a:rPr>
                        <a:t>&gt;</a:t>
                      </a:r>
                      <a:r>
                        <a:rPr lang="ko-KR" altLang="en-US" sz="1400" b="0" dirty="0">
                          <a:solidFill>
                            <a:schemeClr val="tx1"/>
                          </a:solidFill>
                        </a:rPr>
                        <a:t>회원산재정보조회</a:t>
                      </a:r>
                    </a:p>
                  </a:txBody>
                  <a:tcPr marT="90000" marB="90000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574611"/>
                  </a:ext>
                </a:extLst>
              </a:tr>
            </a:tbl>
          </a:graphicData>
        </a:graphic>
      </p:graphicFrame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5917CB83-5C81-453A-B5A9-EA01804B5A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7063721"/>
              </p:ext>
            </p:extLst>
          </p:nvPr>
        </p:nvGraphicFramePr>
        <p:xfrm>
          <a:off x="8603672" y="1180080"/>
          <a:ext cx="3588327" cy="56779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787">
                  <a:extLst>
                    <a:ext uri="{9D8B030D-6E8A-4147-A177-3AD203B41FA5}">
                      <a16:colId xmlns:a16="http://schemas.microsoft.com/office/drawing/2014/main" val="1896535590"/>
                    </a:ext>
                  </a:extLst>
                </a:gridCol>
                <a:gridCol w="3230540">
                  <a:extLst>
                    <a:ext uri="{9D8B030D-6E8A-4147-A177-3AD203B41FA5}">
                      <a16:colId xmlns:a16="http://schemas.microsoft.com/office/drawing/2014/main" val="3912093707"/>
                    </a:ext>
                  </a:extLst>
                </a:gridCol>
              </a:tblGrid>
              <a:tr h="515256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</a:rPr>
                        <a:t>description</a:t>
                      </a:r>
                      <a:endParaRPr lang="ko-KR" alt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1504006"/>
                  </a:ext>
                </a:extLst>
              </a:tr>
              <a:tr h="73752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</a:rPr>
                        <a:t>헤더</a:t>
                      </a:r>
                      <a:endParaRPr lang="en-US" altLang="ko-KR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230994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산재등록 목록 검색필터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latinLnBrk="1"/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업종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발생형태 </a:t>
                      </a:r>
                      <a:r>
                        <a:rPr lang="en-US" altLang="ko-KR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12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2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031290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2.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회원 산재등록 목록 테이블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392484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28640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8858731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017686"/>
                  </a:ext>
                </a:extLst>
              </a:tr>
              <a:tr h="737523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2041676"/>
                  </a:ext>
                </a:extLst>
              </a:tr>
            </a:tbl>
          </a:graphicData>
        </a:graphic>
      </p:graphicFrame>
      <p:sp>
        <p:nvSpPr>
          <p:cNvPr id="7" name="직사각형 6">
            <a:extLst>
              <a:ext uri="{FF2B5EF4-FFF2-40B4-BE49-F238E27FC236}">
                <a16:creationId xmlns:a16="http://schemas.microsoft.com/office/drawing/2014/main" id="{B030C018-A617-475B-9262-DD681A943439}"/>
              </a:ext>
            </a:extLst>
          </p:cNvPr>
          <p:cNvSpPr/>
          <p:nvPr/>
        </p:nvSpPr>
        <p:spPr>
          <a:xfrm>
            <a:off x="1615044" y="1186018"/>
            <a:ext cx="6988627" cy="642782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800" dirty="0"/>
              <a:t>          로그아웃</a:t>
            </a:r>
            <a:r>
              <a:rPr lang="en-US" altLang="ko-KR" sz="1800" dirty="0"/>
              <a:t>	</a:t>
            </a:r>
            <a:r>
              <a:rPr lang="ko-KR" altLang="en-US" sz="1800" dirty="0"/>
              <a:t>  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1296FE-16BA-4F12-B9DA-4ED3C920D19B}"/>
              </a:ext>
            </a:extLst>
          </p:cNvPr>
          <p:cNvSpPr/>
          <p:nvPr/>
        </p:nvSpPr>
        <p:spPr>
          <a:xfrm>
            <a:off x="0" y="1180080"/>
            <a:ext cx="1615044" cy="642782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로고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9B36BA-6DA8-4C53-AFEB-F4E8C821AD97}"/>
              </a:ext>
            </a:extLst>
          </p:cNvPr>
          <p:cNvSpPr txBox="1"/>
          <p:nvPr/>
        </p:nvSpPr>
        <p:spPr>
          <a:xfrm>
            <a:off x="763729" y="2388096"/>
            <a:ext cx="11338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검색 </a:t>
            </a:r>
            <a:r>
              <a:rPr lang="en-US" altLang="ko-KR" sz="1400" b="1" dirty="0"/>
              <a:t>/ </a:t>
            </a:r>
            <a:r>
              <a:rPr lang="ko-KR" altLang="en-US" sz="1400" b="1" dirty="0"/>
              <a:t>필터</a:t>
            </a:r>
          </a:p>
        </p:txBody>
      </p:sp>
      <p:graphicFrame>
        <p:nvGraphicFramePr>
          <p:cNvPr id="9" name="표 9">
            <a:extLst>
              <a:ext uri="{FF2B5EF4-FFF2-40B4-BE49-F238E27FC236}">
                <a16:creationId xmlns:a16="http://schemas.microsoft.com/office/drawing/2014/main" id="{14AB4E91-C744-C53F-5941-BD8F9F4B76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8807348"/>
              </p:ext>
            </p:extLst>
          </p:nvPr>
        </p:nvGraphicFramePr>
        <p:xfrm>
          <a:off x="752633" y="4098303"/>
          <a:ext cx="7212204" cy="1401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686">
                  <a:extLst>
                    <a:ext uri="{9D8B030D-6E8A-4147-A177-3AD203B41FA5}">
                      <a16:colId xmlns:a16="http://schemas.microsoft.com/office/drawing/2014/main" val="290832576"/>
                    </a:ext>
                  </a:extLst>
                </a:gridCol>
                <a:gridCol w="702312">
                  <a:extLst>
                    <a:ext uri="{9D8B030D-6E8A-4147-A177-3AD203B41FA5}">
                      <a16:colId xmlns:a16="http://schemas.microsoft.com/office/drawing/2014/main" val="102188575"/>
                    </a:ext>
                  </a:extLst>
                </a:gridCol>
                <a:gridCol w="897849">
                  <a:extLst>
                    <a:ext uri="{9D8B030D-6E8A-4147-A177-3AD203B41FA5}">
                      <a16:colId xmlns:a16="http://schemas.microsoft.com/office/drawing/2014/main" val="1300920205"/>
                    </a:ext>
                  </a:extLst>
                </a:gridCol>
                <a:gridCol w="1276617">
                  <a:extLst>
                    <a:ext uri="{9D8B030D-6E8A-4147-A177-3AD203B41FA5}">
                      <a16:colId xmlns:a16="http://schemas.microsoft.com/office/drawing/2014/main" val="878541107"/>
                    </a:ext>
                  </a:extLst>
                </a:gridCol>
                <a:gridCol w="778427">
                  <a:extLst>
                    <a:ext uri="{9D8B030D-6E8A-4147-A177-3AD203B41FA5}">
                      <a16:colId xmlns:a16="http://schemas.microsoft.com/office/drawing/2014/main" val="2804284854"/>
                    </a:ext>
                  </a:extLst>
                </a:gridCol>
                <a:gridCol w="838985">
                  <a:extLst>
                    <a:ext uri="{9D8B030D-6E8A-4147-A177-3AD203B41FA5}">
                      <a16:colId xmlns:a16="http://schemas.microsoft.com/office/drawing/2014/main" val="2733423004"/>
                    </a:ext>
                  </a:extLst>
                </a:gridCol>
                <a:gridCol w="894704">
                  <a:extLst>
                    <a:ext uri="{9D8B030D-6E8A-4147-A177-3AD203B41FA5}">
                      <a16:colId xmlns:a16="http://schemas.microsoft.com/office/drawing/2014/main" val="2614146688"/>
                    </a:ext>
                  </a:extLst>
                </a:gridCol>
                <a:gridCol w="1404624">
                  <a:extLst>
                    <a:ext uri="{9D8B030D-6E8A-4147-A177-3AD203B41FA5}">
                      <a16:colId xmlns:a16="http://schemas.microsoft.com/office/drawing/2014/main" val="1299462405"/>
                    </a:ext>
                  </a:extLst>
                </a:gridCol>
              </a:tblGrid>
              <a:tr h="23832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No.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err="1"/>
                        <a:t>회원명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업종 분류</a:t>
                      </a:r>
                      <a:r>
                        <a:rPr lang="en-US" altLang="ko-KR" sz="1100" dirty="0"/>
                        <a:t>1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업종 분류</a:t>
                      </a:r>
                      <a:r>
                        <a:rPr lang="en-US" altLang="ko-KR" sz="1100" dirty="0"/>
                        <a:t>2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발생형태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질병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발생일자</a:t>
                      </a:r>
                      <a:endParaRPr lang="ko-KR" altLang="en-US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/>
                        <a:t>사고지역</a:t>
                      </a:r>
                      <a:endParaRPr lang="ko-KR" altLang="en-US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8945175"/>
                  </a:ext>
                </a:extLst>
              </a:tr>
              <a:tr h="5711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홍길동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제조업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출판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/>
                        <a:t>인쇄</a:t>
                      </a:r>
                      <a:r>
                        <a:rPr lang="en-US" altLang="ko-KR" sz="1100" dirty="0"/>
                        <a:t>·</a:t>
                      </a:r>
                      <a:r>
                        <a:rPr lang="ko-KR" altLang="en-US" sz="1100" dirty="0" err="1"/>
                        <a:t>제본업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끼임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우측 손가락 골절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dirty="0"/>
                        <a:t>2023-11-01</a:t>
                      </a:r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/>
                        <a:t>서울시 강남구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4064222"/>
                  </a:ext>
                </a:extLst>
              </a:tr>
              <a:tr h="571135"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0072185"/>
                  </a:ext>
                </a:extLst>
              </a:tr>
            </a:tbl>
          </a:graphicData>
        </a:graphic>
      </p:graphicFrame>
      <p:pic>
        <p:nvPicPr>
          <p:cNvPr id="12" name="그림 11">
            <a:extLst>
              <a:ext uri="{FF2B5EF4-FFF2-40B4-BE49-F238E27FC236}">
                <a16:creationId xmlns:a16="http://schemas.microsoft.com/office/drawing/2014/main" id="{3091EE4C-4CE9-4ED1-ACA7-51708CFCA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33" y="2909510"/>
            <a:ext cx="3696216" cy="24768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0EEDECB-78EA-210D-B875-6E3AAE6C538E}"/>
              </a:ext>
            </a:extLst>
          </p:cNvPr>
          <p:cNvSpPr txBox="1"/>
          <p:nvPr/>
        </p:nvSpPr>
        <p:spPr>
          <a:xfrm>
            <a:off x="763729" y="3546917"/>
            <a:ext cx="18946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회원 산재등록 목록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4973300-5F5D-335F-D59D-2BA289995F27}"/>
              </a:ext>
            </a:extLst>
          </p:cNvPr>
          <p:cNvSpPr/>
          <p:nvPr/>
        </p:nvSpPr>
        <p:spPr>
          <a:xfrm>
            <a:off x="485797" y="2541984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1</a:t>
            </a:r>
            <a:endParaRPr lang="ko-KR" altLang="en-US" sz="14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7D90C704-CDD5-9225-24B0-C42371073555}"/>
              </a:ext>
            </a:extLst>
          </p:cNvPr>
          <p:cNvSpPr/>
          <p:nvPr/>
        </p:nvSpPr>
        <p:spPr>
          <a:xfrm>
            <a:off x="474701" y="3871532"/>
            <a:ext cx="277932" cy="29046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2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333659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1783</TotalTime>
  <Words>3854</Words>
  <Application>Microsoft Office PowerPoint</Application>
  <PresentationFormat>와이드스크린</PresentationFormat>
  <Paragraphs>1392</Paragraphs>
  <Slides>49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55" baseType="lpstr">
      <vt:lpstr>ui-sans-serif</vt:lpstr>
      <vt:lpstr>맑은 고딕</vt:lpstr>
      <vt:lpstr>맑은 고딕</vt:lpstr>
      <vt:lpstr>Arial</vt:lpstr>
      <vt:lpstr>Consolas</vt:lpstr>
      <vt:lpstr>Office 테마</vt:lpstr>
      <vt:lpstr>스토리보드 산재통계</vt:lpstr>
      <vt:lpstr>목차</vt:lpstr>
      <vt:lpstr>API</vt:lpstr>
      <vt:lpstr>크롤링</vt:lpstr>
      <vt:lpstr>메인 , 헤더</vt:lpstr>
      <vt:lpstr>PowerPoint 프레젠테이션</vt:lpstr>
      <vt:lpstr>PowerPoint 프레젠테이션</vt:lpstr>
      <vt:lpstr>PowerPoint 프레젠테이션</vt:lpstr>
      <vt:lpstr>소개</vt:lpstr>
      <vt:lpstr>PowerPoint 프레젠테이션</vt:lpstr>
      <vt:lpstr>PowerPoint 프레젠테이션</vt:lpstr>
      <vt:lpstr>PowerPoint 프레젠테이션</vt:lpstr>
      <vt:lpstr>회원가입</vt:lpstr>
      <vt:lpstr>PowerPoint 프레젠테이션</vt:lpstr>
      <vt:lpstr>PowerPoint 프레젠테이션</vt:lpstr>
      <vt:lpstr>PowerPoint 프레젠테이션</vt:lpstr>
      <vt:lpstr>PowerPoint 프레젠테이션</vt:lpstr>
      <vt:lpstr>마이페이지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산재 뉴스</vt:lpstr>
      <vt:lpstr>PowerPoint 프레젠테이션</vt:lpstr>
      <vt:lpstr>산재 통계</vt:lpstr>
      <vt:lpstr>PowerPoint 프레젠테이션</vt:lpstr>
      <vt:lpstr>PowerPoint 프레젠테이션</vt:lpstr>
      <vt:lpstr>PowerPoint 프레젠테이션</vt:lpstr>
      <vt:lpstr>안전 자료실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주변 산재 검색</vt:lpstr>
      <vt:lpstr>PowerPoint 프레젠테이션</vt:lpstr>
      <vt:lpstr>PowerPoint 프레젠테이션</vt:lpstr>
      <vt:lpstr>PowerPoint 프레젠테이션</vt:lpstr>
      <vt:lpstr>주변 병원 검색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관리자페이지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페이지 구성도</dc:title>
  <dc:creator>do yun choi</dc:creator>
  <cp:lastModifiedBy>User</cp:lastModifiedBy>
  <cp:revision>118</cp:revision>
  <dcterms:created xsi:type="dcterms:W3CDTF">2025-11-24T01:38:34Z</dcterms:created>
  <dcterms:modified xsi:type="dcterms:W3CDTF">2025-11-27T06:26:18Z</dcterms:modified>
</cp:coreProperties>
</file>