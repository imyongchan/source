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311" r:id="rId3"/>
    <p:sldId id="312" r:id="rId4"/>
    <p:sldId id="313" r:id="rId5"/>
    <p:sldId id="262" r:id="rId6"/>
    <p:sldId id="257" r:id="rId7"/>
    <p:sldId id="266" r:id="rId8"/>
    <p:sldId id="261" r:id="rId9"/>
    <p:sldId id="296" r:id="rId10"/>
    <p:sldId id="306" r:id="rId11"/>
    <p:sldId id="307" r:id="rId12"/>
    <p:sldId id="308" r:id="rId13"/>
    <p:sldId id="267" r:id="rId14"/>
    <p:sldId id="268" r:id="rId15"/>
    <p:sldId id="270" r:id="rId16"/>
    <p:sldId id="271" r:id="rId17"/>
    <p:sldId id="273" r:id="rId18"/>
    <p:sldId id="274" r:id="rId19"/>
    <p:sldId id="310" r:id="rId20"/>
    <p:sldId id="285" r:id="rId21"/>
    <p:sldId id="283" r:id="rId22"/>
    <p:sldId id="278" r:id="rId23"/>
    <p:sldId id="282" r:id="rId24"/>
    <p:sldId id="281" r:id="rId25"/>
    <p:sldId id="294" r:id="rId26"/>
    <p:sldId id="295" r:id="rId27"/>
    <p:sldId id="263" r:id="rId28"/>
    <p:sldId id="265" r:id="rId29"/>
    <p:sldId id="317" r:id="rId30"/>
    <p:sldId id="258" r:id="rId31"/>
    <p:sldId id="318" r:id="rId32"/>
    <p:sldId id="319" r:id="rId33"/>
    <p:sldId id="320" r:id="rId34"/>
    <p:sldId id="321" r:id="rId35"/>
    <p:sldId id="280" r:id="rId36"/>
    <p:sldId id="291" r:id="rId37"/>
    <p:sldId id="299" r:id="rId38"/>
    <p:sldId id="300" r:id="rId39"/>
    <p:sldId id="301" r:id="rId40"/>
    <p:sldId id="305" r:id="rId41"/>
    <p:sldId id="286" r:id="rId42"/>
    <p:sldId id="292" r:id="rId43"/>
    <p:sldId id="287" r:id="rId44"/>
    <p:sldId id="288" r:id="rId45"/>
    <p:sldId id="290" r:id="rId46"/>
    <p:sldId id="293" r:id="rId47"/>
    <p:sldId id="289" r:id="rId48"/>
    <p:sldId id="302" r:id="rId49"/>
    <p:sldId id="264" r:id="rId50"/>
    <p:sldId id="303" r:id="rId51"/>
    <p:sldId id="304" r:id="rId52"/>
    <p:sldId id="314" r:id="rId53"/>
    <p:sldId id="316" r:id="rId54"/>
    <p:sldId id="315" r:id="rId5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89727" autoAdjust="0"/>
  </p:normalViewPr>
  <p:slideViewPr>
    <p:cSldViewPr snapToGrid="0">
      <p:cViewPr varScale="1">
        <p:scale>
          <a:sx n="77" d="100"/>
          <a:sy n="77" d="100"/>
        </p:scale>
        <p:origin x="108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3A-48F6-A7D0-A01141C5F7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3A-48F6-A7D0-A01141C5F7A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3A-48F6-A7D0-A01141C5F7A7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D4D1-45E9-8358-D3C8FA214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DFF91-717C-4EE9-9C3F-09298E32B65B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5F57A-A7A3-460B-A3C5-F840737745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68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697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Ref : </a:t>
            </a:r>
            <a:r>
              <a:rPr lang="ko-KR" altLang="en-US" dirty="0" err="1"/>
              <a:t>쿠팡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531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96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175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756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556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313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607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512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09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구성해야함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8416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46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99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ostcode.map.daum.net/guid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kosha.or.kr/archive/cent-archive/indust-arch/indust-page1" TargetMode="External"/><Relationship Id="rId2" Type="http://schemas.openxmlformats.org/officeDocument/2006/relationships/hyperlink" Target="http://sanjaenews.co.k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wel.or.kr/comwel/medi/orsc.jsp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comwel.or.kr/comwel/medi/orsc.jsp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F733-D0AF-4E22-9ACD-628454BD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4572"/>
          </a:xfrm>
        </p:spPr>
        <p:txBody>
          <a:bodyPr/>
          <a:lstStyle/>
          <a:p>
            <a:r>
              <a:rPr lang="ko-KR" altLang="en-US" dirty="0"/>
              <a:t>스토리보드 산재통계</a:t>
            </a:r>
          </a:p>
        </p:txBody>
      </p:sp>
    </p:spTree>
    <p:extLst>
      <p:ext uri="{BB962C8B-B14F-4D97-AF65-F5344CB8AC3E}">
        <p14:creationId xmlns:p14="http://schemas.microsoft.com/office/powerpoint/2010/main" val="102192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A063F-D905-4937-8ABC-3A50C4DF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E11D5-FA4D-468B-9D94-5167DC122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dirty="0"/>
              <a:t>API</a:t>
            </a:r>
          </a:p>
          <a:p>
            <a:r>
              <a:rPr lang="ko-KR" altLang="en-US" dirty="0" err="1"/>
              <a:t>크롤링</a:t>
            </a:r>
            <a:endParaRPr lang="en-US" altLang="ko-KR" dirty="0"/>
          </a:p>
          <a:p>
            <a:r>
              <a:rPr lang="ko-KR" altLang="en-US" dirty="0"/>
              <a:t>헤더</a:t>
            </a:r>
            <a:r>
              <a:rPr lang="en-US" altLang="ko-KR" dirty="0"/>
              <a:t>, </a:t>
            </a:r>
            <a:r>
              <a:rPr lang="ko-KR" altLang="en-US" dirty="0"/>
              <a:t>메인</a:t>
            </a:r>
            <a:endParaRPr lang="en-US" altLang="ko-KR" dirty="0"/>
          </a:p>
          <a:p>
            <a:r>
              <a:rPr lang="ko-KR" altLang="en-US" dirty="0"/>
              <a:t>소개</a:t>
            </a:r>
            <a:endParaRPr lang="en-US" altLang="ko-KR" dirty="0"/>
          </a:p>
          <a:p>
            <a:r>
              <a:rPr lang="ko-KR" altLang="en-US" dirty="0"/>
              <a:t>회원가입</a:t>
            </a:r>
            <a:endParaRPr lang="en-US" altLang="ko-KR" dirty="0"/>
          </a:p>
          <a:p>
            <a:r>
              <a:rPr lang="ko-KR" altLang="en-US" dirty="0"/>
              <a:t>마이페이지</a:t>
            </a:r>
            <a:endParaRPr lang="en-US" altLang="ko-KR" dirty="0"/>
          </a:p>
          <a:p>
            <a:r>
              <a:rPr lang="ko-KR" altLang="en-US" dirty="0"/>
              <a:t>산재 뉴스</a:t>
            </a:r>
            <a:endParaRPr lang="en-US" altLang="ko-KR" dirty="0"/>
          </a:p>
          <a:p>
            <a:r>
              <a:rPr lang="ko-KR" altLang="en-US" dirty="0"/>
              <a:t>산재 통계</a:t>
            </a:r>
            <a:endParaRPr lang="en-US" altLang="ko-KR" dirty="0"/>
          </a:p>
          <a:p>
            <a:r>
              <a:rPr lang="ko-KR" altLang="en-US" dirty="0"/>
              <a:t>안전 자료실</a:t>
            </a:r>
            <a:endParaRPr lang="en-US" altLang="ko-KR" dirty="0"/>
          </a:p>
          <a:p>
            <a:r>
              <a:rPr lang="ko-KR" altLang="en-US" dirty="0"/>
              <a:t>주변 산재 검색</a:t>
            </a:r>
            <a:endParaRPr lang="en-US" altLang="ko-KR" dirty="0"/>
          </a:p>
          <a:p>
            <a:r>
              <a:rPr lang="ko-KR" altLang="en-US" dirty="0"/>
              <a:t>주변 병원 검색</a:t>
            </a:r>
            <a:endParaRPr lang="en-US" altLang="ko-KR" dirty="0"/>
          </a:p>
          <a:p>
            <a:r>
              <a:rPr lang="ko-KR" altLang="en-US" dirty="0"/>
              <a:t>관리자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45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2BFFE-C749-4DA6-89A4-9465C7BA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BEACF3-F952-44E5-A6E6-8E02014F2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sz="1800" dirty="0" err="1"/>
              <a:t>Daum</a:t>
            </a:r>
            <a:r>
              <a:rPr lang="en-US" altLang="ko-KR" sz="1800" dirty="0"/>
              <a:t> </a:t>
            </a:r>
            <a:r>
              <a:rPr lang="ko-KR" altLang="en-US" sz="1800" dirty="0"/>
              <a:t>주소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800" dirty="0">
                <a:hlinkClick r:id="rId2"/>
              </a:rPr>
              <a:t>https://postcode.map.daum.net/guide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r>
              <a:rPr lang="en-US" altLang="ko-KR" sz="1800" dirty="0" err="1"/>
              <a:t>KakaoMap</a:t>
            </a:r>
            <a:r>
              <a:rPr lang="en-US" altLang="ko-KR" sz="1800" dirty="0"/>
              <a:t> 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https://dapi.kakao.com/v2/local/search/address.json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 err="1"/>
              <a:t>산업재해수</a:t>
            </a:r>
            <a:r>
              <a:rPr lang="ko-KR" altLang="en-US" sz="1800" dirty="0"/>
              <a:t>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https://safemap.go.kr/opna/data/dataView.do?objtId=178</a:t>
            </a:r>
          </a:p>
          <a:p>
            <a:endParaRPr lang="en-US" altLang="ko-KR" sz="1800" dirty="0"/>
          </a:p>
          <a:p>
            <a:r>
              <a:rPr lang="en-US" altLang="ko-KR" sz="1800" dirty="0" err="1"/>
              <a:t>Kosis</a:t>
            </a:r>
            <a:r>
              <a:rPr lang="en-US" altLang="ko-KR" sz="1800" dirty="0"/>
              <a:t> API(</a:t>
            </a:r>
            <a:r>
              <a:rPr lang="ko-KR" altLang="en-US" sz="1800" dirty="0"/>
              <a:t>고용노동통계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dirty="0"/>
              <a:t>ttps://laborstat.moel.go.kr/hmp/tblInfo/TblInfoList.do?menuId=0010001100101102&amp;leftMenuId=0010001100101&amp;vwCdVal=MT_PTITLE&amp;upListVal=118_905</a:t>
            </a:r>
          </a:p>
          <a:p>
            <a:endParaRPr lang="en-US" altLang="ko-KR" sz="1800" dirty="0"/>
          </a:p>
          <a:p>
            <a:r>
              <a:rPr lang="ko-KR" altLang="en-US" sz="1800" dirty="0"/>
              <a:t>산재지정병원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https://www.safemap.go.kr/</a:t>
            </a:r>
          </a:p>
        </p:txBody>
      </p:sp>
    </p:spTree>
    <p:extLst>
      <p:ext uri="{BB962C8B-B14F-4D97-AF65-F5344CB8AC3E}">
        <p14:creationId xmlns:p14="http://schemas.microsoft.com/office/powerpoint/2010/main" val="341638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8C647-197F-472C-8D93-CE75798E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크롤링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2527-23FB-4DE3-B932-CAEAC3F53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산재뉴스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2"/>
              </a:rPr>
              <a:t>http://sanjaenews.co.kr/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 err="1"/>
              <a:t>산업안전포털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3"/>
              </a:rPr>
              <a:t>https://portal.kosha.or.kr/archive/cent-archive/indust-arch/indust-page1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산재지정 의료기관 찾기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4"/>
              </a:rPr>
              <a:t>https://www.comwel.or.kr/comwel/medi/orsc.jsp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392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3FC1E-53BF-41EE-A318-AAEAA378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메인 </a:t>
            </a:r>
            <a:r>
              <a:rPr lang="en-US" altLang="ko-KR" dirty="0"/>
              <a:t>, </a:t>
            </a:r>
            <a:r>
              <a:rPr lang="ko-KR" altLang="en-US" dirty="0"/>
              <a:t>헤더</a:t>
            </a:r>
          </a:p>
        </p:txBody>
      </p:sp>
    </p:spTree>
    <p:extLst>
      <p:ext uri="{BB962C8B-B14F-4D97-AF65-F5344CB8AC3E}">
        <p14:creationId xmlns:p14="http://schemas.microsoft.com/office/powerpoint/2010/main" val="36065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05997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685321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02384"/>
              </p:ext>
            </p:extLst>
          </p:nvPr>
        </p:nvGraphicFramePr>
        <p:xfrm>
          <a:off x="139700" y="247158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0042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042645"/>
              </p:ext>
            </p:extLst>
          </p:nvPr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사용자의 이름을 사용하여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처리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 페이지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905963" y="1442269"/>
            <a:ext cx="1615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로그아웃 </a:t>
            </a:r>
            <a:r>
              <a:rPr lang="en-US" altLang="ko-KR" sz="1100" dirty="0"/>
              <a:t>| </a:t>
            </a:r>
            <a:r>
              <a:rPr lang="ko-KR" altLang="en-US" sz="1100" dirty="0"/>
              <a:t>마이페이지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980244"/>
              </p:ext>
            </p:extLst>
          </p:nvPr>
        </p:nvGraphicFramePr>
        <p:xfrm>
          <a:off x="139700" y="247158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4926932" y="1432535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OOO</a:t>
            </a:r>
            <a:r>
              <a:rPr lang="ko-KR" altLang="en-US" sz="1400" dirty="0"/>
              <a:t>님 환영합니다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8295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68331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홈페이지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983826"/>
              </p:ext>
            </p:extLst>
          </p:nvPr>
        </p:nvGraphicFramePr>
        <p:xfrm>
          <a:off x="8603672" y="1180080"/>
          <a:ext cx="3588327" cy="58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연령대별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1,2,3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순위를 슬라이딩으로 보여준다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이동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범위 내 클릭하면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상세 페이지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섬네일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작성자가 입력된다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리스트 페이지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BDC760-B4AD-444E-B619-2FD56EF41606}"/>
              </a:ext>
            </a:extLst>
          </p:cNvPr>
          <p:cNvSpPr/>
          <p:nvPr/>
        </p:nvSpPr>
        <p:spPr>
          <a:xfrm>
            <a:off x="0" y="1822862"/>
            <a:ext cx="8603671" cy="1324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히어로 이미지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9D3E86-FB28-44C2-B1B5-25949B751E8A}"/>
              </a:ext>
            </a:extLst>
          </p:cNvPr>
          <p:cNvSpPr/>
          <p:nvPr/>
        </p:nvSpPr>
        <p:spPr>
          <a:xfrm>
            <a:off x="-1979" y="3167744"/>
            <a:ext cx="8603671" cy="1493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B596E8-2383-4511-860C-5CEBAAD20629}"/>
              </a:ext>
            </a:extLst>
          </p:cNvPr>
          <p:cNvSpPr/>
          <p:nvPr/>
        </p:nvSpPr>
        <p:spPr>
          <a:xfrm>
            <a:off x="0" y="4709174"/>
            <a:ext cx="8603671" cy="1486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255CB5-0DD7-4720-BFC9-E32D0609F82D}"/>
              </a:ext>
            </a:extLst>
          </p:cNvPr>
          <p:cNvSpPr/>
          <p:nvPr/>
        </p:nvSpPr>
        <p:spPr>
          <a:xfrm>
            <a:off x="17813" y="3215853"/>
            <a:ext cx="884712" cy="4755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통계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96EBBB-0431-4EC2-90A2-14E7BCB512E6}"/>
              </a:ext>
            </a:extLst>
          </p:cNvPr>
          <p:cNvSpPr/>
          <p:nvPr/>
        </p:nvSpPr>
        <p:spPr>
          <a:xfrm>
            <a:off x="17813" y="4716886"/>
            <a:ext cx="878774" cy="431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뉴스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233D38-0148-451D-819B-41F95C845542}"/>
              </a:ext>
            </a:extLst>
          </p:cNvPr>
          <p:cNvSpPr/>
          <p:nvPr/>
        </p:nvSpPr>
        <p:spPr>
          <a:xfrm>
            <a:off x="100941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3CE053-0061-480D-9A03-E0F1027FE364}"/>
              </a:ext>
            </a:extLst>
          </p:cNvPr>
          <p:cNvSpPr/>
          <p:nvPr/>
        </p:nvSpPr>
        <p:spPr>
          <a:xfrm>
            <a:off x="225631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A52B5B-D6D6-4786-BBAD-E99520AECA2D}"/>
              </a:ext>
            </a:extLst>
          </p:cNvPr>
          <p:cNvSpPr txBox="1"/>
          <p:nvPr/>
        </p:nvSpPr>
        <p:spPr>
          <a:xfrm>
            <a:off x="1615044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7A4E12-1C40-4350-BA62-47BECBF99EBD}"/>
              </a:ext>
            </a:extLst>
          </p:cNvPr>
          <p:cNvSpPr txBox="1"/>
          <p:nvPr/>
        </p:nvSpPr>
        <p:spPr>
          <a:xfrm>
            <a:off x="1666874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819A1AF-984A-4526-AC68-B3246648F072}"/>
              </a:ext>
            </a:extLst>
          </p:cNvPr>
          <p:cNvSpPr/>
          <p:nvPr/>
        </p:nvSpPr>
        <p:spPr>
          <a:xfrm>
            <a:off x="2838204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1AE18C-FEDA-4434-8293-64055F385CFE}"/>
              </a:ext>
            </a:extLst>
          </p:cNvPr>
          <p:cNvSpPr/>
          <p:nvPr/>
        </p:nvSpPr>
        <p:spPr>
          <a:xfrm>
            <a:off x="2962894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F1ACD3-C184-4F25-95EF-29F1B9DFAADA}"/>
              </a:ext>
            </a:extLst>
          </p:cNvPr>
          <p:cNvSpPr txBox="1"/>
          <p:nvPr/>
        </p:nvSpPr>
        <p:spPr>
          <a:xfrm>
            <a:off x="4352307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68FC70-AEC3-405C-B489-3F0548A592AD}"/>
              </a:ext>
            </a:extLst>
          </p:cNvPr>
          <p:cNvSpPr txBox="1"/>
          <p:nvPr/>
        </p:nvSpPr>
        <p:spPr>
          <a:xfrm>
            <a:off x="4404137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9F3F06-FE66-4A24-8B9A-CC061AC1A18F}"/>
              </a:ext>
            </a:extLst>
          </p:cNvPr>
          <p:cNvSpPr/>
          <p:nvPr/>
        </p:nvSpPr>
        <p:spPr>
          <a:xfrm>
            <a:off x="5574348" y="5084572"/>
            <a:ext cx="2625563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126CC8-6FF6-4FB1-B108-7C88591185A8}"/>
              </a:ext>
            </a:extLst>
          </p:cNvPr>
          <p:cNvSpPr/>
          <p:nvPr/>
        </p:nvSpPr>
        <p:spPr>
          <a:xfrm>
            <a:off x="5699039" y="5235983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9428F5-4701-459B-AE1E-5DE5F61A9112}"/>
              </a:ext>
            </a:extLst>
          </p:cNvPr>
          <p:cNvSpPr txBox="1"/>
          <p:nvPr/>
        </p:nvSpPr>
        <p:spPr>
          <a:xfrm>
            <a:off x="7088452" y="5231979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237C1D-E28D-4AD7-906D-4285DE847C3A}"/>
              </a:ext>
            </a:extLst>
          </p:cNvPr>
          <p:cNvSpPr txBox="1"/>
          <p:nvPr/>
        </p:nvSpPr>
        <p:spPr>
          <a:xfrm>
            <a:off x="7140282" y="567617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E182F3-6220-4178-A907-7F8754A73014}"/>
              </a:ext>
            </a:extLst>
          </p:cNvPr>
          <p:cNvSpPr txBox="1"/>
          <p:nvPr/>
        </p:nvSpPr>
        <p:spPr>
          <a:xfrm>
            <a:off x="8005821" y="4771557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graphicFrame>
        <p:nvGraphicFramePr>
          <p:cNvPr id="41" name="차트 40">
            <a:extLst>
              <a:ext uri="{FF2B5EF4-FFF2-40B4-BE49-F238E27FC236}">
                <a16:creationId xmlns:a16="http://schemas.microsoft.com/office/drawing/2014/main" id="{13D7E1F3-FA78-4F00-B8BA-A3A21E87D926}"/>
              </a:ext>
            </a:extLst>
          </p:cNvPr>
          <p:cNvGraphicFramePr/>
          <p:nvPr/>
        </p:nvGraphicFramePr>
        <p:xfrm>
          <a:off x="3412046" y="3195070"/>
          <a:ext cx="1604908" cy="1443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2" name="1/2 액자 41">
            <a:extLst>
              <a:ext uri="{FF2B5EF4-FFF2-40B4-BE49-F238E27FC236}">
                <a16:creationId xmlns:a16="http://schemas.microsoft.com/office/drawing/2014/main" id="{26A28183-CF79-45F1-A20E-992DC1BDAA3B}"/>
              </a:ext>
            </a:extLst>
          </p:cNvPr>
          <p:cNvSpPr/>
          <p:nvPr/>
        </p:nvSpPr>
        <p:spPr>
          <a:xfrm rot="7936885">
            <a:off x="7971202" y="3820832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1/2 액자 42">
            <a:extLst>
              <a:ext uri="{FF2B5EF4-FFF2-40B4-BE49-F238E27FC236}">
                <a16:creationId xmlns:a16="http://schemas.microsoft.com/office/drawing/2014/main" id="{1C0CE8E2-7A61-44ED-AEE0-33F609B8A6B0}"/>
              </a:ext>
            </a:extLst>
          </p:cNvPr>
          <p:cNvSpPr/>
          <p:nvPr/>
        </p:nvSpPr>
        <p:spPr>
          <a:xfrm rot="18869348">
            <a:off x="130504" y="3887013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A9B73E-3424-41F7-94E2-BD090E306158}"/>
              </a:ext>
            </a:extLst>
          </p:cNvPr>
          <p:cNvSpPr txBox="1"/>
          <p:nvPr/>
        </p:nvSpPr>
        <p:spPr>
          <a:xfrm>
            <a:off x="5166360" y="333399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위 </a:t>
            </a:r>
            <a:r>
              <a:rPr lang="en-US" altLang="ko-KR" dirty="0"/>
              <a:t>30</a:t>
            </a:r>
            <a:r>
              <a:rPr lang="ko-KR" altLang="en-US" dirty="0"/>
              <a:t>대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CC4EB5-5834-4529-81DE-795003DA6E55}"/>
              </a:ext>
            </a:extLst>
          </p:cNvPr>
          <p:cNvSpPr txBox="1"/>
          <p:nvPr/>
        </p:nvSpPr>
        <p:spPr>
          <a:xfrm>
            <a:off x="5166360" y="3745010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위 </a:t>
            </a:r>
            <a:r>
              <a:rPr lang="en-US" altLang="ko-KR" dirty="0"/>
              <a:t>40</a:t>
            </a:r>
            <a:r>
              <a:rPr lang="ko-KR" altLang="en-US" dirty="0"/>
              <a:t>대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40D569-CF39-4AA6-882C-0E627E906E1A}"/>
              </a:ext>
            </a:extLst>
          </p:cNvPr>
          <p:cNvSpPr txBox="1"/>
          <p:nvPr/>
        </p:nvSpPr>
        <p:spPr>
          <a:xfrm>
            <a:off x="5166360" y="4155536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위 </a:t>
            </a:r>
            <a:r>
              <a:rPr lang="en-US" altLang="ko-KR" dirty="0"/>
              <a:t>10</a:t>
            </a:r>
            <a:r>
              <a:rPr lang="ko-KR" altLang="en-US" dirty="0"/>
              <a:t>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4E2FE23-0F27-4ECB-99A1-2D462AEBC5B2}"/>
              </a:ext>
            </a:extLst>
          </p:cNvPr>
          <p:cNvSpPr/>
          <p:nvPr/>
        </p:nvSpPr>
        <p:spPr>
          <a:xfrm>
            <a:off x="1092530" y="3241965"/>
            <a:ext cx="6715496" cy="1318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EFA2D7-7C17-4CE6-8433-02D68918D94D}"/>
              </a:ext>
            </a:extLst>
          </p:cNvPr>
          <p:cNvSpPr txBox="1"/>
          <p:nvPr/>
        </p:nvSpPr>
        <p:spPr>
          <a:xfrm>
            <a:off x="1137062" y="3262179"/>
            <a:ext cx="95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연령대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63D491A-D609-49F3-94BC-2A0C2FD7ACFA}"/>
              </a:ext>
            </a:extLst>
          </p:cNvPr>
          <p:cNvSpPr/>
          <p:nvPr/>
        </p:nvSpPr>
        <p:spPr>
          <a:xfrm>
            <a:off x="7856904" y="318510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4AC78F-C9AB-40F7-9E85-0899E13BB9BD}"/>
              </a:ext>
            </a:extLst>
          </p:cNvPr>
          <p:cNvSpPr txBox="1"/>
          <p:nvPr/>
        </p:nvSpPr>
        <p:spPr>
          <a:xfrm>
            <a:off x="7855524" y="3231351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C9B01C8-945D-4F45-89FB-F06F1DE9B787}"/>
              </a:ext>
            </a:extLst>
          </p:cNvPr>
          <p:cNvSpPr/>
          <p:nvPr/>
        </p:nvSpPr>
        <p:spPr>
          <a:xfrm>
            <a:off x="52312" y="3215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1620BBE-37E5-4E42-A018-BEF36C917FAF}"/>
              </a:ext>
            </a:extLst>
          </p:cNvPr>
          <p:cNvSpPr/>
          <p:nvPr/>
        </p:nvSpPr>
        <p:spPr>
          <a:xfrm>
            <a:off x="52311" y="475963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6AE1946-FDA1-42E7-8E86-4424E75911A1}"/>
              </a:ext>
            </a:extLst>
          </p:cNvPr>
          <p:cNvSpPr/>
          <p:nvPr/>
        </p:nvSpPr>
        <p:spPr>
          <a:xfrm>
            <a:off x="8005821" y="472207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26225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BF29B-5EAE-4EF4-B67A-285B6D13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소개</a:t>
            </a:r>
          </a:p>
        </p:txBody>
      </p:sp>
    </p:spTree>
    <p:extLst>
      <p:ext uri="{BB962C8B-B14F-4D97-AF65-F5344CB8AC3E}">
        <p14:creationId xmlns:p14="http://schemas.microsoft.com/office/powerpoint/2010/main" val="399927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419107"/>
              </p:ext>
            </p:extLst>
          </p:nvPr>
        </p:nvGraphicFramePr>
        <p:xfrm>
          <a:off x="8603672" y="1180080"/>
          <a:ext cx="3588327" cy="6205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 소개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문제점 제기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산재지정병원 탐색 필요성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공공 데이터들이 흩어져 있어서 일반인이 한눈에 보기 쉽지 않음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FD7493-845A-5A34-EDD4-CE1F2AE0D169}"/>
              </a:ext>
            </a:extLst>
          </p:cNvPr>
          <p:cNvSpPr txBox="1"/>
          <p:nvPr/>
        </p:nvSpPr>
        <p:spPr>
          <a:xfrm>
            <a:off x="1988709" y="3199895"/>
            <a:ext cx="510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 dirty="0"/>
              <a:t>“</a:t>
            </a:r>
            <a:r>
              <a:rPr lang="ko-KR" altLang="en-US" sz="1200" i="1" dirty="0"/>
              <a:t>상단 히어로 메시지</a:t>
            </a:r>
            <a:r>
              <a:rPr lang="en-US" altLang="ko-KR" i="1" dirty="0"/>
              <a:t>”</a:t>
            </a:r>
            <a:endParaRPr lang="ko-KR" altLang="en-US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988709" y="3880539"/>
            <a:ext cx="17781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문제점 제기 및 필요성</a:t>
            </a:r>
            <a:r>
              <a:rPr lang="en-US" altLang="ko-KR" sz="1200" dirty="0"/>
              <a:t>)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0F22088-3EF5-3EE3-1326-11B0FAA08CB0}"/>
              </a:ext>
            </a:extLst>
          </p:cNvPr>
          <p:cNvSpPr/>
          <p:nvPr/>
        </p:nvSpPr>
        <p:spPr>
          <a:xfrm>
            <a:off x="218122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BAF7D5B-2D91-E6F2-9869-197009B5EB1A}"/>
              </a:ext>
            </a:extLst>
          </p:cNvPr>
          <p:cNvSpPr/>
          <p:nvPr/>
        </p:nvSpPr>
        <p:spPr>
          <a:xfrm>
            <a:off x="556760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1F4B62-0D36-B8F2-7937-ECF51238964A}"/>
              </a:ext>
            </a:extLst>
          </p:cNvPr>
          <p:cNvSpPr/>
          <p:nvPr/>
        </p:nvSpPr>
        <p:spPr>
          <a:xfrm>
            <a:off x="387441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75AF1F-57ED-D7D1-E81A-F464B44AF0CE}"/>
              </a:ext>
            </a:extLst>
          </p:cNvPr>
          <p:cNvSpPr txBox="1"/>
          <p:nvPr/>
        </p:nvSpPr>
        <p:spPr>
          <a:xfrm>
            <a:off x="6800689" y="3019927"/>
            <a:ext cx="79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상단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195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828876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898911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그룹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텍스트로  사용자 그룹 표현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설명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사용자의 니즈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서비스의 핵심 가치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가지 정도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2132277" y="321269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846640" y="2975301"/>
            <a:ext cx="1467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사용자 그룹</a:t>
            </a:r>
            <a:r>
              <a:rPr lang="en-US" altLang="ko-KR" sz="1200" dirty="0"/>
              <a:t>)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CDECF4B-FB88-DEAA-6A8B-93CB7F31512A}"/>
              </a:ext>
            </a:extLst>
          </p:cNvPr>
          <p:cNvGrpSpPr/>
          <p:nvPr/>
        </p:nvGrpSpPr>
        <p:grpSpPr>
          <a:xfrm>
            <a:off x="2228526" y="3349810"/>
            <a:ext cx="1270004" cy="1561764"/>
            <a:chOff x="2453042" y="4143237"/>
            <a:chExt cx="1142809" cy="1257936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14A3C1B-CB6D-902D-61AB-E3D84E668A8C}"/>
                </a:ext>
              </a:extLst>
            </p:cNvPr>
            <p:cNvSpPr/>
            <p:nvPr/>
          </p:nvSpPr>
          <p:spPr>
            <a:xfrm>
              <a:off x="2453042" y="4143237"/>
              <a:ext cx="1142809" cy="1257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2852921-ABFD-1500-4C8B-86236D7D141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94DBB3-A2FA-694A-E55D-1D7E895863CE}"/>
                </a:ext>
              </a:extLst>
            </p:cNvPr>
            <p:cNvSpPr txBox="1"/>
            <p:nvPr/>
          </p:nvSpPr>
          <p:spPr>
            <a:xfrm>
              <a:off x="2557444" y="5091946"/>
              <a:ext cx="970977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현장근로자</a:t>
              </a:r>
              <a:endParaRPr lang="en-US" altLang="ko-KR" sz="1100" dirty="0"/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983DAD-3034-4CDC-6075-1BF5E00A8FD3}"/>
              </a:ext>
            </a:extLst>
          </p:cNvPr>
          <p:cNvGrpSpPr/>
          <p:nvPr/>
        </p:nvGrpSpPr>
        <p:grpSpPr>
          <a:xfrm>
            <a:off x="3913271" y="3351047"/>
            <a:ext cx="1270004" cy="1623403"/>
            <a:chOff x="2453042" y="4143237"/>
            <a:chExt cx="1142809" cy="1307583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9AE64E4-B5BF-9505-2D48-5B00168AD965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538D15-5F67-CE89-A2FC-C577E0707A2F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EA37EF5-1FBC-5CCD-3402-BA6F61693D57}"/>
                </a:ext>
              </a:extLst>
            </p:cNvPr>
            <p:cNvSpPr txBox="1"/>
            <p:nvPr/>
          </p:nvSpPr>
          <p:spPr>
            <a:xfrm>
              <a:off x="2534858" y="5103759"/>
              <a:ext cx="979176" cy="347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안전관리자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851BE6-984C-7E75-0DB1-F574A5BA5BA3}"/>
              </a:ext>
            </a:extLst>
          </p:cNvPr>
          <p:cNvGrpSpPr/>
          <p:nvPr/>
        </p:nvGrpSpPr>
        <p:grpSpPr>
          <a:xfrm>
            <a:off x="5554990" y="3342670"/>
            <a:ext cx="1270004" cy="1568904"/>
            <a:chOff x="2453042" y="4143237"/>
            <a:chExt cx="1142809" cy="126368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CCFB9AE-4FE9-24D5-F6B7-B22C4C3CDEB0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0F61FD0-8806-9B42-DFFA-B60D84A9F1E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20C170-914A-89E9-A17D-EE72489AEFC0}"/>
                </a:ext>
              </a:extLst>
            </p:cNvPr>
            <p:cNvSpPr txBox="1"/>
            <p:nvPr/>
          </p:nvSpPr>
          <p:spPr>
            <a:xfrm>
              <a:off x="2564152" y="5107422"/>
              <a:ext cx="979176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기업운영자</a:t>
              </a:r>
              <a:r>
                <a:rPr lang="en-US" altLang="ko-KR" sz="1100" dirty="0"/>
                <a:t>?</a:t>
              </a:r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E9302BC-7211-14E0-CA44-1E4AF9F0B064}"/>
              </a:ext>
            </a:extLst>
          </p:cNvPr>
          <p:cNvSpPr/>
          <p:nvPr/>
        </p:nvSpPr>
        <p:spPr>
          <a:xfrm>
            <a:off x="1996746" y="5184180"/>
            <a:ext cx="5205333" cy="98747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1592F9-C3C7-42DA-774D-06C88220C778}"/>
              </a:ext>
            </a:extLst>
          </p:cNvPr>
          <p:cNvSpPr txBox="1"/>
          <p:nvPr/>
        </p:nvSpPr>
        <p:spPr>
          <a:xfrm>
            <a:off x="2100691" y="5317363"/>
            <a:ext cx="1602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서비스 핵심 가치</a:t>
            </a:r>
            <a:r>
              <a:rPr lang="en-US" altLang="ko-KR" sz="1000" dirty="0"/>
              <a:t>]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383D8C6-83FE-24F7-6D7F-124FE29DCFD2}"/>
              </a:ext>
            </a:extLst>
          </p:cNvPr>
          <p:cNvSpPr/>
          <p:nvPr/>
        </p:nvSpPr>
        <p:spPr>
          <a:xfrm>
            <a:off x="1901204" y="514457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99197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366834"/>
              </p:ext>
            </p:extLst>
          </p:nvPr>
        </p:nvGraphicFramePr>
        <p:xfrm>
          <a:off x="8603672" y="1180080"/>
          <a:ext cx="3588327" cy="5702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주요 기능 목록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글머리 기호로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맞춤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산재찾기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병원 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산재통계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핵심기능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서비스 소개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핵심기능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58001-D440-132C-BBFD-C6770682E9A4}"/>
              </a:ext>
            </a:extLst>
          </p:cNvPr>
          <p:cNvSpPr txBox="1"/>
          <p:nvPr/>
        </p:nvSpPr>
        <p:spPr>
          <a:xfrm>
            <a:off x="1887074" y="3057146"/>
            <a:ext cx="4477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통계 분석 → 맞춤 위험도 → 안전교육 → 병원</a:t>
            </a:r>
            <a:r>
              <a:rPr lang="en-US" altLang="ko-KR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주변 산재 찾기까지</a:t>
            </a:r>
            <a:br>
              <a:rPr lang="ko-KR" altLang="en-US" sz="1000" dirty="0"/>
            </a:b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산업재해 예방과 대응을 한 번에 지원하는 주요 기능 영역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F95A50-882B-0024-7961-2C5C3B8C7332}"/>
              </a:ext>
            </a:extLst>
          </p:cNvPr>
          <p:cNvSpPr/>
          <p:nvPr/>
        </p:nvSpPr>
        <p:spPr>
          <a:xfrm>
            <a:off x="1953269" y="3603421"/>
            <a:ext cx="5182821" cy="23448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주요 기능 목록</a:t>
            </a:r>
          </a:p>
        </p:txBody>
      </p:sp>
    </p:spTree>
    <p:extLst>
      <p:ext uri="{BB962C8B-B14F-4D97-AF65-F5344CB8AC3E}">
        <p14:creationId xmlns:p14="http://schemas.microsoft.com/office/powerpoint/2010/main" val="687015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E778E-7188-4F1F-AB93-AD3E2796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3678742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94778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969559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필수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성공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형식 불일치시 경고 처리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불일치시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검증 및 경고 처리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카카오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네이버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구글로 로그인 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Aouth2.0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사용하여 소셜 로그인 처리 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회원정보 입력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클릭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페이지로 이동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5ABDF3B-5ACA-3C53-1278-5D2B8550EEAC}"/>
              </a:ext>
            </a:extLst>
          </p:cNvPr>
          <p:cNvSpPr/>
          <p:nvPr/>
        </p:nvSpPr>
        <p:spPr>
          <a:xfrm>
            <a:off x="1337488" y="1944053"/>
            <a:ext cx="6105379" cy="41499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------------------------------------------------------------------------------------------------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계정이 </a:t>
            </a:r>
            <a:r>
              <a:rPr lang="ko-KR" altLang="en-US" sz="1000" dirty="0" err="1">
                <a:solidFill>
                  <a:schemeClr val="tx1"/>
                </a:solidFill>
              </a:rPr>
              <a:t>없으세요</a:t>
            </a:r>
            <a:r>
              <a:rPr lang="en-US" altLang="ko-KR" sz="1000" dirty="0">
                <a:solidFill>
                  <a:schemeClr val="tx1"/>
                </a:solidFill>
              </a:rPr>
              <a:t>?  </a:t>
            </a:r>
            <a:r>
              <a:rPr lang="ko-KR" altLang="en-US" sz="1100" b="1" dirty="0">
                <a:solidFill>
                  <a:schemeClr val="tx1"/>
                </a:solidFill>
              </a:rPr>
              <a:t>회원가입 </a:t>
            </a:r>
            <a:r>
              <a:rPr lang="ko-KR" altLang="en-US" sz="1000" dirty="0" err="1">
                <a:solidFill>
                  <a:schemeClr val="tx1"/>
                </a:solidFill>
              </a:rPr>
              <a:t>하러가기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0209E4C-5466-CD8E-2D96-63EC88036477}"/>
              </a:ext>
            </a:extLst>
          </p:cNvPr>
          <p:cNvSpPr/>
          <p:nvPr/>
        </p:nvSpPr>
        <p:spPr>
          <a:xfrm>
            <a:off x="2427513" y="2477648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</a:rPr>
              <a:t>회원아이디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이메일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을 입력해 주세요</a:t>
            </a:r>
            <a:endParaRPr lang="ko-KR" altLang="en-US" sz="12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A0C0C11-757F-6F24-B51C-B7B1B7215BE7}"/>
              </a:ext>
            </a:extLst>
          </p:cNvPr>
          <p:cNvSpPr/>
          <p:nvPr/>
        </p:nvSpPr>
        <p:spPr>
          <a:xfrm>
            <a:off x="2427513" y="3112939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회원비밀번호를 입력해 주세요</a:t>
            </a:r>
            <a:endParaRPr lang="ko-KR" altLang="en-US" sz="12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86A3B47-F32F-BFFD-6C1C-0894817D6960}"/>
              </a:ext>
            </a:extLst>
          </p:cNvPr>
          <p:cNvSpPr/>
          <p:nvPr/>
        </p:nvSpPr>
        <p:spPr>
          <a:xfrm>
            <a:off x="2416918" y="3876993"/>
            <a:ext cx="3854548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0E489BE-AF35-70AB-6685-02C58F1A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111" y="4425371"/>
            <a:ext cx="3732952" cy="11972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944D87-566B-4E30-809D-CA99A406C50A}"/>
              </a:ext>
            </a:extLst>
          </p:cNvPr>
          <p:cNvSpPr/>
          <p:nvPr/>
        </p:nvSpPr>
        <p:spPr>
          <a:xfrm>
            <a:off x="1469738" y="200084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6C8EB-8B40-4603-9E57-BE9B8EB002FB}"/>
              </a:ext>
            </a:extLst>
          </p:cNvPr>
          <p:cNvSpPr/>
          <p:nvPr/>
        </p:nvSpPr>
        <p:spPr>
          <a:xfrm>
            <a:off x="2334253" y="379500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021DCC-A22D-46F1-9C1D-F366349E0EEE}"/>
              </a:ext>
            </a:extLst>
          </p:cNvPr>
          <p:cNvSpPr/>
          <p:nvPr/>
        </p:nvSpPr>
        <p:spPr>
          <a:xfrm>
            <a:off x="3412838" y="48092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AC9E68D-AFE1-4BFC-AEE7-DAF47391613F}"/>
              </a:ext>
            </a:extLst>
          </p:cNvPr>
          <p:cNvSpPr/>
          <p:nvPr/>
        </p:nvSpPr>
        <p:spPr>
          <a:xfrm>
            <a:off x="3146138" y="549919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6D7D3-4A83-414D-9820-9F79F25387D7}"/>
              </a:ext>
            </a:extLst>
          </p:cNvPr>
          <p:cNvSpPr txBox="1"/>
          <p:nvPr/>
        </p:nvSpPr>
        <p:spPr>
          <a:xfrm>
            <a:off x="2344849" y="2794449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4AB1AD-7B38-4FE5-AC2C-C4AA756355A4}"/>
              </a:ext>
            </a:extLst>
          </p:cNvPr>
          <p:cNvSpPr txBox="1"/>
          <p:nvPr/>
        </p:nvSpPr>
        <p:spPr>
          <a:xfrm>
            <a:off x="2325799" y="3390628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</p:spTree>
    <p:extLst>
      <p:ext uri="{BB962C8B-B14F-4D97-AF65-F5344CB8AC3E}">
        <p14:creationId xmlns:p14="http://schemas.microsoft.com/office/powerpoint/2010/main" val="2372426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429285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598714"/>
              </p:ext>
            </p:extLst>
          </p:nvPr>
        </p:nvGraphicFramePr>
        <p:xfrm>
          <a:off x="8603672" y="1180081"/>
          <a:ext cx="3588327" cy="6885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0414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2161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5656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 가능한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입력과 일치하는지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검증이 끝난 후 회원 정보 입력 페이지로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이때 아이디와 비밀번호를 세션에 임시 저장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1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21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21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21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5.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7585822-A012-21F1-38E0-DD3EC605CCD4}"/>
              </a:ext>
            </a:extLst>
          </p:cNvPr>
          <p:cNvSpPr/>
          <p:nvPr/>
        </p:nvSpPr>
        <p:spPr>
          <a:xfrm>
            <a:off x="2766926" y="3047266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6~16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 err="1">
                <a:solidFill>
                  <a:schemeClr val="bg2">
                    <a:lumMod val="75000"/>
                  </a:schemeClr>
                </a:solidFill>
              </a:rPr>
              <a:t>영문소문자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숫자사용가능</a:t>
            </a:r>
            <a:endParaRPr lang="ko-KR" altLang="en-US" sz="10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D908B6D-6F18-BFDE-7514-0CF37797062E}"/>
              </a:ext>
            </a:extLst>
          </p:cNvPr>
          <p:cNvSpPr/>
          <p:nvPr/>
        </p:nvSpPr>
        <p:spPr>
          <a:xfrm>
            <a:off x="2766926" y="3604689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8~16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특수문자 모두 혼용 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B0F2DF4-EC2D-A4E2-D53A-D0187DA2A692}"/>
              </a:ext>
            </a:extLst>
          </p:cNvPr>
          <p:cNvSpPr/>
          <p:nvPr/>
        </p:nvSpPr>
        <p:spPr>
          <a:xfrm>
            <a:off x="2766926" y="4139950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비밀번호 다시 입력해주세요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. </a:t>
            </a:r>
            <a:endParaRPr lang="ko-KR" altLang="en-US" sz="10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A5394-222E-4B20-990B-4B80333505B6}"/>
              </a:ext>
            </a:extLst>
          </p:cNvPr>
          <p:cNvSpPr txBox="1"/>
          <p:nvPr/>
        </p:nvSpPr>
        <p:spPr>
          <a:xfrm>
            <a:off x="3646114" y="2325222"/>
            <a:ext cx="1311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6A91C-B512-49AC-8A5D-62BBD3B8871A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로그인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A042A-CDDB-4C42-BC10-28E8BB579AD8}"/>
              </a:ext>
            </a:extLst>
          </p:cNvPr>
          <p:cNvSpPr txBox="1"/>
          <p:nvPr/>
        </p:nvSpPr>
        <p:spPr>
          <a:xfrm>
            <a:off x="1479883" y="3024800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7E41F9-0CE6-486D-B12C-250CF15C4FF7}"/>
              </a:ext>
            </a:extLst>
          </p:cNvPr>
          <p:cNvSpPr txBox="1"/>
          <p:nvPr/>
        </p:nvSpPr>
        <p:spPr>
          <a:xfrm>
            <a:off x="1479883" y="3573863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045AC5-BE13-4D3D-B1EC-BB53E135AAB8}"/>
              </a:ext>
            </a:extLst>
          </p:cNvPr>
          <p:cNvSpPr txBox="1"/>
          <p:nvPr/>
        </p:nvSpPr>
        <p:spPr>
          <a:xfrm>
            <a:off x="1479883" y="4129294"/>
            <a:ext cx="1221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확인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486AEC-BACE-4E9F-98D3-A76BA8A8AD37}"/>
              </a:ext>
            </a:extLst>
          </p:cNvPr>
          <p:cNvSpPr txBox="1"/>
          <p:nvPr/>
        </p:nvSpPr>
        <p:spPr>
          <a:xfrm>
            <a:off x="2664489" y="3243367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D37CE4-2181-44AD-8775-60E8CE18EF2B}"/>
              </a:ext>
            </a:extLst>
          </p:cNvPr>
          <p:cNvSpPr txBox="1"/>
          <p:nvPr/>
        </p:nvSpPr>
        <p:spPr>
          <a:xfrm>
            <a:off x="2672508" y="3833671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FEED28-96FC-4ACF-AE39-1A1432668DC5}"/>
              </a:ext>
            </a:extLst>
          </p:cNvPr>
          <p:cNvSpPr txBox="1"/>
          <p:nvPr/>
        </p:nvSpPr>
        <p:spPr>
          <a:xfrm>
            <a:off x="2664038" y="437082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비밀번호와 일치하지 않습니다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AD009AD-B77E-4DEB-9190-6ECEFD60B17A}"/>
              </a:ext>
            </a:extLst>
          </p:cNvPr>
          <p:cNvSpPr/>
          <p:nvPr/>
        </p:nvSpPr>
        <p:spPr>
          <a:xfrm>
            <a:off x="1291765" y="1924248"/>
            <a:ext cx="6041482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013DA3-6237-4279-A332-3E0C49F859F5}"/>
              </a:ext>
            </a:extLst>
          </p:cNvPr>
          <p:cNvSpPr/>
          <p:nvPr/>
        </p:nvSpPr>
        <p:spPr>
          <a:xfrm>
            <a:off x="2882815" y="5184304"/>
            <a:ext cx="1727023" cy="30576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확인하기</a:t>
            </a:r>
          </a:p>
        </p:txBody>
      </p:sp>
    </p:spTree>
    <p:extLst>
      <p:ext uri="{BB962C8B-B14F-4D97-AF65-F5344CB8AC3E}">
        <p14:creationId xmlns:p14="http://schemas.microsoft.com/office/powerpoint/2010/main" val="530717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39378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회원정보 입력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947959"/>
              </p:ext>
            </p:extLst>
          </p:nvPr>
        </p:nvGraphicFramePr>
        <p:xfrm>
          <a:off x="8603672" y="1180084"/>
          <a:ext cx="3588327" cy="5677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661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359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45677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나이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숫자만 입력가능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집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직장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전화번호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-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없이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자리 숫자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성별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여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가입하기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가입처리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2287016" y="30486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712418C-516C-4A88-90CE-6916082B9C56}"/>
              </a:ext>
            </a:extLst>
          </p:cNvPr>
          <p:cNvSpPr/>
          <p:nvPr/>
        </p:nvSpPr>
        <p:spPr>
          <a:xfrm>
            <a:off x="2281543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8125F4-512B-49C6-BBE2-013199A16BFF}"/>
              </a:ext>
            </a:extLst>
          </p:cNvPr>
          <p:cNvSpPr/>
          <p:nvPr/>
        </p:nvSpPr>
        <p:spPr>
          <a:xfrm>
            <a:off x="2281542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없이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자리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1405237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D45076-A8CA-4EAD-9C40-04BAECF437AF}"/>
              </a:ext>
            </a:extLst>
          </p:cNvPr>
          <p:cNvSpPr txBox="1"/>
          <p:nvPr/>
        </p:nvSpPr>
        <p:spPr>
          <a:xfrm>
            <a:off x="1394659" y="40272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760FB-2D6A-4B6C-9A09-32689F45E014}"/>
              </a:ext>
            </a:extLst>
          </p:cNvPr>
          <p:cNvSpPr txBox="1"/>
          <p:nvPr/>
        </p:nvSpPr>
        <p:spPr>
          <a:xfrm>
            <a:off x="1425460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C4FF595-B300-4339-B57C-ACC8106A9127}"/>
              </a:ext>
            </a:extLst>
          </p:cNvPr>
          <p:cNvSpPr/>
          <p:nvPr/>
        </p:nvSpPr>
        <p:spPr>
          <a:xfrm>
            <a:off x="5138002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383403F-C47E-47FD-A274-8111FA8B7619}"/>
              </a:ext>
            </a:extLst>
          </p:cNvPr>
          <p:cNvSpPr/>
          <p:nvPr/>
        </p:nvSpPr>
        <p:spPr>
          <a:xfrm>
            <a:off x="5138001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A842F4-38DD-4D2B-952C-536ACE429F0C}"/>
              </a:ext>
            </a:extLst>
          </p:cNvPr>
          <p:cNvSpPr txBox="1"/>
          <p:nvPr/>
        </p:nvSpPr>
        <p:spPr>
          <a:xfrm>
            <a:off x="4261696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나이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896075-58F7-40E8-921D-22C531282175}"/>
              </a:ext>
            </a:extLst>
          </p:cNvPr>
          <p:cNvSpPr txBox="1"/>
          <p:nvPr/>
        </p:nvSpPr>
        <p:spPr>
          <a:xfrm>
            <a:off x="4251117" y="40272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60A0AD-AFED-41AC-BEFA-E4EA1022A489}"/>
              </a:ext>
            </a:extLst>
          </p:cNvPr>
          <p:cNvSpPr txBox="1"/>
          <p:nvPr/>
        </p:nvSpPr>
        <p:spPr>
          <a:xfrm>
            <a:off x="4281919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57AE48-C6E2-4FEE-B103-F6409BDDDCEB}"/>
              </a:ext>
            </a:extLst>
          </p:cNvPr>
          <p:cNvSpPr txBox="1"/>
          <p:nvPr/>
        </p:nvSpPr>
        <p:spPr>
          <a:xfrm>
            <a:off x="2232723" y="32899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D09F2D-E97A-435D-AFF9-4DFECBBC4E90}"/>
              </a:ext>
            </a:extLst>
          </p:cNvPr>
          <p:cNvSpPr txBox="1"/>
          <p:nvPr/>
        </p:nvSpPr>
        <p:spPr>
          <a:xfrm>
            <a:off x="2263525" y="43098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F4BCBE-4CE2-4999-AE00-5E3C56CC43AB}"/>
              </a:ext>
            </a:extLst>
          </p:cNvPr>
          <p:cNvSpPr txBox="1"/>
          <p:nvPr/>
        </p:nvSpPr>
        <p:spPr>
          <a:xfrm>
            <a:off x="5069057" y="43063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C90B07-1962-4088-86B7-2182AE13A462}"/>
              </a:ext>
            </a:extLst>
          </p:cNvPr>
          <p:cNvSpPr txBox="1"/>
          <p:nvPr/>
        </p:nvSpPr>
        <p:spPr>
          <a:xfrm>
            <a:off x="6150146" y="494357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2F3E2D-C0CA-41CC-90B5-9DAC80ABF473}"/>
              </a:ext>
            </a:extLst>
          </p:cNvPr>
          <p:cNvSpPr txBox="1"/>
          <p:nvPr/>
        </p:nvSpPr>
        <p:spPr>
          <a:xfrm>
            <a:off x="4336065" y="497907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0" name="원형: 비어 있음 49">
            <a:extLst>
              <a:ext uri="{FF2B5EF4-FFF2-40B4-BE49-F238E27FC236}">
                <a16:creationId xmlns:a16="http://schemas.microsoft.com/office/drawing/2014/main" id="{FCDCD1FB-0F03-4A20-B74C-0F94BF574C90}"/>
              </a:ext>
            </a:extLst>
          </p:cNvPr>
          <p:cNvSpPr/>
          <p:nvPr/>
        </p:nvSpPr>
        <p:spPr>
          <a:xfrm>
            <a:off x="5539505" y="506768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원형: 비어 있음 50">
            <a:extLst>
              <a:ext uri="{FF2B5EF4-FFF2-40B4-BE49-F238E27FC236}">
                <a16:creationId xmlns:a16="http://schemas.microsoft.com/office/drawing/2014/main" id="{5BABA49B-0664-4C08-A19A-ACB5102735C5}"/>
              </a:ext>
            </a:extLst>
          </p:cNvPr>
          <p:cNvSpPr/>
          <p:nvPr/>
        </p:nvSpPr>
        <p:spPr>
          <a:xfrm>
            <a:off x="6531710" y="507001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A33B9-176F-4C15-A2B5-FD5FE453FCC2}"/>
              </a:ext>
            </a:extLst>
          </p:cNvPr>
          <p:cNvSpPr txBox="1"/>
          <p:nvPr/>
        </p:nvSpPr>
        <p:spPr>
          <a:xfrm>
            <a:off x="5145960" y="494357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B68DD7-4E8B-4BBD-A857-DD37D146E612}"/>
              </a:ext>
            </a:extLst>
          </p:cNvPr>
          <p:cNvSpPr txBox="1"/>
          <p:nvPr/>
        </p:nvSpPr>
        <p:spPr>
          <a:xfrm>
            <a:off x="5109357" y="3320399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나이는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C10335B-097D-474A-B788-09D54C8D91DB}"/>
              </a:ext>
            </a:extLst>
          </p:cNvPr>
          <p:cNvSpPr/>
          <p:nvPr/>
        </p:nvSpPr>
        <p:spPr>
          <a:xfrm>
            <a:off x="4396994" y="5806901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가입하기</a:t>
            </a:r>
          </a:p>
        </p:txBody>
      </p:sp>
    </p:spTree>
    <p:extLst>
      <p:ext uri="{BB962C8B-B14F-4D97-AF65-F5344CB8AC3E}">
        <p14:creationId xmlns:p14="http://schemas.microsoft.com/office/powerpoint/2010/main" val="1538068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75563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329771"/>
              </p:ext>
            </p:extLst>
          </p:nvPr>
        </p:nvGraphicFramePr>
        <p:xfrm>
          <a:off x="8603672" y="1180080"/>
          <a:ext cx="3588327" cy="5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21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762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안내메시지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회원가입이 완료되었습니다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2958960" y="3692625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2876294" y="360623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6410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61769-84F3-4125-BF36-06860012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</p:spTree>
    <p:extLst>
      <p:ext uri="{BB962C8B-B14F-4D97-AF65-F5344CB8AC3E}">
        <p14:creationId xmlns:p14="http://schemas.microsoft.com/office/powerpoint/2010/main" val="2526750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084327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98147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 페이지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접근시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비밀번호를 한번 더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입력받아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보안 강화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411833"/>
              </p:ext>
            </p:extLst>
          </p:nvPr>
        </p:nvGraphicFramePr>
        <p:xfrm>
          <a:off x="150407" y="256666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회원정보수정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F725F475-DADC-4201-8502-4CE1E0F30F2C}"/>
              </a:ext>
            </a:extLst>
          </p:cNvPr>
          <p:cNvSpPr/>
          <p:nvPr/>
        </p:nvSpPr>
        <p:spPr>
          <a:xfrm>
            <a:off x="0" y="2252284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07719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68593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정보 수정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3640568" y="439114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비밀번호를 입력해 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615044" y="3939706"/>
            <a:ext cx="1170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비밀번호 입력</a:t>
            </a:r>
            <a:endParaRPr lang="ko-KR" altLang="en-US" sz="11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2607649" y="4365210"/>
            <a:ext cx="7924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비밀번호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6C185-7B11-49F8-87A9-C10087A26C10}"/>
              </a:ext>
            </a:extLst>
          </p:cNvPr>
          <p:cNvSpPr txBox="1"/>
          <p:nvPr/>
        </p:nvSpPr>
        <p:spPr>
          <a:xfrm>
            <a:off x="1913021" y="2953753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개인정보보호를 위하여 비밀번호 확인 후 회원정보의 관리</a:t>
            </a:r>
            <a:r>
              <a:rPr lang="en-US" altLang="ko-KR" sz="1000" dirty="0"/>
              <a:t>/</a:t>
            </a:r>
            <a:r>
              <a:rPr lang="ko-KR" altLang="en-US" sz="1000" dirty="0"/>
              <a:t>변경이 가능합니다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32C969-2945-4717-B0D6-64CE71C017A1}"/>
              </a:ext>
            </a:extLst>
          </p:cNvPr>
          <p:cNvSpPr txBox="1"/>
          <p:nvPr/>
        </p:nvSpPr>
        <p:spPr>
          <a:xfrm>
            <a:off x="1913021" y="3221010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아래 비밀번호 입력란에 비밀번호 입력 후 </a:t>
            </a:r>
            <a:r>
              <a:rPr lang="en-US" altLang="ko-KR" sz="1000" dirty="0"/>
              <a:t>“</a:t>
            </a:r>
            <a:r>
              <a:rPr lang="ko-KR" altLang="en-US" sz="1000" dirty="0"/>
              <a:t>비밀번호 확인</a:t>
            </a:r>
            <a:r>
              <a:rPr lang="en-US" altLang="ko-KR" sz="1000" dirty="0"/>
              <a:t>＂</a:t>
            </a:r>
            <a:r>
              <a:rPr lang="ko-KR" altLang="en-US" sz="1000" dirty="0"/>
              <a:t>을 클릭하세요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D4908E-5715-42CA-870E-90E87CB5F8C5}"/>
              </a:ext>
            </a:extLst>
          </p:cNvPr>
          <p:cNvSpPr/>
          <p:nvPr/>
        </p:nvSpPr>
        <p:spPr>
          <a:xfrm>
            <a:off x="3525253" y="5143500"/>
            <a:ext cx="1822784" cy="388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비밀번호 확인</a:t>
            </a:r>
          </a:p>
        </p:txBody>
      </p:sp>
    </p:spTree>
    <p:extLst>
      <p:ext uri="{BB962C8B-B14F-4D97-AF65-F5344CB8AC3E}">
        <p14:creationId xmlns:p14="http://schemas.microsoft.com/office/powerpoint/2010/main" val="2390926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26869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708533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 및 변경 폼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변경하기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반영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8F802F4-A8C9-4B4E-B6F6-E38022758E7F}"/>
              </a:ext>
            </a:extLst>
          </p:cNvPr>
          <p:cNvSpPr/>
          <p:nvPr/>
        </p:nvSpPr>
        <p:spPr>
          <a:xfrm>
            <a:off x="2541016" y="27565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사람이름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675A5D-4200-4BAE-95E9-064E79E8C195}"/>
              </a:ext>
            </a:extLst>
          </p:cNvPr>
          <p:cNvSpPr txBox="1"/>
          <p:nvPr/>
        </p:nvSpPr>
        <p:spPr>
          <a:xfrm>
            <a:off x="1648658" y="1950007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74D44AB-C61A-4C49-AAB8-AEC430108C8D}"/>
              </a:ext>
            </a:extLst>
          </p:cNvPr>
          <p:cNvSpPr/>
          <p:nvPr/>
        </p:nvSpPr>
        <p:spPr>
          <a:xfrm>
            <a:off x="2535543" y="37598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Daum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API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B12600E-7909-45A3-BC19-16A48B258D6B}"/>
              </a:ext>
            </a:extLst>
          </p:cNvPr>
          <p:cNvSpPr/>
          <p:nvPr/>
        </p:nvSpPr>
        <p:spPr>
          <a:xfrm>
            <a:off x="2535542" y="43017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없이 </a:t>
            </a:r>
            <a:r>
              <a:rPr lang="en-US" altLang="ko-KR" sz="1200" dirty="0">
                <a:solidFill>
                  <a:schemeClr val="tx1"/>
                </a:solidFill>
              </a:rPr>
              <a:t>11</a:t>
            </a:r>
            <a:r>
              <a:rPr lang="ko-KR" altLang="en-US" sz="1200" dirty="0">
                <a:solidFill>
                  <a:schemeClr val="tx1"/>
                </a:solidFill>
              </a:rPr>
              <a:t>자리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CACD65-A086-40B6-B9D2-F7A2D0BF801C}"/>
              </a:ext>
            </a:extLst>
          </p:cNvPr>
          <p:cNvSpPr txBox="1"/>
          <p:nvPr/>
        </p:nvSpPr>
        <p:spPr>
          <a:xfrm>
            <a:off x="1659237" y="27306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3A32F4-231E-4B8C-A983-320F8AF9B482}"/>
              </a:ext>
            </a:extLst>
          </p:cNvPr>
          <p:cNvSpPr txBox="1"/>
          <p:nvPr/>
        </p:nvSpPr>
        <p:spPr>
          <a:xfrm>
            <a:off x="1648659" y="37351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70D253-0578-41DC-9742-6E40188DAED4}"/>
              </a:ext>
            </a:extLst>
          </p:cNvPr>
          <p:cNvSpPr txBox="1"/>
          <p:nvPr/>
        </p:nvSpPr>
        <p:spPr>
          <a:xfrm>
            <a:off x="1679460" y="42793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9B0FE0B-4CBA-4999-9829-C64C832A97DD}"/>
              </a:ext>
            </a:extLst>
          </p:cNvPr>
          <p:cNvSpPr/>
          <p:nvPr/>
        </p:nvSpPr>
        <p:spPr>
          <a:xfrm>
            <a:off x="5391859" y="27526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나이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2263F7DC-4037-47D8-803C-BD6E4F72BF65}"/>
              </a:ext>
            </a:extLst>
          </p:cNvPr>
          <p:cNvSpPr/>
          <p:nvPr/>
        </p:nvSpPr>
        <p:spPr>
          <a:xfrm>
            <a:off x="5392002" y="37598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Daum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API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9848021-6995-4E33-B4F0-8C890A8EED4C}"/>
              </a:ext>
            </a:extLst>
          </p:cNvPr>
          <p:cNvSpPr/>
          <p:nvPr/>
        </p:nvSpPr>
        <p:spPr>
          <a:xfrm>
            <a:off x="5392001" y="43017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A2CE04-5E42-4A75-B15F-BB0CB8B9C88F}"/>
              </a:ext>
            </a:extLst>
          </p:cNvPr>
          <p:cNvSpPr txBox="1"/>
          <p:nvPr/>
        </p:nvSpPr>
        <p:spPr>
          <a:xfrm>
            <a:off x="4515696" y="27306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나이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83477B-25B0-492E-A4F0-2E99191FE305}"/>
              </a:ext>
            </a:extLst>
          </p:cNvPr>
          <p:cNvSpPr txBox="1"/>
          <p:nvPr/>
        </p:nvSpPr>
        <p:spPr>
          <a:xfrm>
            <a:off x="4505117" y="37351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0195720-E57A-4D2B-9C72-0371BA12B92C}"/>
              </a:ext>
            </a:extLst>
          </p:cNvPr>
          <p:cNvSpPr txBox="1"/>
          <p:nvPr/>
        </p:nvSpPr>
        <p:spPr>
          <a:xfrm>
            <a:off x="4535919" y="42793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3517B5-F8CB-42E3-B1E8-C461ED0DFE6C}"/>
              </a:ext>
            </a:extLst>
          </p:cNvPr>
          <p:cNvSpPr txBox="1"/>
          <p:nvPr/>
        </p:nvSpPr>
        <p:spPr>
          <a:xfrm>
            <a:off x="2486723" y="29978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8607E8-FF34-42C8-A626-3FBFEBECB100}"/>
              </a:ext>
            </a:extLst>
          </p:cNvPr>
          <p:cNvSpPr txBox="1"/>
          <p:nvPr/>
        </p:nvSpPr>
        <p:spPr>
          <a:xfrm>
            <a:off x="2517525" y="40177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81BE78-3DCF-4D39-BF29-C0F4B4FDEABF}"/>
              </a:ext>
            </a:extLst>
          </p:cNvPr>
          <p:cNvSpPr txBox="1"/>
          <p:nvPr/>
        </p:nvSpPr>
        <p:spPr>
          <a:xfrm>
            <a:off x="5323057" y="40142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DED9DA0B-D090-4CE0-8E66-A657DBA4D894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1E2AB2-B455-417D-8006-466B8E6C37A8}"/>
              </a:ext>
            </a:extLst>
          </p:cNvPr>
          <p:cNvSpPr txBox="1"/>
          <p:nvPr/>
        </p:nvSpPr>
        <p:spPr>
          <a:xfrm>
            <a:off x="6404146" y="507788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70F7B02-E565-4C23-B4BA-CB85E1D72D96}"/>
              </a:ext>
            </a:extLst>
          </p:cNvPr>
          <p:cNvSpPr txBox="1"/>
          <p:nvPr/>
        </p:nvSpPr>
        <p:spPr>
          <a:xfrm>
            <a:off x="4590065" y="511338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73" name="원형: 비어 있음 72">
            <a:extLst>
              <a:ext uri="{FF2B5EF4-FFF2-40B4-BE49-F238E27FC236}">
                <a16:creationId xmlns:a16="http://schemas.microsoft.com/office/drawing/2014/main" id="{D8A32403-414B-4CF2-8589-5B5412E403E7}"/>
              </a:ext>
            </a:extLst>
          </p:cNvPr>
          <p:cNvSpPr/>
          <p:nvPr/>
        </p:nvSpPr>
        <p:spPr>
          <a:xfrm>
            <a:off x="5793505" y="520199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4" name="원형: 비어 있음 73">
            <a:extLst>
              <a:ext uri="{FF2B5EF4-FFF2-40B4-BE49-F238E27FC236}">
                <a16:creationId xmlns:a16="http://schemas.microsoft.com/office/drawing/2014/main" id="{AD71D93F-603C-4BED-9603-9BB8F823C409}"/>
              </a:ext>
            </a:extLst>
          </p:cNvPr>
          <p:cNvSpPr/>
          <p:nvPr/>
        </p:nvSpPr>
        <p:spPr>
          <a:xfrm>
            <a:off x="6785710" y="520432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634AEE-7053-4544-B6DB-11130347E3C9}"/>
              </a:ext>
            </a:extLst>
          </p:cNvPr>
          <p:cNvSpPr txBox="1"/>
          <p:nvPr/>
        </p:nvSpPr>
        <p:spPr>
          <a:xfrm>
            <a:off x="5399960" y="507788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1A7636D3-9752-4D85-B0CF-4E4C8618F4C9}"/>
              </a:ext>
            </a:extLst>
          </p:cNvPr>
          <p:cNvSpPr/>
          <p:nvPr/>
        </p:nvSpPr>
        <p:spPr>
          <a:xfrm>
            <a:off x="2548343" y="231300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아이디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F37B149-9DD5-4C48-842D-F358323A7C73}"/>
              </a:ext>
            </a:extLst>
          </p:cNvPr>
          <p:cNvSpPr txBox="1"/>
          <p:nvPr/>
        </p:nvSpPr>
        <p:spPr>
          <a:xfrm>
            <a:off x="1666563" y="2287068"/>
            <a:ext cx="76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899B1A-FE19-458A-9F00-F2B42D180A87}"/>
              </a:ext>
            </a:extLst>
          </p:cNvPr>
          <p:cNvSpPr/>
          <p:nvPr/>
        </p:nvSpPr>
        <p:spPr>
          <a:xfrm>
            <a:off x="2163029" y="5677920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변경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25EF232-B36C-4D27-B422-714DD6C035A0}"/>
              </a:ext>
            </a:extLst>
          </p:cNvPr>
          <p:cNvSpPr/>
          <p:nvPr/>
        </p:nvSpPr>
        <p:spPr>
          <a:xfrm>
            <a:off x="4363947" y="5678481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취소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CE7A3B-08CE-4AE7-B7E4-E56C5D640F9E}"/>
              </a:ext>
            </a:extLst>
          </p:cNvPr>
          <p:cNvSpPr txBox="1"/>
          <p:nvPr/>
        </p:nvSpPr>
        <p:spPr>
          <a:xfrm>
            <a:off x="5323057" y="298688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나이는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248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30802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804240"/>
              </p:ext>
            </p:extLst>
          </p:nvPr>
        </p:nvGraphicFramePr>
        <p:xfrm>
          <a:off x="8603672" y="1180083"/>
          <a:ext cx="3588327" cy="5918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090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883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7002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정보가져와서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 :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기능으로 삭제 여부 결정하기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18083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추가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리스트에서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된 목록 삭제 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정보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1825777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추가하기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1675370" y="544195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1DF89397-2A0C-41C5-BF63-94BFCC099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81391"/>
              </p:ext>
            </p:extLst>
          </p:nvPr>
        </p:nvGraphicFramePr>
        <p:xfrm>
          <a:off x="1675370" y="3183933"/>
          <a:ext cx="549523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980">
                  <a:extLst>
                    <a:ext uri="{9D8B030D-6E8A-4147-A177-3AD203B41FA5}">
                      <a16:colId xmlns:a16="http://schemas.microsoft.com/office/drawing/2014/main" val="3149353794"/>
                    </a:ext>
                  </a:extLst>
                </a:gridCol>
                <a:gridCol w="471520">
                  <a:extLst>
                    <a:ext uri="{9D8B030D-6E8A-4147-A177-3AD203B41FA5}">
                      <a16:colId xmlns:a16="http://schemas.microsoft.com/office/drawing/2014/main" val="3974470729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68747978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840738960"/>
                    </a:ext>
                  </a:extLst>
                </a:gridCol>
                <a:gridCol w="1099047">
                  <a:extLst>
                    <a:ext uri="{9D8B030D-6E8A-4147-A177-3AD203B41FA5}">
                      <a16:colId xmlns:a16="http://schemas.microsoft.com/office/drawing/2014/main" val="1032703914"/>
                    </a:ext>
                  </a:extLst>
                </a:gridCol>
                <a:gridCol w="1099047">
                  <a:extLst>
                    <a:ext uri="{9D8B030D-6E8A-4147-A177-3AD203B41FA5}">
                      <a16:colId xmlns:a16="http://schemas.microsoft.com/office/drawing/2014/main" val="1305164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재해일자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질병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158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2024-12-30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진폐증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73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2024-09-30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3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2024-07-30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찢어짐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696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2024-04-30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76614"/>
                  </a:ext>
                </a:extLst>
              </a:tr>
            </a:tbl>
          </a:graphicData>
        </a:graphic>
      </p:graphicFrame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EBA8D50-D7BE-4102-83D8-ABFD0740C103}"/>
              </a:ext>
            </a:extLst>
          </p:cNvPr>
          <p:cNvSpPr/>
          <p:nvPr/>
        </p:nvSpPr>
        <p:spPr>
          <a:xfrm>
            <a:off x="4455939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삭제하기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F1216A5-DF98-4A5F-9688-B1DBF163D13A}"/>
              </a:ext>
            </a:extLst>
          </p:cNvPr>
          <p:cNvSpPr/>
          <p:nvPr/>
        </p:nvSpPr>
        <p:spPr>
          <a:xfrm>
            <a:off x="2652028" y="5211266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74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27117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입력 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447040"/>
              </p:ext>
            </p:extLst>
          </p:nvPr>
        </p:nvGraphicFramePr>
        <p:xfrm>
          <a:off x="8603672" y="1180083"/>
          <a:ext cx="3588327" cy="573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2704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46712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폼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35403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광업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제조업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건설업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따라 바뀜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광업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석탄광업 및 채석업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석회석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금속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비금속광업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기타광업</a:t>
                      </a:r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질병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 받기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YYYY-MM-DD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다음주소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34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입력 검증이 모두 통과했다면 가입확인 페이지로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12023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</a:t>
            </a:r>
            <a:r>
              <a:rPr lang="ko-KR" altLang="en-US" sz="1100" b="1"/>
              <a:t>정보 입력</a:t>
            </a:r>
            <a:endParaRPr lang="ko-KR" altLang="en-US" sz="1100" b="1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80538E-C0D3-4534-93CA-4D4BDD7B7BF4}"/>
              </a:ext>
            </a:extLst>
          </p:cNvPr>
          <p:cNvSpPr/>
          <p:nvPr/>
        </p:nvSpPr>
        <p:spPr>
          <a:xfrm>
            <a:off x="2281543" y="367547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1528194" y="4548011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등록하기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995F06-0A8B-40EF-AC28-9A19A76A2933}"/>
              </a:ext>
            </a:extLst>
          </p:cNvPr>
          <p:cNvSpPr txBox="1"/>
          <p:nvPr/>
        </p:nvSpPr>
        <p:spPr>
          <a:xfrm>
            <a:off x="1472235" y="418859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발생형태 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00F82D-76CE-4AF0-AE17-A571ABE3D6B0}"/>
              </a:ext>
            </a:extLst>
          </p:cNvPr>
          <p:cNvSpPr txBox="1"/>
          <p:nvPr/>
        </p:nvSpPr>
        <p:spPr>
          <a:xfrm>
            <a:off x="1351916" y="3675476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재해일자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EFE5CA5-578B-425C-A594-811BFD7A077D}"/>
              </a:ext>
            </a:extLst>
          </p:cNvPr>
          <p:cNvSpPr/>
          <p:nvPr/>
        </p:nvSpPr>
        <p:spPr>
          <a:xfrm>
            <a:off x="2281543" y="317781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78ADDEF-1924-41EE-9977-5C53768B90A0}"/>
              </a:ext>
            </a:extLst>
          </p:cNvPr>
          <p:cNvSpPr/>
          <p:nvPr/>
        </p:nvSpPr>
        <p:spPr>
          <a:xfrm>
            <a:off x="5137859" y="3184032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3C7CF6-8420-40A9-91B6-9B154B5B42EA}"/>
              </a:ext>
            </a:extLst>
          </p:cNvPr>
          <p:cNvSpPr txBox="1"/>
          <p:nvPr/>
        </p:nvSpPr>
        <p:spPr>
          <a:xfrm>
            <a:off x="4319864" y="316316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중분류</a:t>
            </a:r>
            <a:r>
              <a:rPr lang="en-US" altLang="ko-KR" sz="1000" dirty="0"/>
              <a:t>2::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19152C-C274-4842-B44E-91F10111CA5D}"/>
              </a:ext>
            </a:extLst>
          </p:cNvPr>
          <p:cNvSpPr txBox="1"/>
          <p:nvPr/>
        </p:nvSpPr>
        <p:spPr>
          <a:xfrm>
            <a:off x="1351916" y="3177817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중분류</a:t>
            </a:r>
            <a:r>
              <a:rPr lang="en-US" altLang="ko-KR" sz="1000" dirty="0"/>
              <a:t>1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55CEE9-71E0-4C35-9A1C-5D190BF390B2}"/>
              </a:ext>
            </a:extLst>
          </p:cNvPr>
          <p:cNvSpPr txBox="1"/>
          <p:nvPr/>
        </p:nvSpPr>
        <p:spPr>
          <a:xfrm>
            <a:off x="2778671" y="418859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질병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E5A9285-C8BC-4B5C-ACB6-FD7FBE5B1562}"/>
              </a:ext>
            </a:extLst>
          </p:cNvPr>
          <p:cNvSpPr/>
          <p:nvPr/>
        </p:nvSpPr>
        <p:spPr>
          <a:xfrm>
            <a:off x="2281543" y="424937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DB13C94-89F5-452E-A5F5-A9A3573347FE}"/>
              </a:ext>
            </a:extLst>
          </p:cNvPr>
          <p:cNvSpPr/>
          <p:nvPr/>
        </p:nvSpPr>
        <p:spPr>
          <a:xfrm>
            <a:off x="3323359" y="424937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AFBE759-03EC-4886-A843-EA52EECC313E}"/>
              </a:ext>
            </a:extLst>
          </p:cNvPr>
          <p:cNvSpPr/>
          <p:nvPr/>
        </p:nvSpPr>
        <p:spPr>
          <a:xfrm>
            <a:off x="5157300" y="367547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5F9FB7-303C-4A87-ADF1-B3C74B31FBA7}"/>
              </a:ext>
            </a:extLst>
          </p:cNvPr>
          <p:cNvSpPr txBox="1"/>
          <p:nvPr/>
        </p:nvSpPr>
        <p:spPr>
          <a:xfrm>
            <a:off x="4319864" y="3646170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발생주소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17342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494560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896336"/>
              </p:ext>
            </p:extLst>
          </p:nvPr>
        </p:nvGraphicFramePr>
        <p:xfrm>
          <a:off x="8603672" y="1180081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7052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166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탈퇴 안내 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탈퇴시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user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초기화 및 세션처리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탈퇴하기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3788F-0E37-44EA-A62E-A555E27F6F69}"/>
              </a:ext>
            </a:extLst>
          </p:cNvPr>
          <p:cNvSpPr txBox="1"/>
          <p:nvPr/>
        </p:nvSpPr>
        <p:spPr>
          <a:xfrm>
            <a:off x="2249905" y="2803358"/>
            <a:ext cx="4012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정말 탈퇴 하시겠습니까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4377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060C0-231F-48B5-97C7-6C5EC2DF9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뉴스</a:t>
            </a:r>
          </a:p>
        </p:txBody>
      </p:sp>
    </p:spTree>
    <p:extLst>
      <p:ext uri="{BB962C8B-B14F-4D97-AF65-F5344CB8AC3E}">
        <p14:creationId xmlns:p14="http://schemas.microsoft.com/office/powerpoint/2010/main" val="3304940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78584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11563"/>
              </p:ext>
            </p:extLst>
          </p:nvPr>
        </p:nvGraphicFramePr>
        <p:xfrm>
          <a:off x="8603672" y="1180080"/>
          <a:ext cx="3588327" cy="5814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701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415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2261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기사이미지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작성일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원본 뉴스 링크 저장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뉴스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정보 가져와 화면에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원본 뉴스 링크를 타고 페이지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기사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95F223-A11D-B244-B9A0-B5A17CDA5204}"/>
              </a:ext>
            </a:extLst>
          </p:cNvPr>
          <p:cNvSpPr/>
          <p:nvPr/>
        </p:nvSpPr>
        <p:spPr>
          <a:xfrm>
            <a:off x="275119" y="1990338"/>
            <a:ext cx="8053431" cy="36875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EB0DC7-4DBF-0F36-C225-7EFCC67B293C}"/>
              </a:ext>
            </a:extLst>
          </p:cNvPr>
          <p:cNvSpPr/>
          <p:nvPr/>
        </p:nvSpPr>
        <p:spPr>
          <a:xfrm>
            <a:off x="1615043" y="2227234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D95BDE-1637-E94E-184B-E7C89E5FC57D}"/>
              </a:ext>
            </a:extLst>
          </p:cNvPr>
          <p:cNvSpPr/>
          <p:nvPr/>
        </p:nvSpPr>
        <p:spPr>
          <a:xfrm>
            <a:off x="1615043" y="2517519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05921C-EFC5-9B98-CCC7-ADEB2725A46C}"/>
              </a:ext>
            </a:extLst>
          </p:cNvPr>
          <p:cNvSpPr/>
          <p:nvPr/>
        </p:nvSpPr>
        <p:spPr>
          <a:xfrm>
            <a:off x="1615043" y="3408107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36684E-6B56-FADE-ECDF-822B743CF08B}"/>
              </a:ext>
            </a:extLst>
          </p:cNvPr>
          <p:cNvSpPr/>
          <p:nvPr/>
        </p:nvSpPr>
        <p:spPr>
          <a:xfrm>
            <a:off x="1615043" y="4588980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8BBEC8C-F3EA-FC4C-AE9F-73652C7E4ED6}"/>
              </a:ext>
            </a:extLst>
          </p:cNvPr>
          <p:cNvSpPr/>
          <p:nvPr/>
        </p:nvSpPr>
        <p:spPr>
          <a:xfrm>
            <a:off x="1615043" y="2957472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4AEBDA4-1EFE-71A9-B7B4-B5729D664208}"/>
              </a:ext>
            </a:extLst>
          </p:cNvPr>
          <p:cNvSpPr/>
          <p:nvPr/>
        </p:nvSpPr>
        <p:spPr>
          <a:xfrm>
            <a:off x="1615043" y="3702911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C844A9-69BF-AD30-8BF4-4A8CBD3D7698}"/>
              </a:ext>
            </a:extLst>
          </p:cNvPr>
          <p:cNvSpPr/>
          <p:nvPr/>
        </p:nvSpPr>
        <p:spPr>
          <a:xfrm>
            <a:off x="1615043" y="4145624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E32B1D-5D2E-6EDE-0755-A3C40900A3B7}"/>
              </a:ext>
            </a:extLst>
          </p:cNvPr>
          <p:cNvSpPr/>
          <p:nvPr/>
        </p:nvSpPr>
        <p:spPr>
          <a:xfrm>
            <a:off x="1615043" y="4875862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3259B4D-7C80-C259-C552-B61F64198742}"/>
              </a:ext>
            </a:extLst>
          </p:cNvPr>
          <p:cNvSpPr/>
          <p:nvPr/>
        </p:nvSpPr>
        <p:spPr>
          <a:xfrm>
            <a:off x="1615043" y="5329286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F314ACF-351E-8410-FA74-C8D895D2DD9D}"/>
              </a:ext>
            </a:extLst>
          </p:cNvPr>
          <p:cNvGrpSpPr/>
          <p:nvPr/>
        </p:nvGrpSpPr>
        <p:grpSpPr>
          <a:xfrm>
            <a:off x="8258986" y="1990338"/>
            <a:ext cx="208120" cy="3700872"/>
            <a:chOff x="8258986" y="1990338"/>
            <a:chExt cx="208120" cy="3700872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97B83F7-EC56-A29B-BE2C-B024631E2622}"/>
                </a:ext>
              </a:extLst>
            </p:cNvPr>
            <p:cNvSpPr/>
            <p:nvPr/>
          </p:nvSpPr>
          <p:spPr>
            <a:xfrm>
              <a:off x="8258986" y="1990338"/>
              <a:ext cx="206130" cy="370087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94A63603-5DED-7778-56D1-DC07E38E917E}"/>
                </a:ext>
              </a:extLst>
            </p:cNvPr>
            <p:cNvSpPr/>
            <p:nvPr/>
          </p:nvSpPr>
          <p:spPr>
            <a:xfrm>
              <a:off x="8258986" y="2197150"/>
              <a:ext cx="208120" cy="236896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1DF785C-B7EC-1669-4582-2956CB7CAFD9}"/>
              </a:ext>
            </a:extLst>
          </p:cNvPr>
          <p:cNvSpPr/>
          <p:nvPr/>
        </p:nvSpPr>
        <p:spPr>
          <a:xfrm>
            <a:off x="2759978" y="5838738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846343E-B1F6-DB92-6C16-B9DA1096D06D}"/>
              </a:ext>
            </a:extLst>
          </p:cNvPr>
          <p:cNvSpPr/>
          <p:nvPr/>
        </p:nvSpPr>
        <p:spPr>
          <a:xfrm>
            <a:off x="518562" y="2224455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64A70A1D-A872-3F76-0E98-5DB1B4239256}"/>
              </a:ext>
            </a:extLst>
          </p:cNvPr>
          <p:cNvSpPr/>
          <p:nvPr/>
        </p:nvSpPr>
        <p:spPr>
          <a:xfrm>
            <a:off x="518562" y="3408107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7202031-CF92-B844-8F4F-D42B89D773B0}"/>
              </a:ext>
            </a:extLst>
          </p:cNvPr>
          <p:cNvSpPr/>
          <p:nvPr/>
        </p:nvSpPr>
        <p:spPr>
          <a:xfrm>
            <a:off x="518562" y="4601148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616DA03-25A6-4438-B5D8-9E3264DCE2F3}"/>
              </a:ext>
            </a:extLst>
          </p:cNvPr>
          <p:cNvSpPr/>
          <p:nvPr/>
        </p:nvSpPr>
        <p:spPr>
          <a:xfrm>
            <a:off x="138553" y="1829520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0CD243-7955-4DE0-A39E-B3D903DD0F75}"/>
              </a:ext>
            </a:extLst>
          </p:cNvPr>
          <p:cNvSpPr/>
          <p:nvPr/>
        </p:nvSpPr>
        <p:spPr>
          <a:xfrm>
            <a:off x="439368" y="2143903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2845C53-3EB1-4749-A31C-BFE34420A83E}"/>
              </a:ext>
            </a:extLst>
          </p:cNvPr>
          <p:cNvSpPr/>
          <p:nvPr/>
        </p:nvSpPr>
        <p:spPr>
          <a:xfrm>
            <a:off x="439368" y="3328974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9F2C791-417C-4781-962A-60D7AB8A5A33}"/>
              </a:ext>
            </a:extLst>
          </p:cNvPr>
          <p:cNvSpPr/>
          <p:nvPr/>
        </p:nvSpPr>
        <p:spPr>
          <a:xfrm>
            <a:off x="424649" y="4499500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2D4480C-E441-46C0-B4C5-CA6D606E9EBD}"/>
              </a:ext>
            </a:extLst>
          </p:cNvPr>
          <p:cNvSpPr/>
          <p:nvPr/>
        </p:nvSpPr>
        <p:spPr>
          <a:xfrm>
            <a:off x="2601216" y="5625122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6843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D9E5A-9610-427A-A1C0-C72FDD0A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통계</a:t>
            </a:r>
          </a:p>
        </p:txBody>
      </p:sp>
    </p:spTree>
    <p:extLst>
      <p:ext uri="{BB962C8B-B14F-4D97-AF65-F5344CB8AC3E}">
        <p14:creationId xmlns:p14="http://schemas.microsoft.com/office/powerpoint/2010/main" val="3383839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657151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6891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7416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1"/>
          <a:ext cx="3588327" cy="5617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120188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606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93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827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와 산재리스트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 Join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해서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 프로필 명시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4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분석 기간에 따른 통계 자료 변경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(Button)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97156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4C79B7-5760-B413-FB50-03C6F0CDE6A1}"/>
              </a:ext>
            </a:extLst>
          </p:cNvPr>
          <p:cNvSpPr/>
          <p:nvPr/>
        </p:nvSpPr>
        <p:spPr>
          <a:xfrm>
            <a:off x="368773" y="2090944"/>
            <a:ext cx="7921374" cy="671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   </a:t>
            </a:r>
            <a:r>
              <a:rPr lang="en-US" altLang="ko-KR" sz="1400" b="1" dirty="0">
                <a:solidFill>
                  <a:schemeClr val="tx1"/>
                </a:solidFill>
              </a:rPr>
              <a:t>000</a:t>
            </a:r>
            <a:r>
              <a:rPr lang="ko-KR" altLang="en-US" sz="1400" b="1" dirty="0">
                <a:solidFill>
                  <a:schemeClr val="tx1"/>
                </a:solidFill>
              </a:rPr>
              <a:t> 님의 프로필 </a:t>
            </a:r>
            <a:r>
              <a:rPr lang="en-US" altLang="ko-KR" sz="1400" b="1" dirty="0">
                <a:solidFill>
                  <a:schemeClr val="tx1"/>
                </a:solidFill>
              </a:rPr>
              <a:t>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   </a:t>
            </a:r>
            <a:r>
              <a:rPr lang="ko-KR" altLang="en-US" sz="900" dirty="0">
                <a:solidFill>
                  <a:schemeClr val="tx1"/>
                </a:solidFill>
              </a:rPr>
              <a:t>   업종</a:t>
            </a:r>
            <a:r>
              <a:rPr lang="en-US" altLang="ko-KR" sz="900" dirty="0">
                <a:solidFill>
                  <a:schemeClr val="tx1"/>
                </a:solidFill>
              </a:rPr>
              <a:t>(1):               </a:t>
            </a:r>
            <a:r>
              <a:rPr lang="ko-KR" altLang="en-US" sz="900" dirty="0">
                <a:solidFill>
                  <a:schemeClr val="tx1"/>
                </a:solidFill>
              </a:rPr>
              <a:t>업종</a:t>
            </a:r>
            <a:r>
              <a:rPr lang="en-US" altLang="ko-KR" sz="900" dirty="0">
                <a:solidFill>
                  <a:schemeClr val="tx1"/>
                </a:solidFill>
              </a:rPr>
              <a:t>(2):             </a:t>
            </a:r>
            <a:r>
              <a:rPr lang="ko-KR" altLang="en-US" sz="900" dirty="0">
                <a:solidFill>
                  <a:schemeClr val="tx1"/>
                </a:solidFill>
              </a:rPr>
              <a:t>나이</a:t>
            </a:r>
            <a:r>
              <a:rPr lang="en-US" altLang="ko-KR" sz="900" dirty="0">
                <a:solidFill>
                  <a:schemeClr val="tx1"/>
                </a:solidFill>
              </a:rPr>
              <a:t>:           </a:t>
            </a:r>
            <a:r>
              <a:rPr lang="ko-KR" altLang="en-US" sz="900" dirty="0">
                <a:solidFill>
                  <a:schemeClr val="tx1"/>
                </a:solidFill>
              </a:rPr>
              <a:t>성별</a:t>
            </a:r>
            <a:r>
              <a:rPr lang="en-US" altLang="ko-KR" sz="900" dirty="0">
                <a:solidFill>
                  <a:schemeClr val="tx1"/>
                </a:solidFill>
              </a:rPr>
              <a:t>:             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198513" y="2008787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2C0410-CB91-6CDB-DD7F-2E9415BF87AA}"/>
              </a:ext>
            </a:extLst>
          </p:cNvPr>
          <p:cNvSpPr/>
          <p:nvPr/>
        </p:nvSpPr>
        <p:spPr>
          <a:xfrm>
            <a:off x="368773" y="2879078"/>
            <a:ext cx="7921374" cy="3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분석 기간</a:t>
            </a:r>
            <a:r>
              <a:rPr lang="en-US" altLang="ko-KR" sz="1400" b="1" dirty="0">
                <a:solidFill>
                  <a:schemeClr val="tx1"/>
                </a:solidFill>
              </a:rPr>
              <a:t>:						          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48A80A4-9904-31F9-D9F0-24A203D0853C}"/>
              </a:ext>
            </a:extLst>
          </p:cNvPr>
          <p:cNvSpPr/>
          <p:nvPr/>
        </p:nvSpPr>
        <p:spPr>
          <a:xfrm>
            <a:off x="4894957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A6F1F55-5AD2-24E3-D532-89CB71D9E1EE}"/>
              </a:ext>
            </a:extLst>
          </p:cNvPr>
          <p:cNvSpPr/>
          <p:nvPr/>
        </p:nvSpPr>
        <p:spPr>
          <a:xfrm>
            <a:off x="6053573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BB0301-6CB6-76E9-B49C-19AD4DD61391}"/>
              </a:ext>
            </a:extLst>
          </p:cNvPr>
          <p:cNvSpPr/>
          <p:nvPr/>
        </p:nvSpPr>
        <p:spPr>
          <a:xfrm>
            <a:off x="7200693" y="2890782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3C7825D-4448-4B98-BC96-9250A449316D}"/>
              </a:ext>
            </a:extLst>
          </p:cNvPr>
          <p:cNvSpPr/>
          <p:nvPr/>
        </p:nvSpPr>
        <p:spPr>
          <a:xfrm>
            <a:off x="4757392" y="2745007"/>
            <a:ext cx="275130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C2A0EA-B3AE-AEC2-CE98-2376622D571B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A71B6-598E-4F09-AF55-AECC68AE0278}"/>
              </a:ext>
            </a:extLst>
          </p:cNvPr>
          <p:cNvSpPr txBox="1"/>
          <p:nvPr/>
        </p:nvSpPr>
        <p:spPr>
          <a:xfrm>
            <a:off x="1971492" y="4304949"/>
            <a:ext cx="412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분석을 시작하려면 기간을 선택하세요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818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149F63A-B17E-6964-404B-4C602586C571}"/>
              </a:ext>
            </a:extLst>
          </p:cNvPr>
          <p:cNvSpPr/>
          <p:nvPr/>
        </p:nvSpPr>
        <p:spPr>
          <a:xfrm>
            <a:off x="336077" y="3509181"/>
            <a:ext cx="1928120" cy="28555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재해율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재해율 </a:t>
            </a:r>
            <a:r>
              <a:rPr lang="en-US" altLang="ko-KR" sz="1100" b="1" dirty="0">
                <a:solidFill>
                  <a:schemeClr val="tx1"/>
                </a:solidFill>
              </a:rPr>
              <a:t>%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전년 대비 증감률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1"/>
          <a:ext cx="3588327" cy="5614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120188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606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93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827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2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(Button)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따른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통계 집계 및  시각화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4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재해율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사망률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재해유형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사망유형 집계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97156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4C79B7-5760-B413-FB50-03C6F0CDE6A1}"/>
              </a:ext>
            </a:extLst>
          </p:cNvPr>
          <p:cNvSpPr/>
          <p:nvPr/>
        </p:nvSpPr>
        <p:spPr>
          <a:xfrm>
            <a:off x="368773" y="2090944"/>
            <a:ext cx="7921374" cy="671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   </a:t>
            </a:r>
            <a:r>
              <a:rPr lang="en-US" altLang="ko-KR" sz="1400" b="1" dirty="0">
                <a:solidFill>
                  <a:schemeClr val="tx1"/>
                </a:solidFill>
              </a:rPr>
              <a:t>000</a:t>
            </a:r>
            <a:r>
              <a:rPr lang="ko-KR" altLang="en-US" sz="1400" b="1" dirty="0">
                <a:solidFill>
                  <a:schemeClr val="tx1"/>
                </a:solidFill>
              </a:rPr>
              <a:t> 님의 프로필 </a:t>
            </a:r>
            <a:r>
              <a:rPr lang="en-US" altLang="ko-KR" sz="1400" b="1" dirty="0">
                <a:solidFill>
                  <a:schemeClr val="tx1"/>
                </a:solidFill>
              </a:rPr>
              <a:t>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   </a:t>
            </a:r>
            <a:r>
              <a:rPr lang="ko-KR" altLang="en-US" sz="900" dirty="0">
                <a:solidFill>
                  <a:schemeClr val="tx1"/>
                </a:solidFill>
              </a:rPr>
              <a:t>   업종</a:t>
            </a:r>
            <a:r>
              <a:rPr lang="en-US" altLang="ko-KR" sz="900" dirty="0">
                <a:solidFill>
                  <a:schemeClr val="tx1"/>
                </a:solidFill>
              </a:rPr>
              <a:t>(1):               </a:t>
            </a:r>
            <a:r>
              <a:rPr lang="ko-KR" altLang="en-US" sz="900" dirty="0">
                <a:solidFill>
                  <a:schemeClr val="tx1"/>
                </a:solidFill>
              </a:rPr>
              <a:t>업종</a:t>
            </a:r>
            <a:r>
              <a:rPr lang="en-US" altLang="ko-KR" sz="900" dirty="0">
                <a:solidFill>
                  <a:schemeClr val="tx1"/>
                </a:solidFill>
              </a:rPr>
              <a:t>(2):             </a:t>
            </a:r>
            <a:r>
              <a:rPr lang="ko-KR" altLang="en-US" sz="900" dirty="0">
                <a:solidFill>
                  <a:schemeClr val="tx1"/>
                </a:solidFill>
              </a:rPr>
              <a:t>나이</a:t>
            </a:r>
            <a:r>
              <a:rPr lang="en-US" altLang="ko-KR" sz="900" dirty="0">
                <a:solidFill>
                  <a:schemeClr val="tx1"/>
                </a:solidFill>
              </a:rPr>
              <a:t>:           </a:t>
            </a:r>
            <a:r>
              <a:rPr lang="ko-KR" altLang="en-US" sz="900" dirty="0">
                <a:solidFill>
                  <a:schemeClr val="tx1"/>
                </a:solidFill>
              </a:rPr>
              <a:t>성별</a:t>
            </a:r>
            <a:r>
              <a:rPr lang="en-US" altLang="ko-KR" sz="900" dirty="0">
                <a:solidFill>
                  <a:schemeClr val="tx1"/>
                </a:solidFill>
              </a:rPr>
              <a:t>:             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2F5A591-3AD0-4F5C-9238-CEA0D23DD078}"/>
              </a:ext>
            </a:extLst>
          </p:cNvPr>
          <p:cNvSpPr/>
          <p:nvPr/>
        </p:nvSpPr>
        <p:spPr>
          <a:xfrm>
            <a:off x="198511" y="3412727"/>
            <a:ext cx="275129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2C0410-CB91-6CDB-DD7F-2E9415BF87AA}"/>
              </a:ext>
            </a:extLst>
          </p:cNvPr>
          <p:cNvSpPr/>
          <p:nvPr/>
        </p:nvSpPr>
        <p:spPr>
          <a:xfrm>
            <a:off x="368773" y="2879078"/>
            <a:ext cx="7921374" cy="3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분석 기간</a:t>
            </a:r>
            <a:r>
              <a:rPr lang="en-US" altLang="ko-KR" sz="1400" b="1" dirty="0">
                <a:solidFill>
                  <a:schemeClr val="tx1"/>
                </a:solidFill>
              </a:rPr>
              <a:t>:						          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48A80A4-9904-31F9-D9F0-24A203D0853C}"/>
              </a:ext>
            </a:extLst>
          </p:cNvPr>
          <p:cNvSpPr/>
          <p:nvPr/>
        </p:nvSpPr>
        <p:spPr>
          <a:xfrm>
            <a:off x="4894957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A6F1F55-5AD2-24E3-D532-89CB71D9E1EE}"/>
              </a:ext>
            </a:extLst>
          </p:cNvPr>
          <p:cNvSpPr/>
          <p:nvPr/>
        </p:nvSpPr>
        <p:spPr>
          <a:xfrm>
            <a:off x="6053573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BB0301-6CB6-76E9-B49C-19AD4DD61391}"/>
              </a:ext>
            </a:extLst>
          </p:cNvPr>
          <p:cNvSpPr/>
          <p:nvPr/>
        </p:nvSpPr>
        <p:spPr>
          <a:xfrm>
            <a:off x="7200693" y="2890782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2DBE83A-2468-082E-E62C-120CB5D082A9}"/>
              </a:ext>
            </a:extLst>
          </p:cNvPr>
          <p:cNvSpPr/>
          <p:nvPr/>
        </p:nvSpPr>
        <p:spPr>
          <a:xfrm>
            <a:off x="2505517" y="3509182"/>
            <a:ext cx="1793000" cy="285552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사망률 </a:t>
            </a:r>
            <a:r>
              <a:rPr lang="en-US" altLang="ko-KR" sz="1400" b="1" dirty="0">
                <a:solidFill>
                  <a:schemeClr val="tx1"/>
                </a:solidFill>
              </a:rPr>
              <a:t>	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사망률 </a:t>
            </a:r>
            <a:r>
              <a:rPr lang="en-US" altLang="ko-KR" sz="1100" b="1" dirty="0">
                <a:solidFill>
                  <a:schemeClr val="tx1"/>
                </a:solidFill>
              </a:rPr>
              <a:t>%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전년 대비 증감률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   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5AD99E9-1106-2DE1-BFF9-4C62DCC8B6C9}"/>
              </a:ext>
            </a:extLst>
          </p:cNvPr>
          <p:cNvSpPr/>
          <p:nvPr/>
        </p:nvSpPr>
        <p:spPr>
          <a:xfrm>
            <a:off x="4491707" y="3523820"/>
            <a:ext cx="1796876" cy="284088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 재해유형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가장 많이 다친 유형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전년 대비 증감률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DF171BC-877A-C50D-B47E-1BB2EA327636}"/>
              </a:ext>
            </a:extLst>
          </p:cNvPr>
          <p:cNvSpPr/>
          <p:nvPr/>
        </p:nvSpPr>
        <p:spPr>
          <a:xfrm>
            <a:off x="6481773" y="3475693"/>
            <a:ext cx="1796877" cy="284088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사망유형  </a:t>
            </a:r>
            <a:r>
              <a:rPr lang="en-US" altLang="ko-KR" sz="1400" b="1" dirty="0">
                <a:solidFill>
                  <a:schemeClr val="tx1"/>
                </a:solidFill>
              </a:rPr>
              <a:t>	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가장 많은 사망 유형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전년 대비 증감률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   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4772986" y="2716711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32103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재해현황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사망현황 통계시각화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재해현황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사망현황 통계시각화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3182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760F890-669F-145E-F1AB-86374C6FFF03}"/>
              </a:ext>
            </a:extLst>
          </p:cNvPr>
          <p:cNvSpPr/>
          <p:nvPr/>
        </p:nvSpPr>
        <p:spPr>
          <a:xfrm>
            <a:off x="601290" y="1925053"/>
            <a:ext cx="3008184" cy="24183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남 </a:t>
            </a:r>
            <a:r>
              <a:rPr lang="en-US" altLang="ko-KR" sz="1400" b="1" dirty="0">
                <a:solidFill>
                  <a:schemeClr val="tx1"/>
                </a:solidFill>
              </a:rPr>
              <a:t> vs </a:t>
            </a:r>
            <a:r>
              <a:rPr lang="ko-KR" altLang="en-US" sz="1400" b="1" dirty="0">
                <a:solidFill>
                  <a:schemeClr val="tx1"/>
                </a:solidFill>
              </a:rPr>
              <a:t>여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재해현황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남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여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55732EC-A2B8-5CCF-ACC4-8F7E33B6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93" y="2573520"/>
            <a:ext cx="2338100" cy="1242049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F467F7-275E-3FE4-8C28-6DD2949F0BFE}"/>
              </a:ext>
            </a:extLst>
          </p:cNvPr>
          <p:cNvSpPr/>
          <p:nvPr/>
        </p:nvSpPr>
        <p:spPr>
          <a:xfrm>
            <a:off x="601290" y="4421581"/>
            <a:ext cx="3008184" cy="2374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 연령대별 재해현황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D3B6F6C-DBD0-3EE0-9D60-F3C8754CF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67" y="4852650"/>
            <a:ext cx="2195876" cy="1834656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72D8FF1-B3A6-1ECF-1047-EDD5F84F7381}"/>
              </a:ext>
            </a:extLst>
          </p:cNvPr>
          <p:cNvSpPr/>
          <p:nvPr/>
        </p:nvSpPr>
        <p:spPr>
          <a:xfrm>
            <a:off x="4315038" y="1906408"/>
            <a:ext cx="3008184" cy="24183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남 </a:t>
            </a:r>
            <a:r>
              <a:rPr lang="en-US" altLang="ko-KR" sz="1400" b="1" dirty="0">
                <a:solidFill>
                  <a:schemeClr val="tx1"/>
                </a:solidFill>
              </a:rPr>
              <a:t> vs </a:t>
            </a:r>
            <a:r>
              <a:rPr lang="ko-KR" altLang="en-US" sz="1400" b="1" dirty="0">
                <a:solidFill>
                  <a:schemeClr val="tx1"/>
                </a:solidFill>
              </a:rPr>
              <a:t>여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사망현황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남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여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4B2379D-2EB6-62F2-EC95-F0361605E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441" y="2554875"/>
            <a:ext cx="2338100" cy="1242049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FBF0404-5DE0-6178-4EA1-4771A8B3DC3C}"/>
              </a:ext>
            </a:extLst>
          </p:cNvPr>
          <p:cNvSpPr/>
          <p:nvPr/>
        </p:nvSpPr>
        <p:spPr>
          <a:xfrm>
            <a:off x="4315038" y="4402936"/>
            <a:ext cx="3008184" cy="2374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 연령대별 사망현황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5887E02-21D3-33DE-39B0-7D58D1DB9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415" y="4834005"/>
            <a:ext cx="2195876" cy="1834656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A2AB29-B621-CDC6-6FB2-22A3310C4393}"/>
              </a:ext>
            </a:extLst>
          </p:cNvPr>
          <p:cNvSpPr/>
          <p:nvPr/>
        </p:nvSpPr>
        <p:spPr>
          <a:xfrm>
            <a:off x="408031" y="190104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DCDA271-47A7-3329-18DD-F342DDEB1819}"/>
              </a:ext>
            </a:extLst>
          </p:cNvPr>
          <p:cNvSpPr/>
          <p:nvPr/>
        </p:nvSpPr>
        <p:spPr>
          <a:xfrm>
            <a:off x="463725" y="4343400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34999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재해사망현황 통계시각화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7AC872-2757-5684-1D12-80C3D2C37CAF}"/>
              </a:ext>
            </a:extLst>
          </p:cNvPr>
          <p:cNvSpPr/>
          <p:nvPr/>
        </p:nvSpPr>
        <p:spPr>
          <a:xfrm>
            <a:off x="509164" y="2213991"/>
            <a:ext cx="3805225" cy="42830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02BE4D-9673-2903-3DD6-8737C5235DE7}"/>
              </a:ext>
            </a:extLst>
          </p:cNvPr>
          <p:cNvSpPr/>
          <p:nvPr/>
        </p:nvSpPr>
        <p:spPr>
          <a:xfrm>
            <a:off x="4398278" y="2213992"/>
            <a:ext cx="3805227" cy="42830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00AFA2-D796-83CF-C0A3-2498C9FE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754866-24CA-15A6-3FE4-6D751588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B755F7-999B-AF94-AECC-F8B02A0708D0}"/>
              </a:ext>
            </a:extLst>
          </p:cNvPr>
          <p:cNvSpPr txBox="1"/>
          <p:nvPr/>
        </p:nvSpPr>
        <p:spPr>
          <a:xfrm>
            <a:off x="1126225" y="2376656"/>
            <a:ext cx="257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재해유형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BD7A3-CF7B-71E4-C02A-BB73A160CE80}"/>
              </a:ext>
            </a:extLst>
          </p:cNvPr>
          <p:cNvSpPr txBox="1"/>
          <p:nvPr/>
        </p:nvSpPr>
        <p:spPr>
          <a:xfrm>
            <a:off x="4547457" y="2394792"/>
            <a:ext cx="3506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재해 </a:t>
            </a:r>
            <a:r>
              <a:rPr lang="ko-KR" altLang="en-US" b="1" dirty="0"/>
              <a:t>유형별 사망현황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23D985-7DC2-C9A8-31B5-E6C1A3AF135E}"/>
              </a:ext>
            </a:extLst>
          </p:cNvPr>
          <p:cNvSpPr/>
          <p:nvPr/>
        </p:nvSpPr>
        <p:spPr>
          <a:xfrm>
            <a:off x="513448" y="2204914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38809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질병별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질병별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재해사망현황 통계시각화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7AC872-2757-5684-1D12-80C3D2C37CAF}"/>
              </a:ext>
            </a:extLst>
          </p:cNvPr>
          <p:cNvSpPr/>
          <p:nvPr/>
        </p:nvSpPr>
        <p:spPr>
          <a:xfrm>
            <a:off x="509164" y="2213991"/>
            <a:ext cx="3805225" cy="42830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02BE4D-9673-2903-3DD6-8737C5235DE7}"/>
              </a:ext>
            </a:extLst>
          </p:cNvPr>
          <p:cNvSpPr/>
          <p:nvPr/>
        </p:nvSpPr>
        <p:spPr>
          <a:xfrm>
            <a:off x="4398278" y="2213992"/>
            <a:ext cx="3805227" cy="42830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00AFA2-D796-83CF-C0A3-2498C9FE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754866-24CA-15A6-3FE4-6D751588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B755F7-999B-AF94-AECC-F8B02A0708D0}"/>
              </a:ext>
            </a:extLst>
          </p:cNvPr>
          <p:cNvSpPr txBox="1"/>
          <p:nvPr/>
        </p:nvSpPr>
        <p:spPr>
          <a:xfrm>
            <a:off x="1126225" y="2376656"/>
            <a:ext cx="257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</a:t>
            </a:r>
            <a:r>
              <a:rPr lang="ko-KR" altLang="en-US" b="1" dirty="0"/>
              <a:t>재해질병 </a:t>
            </a:r>
            <a:r>
              <a:rPr lang="ko-KR" altLang="en-US" sz="1800" b="1" dirty="0">
                <a:solidFill>
                  <a:schemeClr val="tx1"/>
                </a:solidFill>
              </a:rPr>
              <a:t>유형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BD7A3-CF7B-71E4-C02A-BB73A160CE80}"/>
              </a:ext>
            </a:extLst>
          </p:cNvPr>
          <p:cNvSpPr txBox="1"/>
          <p:nvPr/>
        </p:nvSpPr>
        <p:spPr>
          <a:xfrm>
            <a:off x="4398278" y="2346996"/>
            <a:ext cx="38052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내 업종  재해</a:t>
            </a:r>
            <a:r>
              <a:rPr lang="ko-KR" altLang="en-US" sz="1600" b="1" dirty="0"/>
              <a:t>질병 유형별 사망현황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74AE9A-68F0-6A3E-7C4B-97D21FFC1BFF}"/>
              </a:ext>
            </a:extLst>
          </p:cNvPr>
          <p:cNvSpPr/>
          <p:nvPr/>
        </p:nvSpPr>
        <p:spPr>
          <a:xfrm>
            <a:off x="435753" y="220805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36716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30325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요인들을 종합해서 종합위험도 지수 통계시각화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안전자료실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주변 산재 찾기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주변 산재 병원 찾기로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08B4402-1D15-A72D-601E-EEEAF4DAB682}"/>
              </a:ext>
            </a:extLst>
          </p:cNvPr>
          <p:cNvSpPr/>
          <p:nvPr/>
        </p:nvSpPr>
        <p:spPr>
          <a:xfrm>
            <a:off x="601579" y="1916637"/>
            <a:ext cx="6988627" cy="42048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종합 위험도 평가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977A8-EE81-172F-6519-02E4414C84EB}"/>
              </a:ext>
            </a:extLst>
          </p:cNvPr>
          <p:cNvSpPr/>
          <p:nvPr/>
        </p:nvSpPr>
        <p:spPr>
          <a:xfrm>
            <a:off x="601925" y="188070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2B9DF86-42F0-4E7E-7F35-B4DD1D3373A7}"/>
              </a:ext>
            </a:extLst>
          </p:cNvPr>
          <p:cNvSpPr/>
          <p:nvPr/>
        </p:nvSpPr>
        <p:spPr>
          <a:xfrm>
            <a:off x="1615044" y="5413574"/>
            <a:ext cx="1489103" cy="429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나에게 필요한 안전 가이드 보기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8B9AC75-5911-BD25-4C2F-4EEFF9C3518C}"/>
              </a:ext>
            </a:extLst>
          </p:cNvPr>
          <p:cNvSpPr/>
          <p:nvPr/>
        </p:nvSpPr>
        <p:spPr>
          <a:xfrm>
            <a:off x="5278892" y="5316132"/>
            <a:ext cx="1489103" cy="48222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가까운 응급</a:t>
            </a:r>
            <a:r>
              <a:rPr lang="en-US" altLang="ko-KR" sz="1100" dirty="0"/>
              <a:t>·</a:t>
            </a:r>
            <a:r>
              <a:rPr lang="ko-KR" altLang="en-US" sz="1100" dirty="0"/>
              <a:t>산재병원 찾기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BCBF801-505E-A4A7-5E7B-CD6D433640CB}"/>
              </a:ext>
            </a:extLst>
          </p:cNvPr>
          <p:cNvSpPr/>
          <p:nvPr/>
        </p:nvSpPr>
        <p:spPr>
          <a:xfrm>
            <a:off x="3446968" y="5388526"/>
            <a:ext cx="1489103" cy="429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내 위치 기반 위험 탐색하기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7AE0BDC-C2D3-18A1-CE46-28000D14E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19" y="2883397"/>
            <a:ext cx="6359706" cy="1843378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8311E1-5C2E-671C-A58B-196310D778C4}"/>
              </a:ext>
            </a:extLst>
          </p:cNvPr>
          <p:cNvSpPr/>
          <p:nvPr/>
        </p:nvSpPr>
        <p:spPr>
          <a:xfrm>
            <a:off x="1304684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D57C9D5-A530-E379-A23F-C36DB9D34656}"/>
              </a:ext>
            </a:extLst>
          </p:cNvPr>
          <p:cNvSpPr/>
          <p:nvPr/>
        </p:nvSpPr>
        <p:spPr>
          <a:xfrm>
            <a:off x="3152785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7F2174-AD50-34D7-DA86-D2F1541A5DB6}"/>
              </a:ext>
            </a:extLst>
          </p:cNvPr>
          <p:cNvSpPr/>
          <p:nvPr/>
        </p:nvSpPr>
        <p:spPr>
          <a:xfrm>
            <a:off x="5000886" y="5162207"/>
            <a:ext cx="411194" cy="29302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87225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46473-6DA8-4C85-8259-70D4CA3D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안전 자료실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CA613-5FAA-4D68-A805-C577DA387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738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06626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030882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45071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3753489264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 main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2317625951"/>
              </p:ext>
            </p:extLst>
          </p:nvPr>
        </p:nvGraphicFramePr>
        <p:xfrm>
          <a:off x="8603672" y="1180081"/>
          <a:ext cx="3588325" cy="569002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154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28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main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51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추천콘텐츠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영역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default</a:t>
                      </a:r>
                      <a:r>
                        <a:rPr lang="ko-KR" sz="1100" dirty="0"/>
                        <a:t>: 업종 기반 추천 콘텐츠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카드 슬라이드로 출력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이미지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제목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자료유형 필터(체크박스)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동영상 </a:t>
                      </a:r>
                      <a:r>
                        <a:rPr lang="en-US" altLang="ko-KR" sz="1100" dirty="0"/>
                        <a:t>/ OPS</a:t>
                      </a:r>
                      <a:r>
                        <a:rPr lang="en-US" altLang="ko-KR" sz="11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(One Point Sheet)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 교재 </a:t>
                      </a:r>
                      <a:r>
                        <a:rPr lang="en-US" altLang="ko-KR" sz="1100" dirty="0"/>
                        <a:t>/ PPT </a:t>
                      </a:r>
                      <a:r>
                        <a:rPr lang="ko-KR" altLang="en-US" sz="1100" dirty="0"/>
                        <a:t>로 나누어 분류</a:t>
                      </a:r>
                      <a:r>
                        <a:rPr lang="en-US" altLang="ko-KR" sz="1100" dirty="0"/>
                        <a:t> 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검색 필터 </a:t>
                      </a:r>
                      <a:r>
                        <a:rPr lang="en-US" altLang="ko-KR" sz="1100" dirty="0"/>
                        <a:t>(selector) – </a:t>
                      </a: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키워드</a:t>
                      </a:r>
                      <a:r>
                        <a:rPr lang="en-US" altLang="ko-KR" sz="1100" dirty="0"/>
                        <a:t>(=</a:t>
                      </a:r>
                      <a:r>
                        <a:rPr lang="ko-KR" altLang="en-US" sz="1100" dirty="0"/>
                        <a:t>태그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13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텍스트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검색란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-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검색텍스트가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제목 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OR 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키워드에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들어가있는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자료 검색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567534" y="2767233"/>
            <a:ext cx="152023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콘텐츠</a:t>
            </a:r>
            <a:endParaRPr sz="1200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352138A-2D9A-0034-8B74-04C1B8B490FA}"/>
              </a:ext>
            </a:extLst>
          </p:cNvPr>
          <p:cNvGrpSpPr/>
          <p:nvPr/>
        </p:nvGrpSpPr>
        <p:grpSpPr>
          <a:xfrm>
            <a:off x="560199" y="6292263"/>
            <a:ext cx="7404379" cy="332170"/>
            <a:chOff x="-255" y="4486803"/>
            <a:chExt cx="8603799" cy="48111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BDAC9-397E-B61D-18B0-EE4308A5BAD3}"/>
                </a:ext>
              </a:extLst>
            </p:cNvPr>
            <p:cNvSpPr/>
            <p:nvPr/>
          </p:nvSpPr>
          <p:spPr>
            <a:xfrm>
              <a:off x="-127" y="4486803"/>
              <a:ext cx="8603671" cy="4811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pic>
          <p:nvPicPr>
            <p:cNvPr id="38" name="그래픽 37" descr="돋보기 단색으로 채워진">
              <a:extLst>
                <a:ext uri="{FF2B5EF4-FFF2-40B4-BE49-F238E27FC236}">
                  <a16:creationId xmlns:a16="http://schemas.microsoft.com/office/drawing/2014/main" id="{68AFFAE0-9DCE-2D1F-C899-C28D2D0F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119" y="4548552"/>
              <a:ext cx="326366" cy="326366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E310EE-9931-251E-2AF7-772794151427}"/>
                </a:ext>
              </a:extLst>
            </p:cNvPr>
            <p:cNvSpPr/>
            <p:nvPr/>
          </p:nvSpPr>
          <p:spPr>
            <a:xfrm>
              <a:off x="-255" y="4497116"/>
              <a:ext cx="1123951" cy="4708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필터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2BB3AB8-E9E2-670F-53AA-4EFAB576B196}"/>
              </a:ext>
            </a:extLst>
          </p:cNvPr>
          <p:cNvGrpSpPr/>
          <p:nvPr/>
        </p:nvGrpSpPr>
        <p:grpSpPr>
          <a:xfrm>
            <a:off x="567535" y="3091161"/>
            <a:ext cx="7404379" cy="2345050"/>
            <a:chOff x="-22034" y="2332583"/>
            <a:chExt cx="8613063" cy="212334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8F642C1-AE9C-BA0C-6391-A5D10F03F320}"/>
                </a:ext>
              </a:extLst>
            </p:cNvPr>
            <p:cNvSpPr/>
            <p:nvPr/>
          </p:nvSpPr>
          <p:spPr>
            <a:xfrm>
              <a:off x="-22034" y="2332583"/>
              <a:ext cx="8613063" cy="21233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D900AE3-427B-6EEE-E52F-A098DF854A06}"/>
                </a:ext>
              </a:extLst>
            </p:cNvPr>
            <p:cNvSpPr txBox="1"/>
            <p:nvPr/>
          </p:nvSpPr>
          <p:spPr>
            <a:xfrm>
              <a:off x="7815321" y="3192305"/>
              <a:ext cx="163183" cy="378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&gt;</a:t>
              </a:r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4169AC0D-4588-C0A6-1A11-9C89EC82F080}"/>
                </a:ext>
              </a:extLst>
            </p:cNvPr>
            <p:cNvGrpSpPr/>
            <p:nvPr/>
          </p:nvGrpSpPr>
          <p:grpSpPr>
            <a:xfrm>
              <a:off x="1251347" y="2594261"/>
              <a:ext cx="1844382" cy="1694170"/>
              <a:chOff x="488731" y="2624754"/>
              <a:chExt cx="1844382" cy="1694170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0D1EA7D0-EC6B-9AFB-23F6-CF254C0AD2A9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7EDEB38F-96BD-AA65-8B91-21CCD01CCECA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BD9E8A6-C223-A79B-0F41-28DCF06C6D49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321A9C0B-ED47-E557-98E1-B75D45DE7AE3}"/>
                </a:ext>
              </a:extLst>
            </p:cNvPr>
            <p:cNvGrpSpPr/>
            <p:nvPr/>
          </p:nvGrpSpPr>
          <p:grpSpPr>
            <a:xfrm>
              <a:off x="5691591" y="2586378"/>
              <a:ext cx="1844382" cy="1694170"/>
              <a:chOff x="488731" y="2624754"/>
              <a:chExt cx="1844382" cy="1694170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A4F385DA-4922-DF0C-E792-7DAAF6144865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EE641C1A-2B6A-BD4E-F5B0-35D07F14E86A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4C8FFC3-0DD5-2F15-C8D0-1985980FFEDA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60304954-153D-A405-A916-1E039EBD1574}"/>
                </a:ext>
              </a:extLst>
            </p:cNvPr>
            <p:cNvGrpSpPr/>
            <p:nvPr/>
          </p:nvGrpSpPr>
          <p:grpSpPr>
            <a:xfrm>
              <a:off x="3471469" y="2608486"/>
              <a:ext cx="1844382" cy="1694170"/>
              <a:chOff x="488731" y="2624754"/>
              <a:chExt cx="1844382" cy="1694170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37C6D9E7-FCA2-A6F5-84AB-A82E6DD000B3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FC3627AB-8A6D-B5C0-E6BB-82BD70CB49B2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DAD795A-9509-433E-0DD5-7218BCCF63DC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A8F7C40-39D5-5E3A-1CDF-CF1198DEFD48}"/>
                </a:ext>
              </a:extLst>
            </p:cNvPr>
            <p:cNvSpPr txBox="1"/>
            <p:nvPr/>
          </p:nvSpPr>
          <p:spPr>
            <a:xfrm>
              <a:off x="517128" y="3201870"/>
              <a:ext cx="4364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&lt;</a:t>
              </a:r>
              <a:endParaRPr lang="ko-KR" altLang="en-US" dirty="0"/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567645" y="5620348"/>
            <a:ext cx="7404269" cy="6618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B2CACF-145C-5AE0-B4EF-006826A02F38}"/>
              </a:ext>
            </a:extLst>
          </p:cNvPr>
          <p:cNvSpPr/>
          <p:nvPr/>
        </p:nvSpPr>
        <p:spPr>
          <a:xfrm>
            <a:off x="484917" y="552065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CC97C3-8B87-028A-C1BE-5D2AAE4BE79B}"/>
              </a:ext>
            </a:extLst>
          </p:cNvPr>
          <p:cNvSpPr/>
          <p:nvPr/>
        </p:nvSpPr>
        <p:spPr>
          <a:xfrm>
            <a:off x="450825" y="302305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414735F-6A8A-88ED-26FD-70AEC223AD40}"/>
              </a:ext>
            </a:extLst>
          </p:cNvPr>
          <p:cNvSpPr/>
          <p:nvPr/>
        </p:nvSpPr>
        <p:spPr>
          <a:xfrm>
            <a:off x="477534" y="6214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D1A7A40-7C39-C7B0-8157-53F2B3A05D9D}"/>
              </a:ext>
            </a:extLst>
          </p:cNvPr>
          <p:cNvSpPr/>
          <p:nvPr/>
        </p:nvSpPr>
        <p:spPr>
          <a:xfrm>
            <a:off x="2909155" y="6195764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0AFA082-8659-FA47-6C38-61FBBAA41A92}"/>
              </a:ext>
            </a:extLst>
          </p:cNvPr>
          <p:cNvGrpSpPr/>
          <p:nvPr/>
        </p:nvGrpSpPr>
        <p:grpSpPr>
          <a:xfrm>
            <a:off x="546431" y="2084894"/>
            <a:ext cx="7307492" cy="453020"/>
            <a:chOff x="567534" y="2272425"/>
            <a:chExt cx="7307492" cy="453020"/>
          </a:xfrm>
        </p:grpSpPr>
        <p:sp>
          <p:nvSpPr>
            <p:cNvPr id="67" name="Google Shape;23;p1">
              <a:extLst>
                <a:ext uri="{FF2B5EF4-FFF2-40B4-BE49-F238E27FC236}">
                  <a16:creationId xmlns:a16="http://schemas.microsoft.com/office/drawing/2014/main" id="{ECEAA6D1-1F7A-C6B3-2E9B-699C43275D87}"/>
                </a:ext>
              </a:extLst>
            </p:cNvPr>
            <p:cNvSpPr txBox="1"/>
            <p:nvPr/>
          </p:nvSpPr>
          <p:spPr>
            <a:xfrm>
              <a:off x="567534" y="2272425"/>
              <a:ext cx="1767293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b="1" dirty="0">
                  <a:solidFill>
                    <a:schemeClr val="dk1"/>
                  </a:solidFill>
                  <a:latin typeface="Malgun Gothic"/>
                  <a:ea typeface="Malgun Gothic"/>
                  <a:sym typeface="Malgun Gothic"/>
                </a:rPr>
                <a:t>전체 교육자료</a:t>
              </a:r>
              <a:endParaRPr b="1" dirty="0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264761D-8EE0-94A6-C11E-5AEC1318A2BB}"/>
                </a:ext>
              </a:extLst>
            </p:cNvPr>
            <p:cNvCxnSpPr/>
            <p:nvPr/>
          </p:nvCxnSpPr>
          <p:spPr>
            <a:xfrm>
              <a:off x="567534" y="2725445"/>
              <a:ext cx="730749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0598290F-7F84-A1B9-3464-E20FD3BAB3C5}"/>
              </a:ext>
            </a:extLst>
          </p:cNvPr>
          <p:cNvSpPr txBox="1"/>
          <p:nvPr/>
        </p:nvSpPr>
        <p:spPr>
          <a:xfrm>
            <a:off x="3714591" y="3131441"/>
            <a:ext cx="12557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업종별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최근 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01D005-5ABD-4C06-9CF3-ED0531F5D442}"/>
              </a:ext>
            </a:extLst>
          </p:cNvPr>
          <p:cNvSpPr/>
          <p:nvPr/>
        </p:nvSpPr>
        <p:spPr>
          <a:xfrm>
            <a:off x="878305" y="583531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AA663A-877B-43EA-A627-E98A52E6A245}"/>
              </a:ext>
            </a:extLst>
          </p:cNvPr>
          <p:cNvSpPr txBox="1"/>
          <p:nvPr/>
        </p:nvSpPr>
        <p:spPr>
          <a:xfrm>
            <a:off x="1279425" y="582301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동영상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ADECD2E-8868-43C7-BBFE-F4B2D0052B72}"/>
              </a:ext>
            </a:extLst>
          </p:cNvPr>
          <p:cNvSpPr/>
          <p:nvPr/>
        </p:nvSpPr>
        <p:spPr>
          <a:xfrm>
            <a:off x="2082755" y="5839077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CC872D-4934-43C9-ADBB-30B8DB8DE183}"/>
              </a:ext>
            </a:extLst>
          </p:cNvPr>
          <p:cNvSpPr txBox="1"/>
          <p:nvPr/>
        </p:nvSpPr>
        <p:spPr>
          <a:xfrm>
            <a:off x="2483875" y="5826773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OPS</a:t>
            </a:r>
            <a:endParaRPr lang="ko-KR" altLang="en-US" sz="12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5070BF3-A58E-4C37-BB7E-D24756CDDA25}"/>
              </a:ext>
            </a:extLst>
          </p:cNvPr>
          <p:cNvSpPr/>
          <p:nvPr/>
        </p:nvSpPr>
        <p:spPr>
          <a:xfrm>
            <a:off x="3353039" y="583531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971BC7-6A1B-4105-91AF-18413B350D6A}"/>
              </a:ext>
            </a:extLst>
          </p:cNvPr>
          <p:cNvSpPr txBox="1"/>
          <p:nvPr/>
        </p:nvSpPr>
        <p:spPr>
          <a:xfrm>
            <a:off x="3754159" y="582301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교재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20973F0-4017-4C39-A468-05EB7BC3F9EC}"/>
              </a:ext>
            </a:extLst>
          </p:cNvPr>
          <p:cNvSpPr/>
          <p:nvPr/>
        </p:nvSpPr>
        <p:spPr>
          <a:xfrm>
            <a:off x="4623323" y="583413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AA0779-66BE-48C3-9E8D-13908399725C}"/>
              </a:ext>
            </a:extLst>
          </p:cNvPr>
          <p:cNvSpPr txBox="1"/>
          <p:nvPr/>
        </p:nvSpPr>
        <p:spPr>
          <a:xfrm>
            <a:off x="5024443" y="582183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PPT</a:t>
            </a:r>
            <a:endParaRPr lang="ko-KR" altLang="en-US" sz="120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D9CACA8-9093-4DC6-ABA6-A4B7F7568171}"/>
              </a:ext>
            </a:extLst>
          </p:cNvPr>
          <p:cNvSpPr/>
          <p:nvPr/>
        </p:nvSpPr>
        <p:spPr>
          <a:xfrm>
            <a:off x="5827773" y="583413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6EDFEC-90EE-41A1-95CB-D5875D808C19}"/>
              </a:ext>
            </a:extLst>
          </p:cNvPr>
          <p:cNvSpPr txBox="1"/>
          <p:nvPr/>
        </p:nvSpPr>
        <p:spPr>
          <a:xfrm>
            <a:off x="6228893" y="582183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기타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2530538905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1022306155"/>
              </p:ext>
            </p:extLst>
          </p:nvPr>
        </p:nvGraphicFramePr>
        <p:xfrm>
          <a:off x="8603672" y="1180080"/>
          <a:ext cx="3588325" cy="669628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2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5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검색결과 기반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교육자료 목록리스트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교육자료 제목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최소 </a:t>
                      </a:r>
                      <a:r>
                        <a:rPr lang="en-US" altLang="ko-KR" sz="1100" dirty="0"/>
                        <a:t>5-6</a:t>
                      </a:r>
                      <a:r>
                        <a:rPr lang="ko-KR" altLang="en-US" sz="1100" dirty="0"/>
                        <a:t>개</a:t>
                      </a:r>
                      <a:r>
                        <a:rPr lang="en-US" altLang="ko-KR" sz="1100" dirty="0"/>
                        <a:t>,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크롤링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-&gt; </a:t>
                      </a:r>
                      <a:r>
                        <a:rPr lang="ko-KR" altLang="en-US" sz="1100" dirty="0"/>
                        <a:t>키워드 항목 사용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내용요약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크롤링</a:t>
                      </a:r>
                      <a:r>
                        <a:rPr lang="ko-KR" altLang="en-US" sz="1100" dirty="0"/>
                        <a:t> 내용에 따라 추가 및 제거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섬네일</a:t>
                      </a:r>
                      <a:r>
                        <a:rPr lang="ko-KR" altLang="en-US" sz="1100" dirty="0"/>
                        <a:t> 이미지</a:t>
                      </a: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5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352138A-2D9A-0034-8B74-04C1B8B490FA}"/>
              </a:ext>
            </a:extLst>
          </p:cNvPr>
          <p:cNvGrpSpPr/>
          <p:nvPr/>
        </p:nvGrpSpPr>
        <p:grpSpPr>
          <a:xfrm>
            <a:off x="502043" y="2862450"/>
            <a:ext cx="7404379" cy="332170"/>
            <a:chOff x="-255" y="4486803"/>
            <a:chExt cx="8603799" cy="48111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BDAC9-397E-B61D-18B0-EE4308A5BAD3}"/>
                </a:ext>
              </a:extLst>
            </p:cNvPr>
            <p:cNvSpPr/>
            <p:nvPr/>
          </p:nvSpPr>
          <p:spPr>
            <a:xfrm>
              <a:off x="-127" y="4486803"/>
              <a:ext cx="8603671" cy="4811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pic>
          <p:nvPicPr>
            <p:cNvPr id="38" name="그래픽 37" descr="돋보기 단색으로 채워진">
              <a:extLst>
                <a:ext uri="{FF2B5EF4-FFF2-40B4-BE49-F238E27FC236}">
                  <a16:creationId xmlns:a16="http://schemas.microsoft.com/office/drawing/2014/main" id="{68AFFAE0-9DCE-2D1F-C899-C28D2D0F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119" y="4548552"/>
              <a:ext cx="326366" cy="326366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E310EE-9931-251E-2AF7-772794151427}"/>
                </a:ext>
              </a:extLst>
            </p:cNvPr>
            <p:cNvSpPr/>
            <p:nvPr/>
          </p:nvSpPr>
          <p:spPr>
            <a:xfrm>
              <a:off x="-255" y="4497116"/>
              <a:ext cx="1123951" cy="4708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필터</a:t>
              </a: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502153" y="2200514"/>
            <a:ext cx="7404269" cy="6618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체크박스</a:t>
            </a:r>
          </a:p>
        </p:txBody>
      </p:sp>
      <p:sp>
        <p:nvSpPr>
          <p:cNvPr id="2" name="Google Shape;23;p1">
            <a:extLst>
              <a:ext uri="{FF2B5EF4-FFF2-40B4-BE49-F238E27FC236}">
                <a16:creationId xmlns:a16="http://schemas.microsoft.com/office/drawing/2014/main" id="{B79359C4-C06E-B9A2-0301-7FF508A4E401}"/>
              </a:ext>
            </a:extLst>
          </p:cNvPr>
          <p:cNvSpPr txBox="1"/>
          <p:nvPr/>
        </p:nvSpPr>
        <p:spPr>
          <a:xfrm>
            <a:off x="434403" y="3429001"/>
            <a:ext cx="166072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검색결과</a:t>
            </a:r>
            <a:endParaRPr sz="1600" b="1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1C5788D-3F32-7885-9969-54E88FE52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814238"/>
              </p:ext>
            </p:extLst>
          </p:nvPr>
        </p:nvGraphicFramePr>
        <p:xfrm>
          <a:off x="494817" y="4051894"/>
          <a:ext cx="7404270" cy="2437102"/>
        </p:xfrm>
        <a:graphic>
          <a:graphicData uri="http://schemas.openxmlformats.org/drawingml/2006/table">
            <a:tbl>
              <a:tblPr firstRow="1" bandRow="1"/>
              <a:tblGrid>
                <a:gridCol w="5832831">
                  <a:extLst>
                    <a:ext uri="{9D8B030D-6E8A-4147-A177-3AD203B41FA5}">
                      <a16:colId xmlns:a16="http://schemas.microsoft.com/office/drawing/2014/main" val="610372560"/>
                    </a:ext>
                  </a:extLst>
                </a:gridCol>
                <a:gridCol w="1571439">
                  <a:extLst>
                    <a:ext uri="{9D8B030D-6E8A-4147-A177-3AD203B41FA5}">
                      <a16:colId xmlns:a16="http://schemas.microsoft.com/office/drawing/2014/main" val="1554072574"/>
                    </a:ext>
                  </a:extLst>
                </a:gridCol>
              </a:tblGrid>
              <a:tr h="39921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698585"/>
                  </a:ext>
                </a:extLst>
              </a:tr>
              <a:tr h="1090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 교육자료 제목</a:t>
                      </a:r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619439"/>
                  </a:ext>
                </a:extLst>
              </a:tr>
              <a:tr h="9477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교육자료 제목</a:t>
                      </a:r>
                      <a:endParaRPr lang="en-US" altLang="ko-KR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912220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94A2782A-D3E8-898C-BD5D-F5F8F7D349EC}"/>
              </a:ext>
            </a:extLst>
          </p:cNvPr>
          <p:cNvGrpSpPr/>
          <p:nvPr/>
        </p:nvGrpSpPr>
        <p:grpSpPr>
          <a:xfrm>
            <a:off x="577482" y="4773097"/>
            <a:ext cx="4041648" cy="530600"/>
            <a:chOff x="577482" y="4773097"/>
            <a:chExt cx="4041648" cy="5306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3AA75E-8599-C0D2-C3A8-E39063397693}"/>
                </a:ext>
              </a:extLst>
            </p:cNvPr>
            <p:cNvSpPr txBox="1"/>
            <p:nvPr/>
          </p:nvSpPr>
          <p:spPr>
            <a:xfrm>
              <a:off x="577482" y="4773097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98A1D5-094B-4384-198E-09B0A5415157}"/>
                </a:ext>
              </a:extLst>
            </p:cNvPr>
            <p:cNvSpPr txBox="1"/>
            <p:nvPr/>
          </p:nvSpPr>
          <p:spPr>
            <a:xfrm>
              <a:off x="577482" y="5042087"/>
              <a:ext cx="40416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요약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옵션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CB0964-8A29-61AA-A26E-722DAB73ADB2}"/>
              </a:ext>
            </a:extLst>
          </p:cNvPr>
          <p:cNvGrpSpPr/>
          <p:nvPr/>
        </p:nvGrpSpPr>
        <p:grpSpPr>
          <a:xfrm>
            <a:off x="548929" y="5876592"/>
            <a:ext cx="4041648" cy="530600"/>
            <a:chOff x="577482" y="4773097"/>
            <a:chExt cx="4041648" cy="53060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5C5AB6-873B-FAA0-789D-741BC343B241}"/>
                </a:ext>
              </a:extLst>
            </p:cNvPr>
            <p:cNvSpPr txBox="1"/>
            <p:nvPr/>
          </p:nvSpPr>
          <p:spPr>
            <a:xfrm>
              <a:off x="577482" y="4773097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1C4E66-808D-0A9C-63D1-DF3C64A6211E}"/>
                </a:ext>
              </a:extLst>
            </p:cNvPr>
            <p:cNvSpPr txBox="1"/>
            <p:nvPr/>
          </p:nvSpPr>
          <p:spPr>
            <a:xfrm>
              <a:off x="577482" y="5042087"/>
              <a:ext cx="40416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요약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옵션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CC97C3-8B87-028A-C1BE-5D2AAE4BE79B}"/>
              </a:ext>
            </a:extLst>
          </p:cNvPr>
          <p:cNvSpPr/>
          <p:nvPr/>
        </p:nvSpPr>
        <p:spPr>
          <a:xfrm>
            <a:off x="419378" y="401882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1070F2-EE87-ABDA-7900-ACA0719D4C20}"/>
              </a:ext>
            </a:extLst>
          </p:cNvPr>
          <p:cNvSpPr/>
          <p:nvPr/>
        </p:nvSpPr>
        <p:spPr>
          <a:xfrm>
            <a:off x="2104564" y="4875964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B11AAA-75AE-4732-AB33-29FEA235BEB4}"/>
              </a:ext>
            </a:extLst>
          </p:cNvPr>
          <p:cNvSpPr/>
          <p:nvPr/>
        </p:nvSpPr>
        <p:spPr>
          <a:xfrm>
            <a:off x="6679038" y="4597307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6E267A-F00A-42B4-BE74-5F9D8D0DB3D1}"/>
              </a:ext>
            </a:extLst>
          </p:cNvPr>
          <p:cNvSpPr/>
          <p:nvPr/>
        </p:nvSpPr>
        <p:spPr>
          <a:xfrm>
            <a:off x="6679038" y="5627228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12842828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132347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44621"/>
              </p:ext>
            </p:extLst>
          </p:nvPr>
        </p:nvGraphicFramePr>
        <p:xfrm>
          <a:off x="8603672" y="1180080"/>
          <a:ext cx="3588327" cy="7378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 이름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안전교육 자료 이미지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태그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키워드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OPS/PPT/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교재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동영상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내용요약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내용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807522" y="2465225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교육 상세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048116" y="3002942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882787" y="3002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331556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1331556" y="3175728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1CE361-EBE9-451A-88CB-DF32FF4ACCFC}"/>
              </a:ext>
            </a:extLst>
          </p:cNvPr>
          <p:cNvSpPr txBox="1"/>
          <p:nvPr/>
        </p:nvSpPr>
        <p:spPr>
          <a:xfrm>
            <a:off x="3230041" y="4174709"/>
            <a:ext cx="3227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태그 </a:t>
            </a:r>
            <a:r>
              <a:rPr lang="en-US" altLang="ko-KR" sz="1400" dirty="0"/>
              <a:t>: </a:t>
            </a:r>
            <a:r>
              <a:rPr lang="ko-KR" altLang="en-US" sz="1400" dirty="0"/>
              <a:t>태그</a:t>
            </a:r>
            <a:r>
              <a:rPr lang="en-US" altLang="ko-KR" sz="1400" dirty="0"/>
              <a:t>1, </a:t>
            </a:r>
            <a:r>
              <a:rPr lang="ko-KR" altLang="en-US" sz="1400" dirty="0"/>
              <a:t>태그</a:t>
            </a:r>
            <a:r>
              <a:rPr lang="en-US" altLang="ko-KR" sz="1400" dirty="0"/>
              <a:t>2, </a:t>
            </a:r>
            <a:r>
              <a:rPr lang="ko-KR" altLang="en-US" sz="1400" dirty="0"/>
              <a:t>태그</a:t>
            </a:r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5EAD1-4567-4613-B6A6-24BCC6A86F0C}"/>
              </a:ext>
            </a:extLst>
          </p:cNvPr>
          <p:cNvSpPr txBox="1"/>
          <p:nvPr/>
        </p:nvSpPr>
        <p:spPr>
          <a:xfrm>
            <a:off x="3230041" y="3713445"/>
            <a:ext cx="2314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자료 형태 </a:t>
            </a:r>
            <a:r>
              <a:rPr lang="en-US" altLang="ko-KR" sz="1400" dirty="0"/>
              <a:t>: PPT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8462B3-1C8A-4768-828F-6E576B11708A}"/>
              </a:ext>
            </a:extLst>
          </p:cNvPr>
          <p:cNvSpPr/>
          <p:nvPr/>
        </p:nvSpPr>
        <p:spPr>
          <a:xfrm>
            <a:off x="3322109" y="4781209"/>
            <a:ext cx="2372396" cy="6862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11666001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178511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9405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관련자료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이런콘텐츠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어떠세요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항목의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섬네일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링크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807522" y="2465225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관련 자료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491884" y="3002942"/>
            <a:ext cx="7334119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409219" y="291654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331556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1281107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5C8542-72BC-4B0D-B287-7709063DF0A8}"/>
              </a:ext>
            </a:extLst>
          </p:cNvPr>
          <p:cNvSpPr/>
          <p:nvPr/>
        </p:nvSpPr>
        <p:spPr>
          <a:xfrm>
            <a:off x="3262113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9B6AC-91CE-4152-8A93-8BC40DE65638}"/>
              </a:ext>
            </a:extLst>
          </p:cNvPr>
          <p:cNvSpPr txBox="1"/>
          <p:nvPr/>
        </p:nvSpPr>
        <p:spPr>
          <a:xfrm>
            <a:off x="3211664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3AE670-FEF4-46C7-AC24-9AB108ACE4BE}"/>
              </a:ext>
            </a:extLst>
          </p:cNvPr>
          <p:cNvSpPr/>
          <p:nvPr/>
        </p:nvSpPr>
        <p:spPr>
          <a:xfrm>
            <a:off x="5243119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0E1308-0BF9-4364-8DAF-5A195CD52CB8}"/>
              </a:ext>
            </a:extLst>
          </p:cNvPr>
          <p:cNvSpPr txBox="1"/>
          <p:nvPr/>
        </p:nvSpPr>
        <p:spPr>
          <a:xfrm>
            <a:off x="5192670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8" name="1/2 액자 17">
            <a:extLst>
              <a:ext uri="{FF2B5EF4-FFF2-40B4-BE49-F238E27FC236}">
                <a16:creationId xmlns:a16="http://schemas.microsoft.com/office/drawing/2014/main" id="{2802CFE5-1F41-4EE5-A878-114242E99261}"/>
              </a:ext>
            </a:extLst>
          </p:cNvPr>
          <p:cNvSpPr/>
          <p:nvPr/>
        </p:nvSpPr>
        <p:spPr>
          <a:xfrm rot="19002226">
            <a:off x="662152" y="4363895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1/2 액자 18">
            <a:extLst>
              <a:ext uri="{FF2B5EF4-FFF2-40B4-BE49-F238E27FC236}">
                <a16:creationId xmlns:a16="http://schemas.microsoft.com/office/drawing/2014/main" id="{69A34B69-3FFB-4757-9269-7F5CF031CA69}"/>
              </a:ext>
            </a:extLst>
          </p:cNvPr>
          <p:cNvSpPr/>
          <p:nvPr/>
        </p:nvSpPr>
        <p:spPr>
          <a:xfrm rot="8009119">
            <a:off x="7096140" y="4326002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1631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1C1F2-5328-4756-8968-8C07AED4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산재 검색</a:t>
            </a:r>
          </a:p>
        </p:txBody>
      </p:sp>
    </p:spTree>
    <p:extLst>
      <p:ext uri="{BB962C8B-B14F-4D97-AF65-F5344CB8AC3E}">
        <p14:creationId xmlns:p14="http://schemas.microsoft.com/office/powerpoint/2010/main" val="21911676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118495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953094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52851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B23EE5-4830-38F5-ABCB-D3C5120861B9}"/>
              </a:ext>
            </a:extLst>
          </p:cNvPr>
          <p:cNvSpPr/>
          <p:nvPr/>
        </p:nvSpPr>
        <p:spPr>
          <a:xfrm>
            <a:off x="732492" y="2991364"/>
            <a:ext cx="6988627" cy="3471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469890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002095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필터링하여 지도에 마킹 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표시되어 있는 총 발생 건수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반경에 따라 발생건수 업데이트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마커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연동된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 </a:t>
                      </a:r>
                      <a:br>
                        <a:rPr lang="en-US" altLang="ko-KR" sz="11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 상세정보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상세정보 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 dirty="0" err="1">
                          <a:solidFill>
                            <a:srgbClr val="FF0000"/>
                          </a:solidFill>
                        </a:rPr>
                        <a:t>발생년도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관할구역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소재지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) 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사고지역은 개인 산재 데이터를 기준으로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산재위치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또는 기타 아이디어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리스트형태로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드롭다운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팝업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으로 구현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988C13-2B2E-F909-EC1E-B4FE55334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56" y="3387425"/>
            <a:ext cx="6493164" cy="302464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0D013E3-B0E5-9B84-6519-88988CDA57F4}"/>
              </a:ext>
            </a:extLst>
          </p:cNvPr>
          <p:cNvSpPr/>
          <p:nvPr/>
        </p:nvSpPr>
        <p:spPr>
          <a:xfrm>
            <a:off x="686484" y="2906373"/>
            <a:ext cx="6988627" cy="4304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근무지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산업재해 상황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700" dirty="0">
                <a:solidFill>
                  <a:schemeClr val="tx1"/>
                </a:solidFill>
              </a:rPr>
              <a:t>주변 산업재해 발생 현황을 확인하세요                                                                      </a:t>
            </a:r>
            <a:r>
              <a:rPr lang="en-US" altLang="ko-KR" sz="700" dirty="0">
                <a:solidFill>
                  <a:schemeClr val="tx1"/>
                </a:solidFill>
              </a:rPr>
              <a:t>		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6D3BF85-21DD-A604-CF53-EB9B6F671E55}"/>
              </a:ext>
            </a:extLst>
          </p:cNvPr>
          <p:cNvSpPr/>
          <p:nvPr/>
        </p:nvSpPr>
        <p:spPr>
          <a:xfrm>
            <a:off x="6819782" y="2296082"/>
            <a:ext cx="1371565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총 발생 건수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7E79A5F-30FF-A302-12D8-A30502C6697C}"/>
              </a:ext>
            </a:extLst>
          </p:cNvPr>
          <p:cNvSpPr/>
          <p:nvPr/>
        </p:nvSpPr>
        <p:spPr>
          <a:xfrm>
            <a:off x="392477" y="2310457"/>
            <a:ext cx="6260803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  						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B0B057-1F02-5BB5-9536-741458F839D5}"/>
              </a:ext>
            </a:extLst>
          </p:cNvPr>
          <p:cNvSpPr/>
          <p:nvPr/>
        </p:nvSpPr>
        <p:spPr>
          <a:xfrm>
            <a:off x="1335824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30A59CC-0869-9970-969C-EB7B73631F4B}"/>
              </a:ext>
            </a:extLst>
          </p:cNvPr>
          <p:cNvSpPr/>
          <p:nvPr/>
        </p:nvSpPr>
        <p:spPr>
          <a:xfrm>
            <a:off x="283875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13174-412B-617A-1C4F-E0212F159BC7}"/>
              </a:ext>
            </a:extLst>
          </p:cNvPr>
          <p:cNvSpPr/>
          <p:nvPr/>
        </p:nvSpPr>
        <p:spPr>
          <a:xfrm>
            <a:off x="433804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054A4F74-B9F7-E170-D668-B8915D9ECF53}"/>
              </a:ext>
            </a:extLst>
          </p:cNvPr>
          <p:cNvSpPr/>
          <p:nvPr/>
        </p:nvSpPr>
        <p:spPr>
          <a:xfrm>
            <a:off x="2941210" y="3498671"/>
            <a:ext cx="1655551" cy="509139"/>
          </a:xfrm>
          <a:prstGeom prst="wedgeRectCallout">
            <a:avLst>
              <a:gd name="adj1" fmla="val -40116"/>
              <a:gd name="adj2" fmla="val 8586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소재지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>
                <a:solidFill>
                  <a:schemeClr val="tx1"/>
                </a:solidFill>
              </a:rPr>
              <a:t>관할구역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 err="1">
                <a:solidFill>
                  <a:schemeClr val="tx1"/>
                </a:solidFill>
              </a:rPr>
              <a:t>발생년도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162887-3326-462F-A4A7-3A7BAF7CC2C1}"/>
              </a:ext>
            </a:extLst>
          </p:cNvPr>
          <p:cNvSpPr/>
          <p:nvPr/>
        </p:nvSpPr>
        <p:spPr>
          <a:xfrm>
            <a:off x="331668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3F6A1A-D5B7-4655-A199-F905BAAA6FDF}"/>
              </a:ext>
            </a:extLst>
          </p:cNvPr>
          <p:cNvSpPr/>
          <p:nvPr/>
        </p:nvSpPr>
        <p:spPr>
          <a:xfrm>
            <a:off x="6853066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9ED02C6-D2C7-47CA-9A4F-EC9B17A81868}"/>
              </a:ext>
            </a:extLst>
          </p:cNvPr>
          <p:cNvSpPr/>
          <p:nvPr/>
        </p:nvSpPr>
        <p:spPr>
          <a:xfrm>
            <a:off x="2693216" y="394231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D67E2E-266C-446F-BA8E-6C00531C6B3F}"/>
              </a:ext>
            </a:extLst>
          </p:cNvPr>
          <p:cNvSpPr/>
          <p:nvPr/>
        </p:nvSpPr>
        <p:spPr>
          <a:xfrm>
            <a:off x="4319240" y="2699975"/>
            <a:ext cx="1419678" cy="1833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산재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산재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산재 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산재 </a:t>
            </a:r>
            <a:r>
              <a:rPr lang="en-US" altLang="ko-KR" dirty="0">
                <a:solidFill>
                  <a:schemeClr val="tx1"/>
                </a:solidFill>
              </a:rPr>
              <a:t>4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산재 </a:t>
            </a:r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5155C6-DB09-49CD-9E4A-B7F42F99F78C}"/>
              </a:ext>
            </a:extLst>
          </p:cNvPr>
          <p:cNvSpPr/>
          <p:nvPr/>
        </p:nvSpPr>
        <p:spPr>
          <a:xfrm>
            <a:off x="4302341" y="22708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117230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692845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26912"/>
              </p:ext>
            </p:extLst>
          </p:nvPr>
        </p:nvGraphicFramePr>
        <p:xfrm>
          <a:off x="8603672" y="1180080"/>
          <a:ext cx="3588327" cy="6037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 지역에 따라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마커표시된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 산업재해 목록 리스트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위치 기준 가까운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Top5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 산업재해 리스트 제공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C9B4CC7-4047-AD24-079F-AC9E13AB8090}"/>
              </a:ext>
            </a:extLst>
          </p:cNvPr>
          <p:cNvSpPr/>
          <p:nvPr/>
        </p:nvSpPr>
        <p:spPr>
          <a:xfrm>
            <a:off x="498099" y="2484310"/>
            <a:ext cx="7921372" cy="4769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산업재해 목록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Top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5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9CEDE5-2964-B986-D05A-9A01041AB654}"/>
              </a:ext>
            </a:extLst>
          </p:cNvPr>
          <p:cNvSpPr/>
          <p:nvPr/>
        </p:nvSpPr>
        <p:spPr>
          <a:xfrm>
            <a:off x="498099" y="2953763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1782BCF-CB4C-9EAC-5C79-71E4ACF7DA31}"/>
              </a:ext>
            </a:extLst>
          </p:cNvPr>
          <p:cNvSpPr/>
          <p:nvPr/>
        </p:nvSpPr>
        <p:spPr>
          <a:xfrm>
            <a:off x="498099" y="351981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E0C5155-132A-0A51-5AF8-6A34DB21CA11}"/>
              </a:ext>
            </a:extLst>
          </p:cNvPr>
          <p:cNvSpPr/>
          <p:nvPr/>
        </p:nvSpPr>
        <p:spPr>
          <a:xfrm>
            <a:off x="498099" y="402974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DEDFE5-28AB-86DD-8801-EA74829CF65E}"/>
              </a:ext>
            </a:extLst>
          </p:cNvPr>
          <p:cNvSpPr/>
          <p:nvPr/>
        </p:nvSpPr>
        <p:spPr>
          <a:xfrm>
            <a:off x="498098" y="4539665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9A35A85-FFA4-7B7F-6D28-CF4164425CAE}"/>
              </a:ext>
            </a:extLst>
          </p:cNvPr>
          <p:cNvSpPr/>
          <p:nvPr/>
        </p:nvSpPr>
        <p:spPr>
          <a:xfrm>
            <a:off x="498097" y="5112141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5️⃣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B7746F-ACE0-4C39-8831-58120F25C456}"/>
              </a:ext>
            </a:extLst>
          </p:cNvPr>
          <p:cNvSpPr/>
          <p:nvPr/>
        </p:nvSpPr>
        <p:spPr>
          <a:xfrm>
            <a:off x="359131" y="2305600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849315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4E7E2-68BB-43CD-AC4F-DC564D57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병원 검색</a:t>
            </a:r>
          </a:p>
        </p:txBody>
      </p:sp>
    </p:spTree>
    <p:extLst>
      <p:ext uri="{BB962C8B-B14F-4D97-AF65-F5344CB8AC3E}">
        <p14:creationId xmlns:p14="http://schemas.microsoft.com/office/powerpoint/2010/main" val="33720866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830585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83426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94138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444753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93521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산재지정의료기관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 위치기준 필터링 되어 나온 가까운 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Top10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 제공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의료기관 상세보기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Click&gt;&gt;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병원 상세 페이지로 이동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1958850"/>
            <a:ext cx="7921374" cy="8140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	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선택한 위치를 기준으로 가까운 산재지정의료기관을 찾아드립니다</a:t>
            </a:r>
            <a:r>
              <a:rPr lang="en-US" altLang="ko-KR" sz="800" dirty="0">
                <a:solidFill>
                  <a:schemeClr val="tx1"/>
                </a:solidFill>
              </a:rPr>
              <a:t>.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A52295-7A4D-414D-945F-360595F9CECB}"/>
              </a:ext>
            </a:extLst>
          </p:cNvPr>
          <p:cNvSpPr/>
          <p:nvPr/>
        </p:nvSpPr>
        <p:spPr>
          <a:xfrm>
            <a:off x="1973982" y="2167306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28F4AFB-BF0F-2958-1157-4A699F801C27}"/>
              </a:ext>
            </a:extLst>
          </p:cNvPr>
          <p:cNvSpPr/>
          <p:nvPr/>
        </p:nvSpPr>
        <p:spPr>
          <a:xfrm>
            <a:off x="3662889" y="2172460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CE1E5D8-83CD-27C1-3581-DBB7E28AD163}"/>
              </a:ext>
            </a:extLst>
          </p:cNvPr>
          <p:cNvSpPr/>
          <p:nvPr/>
        </p:nvSpPr>
        <p:spPr>
          <a:xfrm>
            <a:off x="5467432" y="2181351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412040" y="2808575"/>
            <a:ext cx="7921375" cy="45860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❗ 산재 </a:t>
            </a:r>
            <a:r>
              <a:rPr lang="ko-KR" altLang="en-US" sz="800" b="1" dirty="0" err="1">
                <a:solidFill>
                  <a:schemeClr val="tx1"/>
                </a:solidFill>
              </a:rPr>
              <a:t>지정의료기관이란</a:t>
            </a:r>
            <a:r>
              <a:rPr lang="en-US" altLang="ko-KR" sz="800" b="1" dirty="0">
                <a:solidFill>
                  <a:schemeClr val="tx1"/>
                </a:solidFill>
              </a:rPr>
              <a:t>?</a:t>
            </a:r>
          </a:p>
          <a:p>
            <a:endParaRPr lang="en-US" altLang="ko-KR" sz="800" b="1" dirty="0">
              <a:solidFill>
                <a:schemeClr val="tx1"/>
              </a:solidFill>
            </a:endParaRPr>
          </a:p>
          <a:p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근로복지공단이 지정한 의료기관으로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산업재해를 당한 근로자가 요양급여를 받을 수 있는 병원입니다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.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산재보험 적용을 받으며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치료비 부담 없이 진료를 받으실 수 있습니다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12039" y="342900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주변 산재지정의료기관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           Top 10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12038" y="371520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E74AB6E-3C41-B2D7-3769-1211D70C4565}"/>
              </a:ext>
            </a:extLst>
          </p:cNvPr>
          <p:cNvSpPr/>
          <p:nvPr/>
        </p:nvSpPr>
        <p:spPr>
          <a:xfrm>
            <a:off x="412038" y="425289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F4B3FAC-DEC1-2747-EDAD-906604AA7793}"/>
              </a:ext>
            </a:extLst>
          </p:cNvPr>
          <p:cNvSpPr/>
          <p:nvPr/>
        </p:nvSpPr>
        <p:spPr>
          <a:xfrm>
            <a:off x="412037" y="4790588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5499618-A5E6-FA6F-9E16-49F3B022FB75}"/>
              </a:ext>
            </a:extLst>
          </p:cNvPr>
          <p:cNvSpPr/>
          <p:nvPr/>
        </p:nvSpPr>
        <p:spPr>
          <a:xfrm>
            <a:off x="412037" y="535042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A66A60-525D-4F6C-B665-C5C68A2237C0}"/>
              </a:ext>
            </a:extLst>
          </p:cNvPr>
          <p:cNvSpPr/>
          <p:nvPr/>
        </p:nvSpPr>
        <p:spPr>
          <a:xfrm>
            <a:off x="273075" y="182286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254A6F-3F09-4BAD-836A-FEAADB60E581}"/>
              </a:ext>
            </a:extLst>
          </p:cNvPr>
          <p:cNvSpPr/>
          <p:nvPr/>
        </p:nvSpPr>
        <p:spPr>
          <a:xfrm>
            <a:off x="273075" y="322685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010669-6DD9-452C-993B-5DDFE60726EE}"/>
              </a:ext>
            </a:extLst>
          </p:cNvPr>
          <p:cNvSpPr/>
          <p:nvPr/>
        </p:nvSpPr>
        <p:spPr>
          <a:xfrm>
            <a:off x="7356666" y="380919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893584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3303766"/>
            <a:ext cx="7921373" cy="12764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종별 </a:t>
            </a:r>
            <a:r>
              <a:rPr lang="en-US" altLang="ko-KR" sz="1200" dirty="0">
                <a:solidFill>
                  <a:schemeClr val="tx1"/>
                </a:solidFill>
              </a:rPr>
              <a:t>:	 ex) </a:t>
            </a:r>
            <a:r>
              <a:rPr lang="ko-KR" altLang="en-US" sz="1200" dirty="0">
                <a:solidFill>
                  <a:schemeClr val="tx1"/>
                </a:solidFill>
              </a:rPr>
              <a:t>요양병원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부가기능</a:t>
            </a:r>
            <a:r>
              <a:rPr lang="en-US" altLang="ko-KR" sz="1200" dirty="0">
                <a:solidFill>
                  <a:schemeClr val="tx1"/>
                </a:solidFill>
              </a:rPr>
              <a:t>: 	ex)</a:t>
            </a:r>
            <a:r>
              <a:rPr lang="ko-KR" altLang="en-US" sz="1200" dirty="0">
                <a:solidFill>
                  <a:schemeClr val="tx1"/>
                </a:solidFill>
              </a:rPr>
              <a:t> 진폐요양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재활인증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만료일</a:t>
            </a:r>
            <a:r>
              <a:rPr lang="en-US" altLang="ko-KR" sz="1200" dirty="0">
                <a:solidFill>
                  <a:schemeClr val="tx1"/>
                </a:solidFill>
              </a:rPr>
              <a:t>): 2026-12-31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진료제한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기간</a:t>
            </a:r>
            <a:r>
              <a:rPr lang="en-US" altLang="ko-KR" sz="1200" dirty="0">
                <a:solidFill>
                  <a:schemeClr val="tx1"/>
                </a:solidFill>
              </a:rPr>
              <a:t>) : -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의료기관평가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평가연도</a:t>
            </a:r>
            <a:r>
              <a:rPr lang="en-US" altLang="ko-KR" sz="1200" dirty="0">
                <a:solidFill>
                  <a:schemeClr val="tx1"/>
                </a:solidFill>
              </a:rPr>
              <a:t>): -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821196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47897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hlinkClick r:id="rId2"/>
                        </a:rPr>
                        <a:t>https://www.comwel.or.kr/comwel/medi/orsc.jsp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하여 해당 산재 지정 의료기관 상세기본 정보 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상세정보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활용하여 해당 산재 지정 의료기관 위치를 마커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줌 레벨 만들어보면서 체크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2131648"/>
            <a:ext cx="7921374" cy="6095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1️⃣ </a:t>
            </a:r>
            <a:r>
              <a:rPr lang="ko-KR" altLang="en-US" sz="1400" dirty="0">
                <a:solidFill>
                  <a:schemeClr val="tx1"/>
                </a:solidFill>
              </a:rPr>
              <a:t>의료기관명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1891519" y="2228727"/>
            <a:ext cx="831133" cy="1966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i="0" dirty="0">
                <a:solidFill>
                  <a:schemeClr val="tx1"/>
                </a:solidFill>
                <a:effectLst/>
                <a:latin typeface="ui-sans-serif"/>
              </a:rPr>
              <a:t>거리</a:t>
            </a:r>
            <a:r>
              <a:rPr lang="en-US" altLang="ko-KR" sz="800" b="1" i="0" dirty="0">
                <a:solidFill>
                  <a:schemeClr val="tx1"/>
                </a:solidFill>
                <a:effectLst/>
                <a:latin typeface="ui-sans-serif"/>
              </a:rPr>
              <a:t>:     0.8km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309709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기본정보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35230D-AC52-E088-E3DC-BDF27002CB77}"/>
              </a:ext>
            </a:extLst>
          </p:cNvPr>
          <p:cNvSpPr/>
          <p:nvPr/>
        </p:nvSpPr>
        <p:spPr>
          <a:xfrm>
            <a:off x="412037" y="2496993"/>
            <a:ext cx="7921373" cy="372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  주소 </a:t>
            </a:r>
            <a:r>
              <a:rPr lang="en-US" altLang="ko-KR" sz="1000" dirty="0">
                <a:solidFill>
                  <a:schemeClr val="tx1"/>
                </a:solidFill>
              </a:rPr>
              <a:t>				    </a:t>
            </a:r>
            <a:r>
              <a:rPr lang="ko-KR" altLang="en-US" sz="1000" dirty="0">
                <a:solidFill>
                  <a:schemeClr val="tx1"/>
                </a:solidFill>
              </a:rPr>
              <a:t>전화번호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ui-sans-serif"/>
              </a:rPr>
              <a:t>    ex)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ui-sans-serif"/>
              </a:rPr>
              <a:t>서울특별시 종로구 대학로 </a:t>
            </a:r>
            <a:r>
              <a:rPr lang="en-US" altLang="ko-KR" sz="1000" b="1" i="0" dirty="0">
                <a:solidFill>
                  <a:srgbClr val="0F172A"/>
                </a:solidFill>
                <a:effectLst/>
                <a:latin typeface="ui-sans-serif"/>
              </a:rPr>
              <a:t>101</a:t>
            </a:r>
            <a:r>
              <a:rPr lang="en-US" altLang="ko-KR" sz="1000" dirty="0">
                <a:solidFill>
                  <a:schemeClr val="tx1"/>
                </a:solidFill>
              </a:rPr>
              <a:t> 	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            ex) 02-2072-2114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01B261-018F-1972-F95A-F2A29EE5D0BA}"/>
              </a:ext>
            </a:extLst>
          </p:cNvPr>
          <p:cNvSpPr/>
          <p:nvPr/>
        </p:nvSpPr>
        <p:spPr>
          <a:xfrm>
            <a:off x="412036" y="4614247"/>
            <a:ext cx="7921373" cy="1666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C438A21-BDB9-82D2-BA28-499D756C932D}"/>
              </a:ext>
            </a:extLst>
          </p:cNvPr>
          <p:cNvSpPr/>
          <p:nvPr/>
        </p:nvSpPr>
        <p:spPr>
          <a:xfrm>
            <a:off x="412036" y="4562902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위치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8A08974-DF31-D653-B804-468A12B34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629" y="4984640"/>
            <a:ext cx="4705564" cy="127123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BFF38D-AA72-4206-BB48-55B7A5D46FD0}"/>
              </a:ext>
            </a:extLst>
          </p:cNvPr>
          <p:cNvSpPr/>
          <p:nvPr/>
        </p:nvSpPr>
        <p:spPr>
          <a:xfrm>
            <a:off x="286759" y="197859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D259DD-C29D-494F-887A-1FCD8CD4297D}"/>
              </a:ext>
            </a:extLst>
          </p:cNvPr>
          <p:cNvSpPr/>
          <p:nvPr/>
        </p:nvSpPr>
        <p:spPr>
          <a:xfrm>
            <a:off x="266226" y="4512721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819838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2326681"/>
            <a:ext cx="7921373" cy="2759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en-US" altLang="ko-KR" sz="1200" b="0">
                <a:solidFill>
                  <a:schemeClr val="tx1"/>
                </a:solidFill>
              </a:rPr>
              <a:t>Kakao </a:t>
            </a:r>
            <a:r>
              <a:rPr lang="ko-KR" altLang="en-US" sz="1200" b="0">
                <a:solidFill>
                  <a:schemeClr val="tx1"/>
                </a:solidFill>
              </a:rPr>
              <a:t>지도 </a:t>
            </a:r>
            <a:r>
              <a:rPr lang="en-US" altLang="ko-KR" sz="1200" b="0">
                <a:solidFill>
                  <a:schemeClr val="tx1"/>
                </a:solidFill>
              </a:rPr>
              <a:t>API</a:t>
            </a:r>
            <a:r>
              <a:rPr lang="ko-KR" altLang="en-US" sz="1200" b="0">
                <a:solidFill>
                  <a:schemeClr val="tx1"/>
                </a:solidFill>
              </a:rPr>
              <a:t>를 활용하여 해당 산재 지정 의료기관 위치를 마커 표시</a:t>
            </a:r>
            <a:endParaRPr lang="en-US" altLang="ko-KR" sz="1200" b="0">
              <a:solidFill>
                <a:schemeClr val="tx1"/>
              </a:solidFill>
            </a:endParaRPr>
          </a:p>
          <a:p>
            <a:pPr latinLnBrk="1"/>
            <a:r>
              <a:rPr lang="ko-KR" altLang="en-US" sz="1200" b="0">
                <a:solidFill>
                  <a:schemeClr val="tx1"/>
                </a:solidFill>
              </a:rPr>
              <a:t>줌 레벨 만들어보면서 체크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786603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118233"/>
              </p:ext>
            </p:extLst>
          </p:nvPr>
        </p:nvGraphicFramePr>
        <p:xfrm>
          <a:off x="8603672" y="1180080"/>
          <a:ext cx="3588327" cy="6197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7252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7635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160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내용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 날짜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만약 로그인한 사용자가 입력한 리뷰라면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 버튼 추가 구현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: 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삭제하시겠습니까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Alert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창 띄우고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한번더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사용자에게 인지 시키기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487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화면에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2119629"/>
            <a:ext cx="7918834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D746EB-4A1B-C8C0-F101-2378BA96ABC2}"/>
              </a:ext>
            </a:extLst>
          </p:cNvPr>
          <p:cNvSpPr/>
          <p:nvPr/>
        </p:nvSpPr>
        <p:spPr>
          <a:xfrm>
            <a:off x="423186" y="285263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1….. 					              2025-10-23   	    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95EC09-4986-6F25-74F7-5EDEB9B69288}"/>
              </a:ext>
            </a:extLst>
          </p:cNvPr>
          <p:cNvSpPr/>
          <p:nvPr/>
        </p:nvSpPr>
        <p:spPr>
          <a:xfrm>
            <a:off x="423186" y="340642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037436-F1F6-B019-DC88-D5BEE9087032}"/>
              </a:ext>
            </a:extLst>
          </p:cNvPr>
          <p:cNvSpPr/>
          <p:nvPr/>
        </p:nvSpPr>
        <p:spPr>
          <a:xfrm>
            <a:off x="423186" y="394899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3….. 					              2022-10-23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76387E-51E2-459B-A203-E6CA649973EC}"/>
              </a:ext>
            </a:extLst>
          </p:cNvPr>
          <p:cNvSpPr/>
          <p:nvPr/>
        </p:nvSpPr>
        <p:spPr>
          <a:xfrm>
            <a:off x="314085" y="1936463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C6E47C-377F-48C3-975E-9EF52302EBB0}"/>
              </a:ext>
            </a:extLst>
          </p:cNvPr>
          <p:cNvSpPr/>
          <p:nvPr/>
        </p:nvSpPr>
        <p:spPr>
          <a:xfrm>
            <a:off x="7358474" y="4234620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76EBE1-9DBD-4248-8335-C0EBD51912D0}"/>
              </a:ext>
            </a:extLst>
          </p:cNvPr>
          <p:cNvSpPr/>
          <p:nvPr/>
        </p:nvSpPr>
        <p:spPr>
          <a:xfrm>
            <a:off x="7846577" y="4242577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1B5266-C006-4C75-827C-BCD9ABB33668}"/>
              </a:ext>
            </a:extLst>
          </p:cNvPr>
          <p:cNvSpPr/>
          <p:nvPr/>
        </p:nvSpPr>
        <p:spPr>
          <a:xfrm>
            <a:off x="3361691" y="5339259"/>
            <a:ext cx="1702676" cy="3026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리뷰 작성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E010DCA-4238-472C-B4A3-D7C96B9464A2}"/>
              </a:ext>
            </a:extLst>
          </p:cNvPr>
          <p:cNvSpPr/>
          <p:nvPr/>
        </p:nvSpPr>
        <p:spPr>
          <a:xfrm>
            <a:off x="3222725" y="5155163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74DABA-A602-44B5-B093-8E8983803FAA}"/>
              </a:ext>
            </a:extLst>
          </p:cNvPr>
          <p:cNvSpPr/>
          <p:nvPr/>
        </p:nvSpPr>
        <p:spPr>
          <a:xfrm>
            <a:off x="423186" y="4526367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996807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2408660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💬상세 리뷰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716515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743073"/>
              </p:ext>
            </p:extLst>
          </p:nvPr>
        </p:nvGraphicFramePr>
        <p:xfrm>
          <a:off x="8603672" y="1180080"/>
          <a:ext cx="3588327" cy="637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등록하기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 후 리뷰 등록하기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목록으로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로그인한 사용자 아이디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datetime auto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423187" y="2199362"/>
            <a:ext cx="7921373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2292387" y="4955805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리뷰 등록하기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4385728" y="4955805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취소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802888" y="3005259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877545-EBBA-4883-BB42-B279F1986281}"/>
              </a:ext>
            </a:extLst>
          </p:cNvPr>
          <p:cNvSpPr/>
          <p:nvPr/>
        </p:nvSpPr>
        <p:spPr>
          <a:xfrm>
            <a:off x="2168119" y="4759235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009185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324827" y="2522172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💬리뷰 수정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845691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637242"/>
              </p:ext>
            </p:extLst>
          </p:nvPr>
        </p:nvGraphicFramePr>
        <p:xfrm>
          <a:off x="8603672" y="1180080"/>
          <a:ext cx="3588327" cy="637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후 수정하기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수정되었습니다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.alert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창 하나 띄우고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322288" y="2312874"/>
            <a:ext cx="7921374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1347819" y="5069317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수정하기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5436794" y="5069317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취소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701990" y="3118771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48701C-5E3D-4C19-83A5-6042778997C1}"/>
              </a:ext>
            </a:extLst>
          </p:cNvPr>
          <p:cNvSpPr/>
          <p:nvPr/>
        </p:nvSpPr>
        <p:spPr>
          <a:xfrm>
            <a:off x="1236214" y="487274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21861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06F99-D362-4090-AD86-DD7068DE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관리자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7C2874-28AE-4ADB-94E8-446DA2F2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3319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사용자의 이름을 사용하여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처리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 페이지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905963" y="1442269"/>
            <a:ext cx="1615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로그아웃 </a:t>
            </a:r>
            <a:r>
              <a:rPr lang="en-US" altLang="ko-KR" sz="1100" dirty="0"/>
              <a:t>| </a:t>
            </a:r>
            <a:r>
              <a:rPr lang="ko-KR" altLang="en-US" sz="1100" dirty="0"/>
              <a:t>마이페이지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/>
        </p:nvGraphicFramePr>
        <p:xfrm>
          <a:off x="139700" y="247158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4926932" y="1432535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OOO</a:t>
            </a:r>
            <a:r>
              <a:rPr lang="ko-KR" altLang="en-US" sz="1400" dirty="0"/>
              <a:t>님 환영합니다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911435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89999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26983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관리자의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8"/>
            <a:ext cx="1677450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175214"/>
            <a:ext cx="8603092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4347" y="12095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-61255" y="1426597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환영합니다</a:t>
            </a:r>
            <a:r>
              <a:rPr lang="en-US" altLang="ko-KR" sz="1400" dirty="0"/>
              <a:t>, OOO</a:t>
            </a:r>
            <a:r>
              <a:rPr lang="ko-KR" altLang="en-US" sz="1400" dirty="0"/>
              <a:t>님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B04F7A-5F4F-ACF6-4C9A-306724CDF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88" y="1778617"/>
            <a:ext cx="6851787" cy="209184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0BE891E-14C3-49E2-A0D3-6971D2F53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268" y="4347563"/>
            <a:ext cx="5686425" cy="2266950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DDA1B36-9293-5A12-FC95-955E42D29165}"/>
              </a:ext>
            </a:extLst>
          </p:cNvPr>
          <p:cNvSpPr/>
          <p:nvPr/>
        </p:nvSpPr>
        <p:spPr>
          <a:xfrm>
            <a:off x="3385370" y="3929125"/>
            <a:ext cx="1975770" cy="30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월별 신규가입 </a:t>
            </a:r>
            <a:r>
              <a:rPr lang="en-US" altLang="ko-KR" sz="1100" b="1" dirty="0">
                <a:solidFill>
                  <a:schemeClr val="tx1"/>
                </a:solidFill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</a:rPr>
              <a:t>산재등록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5A0615B-3117-5FDB-064C-93CDBBC888D3}"/>
              </a:ext>
            </a:extLst>
          </p:cNvPr>
          <p:cNvSpPr/>
          <p:nvPr/>
        </p:nvSpPr>
        <p:spPr>
          <a:xfrm>
            <a:off x="5824603" y="3929125"/>
            <a:ext cx="1103342" cy="30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🔴 신규가입 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 </a:t>
            </a:r>
            <a:r>
              <a:rPr lang="ko-KR" altLang="en-US" sz="900" b="1" dirty="0">
                <a:solidFill>
                  <a:schemeClr val="tx1"/>
                </a:solidFill>
              </a:rPr>
              <a:t>🔵 산재등록   </a:t>
            </a:r>
          </a:p>
        </p:txBody>
      </p:sp>
    </p:spTree>
    <p:extLst>
      <p:ext uri="{BB962C8B-B14F-4D97-AF65-F5344CB8AC3E}">
        <p14:creationId xmlns:p14="http://schemas.microsoft.com/office/powerpoint/2010/main" val="114490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1776</TotalTime>
  <Words>4253</Words>
  <Application>Microsoft Office PowerPoint</Application>
  <PresentationFormat>와이드스크린</PresentationFormat>
  <Paragraphs>1591</Paragraphs>
  <Slides>54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0" baseType="lpstr">
      <vt:lpstr>ui-sans-serif</vt:lpstr>
      <vt:lpstr>맑은 고딕</vt:lpstr>
      <vt:lpstr>맑은 고딕</vt:lpstr>
      <vt:lpstr>Arial</vt:lpstr>
      <vt:lpstr>Consolas</vt:lpstr>
      <vt:lpstr>Office 테마</vt:lpstr>
      <vt:lpstr>스토리보드 산재통계</vt:lpstr>
      <vt:lpstr>목차</vt:lpstr>
      <vt:lpstr>API</vt:lpstr>
      <vt:lpstr>크롤링</vt:lpstr>
      <vt:lpstr>메인 , 헤더</vt:lpstr>
      <vt:lpstr>PowerPoint 프레젠테이션</vt:lpstr>
      <vt:lpstr>PowerPoint 프레젠테이션</vt:lpstr>
      <vt:lpstr>PowerPoint 프레젠테이션</vt:lpstr>
      <vt:lpstr>소개</vt:lpstr>
      <vt:lpstr>PowerPoint 프레젠테이션</vt:lpstr>
      <vt:lpstr>PowerPoint 프레젠테이션</vt:lpstr>
      <vt:lpstr>PowerPoint 프레젠테이션</vt:lpstr>
      <vt:lpstr>회원가입</vt:lpstr>
      <vt:lpstr>PowerPoint 프레젠테이션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산재 뉴스</vt:lpstr>
      <vt:lpstr>PowerPoint 프레젠테이션</vt:lpstr>
      <vt:lpstr>산재 통계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안전 자료실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주변 산재 검색</vt:lpstr>
      <vt:lpstr>PowerPoint 프레젠테이션</vt:lpstr>
      <vt:lpstr>PowerPoint 프레젠테이션</vt:lpstr>
      <vt:lpstr>PowerPoint 프레젠테이션</vt:lpstr>
      <vt:lpstr>주변 병원 검색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관리자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페이지 구성도</dc:title>
  <dc:creator>do yun choi</dc:creator>
  <cp:lastModifiedBy>User</cp:lastModifiedBy>
  <cp:revision>126</cp:revision>
  <dcterms:created xsi:type="dcterms:W3CDTF">2025-11-24T01:38:34Z</dcterms:created>
  <dcterms:modified xsi:type="dcterms:W3CDTF">2025-11-27T06:00:49Z</dcterms:modified>
</cp:coreProperties>
</file>