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262" r:id="rId3"/>
    <p:sldId id="257" r:id="rId4"/>
    <p:sldId id="266" r:id="rId5"/>
    <p:sldId id="261" r:id="rId6"/>
    <p:sldId id="296" r:id="rId7"/>
    <p:sldId id="306" r:id="rId8"/>
    <p:sldId id="307" r:id="rId9"/>
    <p:sldId id="308" r:id="rId10"/>
    <p:sldId id="309" r:id="rId11"/>
    <p:sldId id="263" r:id="rId12"/>
    <p:sldId id="265" r:id="rId13"/>
    <p:sldId id="258" r:id="rId14"/>
    <p:sldId id="260" r:id="rId15"/>
    <p:sldId id="267" r:id="rId16"/>
    <p:sldId id="268" r:id="rId17"/>
    <p:sldId id="270" r:id="rId18"/>
    <p:sldId id="271" r:id="rId19"/>
    <p:sldId id="273" r:id="rId20"/>
    <p:sldId id="274" r:id="rId21"/>
    <p:sldId id="310" r:id="rId22"/>
    <p:sldId id="285" r:id="rId23"/>
    <p:sldId id="283" r:id="rId24"/>
    <p:sldId id="278" r:id="rId25"/>
    <p:sldId id="282" r:id="rId26"/>
    <p:sldId id="281" r:id="rId27"/>
    <p:sldId id="294" r:id="rId28"/>
    <p:sldId id="295" r:id="rId29"/>
    <p:sldId id="280" r:id="rId30"/>
    <p:sldId id="291" r:id="rId31"/>
    <p:sldId id="299" r:id="rId32"/>
    <p:sldId id="300" r:id="rId33"/>
    <p:sldId id="301" r:id="rId34"/>
    <p:sldId id="305" r:id="rId35"/>
    <p:sldId id="286" r:id="rId36"/>
    <p:sldId id="292" r:id="rId37"/>
    <p:sldId id="287" r:id="rId38"/>
    <p:sldId id="288" r:id="rId39"/>
    <p:sldId id="290" r:id="rId40"/>
    <p:sldId id="293" r:id="rId41"/>
    <p:sldId id="289" r:id="rId42"/>
    <p:sldId id="302" r:id="rId43"/>
    <p:sldId id="264" r:id="rId44"/>
    <p:sldId id="303" r:id="rId45"/>
    <p:sldId id="304" r:id="rId4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89727" autoAdjust="0"/>
  </p:normalViewPr>
  <p:slideViewPr>
    <p:cSldViewPr snapToGrid="0">
      <p:cViewPr varScale="1">
        <p:scale>
          <a:sx n="101" d="100"/>
          <a:sy n="101" d="100"/>
        </p:scale>
        <p:origin x="3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D3B-4D35-980D-445A6312232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D3B-4D35-980D-445A6312232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D3B-4D35-980D-445A63122326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FD3B-4D35-980D-445A631223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CF6-4F80-B38B-901ACB5E42A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F6-4F80-B38B-901ACB5E42A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CF6-4F80-B38B-901ACB5E42AE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ECF6-4F80-B38B-901ACB5E42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68F-481D-B2BD-21EB88DDCAD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68F-481D-B2BD-21EB88DDCAD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68F-481D-B2BD-21EB88DDCAD2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968F-481D-B2BD-21EB88DDCA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보류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3110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516000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352561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98382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419107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82887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89891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366834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통계 분석 → 맞춤 위험도 → 안전교육 →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50450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보류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3606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비회원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기능 차이 구분 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726244" y="2322244"/>
            <a:ext cx="150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852412" y="30815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2073341" y="3167982"/>
            <a:ext cx="5182821" cy="28557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비회원</a:t>
            </a:r>
            <a:r>
              <a:rPr lang="en-US" altLang="ko-KR" sz="1200" dirty="0">
                <a:solidFill>
                  <a:schemeClr val="tx1"/>
                </a:solidFill>
              </a:rPr>
              <a:t>/ </a:t>
            </a:r>
            <a:r>
              <a:rPr lang="ko-KR" altLang="en-US" sz="1200" dirty="0">
                <a:solidFill>
                  <a:schemeClr val="tx1"/>
                </a:solidFill>
              </a:rPr>
              <a:t>회원 기능 차이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14" name="표 15">
            <a:extLst>
              <a:ext uri="{FF2B5EF4-FFF2-40B4-BE49-F238E27FC236}">
                <a16:creationId xmlns:a16="http://schemas.microsoft.com/office/drawing/2014/main" id="{476E894B-EE24-E7DE-45DD-1614919E08DC}"/>
              </a:ext>
            </a:extLst>
          </p:cNvPr>
          <p:cNvGraphicFramePr>
            <a:graphicFrameLocks noGrp="1"/>
          </p:cNvGraphicFramePr>
          <p:nvPr/>
        </p:nvGraphicFramePr>
        <p:xfrm>
          <a:off x="2235253" y="4019038"/>
          <a:ext cx="485899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65">
                  <a:extLst>
                    <a:ext uri="{9D8B030D-6E8A-4147-A177-3AD203B41FA5}">
                      <a16:colId xmlns:a16="http://schemas.microsoft.com/office/drawing/2014/main" val="133966616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287823328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3342232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비회원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743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753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5673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59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919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59669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124711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0417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171690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주제에 관한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한줄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소개를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이미지는 주제와 관련된 이미지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분석요약글을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분석 결과를 시각적으로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원형 차트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별로 미리 쿼리를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필터한다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버튼 또는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엔터를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입력하면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검색쿼리를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넘긴다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DB2DED3-87A5-4945-AC03-7FDAD7763D99}"/>
              </a:ext>
            </a:extLst>
          </p:cNvPr>
          <p:cNvSpPr/>
          <p:nvPr/>
        </p:nvSpPr>
        <p:spPr>
          <a:xfrm>
            <a:off x="0" y="4257031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39" name="차트 38">
            <a:extLst>
              <a:ext uri="{FF2B5EF4-FFF2-40B4-BE49-F238E27FC236}">
                <a16:creationId xmlns:a16="http://schemas.microsoft.com/office/drawing/2014/main" id="{8A96D94D-13EF-44F2-9CAF-EFDE076937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1831490"/>
              </p:ext>
            </p:extLst>
          </p:nvPr>
        </p:nvGraphicFramePr>
        <p:xfrm>
          <a:off x="423175" y="4284357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7C9FD3F0-C9D1-4A70-B068-6EA97A867A8D}"/>
              </a:ext>
            </a:extLst>
          </p:cNvPr>
          <p:cNvSpPr txBox="1"/>
          <p:nvPr/>
        </p:nvSpPr>
        <p:spPr>
          <a:xfrm>
            <a:off x="1682189" y="4423284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</a:t>
            </a:r>
            <a:r>
              <a:rPr lang="en-US" altLang="ko-KR" sz="1100" dirty="0"/>
              <a:t>40</a:t>
            </a:r>
            <a:r>
              <a:rPr lang="ko-KR" altLang="en-US" sz="1100" dirty="0"/>
              <a:t>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0AABC2-A77D-4C50-8A9A-605BDF278D4A}"/>
              </a:ext>
            </a:extLst>
          </p:cNvPr>
          <p:cNvSpPr txBox="1"/>
          <p:nvPr/>
        </p:nvSpPr>
        <p:spPr>
          <a:xfrm>
            <a:off x="1682189" y="48342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</a:t>
            </a:r>
            <a:r>
              <a:rPr lang="en-US" altLang="ko-KR" sz="1100" dirty="0"/>
              <a:t>30</a:t>
            </a:r>
            <a:r>
              <a:rPr lang="ko-KR" altLang="en-US" sz="1100" dirty="0"/>
              <a:t>대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C33BF4-2A5E-4658-A6A5-C5923784CBCF}"/>
              </a:ext>
            </a:extLst>
          </p:cNvPr>
          <p:cNvSpPr txBox="1"/>
          <p:nvPr/>
        </p:nvSpPr>
        <p:spPr>
          <a:xfrm>
            <a:off x="1682189" y="52448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</a:t>
            </a:r>
            <a:r>
              <a:rPr lang="en-US" altLang="ko-KR" sz="1100" dirty="0"/>
              <a:t>10</a:t>
            </a:r>
            <a:r>
              <a:rPr lang="ko-KR" altLang="en-US" sz="1100" dirty="0"/>
              <a:t>대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4E5C56-146C-4691-8AE2-0FCE5EAE53F9}"/>
              </a:ext>
            </a:extLst>
          </p:cNvPr>
          <p:cNvSpPr txBox="1"/>
          <p:nvPr/>
        </p:nvSpPr>
        <p:spPr>
          <a:xfrm>
            <a:off x="0" y="4338766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graphicFrame>
        <p:nvGraphicFramePr>
          <p:cNvPr id="68" name="차트 67">
            <a:extLst>
              <a:ext uri="{FF2B5EF4-FFF2-40B4-BE49-F238E27FC236}">
                <a16:creationId xmlns:a16="http://schemas.microsoft.com/office/drawing/2014/main" id="{BA5FD586-2AEE-4F28-ACE7-3E3C40F7C7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1756174"/>
              </p:ext>
            </p:extLst>
          </p:nvPr>
        </p:nvGraphicFramePr>
        <p:xfrm>
          <a:off x="3001796" y="4294670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TextBox 68">
            <a:extLst>
              <a:ext uri="{FF2B5EF4-FFF2-40B4-BE49-F238E27FC236}">
                <a16:creationId xmlns:a16="http://schemas.microsoft.com/office/drawing/2014/main" id="{CD78A94F-672F-4506-AB7D-FB0CE7DA614A}"/>
              </a:ext>
            </a:extLst>
          </p:cNvPr>
          <p:cNvSpPr txBox="1"/>
          <p:nvPr/>
        </p:nvSpPr>
        <p:spPr>
          <a:xfrm>
            <a:off x="4260810" y="44335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중공업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A2248A-8C05-4C1E-87CA-81D1A9FE8C11}"/>
              </a:ext>
            </a:extLst>
          </p:cNvPr>
          <p:cNvSpPr txBox="1"/>
          <p:nvPr/>
        </p:nvSpPr>
        <p:spPr>
          <a:xfrm>
            <a:off x="4260810" y="48446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건설업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ACB7BD-BDFA-4B90-B429-EE4554FC05B0}"/>
              </a:ext>
            </a:extLst>
          </p:cNvPr>
          <p:cNvSpPr txBox="1"/>
          <p:nvPr/>
        </p:nvSpPr>
        <p:spPr>
          <a:xfrm>
            <a:off x="4260810" y="5255136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어업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16A6A1A-C9E1-4346-9C35-8B4D472EF87D}"/>
              </a:ext>
            </a:extLst>
          </p:cNvPr>
          <p:cNvSpPr txBox="1"/>
          <p:nvPr/>
        </p:nvSpPr>
        <p:spPr>
          <a:xfrm>
            <a:off x="2578621" y="4349079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중분류</a:t>
            </a:r>
            <a:r>
              <a:rPr lang="en-US" altLang="ko-KR" dirty="0"/>
              <a:t>1</a:t>
            </a:r>
            <a:endParaRPr lang="ko-KR" altLang="en-US" dirty="0"/>
          </a:p>
        </p:txBody>
      </p:sp>
      <p:graphicFrame>
        <p:nvGraphicFramePr>
          <p:cNvPr id="73" name="차트 72">
            <a:extLst>
              <a:ext uri="{FF2B5EF4-FFF2-40B4-BE49-F238E27FC236}">
                <a16:creationId xmlns:a16="http://schemas.microsoft.com/office/drawing/2014/main" id="{F36D2ED7-A300-4F9D-AC94-E10BDE68EC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0950584"/>
              </p:ext>
            </p:extLst>
          </p:nvPr>
        </p:nvGraphicFramePr>
        <p:xfrm>
          <a:off x="5659003" y="4304983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4" name="TextBox 73">
            <a:extLst>
              <a:ext uri="{FF2B5EF4-FFF2-40B4-BE49-F238E27FC236}">
                <a16:creationId xmlns:a16="http://schemas.microsoft.com/office/drawing/2014/main" id="{04155135-FC20-4418-9941-6A101365DC22}"/>
              </a:ext>
            </a:extLst>
          </p:cNvPr>
          <p:cNvSpPr txBox="1"/>
          <p:nvPr/>
        </p:nvSpPr>
        <p:spPr>
          <a:xfrm>
            <a:off x="6918017" y="44439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찢어짐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E57174-6E08-408F-A21F-2A24EF33ED8B}"/>
              </a:ext>
            </a:extLst>
          </p:cNvPr>
          <p:cNvSpPr txBox="1"/>
          <p:nvPr/>
        </p:nvSpPr>
        <p:spPr>
          <a:xfrm>
            <a:off x="6918017" y="48549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넘어짐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BF16A1-3127-4BD9-8288-05EFFA9F9D23}"/>
              </a:ext>
            </a:extLst>
          </p:cNvPr>
          <p:cNvSpPr txBox="1"/>
          <p:nvPr/>
        </p:nvSpPr>
        <p:spPr>
          <a:xfrm>
            <a:off x="6918017" y="5265449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부딪침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AD3C85-2459-46B0-9000-62BB5AD7E201}"/>
              </a:ext>
            </a:extLst>
          </p:cNvPr>
          <p:cNvSpPr txBox="1"/>
          <p:nvPr/>
        </p:nvSpPr>
        <p:spPr>
          <a:xfrm>
            <a:off x="5235828" y="4359392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발생형태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8C90FA2-9FFE-4D54-BDA0-7CBD08FE42E3}"/>
              </a:ext>
            </a:extLst>
          </p:cNvPr>
          <p:cNvSpPr/>
          <p:nvPr/>
        </p:nvSpPr>
        <p:spPr>
          <a:xfrm>
            <a:off x="0" y="1822862"/>
            <a:ext cx="8603671" cy="118288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CC7303-B0EF-431B-821A-0F92CB474877}"/>
              </a:ext>
            </a:extLst>
          </p:cNvPr>
          <p:cNvSpPr txBox="1"/>
          <p:nvPr/>
        </p:nvSpPr>
        <p:spPr>
          <a:xfrm>
            <a:off x="67857" y="1935387"/>
            <a:ext cx="1479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산재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F8B21B-7790-4195-91E4-904B61EC5EE9}"/>
              </a:ext>
            </a:extLst>
          </p:cNvPr>
          <p:cNvSpPr txBox="1"/>
          <p:nvPr/>
        </p:nvSpPr>
        <p:spPr>
          <a:xfrm>
            <a:off x="206578" y="2490827"/>
            <a:ext cx="6988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한줄</a:t>
            </a:r>
            <a:r>
              <a:rPr lang="ko-KR" altLang="en-US" dirty="0"/>
              <a:t> 소개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BE55AE-3461-4A4B-9AAA-528CE6E3DE19}"/>
              </a:ext>
            </a:extLst>
          </p:cNvPr>
          <p:cNvSpPr/>
          <p:nvPr/>
        </p:nvSpPr>
        <p:spPr>
          <a:xfrm>
            <a:off x="7057196" y="1968500"/>
            <a:ext cx="1299404" cy="89597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5750352"/>
            <a:ext cx="8603671" cy="4811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5752198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3417" y="5812308"/>
            <a:ext cx="326366" cy="32636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47914DA-0E1B-4369-9E70-CCD764D00B4E}"/>
              </a:ext>
            </a:extLst>
          </p:cNvPr>
          <p:cNvSpPr txBox="1"/>
          <p:nvPr/>
        </p:nvSpPr>
        <p:spPr>
          <a:xfrm>
            <a:off x="499533" y="3285067"/>
            <a:ext cx="74540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OOO</a:t>
            </a:r>
            <a:r>
              <a:rPr lang="ko-KR" altLang="en-US" dirty="0"/>
              <a:t>님의 </a:t>
            </a:r>
            <a:r>
              <a:rPr lang="en-US" altLang="ko-KR" dirty="0"/>
              <a:t>OOO</a:t>
            </a:r>
            <a:r>
              <a:rPr lang="ko-KR" altLang="en-US" dirty="0"/>
              <a:t>업은 부상순위 </a:t>
            </a:r>
            <a:r>
              <a:rPr lang="en-US" altLang="ko-KR" dirty="0"/>
              <a:t>OO</a:t>
            </a:r>
            <a:r>
              <a:rPr lang="ko-KR" altLang="en-US" dirty="0"/>
              <a:t>위 이며</a:t>
            </a:r>
            <a:r>
              <a:rPr lang="en-US" altLang="ko-KR" dirty="0"/>
              <a:t>, </a:t>
            </a:r>
            <a:r>
              <a:rPr lang="ko-KR" altLang="en-US" dirty="0"/>
              <a:t>가장 높은 부상 종류는 </a:t>
            </a:r>
            <a:r>
              <a:rPr lang="en-US" altLang="ko-KR" dirty="0"/>
              <a:t>OO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6D5D312-89F8-48B7-9AB9-2388EBC7DD6C}"/>
              </a:ext>
            </a:extLst>
          </p:cNvPr>
          <p:cNvSpPr/>
          <p:nvPr/>
        </p:nvSpPr>
        <p:spPr>
          <a:xfrm>
            <a:off x="7763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635FEAC-12D7-49C4-8209-97A0EA2F704B}"/>
              </a:ext>
            </a:extLst>
          </p:cNvPr>
          <p:cNvSpPr/>
          <p:nvPr/>
        </p:nvSpPr>
        <p:spPr>
          <a:xfrm>
            <a:off x="831396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1249" y="190092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208140" y="31628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33184" y="429073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2961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30546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&gt;&gt; industrial_accident_statistics.html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통계 슬라이딩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industrial_accident_news_list.html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industrial_accident_news_detail_id.html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1855671"/>
            <a:ext cx="8603671" cy="4811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1857517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3417" y="1917627"/>
            <a:ext cx="326366" cy="326366"/>
          </a:xfrm>
          <a:prstGeom prst="rect">
            <a:avLst/>
          </a:prstGeom>
        </p:spPr>
      </p:pic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C28346CC-9FDB-4C8F-97B6-31A655296F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3488962"/>
              </p:ext>
            </p:extLst>
          </p:nvPr>
        </p:nvGraphicFramePr>
        <p:xfrm>
          <a:off x="8466" y="2480724"/>
          <a:ext cx="8603672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96">
                  <a:extLst>
                    <a:ext uri="{9D8B030D-6E8A-4147-A177-3AD203B41FA5}">
                      <a16:colId xmlns:a16="http://schemas.microsoft.com/office/drawing/2014/main" val="3052106221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2663705773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97598236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15224190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750711354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420074711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67982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지역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업종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부상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요일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직종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12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99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8114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06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826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802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399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06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584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32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5925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0657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598714"/>
              </p:ext>
            </p:extLst>
          </p:nvPr>
        </p:nvGraphicFramePr>
        <p:xfrm>
          <a:off x="8603672" y="1180081"/>
          <a:ext cx="3588327" cy="6885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041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2161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5656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97060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947959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67199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 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0843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8147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모든 페이지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접근시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비밀번호를 한번 더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입력받아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강화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01883"/>
              </p:ext>
            </p:extLst>
          </p:nvPr>
        </p:nvGraphicFramePr>
        <p:xfrm>
          <a:off x="139700" y="2471582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회원정보수정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나의 산재 리스트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725F475-DADC-4201-8502-4CE1E0F30F2C}"/>
              </a:ext>
            </a:extLst>
          </p:cNvPr>
          <p:cNvSpPr/>
          <p:nvPr/>
        </p:nvSpPr>
        <p:spPr>
          <a:xfrm>
            <a:off x="0" y="2252284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07719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0967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97792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708533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나이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6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CE7A3B-08CE-4AE7-B7E4-E56C5D640F9E}"/>
              </a:ext>
            </a:extLst>
          </p:cNvPr>
          <p:cNvSpPr txBox="1"/>
          <p:nvPr/>
        </p:nvSpPr>
        <p:spPr>
          <a:xfrm>
            <a:off x="5323057" y="298688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0569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804240"/>
              </p:ext>
            </p:extLst>
          </p:nvPr>
        </p:nvGraphicFramePr>
        <p:xfrm>
          <a:off x="8603672" y="1180083"/>
          <a:ext cx="3588327" cy="5918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090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836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002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 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8083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81391"/>
              </p:ext>
            </p:extLst>
          </p:nvPr>
        </p:nvGraphicFramePr>
        <p:xfrm>
          <a:off x="1675370" y="3183933"/>
          <a:ext cx="5495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471520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27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591472"/>
              </p:ext>
            </p:extLst>
          </p:nvPr>
        </p:nvGraphicFramePr>
        <p:xfrm>
          <a:off x="8603672" y="1180081"/>
          <a:ext cx="3588327" cy="6306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따라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67547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1528194" y="454801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67547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EFE5CA5-578B-425C-A594-811BFD7A077D}"/>
              </a:ext>
            </a:extLst>
          </p:cNvPr>
          <p:cNvSpPr/>
          <p:nvPr/>
        </p:nvSpPr>
        <p:spPr>
          <a:xfrm>
            <a:off x="2281543" y="317781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18403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16316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2::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19152C-C274-4842-B44E-91F10111CA5D}"/>
              </a:ext>
            </a:extLst>
          </p:cNvPr>
          <p:cNvSpPr txBox="1"/>
          <p:nvPr/>
        </p:nvSpPr>
        <p:spPr>
          <a:xfrm>
            <a:off x="1351916" y="317781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1</a:t>
            </a:r>
            <a:r>
              <a:rPr lang="ko-KR" altLang="en-US" sz="1000" dirty="0"/>
              <a:t>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94151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77748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11563"/>
              </p:ext>
            </p:extLst>
          </p:nvPr>
        </p:nvGraphicFramePr>
        <p:xfrm>
          <a:off x="8603672" y="1180080"/>
          <a:ext cx="3588327" cy="5814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안전교육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77472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571408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1449101263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main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585023122"/>
              </p:ext>
            </p:extLst>
          </p:nvPr>
        </p:nvGraphicFramePr>
        <p:xfrm>
          <a:off x="8603672" y="1180081"/>
          <a:ext cx="3588325" cy="569002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1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28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main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518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default</a:t>
                      </a:r>
                      <a:r>
                        <a:rPr lang="ko-KR" sz="1100" dirty="0"/>
                        <a:t>: 업종 기반 추천 콘텐츠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자료유형 필터(체크박스)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 교재 </a:t>
                      </a:r>
                      <a:r>
                        <a:rPr lang="en-US" altLang="ko-KR" sz="1100" dirty="0"/>
                        <a:t>/ PPT </a:t>
                      </a:r>
                      <a:r>
                        <a:rPr lang="ko-KR" altLang="en-US" sz="1100" dirty="0"/>
                        <a:t>로 나누어 분류</a:t>
                      </a:r>
                      <a:r>
                        <a:rPr lang="en-US" altLang="ko-KR" sz="1100" dirty="0"/>
                        <a:t> 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검색 필터 </a:t>
                      </a:r>
                      <a:r>
                        <a:rPr lang="en-US" altLang="ko-KR" sz="1100" dirty="0"/>
                        <a:t>(selector) – </a:t>
                      </a: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키워드</a:t>
                      </a:r>
                      <a:r>
                        <a:rPr lang="en-US" altLang="ko-KR" sz="1100" dirty="0"/>
                        <a:t>(=</a:t>
                      </a:r>
                      <a:r>
                        <a:rPr lang="ko-KR" altLang="en-US" sz="1100" dirty="0"/>
                        <a:t>태그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1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텍스트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검색란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-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검색텍스트가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제목 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OR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키워드에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들어가있는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자료 검색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60199" y="6292263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2BB3AB8-E9E2-670F-53AA-4EFAB576B196}"/>
              </a:ext>
            </a:extLst>
          </p:cNvPr>
          <p:cNvGrpSpPr/>
          <p:nvPr/>
        </p:nvGrpSpPr>
        <p:grpSpPr>
          <a:xfrm>
            <a:off x="567535" y="3091161"/>
            <a:ext cx="7404379" cy="2345050"/>
            <a:chOff x="-22034" y="2332583"/>
            <a:chExt cx="8613063" cy="21233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8F642C1-AE9C-BA0C-6391-A5D10F03F320}"/>
                </a:ext>
              </a:extLst>
            </p:cNvPr>
            <p:cNvSpPr/>
            <p:nvPr/>
          </p:nvSpPr>
          <p:spPr>
            <a:xfrm>
              <a:off x="-22034" y="2332583"/>
              <a:ext cx="8613063" cy="21233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D900AE3-427B-6EEE-E52F-A098DF854A06}"/>
                </a:ext>
              </a:extLst>
            </p:cNvPr>
            <p:cNvSpPr txBox="1"/>
            <p:nvPr/>
          </p:nvSpPr>
          <p:spPr>
            <a:xfrm>
              <a:off x="7815321" y="3192305"/>
              <a:ext cx="163183" cy="378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&gt;</a:t>
              </a:r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4169AC0D-4588-C0A6-1A11-9C89EC82F080}"/>
                </a:ext>
              </a:extLst>
            </p:cNvPr>
            <p:cNvGrpSpPr/>
            <p:nvPr/>
          </p:nvGrpSpPr>
          <p:grpSpPr>
            <a:xfrm>
              <a:off x="1251347" y="2594261"/>
              <a:ext cx="1844382" cy="1694170"/>
              <a:chOff x="488731" y="2624754"/>
              <a:chExt cx="1844382" cy="1694170"/>
            </a:xfrm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0D1EA7D0-EC6B-9AFB-23F6-CF254C0AD2A9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7EDEB38F-96BD-AA65-8B91-21CCD01CCEC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D9E8A6-C223-A79B-0F41-28DCF06C6D49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21A9C0B-ED47-E557-98E1-B75D45DE7AE3}"/>
                </a:ext>
              </a:extLst>
            </p:cNvPr>
            <p:cNvGrpSpPr/>
            <p:nvPr/>
          </p:nvGrpSpPr>
          <p:grpSpPr>
            <a:xfrm>
              <a:off x="5691591" y="2586378"/>
              <a:ext cx="1844382" cy="1694170"/>
              <a:chOff x="488731" y="2624754"/>
              <a:chExt cx="1844382" cy="1694170"/>
            </a:xfrm>
          </p:grpSpPr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A4F385DA-4922-DF0C-E792-7DAAF6144865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E641C1A-2B6A-BD4E-F5B0-35D07F14E86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C8FFC3-0DD5-2F15-C8D0-1985980FFEDA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60304954-153D-A405-A916-1E039EBD1574}"/>
                </a:ext>
              </a:extLst>
            </p:cNvPr>
            <p:cNvGrpSpPr/>
            <p:nvPr/>
          </p:nvGrpSpPr>
          <p:grpSpPr>
            <a:xfrm>
              <a:off x="3471469" y="2608486"/>
              <a:ext cx="1844382" cy="1694170"/>
              <a:chOff x="488731" y="2624754"/>
              <a:chExt cx="1844382" cy="1694170"/>
            </a:xfrm>
          </p:grpSpPr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7C6D9E7-FCA2-A6F5-84AB-A82E6DD000B3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FC3627AB-8A6D-B5C0-E6BB-82BD70CB49B2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DAD795A-9509-433E-0DD5-7218BCCF63DC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A8F7C40-39D5-5E3A-1CDF-CF1198DEFD48}"/>
                </a:ext>
              </a:extLst>
            </p:cNvPr>
            <p:cNvSpPr txBox="1"/>
            <p:nvPr/>
          </p:nvSpPr>
          <p:spPr>
            <a:xfrm>
              <a:off x="517128" y="3201870"/>
              <a:ext cx="436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&lt;</a:t>
              </a:r>
              <a:endParaRPr lang="ko-KR" altLang="en-US" dirty="0"/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67645" y="5620348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484917" y="55206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414735F-6A8A-88ED-26FD-70AEC223AD40}"/>
              </a:ext>
            </a:extLst>
          </p:cNvPr>
          <p:cNvSpPr/>
          <p:nvPr/>
        </p:nvSpPr>
        <p:spPr>
          <a:xfrm>
            <a:off x="477534" y="6214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D1A7A40-7C39-C7B0-8157-53F2B3A05D9D}"/>
              </a:ext>
            </a:extLst>
          </p:cNvPr>
          <p:cNvSpPr/>
          <p:nvPr/>
        </p:nvSpPr>
        <p:spPr>
          <a:xfrm>
            <a:off x="2909155" y="61957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>
                  <a:solidFill>
                    <a:schemeClr val="dk1"/>
                  </a:solidFill>
                  <a:latin typeface="Malgun Gothic"/>
                  <a:ea typeface="Malgun Gothic"/>
                  <a:sym typeface="Malgun Gothic"/>
                </a:rPr>
                <a:t>전체 교육자료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0598290F-7F84-A1B9-3464-E20FD3BAB3C5}"/>
              </a:ext>
            </a:extLst>
          </p:cNvPr>
          <p:cNvSpPr txBox="1"/>
          <p:nvPr/>
        </p:nvSpPr>
        <p:spPr>
          <a:xfrm>
            <a:off x="3714591" y="3131441"/>
            <a:ext cx="12557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업종별 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최근 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01D005-5ABD-4C06-9CF3-ED0531F5D442}"/>
              </a:ext>
            </a:extLst>
          </p:cNvPr>
          <p:cNvSpPr/>
          <p:nvPr/>
        </p:nvSpPr>
        <p:spPr>
          <a:xfrm>
            <a:off x="878305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AA663A-877B-43EA-A627-E98A52E6A245}"/>
              </a:ext>
            </a:extLst>
          </p:cNvPr>
          <p:cNvSpPr txBox="1"/>
          <p:nvPr/>
        </p:nvSpPr>
        <p:spPr>
          <a:xfrm>
            <a:off x="1279425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동영상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DECD2E-8868-43C7-BBFE-F4B2D0052B72}"/>
              </a:ext>
            </a:extLst>
          </p:cNvPr>
          <p:cNvSpPr/>
          <p:nvPr/>
        </p:nvSpPr>
        <p:spPr>
          <a:xfrm>
            <a:off x="2082755" y="5839077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CC872D-4934-43C9-ADBB-30B8DB8DE183}"/>
              </a:ext>
            </a:extLst>
          </p:cNvPr>
          <p:cNvSpPr txBox="1"/>
          <p:nvPr/>
        </p:nvSpPr>
        <p:spPr>
          <a:xfrm>
            <a:off x="2483875" y="5826773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OPS</a:t>
            </a:r>
            <a:endParaRPr lang="ko-KR" altLang="en-US" sz="12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070BF3-A58E-4C37-BB7E-D24756CDDA25}"/>
              </a:ext>
            </a:extLst>
          </p:cNvPr>
          <p:cNvSpPr/>
          <p:nvPr/>
        </p:nvSpPr>
        <p:spPr>
          <a:xfrm>
            <a:off x="3353039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971BC7-6A1B-4105-91AF-18413B350D6A}"/>
              </a:ext>
            </a:extLst>
          </p:cNvPr>
          <p:cNvSpPr txBox="1"/>
          <p:nvPr/>
        </p:nvSpPr>
        <p:spPr>
          <a:xfrm>
            <a:off x="3754159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교재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20973F0-4017-4C39-A468-05EB7BC3F9EC}"/>
              </a:ext>
            </a:extLst>
          </p:cNvPr>
          <p:cNvSpPr/>
          <p:nvPr/>
        </p:nvSpPr>
        <p:spPr>
          <a:xfrm>
            <a:off x="462332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AA0779-66BE-48C3-9E8D-13908399725C}"/>
              </a:ext>
            </a:extLst>
          </p:cNvPr>
          <p:cNvSpPr txBox="1"/>
          <p:nvPr/>
        </p:nvSpPr>
        <p:spPr>
          <a:xfrm>
            <a:off x="502444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PPT</a:t>
            </a:r>
            <a:endParaRPr lang="ko-KR" altLang="en-US" sz="1200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D9CACA8-9093-4DC6-ABA6-A4B7F7568171}"/>
              </a:ext>
            </a:extLst>
          </p:cNvPr>
          <p:cNvSpPr/>
          <p:nvPr/>
        </p:nvSpPr>
        <p:spPr>
          <a:xfrm>
            <a:off x="582777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6EDFEC-90EE-41A1-95CB-D5875D808C19}"/>
              </a:ext>
            </a:extLst>
          </p:cNvPr>
          <p:cNvSpPr txBox="1"/>
          <p:nvPr/>
        </p:nvSpPr>
        <p:spPr>
          <a:xfrm>
            <a:off x="622889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346183502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035329533"/>
              </p:ext>
            </p:extLst>
          </p:nvPr>
        </p:nvGraphicFramePr>
        <p:xfrm>
          <a:off x="8603672" y="1180080"/>
          <a:ext cx="3588325" cy="669628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안전교육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기반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목록리스트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제목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최소 </a:t>
                      </a:r>
                      <a:r>
                        <a:rPr lang="en-US" altLang="ko-KR" sz="1100" dirty="0"/>
                        <a:t>5-6</a:t>
                      </a:r>
                      <a:r>
                        <a:rPr lang="ko-KR" altLang="en-US" sz="1100" dirty="0"/>
                        <a:t>개</a:t>
                      </a:r>
                      <a:r>
                        <a:rPr lang="en-US" altLang="ko-KR" sz="1100" dirty="0"/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키워드 항목 사용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내용요약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내용에 따라 추가 및 제거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섬네일</a:t>
                      </a:r>
                      <a:r>
                        <a:rPr lang="ko-KR" altLang="en-US" sz="1100" dirty="0"/>
                        <a:t> 이미지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02043" y="2862450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02153" y="2200514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체크박스</a:t>
            </a:r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34403" y="3429001"/>
            <a:ext cx="166072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16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814238"/>
              </p:ext>
            </p:extLst>
          </p:nvPr>
        </p:nvGraphicFramePr>
        <p:xfrm>
          <a:off x="494817" y="4051894"/>
          <a:ext cx="7404270" cy="2437102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39921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698585"/>
                  </a:ext>
                </a:extLst>
              </a:tr>
              <a:tr h="10901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 교육자료 제목</a:t>
                      </a:r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94773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교육자료 제목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77482" y="4773097"/>
            <a:ext cx="4041648" cy="530600"/>
            <a:chOff x="577482" y="4773097"/>
            <a:chExt cx="4041648" cy="5306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48929" y="5876592"/>
            <a:ext cx="4041648" cy="530600"/>
            <a:chOff x="577482" y="4773097"/>
            <a:chExt cx="4041648" cy="5306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19378" y="40188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2104564" y="48759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679038" y="459730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679038" y="5627228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379219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906270"/>
              </p:ext>
            </p:extLst>
          </p:nvPr>
        </p:nvGraphicFramePr>
        <p:xfrm>
          <a:off x="8603672" y="1180080"/>
          <a:ext cx="3588327" cy="7378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 이름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태그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키워드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OPS/PPT/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교재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내용요약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교육 상세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048116" y="3002942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82787" y="3002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331556" y="3175728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4174709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태그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713445"/>
            <a:ext cx="23143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 PPT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22109" y="4781209"/>
            <a:ext cx="2372396" cy="686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</p:spTree>
    <p:extLst>
      <p:ext uri="{BB962C8B-B14F-4D97-AF65-F5344CB8AC3E}">
        <p14:creationId xmlns:p14="http://schemas.microsoft.com/office/powerpoint/2010/main" val="11666001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0081219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625307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관련자료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이런콘텐츠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어떠세요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항목의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링크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관련 자료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491884" y="3002942"/>
            <a:ext cx="7334119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409219" y="291654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281107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211664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192670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1631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3858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5825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2095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산재위치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기타 아이디어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리스트형태로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D67E2E-266C-446F-BA8E-6C00531C6B3F}"/>
              </a:ext>
            </a:extLst>
          </p:cNvPr>
          <p:cNvSpPr/>
          <p:nvPr/>
        </p:nvSpPr>
        <p:spPr>
          <a:xfrm>
            <a:off x="4319240" y="2699975"/>
            <a:ext cx="1419678" cy="18339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4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1791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3955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0247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4785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1524482"/>
              </p:ext>
            </p:extLst>
          </p:nvPr>
        </p:nvGraphicFramePr>
        <p:xfrm>
          <a:off x="8603672" y="1180080"/>
          <a:ext cx="3588327" cy="6086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리뷰리스트로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줄로 쭉 하고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새창이냐는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작성하다 결정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79910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75A896-0081-4CF6-923D-3DE999C21D2F}"/>
              </a:ext>
            </a:extLst>
          </p:cNvPr>
          <p:cNvSpPr/>
          <p:nvPr/>
        </p:nvSpPr>
        <p:spPr>
          <a:xfrm>
            <a:off x="4149234" y="290844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59381" y="441863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02712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149346"/>
              </p:ext>
            </p:extLst>
          </p:nvPr>
        </p:nvGraphicFramePr>
        <p:xfrm>
          <a:off x="8603672" y="1180080"/>
          <a:ext cx="3588327" cy="65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기본정보로 변경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버튼을 누르면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화면에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D746EB-4A1B-C8C0-F101-2378BA96ABC2}"/>
              </a:ext>
            </a:extLst>
          </p:cNvPr>
          <p:cNvSpPr/>
          <p:nvPr/>
        </p:nvSpPr>
        <p:spPr>
          <a:xfrm>
            <a:off x="423186" y="383009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95EC09-4986-6F25-74F7-5EDEB9B69288}"/>
              </a:ext>
            </a:extLst>
          </p:cNvPr>
          <p:cNvSpPr/>
          <p:nvPr/>
        </p:nvSpPr>
        <p:spPr>
          <a:xfrm>
            <a:off x="423186" y="437838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4037436-F1F6-B019-DC88-D5BEE9087032}"/>
              </a:ext>
            </a:extLst>
          </p:cNvPr>
          <p:cNvSpPr/>
          <p:nvPr/>
        </p:nvSpPr>
        <p:spPr>
          <a:xfrm>
            <a:off x="423186" y="492645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97C161B-0470-FE71-9C11-5B133E7142E2}"/>
              </a:ext>
            </a:extLst>
          </p:cNvPr>
          <p:cNvSpPr/>
          <p:nvPr/>
        </p:nvSpPr>
        <p:spPr>
          <a:xfrm>
            <a:off x="423186" y="3424472"/>
            <a:ext cx="7921373" cy="40583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의료기관에 대한 </a:t>
            </a:r>
            <a:r>
              <a:rPr lang="ko-KR" altLang="en-US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리뷰 목록</a:t>
            </a:r>
            <a:r>
              <a:rPr lang="en-US" altLang="ko-KR" sz="1100" b="1" dirty="0">
                <a:solidFill>
                  <a:schemeClr val="tx1"/>
                </a:solidFill>
              </a:rPr>
              <a:t>	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291392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FA6D8E5-BDB5-4033-AE25-414795BD97A3}"/>
              </a:ext>
            </a:extLst>
          </p:cNvPr>
          <p:cNvSpPr/>
          <p:nvPr/>
        </p:nvSpPr>
        <p:spPr>
          <a:xfrm>
            <a:off x="300808" y="366912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C6E47C-377F-48C3-975E-9EF52302EBB0}"/>
              </a:ext>
            </a:extLst>
          </p:cNvPr>
          <p:cNvSpPr/>
          <p:nvPr/>
        </p:nvSpPr>
        <p:spPr>
          <a:xfrm>
            <a:off x="7358474" y="4663439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76EBE1-9DBD-4248-8335-C0EBD51912D0}"/>
              </a:ext>
            </a:extLst>
          </p:cNvPr>
          <p:cNvSpPr/>
          <p:nvPr/>
        </p:nvSpPr>
        <p:spPr>
          <a:xfrm>
            <a:off x="7846577" y="4671396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1B5266-C006-4C75-827C-BCD9ABB33668}"/>
              </a:ext>
            </a:extLst>
          </p:cNvPr>
          <p:cNvSpPr/>
          <p:nvPr/>
        </p:nvSpPr>
        <p:spPr>
          <a:xfrm>
            <a:off x="3455801" y="5801710"/>
            <a:ext cx="1702676" cy="30269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리뷰 작성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E010DCA-4238-472C-B4A3-D7C96B9464A2}"/>
              </a:ext>
            </a:extLst>
          </p:cNvPr>
          <p:cNvSpPr/>
          <p:nvPr/>
        </p:nvSpPr>
        <p:spPr>
          <a:xfrm>
            <a:off x="3315566" y="563914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💬상세 리뷰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342302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329291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등록하기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후 리뷰 등록하기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로그인한 사용자 아이디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datetime auto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229238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등록하기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438572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7877545-EBBA-4883-BB42-B279F1986281}"/>
              </a:ext>
            </a:extLst>
          </p:cNvPr>
          <p:cNvSpPr/>
          <p:nvPr/>
        </p:nvSpPr>
        <p:spPr>
          <a:xfrm>
            <a:off x="2168119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009185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03407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66119"/>
              </p:ext>
            </p:extLst>
          </p:nvPr>
        </p:nvGraphicFramePr>
        <p:xfrm>
          <a:off x="8603672" y="1180080"/>
          <a:ext cx="3588327" cy="6708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페이지로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페이지로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44871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537692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3E711A8-6157-2D66-1DD0-30268D38BD11}"/>
              </a:ext>
            </a:extLst>
          </p:cNvPr>
          <p:cNvSpPr/>
          <p:nvPr/>
        </p:nvSpPr>
        <p:spPr>
          <a:xfrm>
            <a:off x="348595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작성하기   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337112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1527</TotalTime>
  <Words>3666</Words>
  <Application>Microsoft Office PowerPoint</Application>
  <PresentationFormat>와이드스크린</PresentationFormat>
  <Paragraphs>1360</Paragraphs>
  <Slides>45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0" baseType="lpstr">
      <vt:lpstr>ui-sans-serif</vt:lpstr>
      <vt:lpstr>맑은 고딕</vt:lpstr>
      <vt:lpstr>맑은 고딕</vt:lpstr>
      <vt:lpstr>Arial</vt:lpstr>
      <vt:lpstr>Office 테마</vt:lpstr>
      <vt:lpstr>스토리보드 산재통계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 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안전교육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96</cp:revision>
  <dcterms:created xsi:type="dcterms:W3CDTF">2025-11-24T01:38:34Z</dcterms:created>
  <dcterms:modified xsi:type="dcterms:W3CDTF">2025-11-27T00:47:46Z</dcterms:modified>
</cp:coreProperties>
</file>