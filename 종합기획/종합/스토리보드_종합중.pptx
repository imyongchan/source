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311" r:id="rId3"/>
    <p:sldId id="312" r:id="rId4"/>
    <p:sldId id="313" r:id="rId5"/>
    <p:sldId id="262" r:id="rId6"/>
    <p:sldId id="257" r:id="rId7"/>
    <p:sldId id="266" r:id="rId8"/>
    <p:sldId id="261" r:id="rId9"/>
    <p:sldId id="296" r:id="rId10"/>
    <p:sldId id="306" r:id="rId11"/>
    <p:sldId id="307" r:id="rId12"/>
    <p:sldId id="308" r:id="rId13"/>
    <p:sldId id="267" r:id="rId14"/>
    <p:sldId id="268" r:id="rId15"/>
    <p:sldId id="270" r:id="rId16"/>
    <p:sldId id="271" r:id="rId17"/>
    <p:sldId id="273" r:id="rId18"/>
    <p:sldId id="274" r:id="rId19"/>
    <p:sldId id="310" r:id="rId20"/>
    <p:sldId id="285" r:id="rId21"/>
    <p:sldId id="283" r:id="rId22"/>
    <p:sldId id="278" r:id="rId23"/>
    <p:sldId id="282" r:id="rId24"/>
    <p:sldId id="281" r:id="rId25"/>
    <p:sldId id="294" r:id="rId26"/>
    <p:sldId id="295" r:id="rId27"/>
    <p:sldId id="263" r:id="rId28"/>
    <p:sldId id="265" r:id="rId29"/>
    <p:sldId id="317" r:id="rId30"/>
    <p:sldId id="258" r:id="rId31"/>
    <p:sldId id="318" r:id="rId32"/>
    <p:sldId id="319" r:id="rId33"/>
    <p:sldId id="320" r:id="rId34"/>
    <p:sldId id="321" r:id="rId35"/>
    <p:sldId id="280" r:id="rId36"/>
    <p:sldId id="291" r:id="rId37"/>
    <p:sldId id="299" r:id="rId38"/>
    <p:sldId id="300" r:id="rId39"/>
    <p:sldId id="301" r:id="rId40"/>
    <p:sldId id="305" r:id="rId41"/>
    <p:sldId id="286" r:id="rId42"/>
    <p:sldId id="292" r:id="rId43"/>
    <p:sldId id="287" r:id="rId44"/>
    <p:sldId id="288" r:id="rId45"/>
    <p:sldId id="290" r:id="rId46"/>
    <p:sldId id="293" r:id="rId47"/>
    <p:sldId id="289" r:id="rId48"/>
    <p:sldId id="302" r:id="rId49"/>
    <p:sldId id="264" r:id="rId50"/>
    <p:sldId id="303" r:id="rId51"/>
    <p:sldId id="304" r:id="rId52"/>
    <p:sldId id="314" r:id="rId53"/>
    <p:sldId id="315" r:id="rId54"/>
    <p:sldId id="323" r:id="rId55"/>
    <p:sldId id="322" r:id="rId56"/>
    <p:sldId id="325" r:id="rId57"/>
    <p:sldId id="324" r:id="rId58"/>
    <p:sldId id="297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1011" autoAdjust="0"/>
  </p:normalViewPr>
  <p:slideViewPr>
    <p:cSldViewPr snapToGrid="0">
      <p:cViewPr varScale="1">
        <p:scale>
          <a:sx n="102" d="100"/>
          <a:sy n="102" d="100"/>
        </p:scale>
        <p:origin x="29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09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2121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179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ostcode.map.daum.net/gui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kosha.or.kr/archive/cent-archive/indust-arch/indust-page1" TargetMode="External"/><Relationship Id="rId2" Type="http://schemas.openxmlformats.org/officeDocument/2006/relationships/hyperlink" Target="http://sanjaenews.co.k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mwel.or.kr/comwel/medi/orsc.js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API</a:t>
            </a:r>
          </a:p>
          <a:p>
            <a:r>
              <a:rPr lang="ko-KR" altLang="en-US" dirty="0" err="1"/>
              <a:t>크롤링</a:t>
            </a:r>
            <a:endParaRPr lang="en-US" altLang="ko-KR" dirty="0"/>
          </a:p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r>
              <a:rPr lang="ko-KR" altLang="en-US" dirty="0"/>
              <a:t>관리자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2BFFE-C749-4DA6-89A4-9465C7BA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EACF3-F952-44E5-A6E6-8E02014F2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1800" dirty="0" err="1"/>
              <a:t>Daum</a:t>
            </a:r>
            <a:r>
              <a:rPr lang="en-US" altLang="ko-KR" sz="1800" dirty="0"/>
              <a:t> </a:t>
            </a:r>
            <a:r>
              <a:rPr lang="ko-KR" altLang="en-US" sz="1800" dirty="0"/>
              <a:t>주소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800" dirty="0">
                <a:hlinkClick r:id="rId2"/>
              </a:rPr>
              <a:t>https://postcode.map.daum.net/guide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 err="1"/>
              <a:t>KakaoMap</a:t>
            </a:r>
            <a:r>
              <a:rPr lang="en-US" altLang="ko-KR" sz="1800" dirty="0"/>
              <a:t> 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https://dapi.kakao.com/v2/local/search/address.json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 err="1"/>
              <a:t>산업재해수</a:t>
            </a:r>
            <a:r>
              <a:rPr lang="ko-KR" altLang="en-US" sz="1800" dirty="0"/>
              <a:t>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https://safemap.go.kr/opna/data/dataView.do?objtId=178</a:t>
            </a:r>
          </a:p>
          <a:p>
            <a:endParaRPr lang="en-US" altLang="ko-KR" sz="1800" dirty="0"/>
          </a:p>
          <a:p>
            <a:r>
              <a:rPr lang="en-US" altLang="ko-KR" sz="1800" dirty="0" err="1"/>
              <a:t>Kosis</a:t>
            </a:r>
            <a:r>
              <a:rPr lang="en-US" altLang="ko-KR" sz="1800" dirty="0"/>
              <a:t> API(</a:t>
            </a:r>
            <a:r>
              <a:rPr lang="ko-KR" altLang="en-US" sz="1800" dirty="0"/>
              <a:t>고용노동통계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dirty="0"/>
              <a:t>ttps://laborstat.moel.go.kr/hmp/tblInfo/TblInfoList.do?menuId=0010001100101102&amp;leftMenuId=0010001100101&amp;vwCdVal=MT_PTITLE&amp;upListVal=118_905</a:t>
            </a:r>
          </a:p>
          <a:p>
            <a:endParaRPr lang="en-US" altLang="ko-KR" sz="1800" dirty="0"/>
          </a:p>
          <a:p>
            <a:r>
              <a:rPr lang="ko-KR" altLang="en-US" sz="1800" dirty="0"/>
              <a:t>산재지정병원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https://www.safemap.go.kr/</a:t>
            </a:r>
          </a:p>
        </p:txBody>
      </p:sp>
    </p:spTree>
    <p:extLst>
      <p:ext uri="{BB962C8B-B14F-4D97-AF65-F5344CB8AC3E}">
        <p14:creationId xmlns:p14="http://schemas.microsoft.com/office/powerpoint/2010/main" val="34163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8C647-197F-472C-8D93-CE75798E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크롤링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5A2527-23FB-4DE3-B932-CAEAC3F5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산재뉴스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2"/>
              </a:rPr>
              <a:t>http://sanjaenews.co.kr/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산업안전포털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https://portal.kosha.or.kr/archive/cent-archive/indust-arch/indust-page1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산재지정 의료기관 찾기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https://www.comwel.or.kr/comwel/medi/orsc.jsp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392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0238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98024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98382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419107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82887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9891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366834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947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429285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598714"/>
              </p:ext>
            </p:extLst>
          </p:nvPr>
        </p:nvGraphicFramePr>
        <p:xfrm>
          <a:off x="8603672" y="1180081"/>
          <a:ext cx="3588327" cy="6885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39378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47959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75563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0843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68593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26869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708533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30802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804240"/>
              </p:ext>
            </p:extLst>
          </p:nvPr>
        </p:nvGraphicFramePr>
        <p:xfrm>
          <a:off x="8603672" y="1180083"/>
          <a:ext cx="3588327" cy="59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27117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447040"/>
              </p:ext>
            </p:extLst>
          </p:nvPr>
        </p:nvGraphicFramePr>
        <p:xfrm>
          <a:off x="8603672" y="1180083"/>
          <a:ext cx="3588327" cy="573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27044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46712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35403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제조업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건설업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34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67547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54801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67547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17781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18403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16316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2::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17781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67547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64617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494560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78584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11563"/>
              </p:ext>
            </p:extLst>
          </p:nvPr>
        </p:nvGraphicFramePr>
        <p:xfrm>
          <a:off x="8603672" y="1180080"/>
          <a:ext cx="3588327" cy="5814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65715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1"/>
          <a:ext cx="3588327" cy="5617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산재리스트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 Join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해서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 프로필 명시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 기간에 따른 통계 자료 변경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(Button)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198513" y="2008787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4757392" y="2745007"/>
            <a:ext cx="275130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C2A0EA-B3AE-AEC2-CE98-2376622D571B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A71B6-598E-4F09-AF55-AECC68AE0278}"/>
              </a:ext>
            </a:extLst>
          </p:cNvPr>
          <p:cNvSpPr txBox="1"/>
          <p:nvPr/>
        </p:nvSpPr>
        <p:spPr>
          <a:xfrm>
            <a:off x="1971492" y="4304949"/>
            <a:ext cx="4124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분석을 시작하려면 기간을 선택하세요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818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149F63A-B17E-6964-404B-4C602586C571}"/>
              </a:ext>
            </a:extLst>
          </p:cNvPr>
          <p:cNvSpPr/>
          <p:nvPr/>
        </p:nvSpPr>
        <p:spPr>
          <a:xfrm>
            <a:off x="336077" y="3509181"/>
            <a:ext cx="1928120" cy="28555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재해율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재해율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1"/>
          <a:ext cx="3588327" cy="5614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최근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2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(Button)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따른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통계 집계 및  시각화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재해율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재해유형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사망유형 집계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198511" y="3412727"/>
            <a:ext cx="275129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2DBE83A-2468-082E-E62C-120CB5D082A9}"/>
              </a:ext>
            </a:extLst>
          </p:cNvPr>
          <p:cNvSpPr/>
          <p:nvPr/>
        </p:nvSpPr>
        <p:spPr>
          <a:xfrm>
            <a:off x="2505517" y="3509182"/>
            <a:ext cx="1793000" cy="28555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사망률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</a:rPr>
              <a:t>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사망률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5AD99E9-1106-2DE1-BFF9-4C62DCC8B6C9}"/>
              </a:ext>
            </a:extLst>
          </p:cNvPr>
          <p:cNvSpPr/>
          <p:nvPr/>
        </p:nvSpPr>
        <p:spPr>
          <a:xfrm>
            <a:off x="4491707" y="3523820"/>
            <a:ext cx="1796876" cy="284088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 재해유형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많이 다친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DF171BC-877A-C50D-B47E-1BB2EA327636}"/>
              </a:ext>
            </a:extLst>
          </p:cNvPr>
          <p:cNvSpPr/>
          <p:nvPr/>
        </p:nvSpPr>
        <p:spPr>
          <a:xfrm>
            <a:off x="6481773" y="3475693"/>
            <a:ext cx="1796877" cy="284088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사망유형 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많은 사망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772986" y="2716711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재해현황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사망현황 통계시각화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3182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760F890-669F-145E-F1AB-86374C6FFF03}"/>
              </a:ext>
            </a:extLst>
          </p:cNvPr>
          <p:cNvSpPr/>
          <p:nvPr/>
        </p:nvSpPr>
        <p:spPr>
          <a:xfrm>
            <a:off x="601290" y="1925053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재해현황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55732EC-A2B8-5CCF-ACC4-8F7E33B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93" y="2573520"/>
            <a:ext cx="2338100" cy="1242049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2F467F7-275E-3FE4-8C28-6DD2949F0BFE}"/>
              </a:ext>
            </a:extLst>
          </p:cNvPr>
          <p:cNvSpPr/>
          <p:nvPr/>
        </p:nvSpPr>
        <p:spPr>
          <a:xfrm>
            <a:off x="601290" y="4421581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재해현황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D3B6F6C-DBD0-3EE0-9D60-F3C8754CF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67" y="4852650"/>
            <a:ext cx="2195876" cy="1834656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72D8FF1-B3A6-1ECF-1047-EDD5F84F7381}"/>
              </a:ext>
            </a:extLst>
          </p:cNvPr>
          <p:cNvSpPr/>
          <p:nvPr/>
        </p:nvSpPr>
        <p:spPr>
          <a:xfrm>
            <a:off x="4315038" y="1906408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사망현황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4B2379D-2EB6-62F2-EC95-F0361605E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441" y="2554875"/>
            <a:ext cx="2338100" cy="1242049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FBF0404-5DE0-6178-4EA1-4771A8B3DC3C}"/>
              </a:ext>
            </a:extLst>
          </p:cNvPr>
          <p:cNvSpPr/>
          <p:nvPr/>
        </p:nvSpPr>
        <p:spPr>
          <a:xfrm>
            <a:off x="4315038" y="4402936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사망현황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5887E02-21D3-33DE-39B0-7D58D1DB9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415" y="4834005"/>
            <a:ext cx="2195876" cy="183465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A2AB29-B621-CDC6-6FB2-22A3310C4393}"/>
              </a:ext>
            </a:extLst>
          </p:cNvPr>
          <p:cNvSpPr/>
          <p:nvPr/>
        </p:nvSpPr>
        <p:spPr>
          <a:xfrm>
            <a:off x="408031" y="190104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CDA271-47A7-3329-18DD-F342DDEB1819}"/>
              </a:ext>
            </a:extLst>
          </p:cNvPr>
          <p:cNvSpPr/>
          <p:nvPr/>
        </p:nvSpPr>
        <p:spPr>
          <a:xfrm>
            <a:off x="463725" y="4343400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34999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547457" y="2394792"/>
            <a:ext cx="3506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 </a:t>
            </a:r>
            <a:r>
              <a:rPr lang="ko-KR" altLang="en-US" b="1" dirty="0"/>
              <a:t>유형별 사망현황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F23D985-7DC2-C9A8-31B5-E6C1A3AF135E}"/>
              </a:ext>
            </a:extLst>
          </p:cNvPr>
          <p:cNvSpPr/>
          <p:nvPr/>
        </p:nvSpPr>
        <p:spPr>
          <a:xfrm>
            <a:off x="513448" y="2204914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88092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재해사망현황 통계시각화</a:t>
                      </a: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</a:t>
            </a:r>
            <a:r>
              <a:rPr lang="ko-KR" altLang="en-US" b="1" dirty="0"/>
              <a:t>재해질병 </a:t>
            </a:r>
            <a:r>
              <a:rPr lang="ko-KR" altLang="en-US" sz="1800" b="1" dirty="0">
                <a:solidFill>
                  <a:schemeClr val="tx1"/>
                </a:solidFill>
              </a:rPr>
              <a:t>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398278" y="2346996"/>
            <a:ext cx="38052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내 업종  재해</a:t>
            </a:r>
            <a:r>
              <a:rPr lang="ko-KR" altLang="en-US" sz="1600" b="1" dirty="0"/>
              <a:t>질병 유형별 사망현황</a:t>
            </a:r>
            <a:endParaRPr lang="en-US" altLang="ko-KR" sz="1600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374AE9A-68F0-6A3E-7C4B-97D21FFC1BFF}"/>
              </a:ext>
            </a:extLst>
          </p:cNvPr>
          <p:cNvSpPr/>
          <p:nvPr/>
        </p:nvSpPr>
        <p:spPr>
          <a:xfrm>
            <a:off x="435753" y="220805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367166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3032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요인들을 종합해서 종합위험도 지수 통계시각화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안전자료실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찾기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병원 찾기로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8B4402-1D15-A72D-601E-EEEAF4DAB682}"/>
              </a:ext>
            </a:extLst>
          </p:cNvPr>
          <p:cNvSpPr/>
          <p:nvPr/>
        </p:nvSpPr>
        <p:spPr>
          <a:xfrm>
            <a:off x="601579" y="1916637"/>
            <a:ext cx="6988627" cy="42048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종합 위험도 평가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977A8-EE81-172F-6519-02E4414C84EB}"/>
              </a:ext>
            </a:extLst>
          </p:cNvPr>
          <p:cNvSpPr/>
          <p:nvPr/>
        </p:nvSpPr>
        <p:spPr>
          <a:xfrm>
            <a:off x="601925" y="188070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2B9DF86-42F0-4E7E-7F35-B4DD1D3373A7}"/>
              </a:ext>
            </a:extLst>
          </p:cNvPr>
          <p:cNvSpPr/>
          <p:nvPr/>
        </p:nvSpPr>
        <p:spPr>
          <a:xfrm>
            <a:off x="1615044" y="5413574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나에게 필요한 안전 가이드 보기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B9AC75-5911-BD25-4C2F-4EEFF9C3518C}"/>
              </a:ext>
            </a:extLst>
          </p:cNvPr>
          <p:cNvSpPr/>
          <p:nvPr/>
        </p:nvSpPr>
        <p:spPr>
          <a:xfrm>
            <a:off x="5278892" y="5316132"/>
            <a:ext cx="1489103" cy="482223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가까운 응급</a:t>
            </a:r>
            <a:r>
              <a:rPr lang="en-US" altLang="ko-KR" sz="1100" dirty="0"/>
              <a:t>·</a:t>
            </a:r>
            <a:r>
              <a:rPr lang="ko-KR" altLang="en-US" sz="1100" dirty="0"/>
              <a:t>산재병원 찾기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BCBF801-505E-A4A7-5E7B-CD6D433640CB}"/>
              </a:ext>
            </a:extLst>
          </p:cNvPr>
          <p:cNvSpPr/>
          <p:nvPr/>
        </p:nvSpPr>
        <p:spPr>
          <a:xfrm>
            <a:off x="3446968" y="5388526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 위치 기반 위험 탐색하기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7AE0BDC-C2D3-18A1-CE46-28000D14E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19" y="2883397"/>
            <a:ext cx="6359706" cy="1843378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D8311E1-5C2E-671C-A58B-196310D778C4}"/>
              </a:ext>
            </a:extLst>
          </p:cNvPr>
          <p:cNvSpPr/>
          <p:nvPr/>
        </p:nvSpPr>
        <p:spPr>
          <a:xfrm>
            <a:off x="1304684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7C9D5-A530-E379-A23F-C36DB9D34656}"/>
              </a:ext>
            </a:extLst>
          </p:cNvPr>
          <p:cNvSpPr/>
          <p:nvPr/>
        </p:nvSpPr>
        <p:spPr>
          <a:xfrm>
            <a:off x="3152785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87F2174-AD50-34D7-DA86-D2F1541A5DB6}"/>
              </a:ext>
            </a:extLst>
          </p:cNvPr>
          <p:cNvSpPr/>
          <p:nvPr/>
        </p:nvSpPr>
        <p:spPr>
          <a:xfrm>
            <a:off x="5000886" y="5162207"/>
            <a:ext cx="411194" cy="29302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87225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30662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753489264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2317625951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2530538905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22306155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13234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44621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178511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940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관련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11849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46989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69284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83058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44475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82119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47897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66226" y="451272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2326681"/>
            <a:ext cx="7921373" cy="27595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1"/>
            <a:r>
              <a:rPr lang="en-US" altLang="ko-KR" sz="1200" b="0">
                <a:solidFill>
                  <a:schemeClr val="tx1"/>
                </a:solidFill>
              </a:rPr>
              <a:t>Kakao </a:t>
            </a:r>
            <a:r>
              <a:rPr lang="ko-KR" altLang="en-US" sz="1200" b="0">
                <a:solidFill>
                  <a:schemeClr val="tx1"/>
                </a:solidFill>
              </a:rPr>
              <a:t>지도 </a:t>
            </a:r>
            <a:r>
              <a:rPr lang="en-US" altLang="ko-KR" sz="1200" b="0">
                <a:solidFill>
                  <a:schemeClr val="tx1"/>
                </a:solidFill>
              </a:rPr>
              <a:t>API</a:t>
            </a:r>
            <a:r>
              <a:rPr lang="ko-KR" altLang="en-US" sz="1200" b="0">
                <a:solidFill>
                  <a:schemeClr val="tx1"/>
                </a:solidFill>
              </a:rPr>
              <a:t>를 활용하여 해당 산재 지정 의료기관 위치를 마커 표시</a:t>
            </a:r>
            <a:endParaRPr lang="en-US" altLang="ko-KR" sz="1200" b="0">
              <a:solidFill>
                <a:schemeClr val="tx1"/>
              </a:solidFill>
            </a:endParaRPr>
          </a:p>
          <a:p>
            <a:pPr latinLnBrk="1"/>
            <a:r>
              <a:rPr lang="ko-KR" altLang="en-US" sz="1200" b="0">
                <a:solidFill>
                  <a:schemeClr val="tx1"/>
                </a:solidFill>
              </a:rPr>
              <a:t>줌 레벨 만들어보면서 체크</a:t>
            </a:r>
            <a:endParaRPr lang="ko-KR" altLang="en-US" sz="1200" b="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78660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118233"/>
              </p:ext>
            </p:extLst>
          </p:nvPr>
        </p:nvGraphicFramePr>
        <p:xfrm>
          <a:off x="8603672" y="1180080"/>
          <a:ext cx="3588327" cy="6197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띄우고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한번더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사용자에게 인지 시키기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2119629"/>
            <a:ext cx="7918834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285263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340642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394899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193646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234620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242577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361691" y="5871614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222725" y="5687518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4DABA-A602-44B5-B093-8E8983803FAA}"/>
              </a:ext>
            </a:extLst>
          </p:cNvPr>
          <p:cNvSpPr/>
          <p:nvPr/>
        </p:nvSpPr>
        <p:spPr>
          <a:xfrm>
            <a:off x="423186" y="4526367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FF39268-2150-494F-B6A5-6FE11F66A6F9}"/>
              </a:ext>
            </a:extLst>
          </p:cNvPr>
          <p:cNvSpPr/>
          <p:nvPr/>
        </p:nvSpPr>
        <p:spPr>
          <a:xfrm>
            <a:off x="2572088" y="5318620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2408660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71651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743073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3187" y="2199362"/>
            <a:ext cx="7921373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4955805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4955805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005259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475923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324827" y="2522172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845691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637242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수정되었습니다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.alert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창 하나 띄우고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322288" y="2312874"/>
            <a:ext cx="7921374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347819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436794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701990" y="3118771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236214" y="487274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06F99-D362-4090-AD86-DD7068DE8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관리자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7C2874-28AE-4ADB-94E8-446DA2F24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3319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89999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983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관리자의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80081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089312"/>
              </p:ext>
            </p:extLst>
          </p:nvPr>
        </p:nvGraphicFramePr>
        <p:xfrm>
          <a:off x="-1" y="1816922"/>
          <a:ext cx="1677451" cy="5041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7451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</a:tblGrid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대시보드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85076"/>
                  </a:ext>
                </a:extLst>
              </a:tr>
              <a:tr h="5514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97208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4347" y="12095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-61255" y="1426597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환영합니다</a:t>
            </a:r>
            <a:r>
              <a:rPr lang="en-US" altLang="ko-KR" sz="1400" dirty="0"/>
              <a:t>, OOO</a:t>
            </a:r>
            <a:r>
              <a:rPr lang="ko-KR" altLang="en-US" sz="1400" dirty="0"/>
              <a:t>님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49098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309715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19239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관리자가 대략적인 회원의 흐름을 한눈에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볼수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있는 페이지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75214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8B04F7A-5F4F-ACF6-4C9A-306724CDF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087" y="1778617"/>
            <a:ext cx="6851787" cy="209184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0BE891E-14C3-49E2-A0D3-6971D2F53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767" y="4347563"/>
            <a:ext cx="5686425" cy="2266950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DA1B36-9293-5A12-FC95-955E42D29165}"/>
              </a:ext>
            </a:extLst>
          </p:cNvPr>
          <p:cNvSpPr/>
          <p:nvPr/>
        </p:nvSpPr>
        <p:spPr>
          <a:xfrm>
            <a:off x="2490950" y="3947212"/>
            <a:ext cx="1975770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월별 신규가입 </a:t>
            </a:r>
            <a:r>
              <a:rPr lang="en-US" altLang="ko-KR" sz="1100" b="1" dirty="0">
                <a:solidFill>
                  <a:schemeClr val="tx1"/>
                </a:solidFill>
              </a:rPr>
              <a:t>, </a:t>
            </a:r>
            <a:r>
              <a:rPr lang="ko-KR" altLang="en-US" sz="1100" b="1" dirty="0">
                <a:solidFill>
                  <a:schemeClr val="tx1"/>
                </a:solidFill>
              </a:rPr>
              <a:t>산재등록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5A0615B-3117-5FDB-064C-93CDBBC888D3}"/>
              </a:ext>
            </a:extLst>
          </p:cNvPr>
          <p:cNvSpPr/>
          <p:nvPr/>
        </p:nvSpPr>
        <p:spPr>
          <a:xfrm>
            <a:off x="6638102" y="3929125"/>
            <a:ext cx="1103342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🔴 신규가입 </a:t>
            </a:r>
            <a:endParaRPr lang="en-US" altLang="ko-KR" sz="9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 </a:t>
            </a:r>
            <a:r>
              <a:rPr lang="ko-KR" altLang="en-US" sz="900" b="1" dirty="0">
                <a:solidFill>
                  <a:schemeClr val="tx1"/>
                </a:solidFill>
              </a:rPr>
              <a:t>🔵 산재등록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096FEC-696D-432E-B04C-881E045C0FE2}"/>
              </a:ext>
            </a:extLst>
          </p:cNvPr>
          <p:cNvSpPr/>
          <p:nvPr/>
        </p:nvSpPr>
        <p:spPr>
          <a:xfrm>
            <a:off x="23636" y="1175214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91485F2-2C19-4113-B3C1-B643B528AFC5}"/>
              </a:ext>
            </a:extLst>
          </p:cNvPr>
          <p:cNvSpPr/>
          <p:nvPr/>
        </p:nvSpPr>
        <p:spPr>
          <a:xfrm>
            <a:off x="1559303" y="1612559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15983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35513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48196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민감한 개인정보를 제외한 회원정보 보여주기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“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?”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띄어주고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확인하면 회원 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1677451" y="1180081"/>
            <a:ext cx="6926220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5">
            <a:extLst>
              <a:ext uri="{FF2B5EF4-FFF2-40B4-BE49-F238E27FC236}">
                <a16:creationId xmlns:a16="http://schemas.microsoft.com/office/drawing/2014/main" id="{D67916ED-A79E-4F66-9CE9-813C6C03FE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95321"/>
              </p:ext>
            </p:extLst>
          </p:nvPr>
        </p:nvGraphicFramePr>
        <p:xfrm>
          <a:off x="1784655" y="2522483"/>
          <a:ext cx="6690885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177">
                  <a:extLst>
                    <a:ext uri="{9D8B030D-6E8A-4147-A177-3AD203B41FA5}">
                      <a16:colId xmlns:a16="http://schemas.microsoft.com/office/drawing/2014/main" val="3571291480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401191227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3213933534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95023035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2761892074"/>
                    </a:ext>
                  </a:extLst>
                </a:gridCol>
              </a:tblGrid>
              <a:tr h="1508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No.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가입일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216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858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68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2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785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194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DC073A-FCB5-43F4-B7D3-D3AA6E2ABEA5}"/>
              </a:ext>
            </a:extLst>
          </p:cNvPr>
          <p:cNvSpPr txBox="1"/>
          <p:nvPr/>
        </p:nvSpPr>
        <p:spPr>
          <a:xfrm>
            <a:off x="1721594" y="2153151"/>
            <a:ext cx="133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관리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664B6B-7608-4DA3-A674-E6889D539FB4}"/>
              </a:ext>
            </a:extLst>
          </p:cNvPr>
          <p:cNvSpPr/>
          <p:nvPr/>
        </p:nvSpPr>
        <p:spPr>
          <a:xfrm>
            <a:off x="1582628" y="190211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C145F78-D50D-45BD-8856-F599F0C8E354}"/>
              </a:ext>
            </a:extLst>
          </p:cNvPr>
          <p:cNvSpPr/>
          <p:nvPr/>
        </p:nvSpPr>
        <p:spPr>
          <a:xfrm>
            <a:off x="7107128" y="233781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7CB031-D8EC-465E-8958-286F8A3123C4}"/>
              </a:ext>
            </a:extLst>
          </p:cNvPr>
          <p:cNvSpPr/>
          <p:nvPr/>
        </p:nvSpPr>
        <p:spPr>
          <a:xfrm>
            <a:off x="3104444" y="50723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5592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71237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46185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산재등록 목록 검색필터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발생형태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산재등록 목록 테이블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09B36BA-6DA8-4C53-AFEB-F4E8C821AD97}"/>
              </a:ext>
            </a:extLst>
          </p:cNvPr>
          <p:cNvSpPr txBox="1"/>
          <p:nvPr/>
        </p:nvSpPr>
        <p:spPr>
          <a:xfrm>
            <a:off x="2241103" y="2388096"/>
            <a:ext cx="11338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검색 </a:t>
            </a:r>
            <a:r>
              <a:rPr lang="en-US" altLang="ko-KR" sz="1400" b="1" dirty="0"/>
              <a:t>/ </a:t>
            </a:r>
            <a:r>
              <a:rPr lang="ko-KR" altLang="en-US" sz="1400" b="1" dirty="0"/>
              <a:t>필터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14AB4E91-C744-C53F-5941-BD8F9F4B76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57626"/>
              </p:ext>
            </p:extLst>
          </p:nvPr>
        </p:nvGraphicFramePr>
        <p:xfrm>
          <a:off x="2108199" y="4098303"/>
          <a:ext cx="6203951" cy="1592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154">
                  <a:extLst>
                    <a:ext uri="{9D8B030D-6E8A-4147-A177-3AD203B41FA5}">
                      <a16:colId xmlns:a16="http://schemas.microsoft.com/office/drawing/2014/main" val="290832576"/>
                    </a:ext>
                  </a:extLst>
                </a:gridCol>
                <a:gridCol w="604130">
                  <a:extLst>
                    <a:ext uri="{9D8B030D-6E8A-4147-A177-3AD203B41FA5}">
                      <a16:colId xmlns:a16="http://schemas.microsoft.com/office/drawing/2014/main" val="102188575"/>
                    </a:ext>
                  </a:extLst>
                </a:gridCol>
                <a:gridCol w="772331">
                  <a:extLst>
                    <a:ext uri="{9D8B030D-6E8A-4147-A177-3AD203B41FA5}">
                      <a16:colId xmlns:a16="http://schemas.microsoft.com/office/drawing/2014/main" val="1300920205"/>
                    </a:ext>
                  </a:extLst>
                </a:gridCol>
                <a:gridCol w="1098149">
                  <a:extLst>
                    <a:ext uri="{9D8B030D-6E8A-4147-A177-3AD203B41FA5}">
                      <a16:colId xmlns:a16="http://schemas.microsoft.com/office/drawing/2014/main" val="878541107"/>
                    </a:ext>
                  </a:extLst>
                </a:gridCol>
                <a:gridCol w="669605">
                  <a:extLst>
                    <a:ext uri="{9D8B030D-6E8A-4147-A177-3AD203B41FA5}">
                      <a16:colId xmlns:a16="http://schemas.microsoft.com/office/drawing/2014/main" val="2804284854"/>
                    </a:ext>
                  </a:extLst>
                </a:gridCol>
                <a:gridCol w="721696">
                  <a:extLst>
                    <a:ext uri="{9D8B030D-6E8A-4147-A177-3AD203B41FA5}">
                      <a16:colId xmlns:a16="http://schemas.microsoft.com/office/drawing/2014/main" val="2733423004"/>
                    </a:ext>
                  </a:extLst>
                </a:gridCol>
                <a:gridCol w="769626">
                  <a:extLst>
                    <a:ext uri="{9D8B030D-6E8A-4147-A177-3AD203B41FA5}">
                      <a16:colId xmlns:a16="http://schemas.microsoft.com/office/drawing/2014/main" val="2614146688"/>
                    </a:ext>
                  </a:extLst>
                </a:gridCol>
                <a:gridCol w="1208260">
                  <a:extLst>
                    <a:ext uri="{9D8B030D-6E8A-4147-A177-3AD203B41FA5}">
                      <a16:colId xmlns:a16="http://schemas.microsoft.com/office/drawing/2014/main" val="1299462405"/>
                    </a:ext>
                  </a:extLst>
                </a:gridCol>
              </a:tblGrid>
              <a:tr h="2383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No.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회원명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업종 분류</a:t>
                      </a:r>
                      <a:r>
                        <a:rPr lang="en-US" altLang="ko-KR" sz="1100" dirty="0"/>
                        <a:t>1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업종 분류</a:t>
                      </a:r>
                      <a:r>
                        <a:rPr lang="en-US" altLang="ko-KR" sz="1100" dirty="0"/>
                        <a:t>2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발생형태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질병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발생일자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사고지역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8945175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제조업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출판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인쇄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 err="1"/>
                        <a:t>제본업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끼임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우측 손가락 골절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2023-11-01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서울시 강남구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064222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0072185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3091EE4C-4CE9-4ED1-ACA7-51708CFCA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007" y="2909510"/>
            <a:ext cx="3696216" cy="24768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0EEDECB-78EA-210D-B875-6E3AAE6C538E}"/>
              </a:ext>
            </a:extLst>
          </p:cNvPr>
          <p:cNvSpPr txBox="1"/>
          <p:nvPr/>
        </p:nvSpPr>
        <p:spPr>
          <a:xfrm>
            <a:off x="2241103" y="3546917"/>
            <a:ext cx="1894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회원 산재등록 목록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4973300-5F5D-335F-D59D-2BA289995F27}"/>
              </a:ext>
            </a:extLst>
          </p:cNvPr>
          <p:cNvSpPr/>
          <p:nvPr/>
        </p:nvSpPr>
        <p:spPr>
          <a:xfrm>
            <a:off x="1963171" y="254198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90C704-CDD5-9225-24B0-C42371073555}"/>
              </a:ext>
            </a:extLst>
          </p:cNvPr>
          <p:cNvSpPr/>
          <p:nvPr/>
        </p:nvSpPr>
        <p:spPr>
          <a:xfrm>
            <a:off x="1952075" y="387153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7FD89E1-8FB4-4D90-AEB3-0FCB6E7756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859" y="2968874"/>
            <a:ext cx="240484" cy="24048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1F2D5A1-ECEF-40E3-8168-83372110D37B}"/>
              </a:ext>
            </a:extLst>
          </p:cNvPr>
          <p:cNvSpPr txBox="1"/>
          <p:nvPr/>
        </p:nvSpPr>
        <p:spPr>
          <a:xfrm>
            <a:off x="1871703" y="1465441"/>
            <a:ext cx="1725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회원 산재 조회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28A418D-5B87-4491-9696-BBCCEEC25654}"/>
              </a:ext>
            </a:extLst>
          </p:cNvPr>
          <p:cNvSpPr/>
          <p:nvPr/>
        </p:nvSpPr>
        <p:spPr>
          <a:xfrm>
            <a:off x="-20489" y="1180080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FC14AB-BC62-4AED-98F8-76776A6C58DF}"/>
              </a:ext>
            </a:extLst>
          </p:cNvPr>
          <p:cNvSpPr/>
          <p:nvPr/>
        </p:nvSpPr>
        <p:spPr>
          <a:xfrm>
            <a:off x="3423858" y="60225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3659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08555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939568"/>
              </p:ext>
            </p:extLst>
          </p:nvPr>
        </p:nvGraphicFramePr>
        <p:xfrm>
          <a:off x="8603672" y="1180080"/>
          <a:ext cx="3588327" cy="5739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회원들이 등록한 리뷰 열람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테이블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상세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열람 하고싶은 리뷰 검색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D2ED75A3-C1B1-6944-2403-D1EC42282AF6}"/>
              </a:ext>
            </a:extLst>
          </p:cNvPr>
          <p:cNvGrpSpPr/>
          <p:nvPr/>
        </p:nvGrpSpPr>
        <p:grpSpPr>
          <a:xfrm>
            <a:off x="2522159" y="2319355"/>
            <a:ext cx="1932137" cy="3822366"/>
            <a:chOff x="308035" y="2064890"/>
            <a:chExt cx="2166717" cy="4621505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DAAD4B23-8DC2-005C-4070-DF563D7B3D78}"/>
                </a:ext>
              </a:extLst>
            </p:cNvPr>
            <p:cNvSpPr/>
            <p:nvPr/>
          </p:nvSpPr>
          <p:spPr>
            <a:xfrm>
              <a:off x="30803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1C568FB2-9E67-60F6-B99D-32DF7037BF65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E429D88C-05BE-F954-C287-D8E3946D3A94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5F9D515-7146-5D5C-5085-8750F36CBA2A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CF28D879-ADA5-71AF-D313-BF628F642CFA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3FECF496-6E84-5B9A-43FF-5B8F22CC486D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55567B12-B9DC-3980-B9E8-86AE919F40DB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584D4EF-1071-4B10-B0CC-F73DB44CFA1D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A5A20FE6-FCEE-9217-2592-8C2FFD476869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</p:grp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9698B42-7568-0FA7-9E24-99526805BF4E}"/>
              </a:ext>
            </a:extLst>
          </p:cNvPr>
          <p:cNvSpPr/>
          <p:nvPr/>
        </p:nvSpPr>
        <p:spPr>
          <a:xfrm>
            <a:off x="5190309" y="1806681"/>
            <a:ext cx="3040369" cy="37510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E29E2E-B92C-B987-4977-94C6A3C734F0}"/>
              </a:ext>
            </a:extLst>
          </p:cNvPr>
          <p:cNvSpPr/>
          <p:nvPr/>
        </p:nvSpPr>
        <p:spPr>
          <a:xfrm>
            <a:off x="6096000" y="1833019"/>
            <a:ext cx="2058099" cy="31235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검색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B33A41A-DAB7-80E9-153C-9DCC89077478}"/>
              </a:ext>
            </a:extLst>
          </p:cNvPr>
          <p:cNvGrpSpPr/>
          <p:nvPr/>
        </p:nvGrpSpPr>
        <p:grpSpPr>
          <a:xfrm>
            <a:off x="4451009" y="2319356"/>
            <a:ext cx="1805173" cy="3822365"/>
            <a:chOff x="2464455" y="2064890"/>
            <a:chExt cx="2166717" cy="4621505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754E66E-F266-5FE2-AE79-1650855F383C}"/>
                </a:ext>
              </a:extLst>
            </p:cNvPr>
            <p:cNvSpPr/>
            <p:nvPr/>
          </p:nvSpPr>
          <p:spPr>
            <a:xfrm>
              <a:off x="246445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255BF8E-A615-DDC5-43E5-C0FE462BF9AC}"/>
                </a:ext>
              </a:extLst>
            </p:cNvPr>
            <p:cNvSpPr/>
            <p:nvPr/>
          </p:nvSpPr>
          <p:spPr>
            <a:xfrm>
              <a:off x="246636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06AE7E4-C1D4-1389-9542-88E70125085A}"/>
                </a:ext>
              </a:extLst>
            </p:cNvPr>
            <p:cNvSpPr/>
            <p:nvPr/>
          </p:nvSpPr>
          <p:spPr>
            <a:xfrm>
              <a:off x="246636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2C75C338-76F1-107F-42FE-30893B17AD0A}"/>
                </a:ext>
              </a:extLst>
            </p:cNvPr>
            <p:cNvSpPr/>
            <p:nvPr/>
          </p:nvSpPr>
          <p:spPr>
            <a:xfrm>
              <a:off x="246446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513B201C-12D7-5B94-EEC9-7577A7FFFD1B}"/>
                </a:ext>
              </a:extLst>
            </p:cNvPr>
            <p:cNvSpPr/>
            <p:nvPr/>
          </p:nvSpPr>
          <p:spPr>
            <a:xfrm>
              <a:off x="246446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59C9A893-78BC-AA39-79E7-AC119FC8A42A}"/>
                </a:ext>
              </a:extLst>
            </p:cNvPr>
            <p:cNvSpPr/>
            <p:nvPr/>
          </p:nvSpPr>
          <p:spPr>
            <a:xfrm>
              <a:off x="246446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CDDC1614-7D20-DB22-B5AB-52EC0D21EE8B}"/>
                </a:ext>
              </a:extLst>
            </p:cNvPr>
            <p:cNvSpPr/>
            <p:nvPr/>
          </p:nvSpPr>
          <p:spPr>
            <a:xfrm>
              <a:off x="246446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A1450180-0E97-EDBB-B6DB-CB2473798304}"/>
                </a:ext>
              </a:extLst>
            </p:cNvPr>
            <p:cNvSpPr/>
            <p:nvPr/>
          </p:nvSpPr>
          <p:spPr>
            <a:xfrm>
              <a:off x="246446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9FD7DF7-288F-5E0C-233E-08A33F33F418}"/>
                </a:ext>
              </a:extLst>
            </p:cNvPr>
            <p:cNvSpPr/>
            <p:nvPr/>
          </p:nvSpPr>
          <p:spPr>
            <a:xfrm>
              <a:off x="246446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019DC55-76DC-D8C9-E4DE-45000C546144}"/>
              </a:ext>
            </a:extLst>
          </p:cNvPr>
          <p:cNvGrpSpPr/>
          <p:nvPr/>
        </p:nvGrpSpPr>
        <p:grpSpPr>
          <a:xfrm>
            <a:off x="6257882" y="2319355"/>
            <a:ext cx="1974696" cy="3822366"/>
            <a:chOff x="5492884" y="2064890"/>
            <a:chExt cx="2739693" cy="4621505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83DE84B6-AE7B-49EE-1F15-4D101387CB4B}"/>
                </a:ext>
              </a:extLst>
            </p:cNvPr>
            <p:cNvSpPr/>
            <p:nvPr/>
          </p:nvSpPr>
          <p:spPr>
            <a:xfrm>
              <a:off x="5492884" y="2064890"/>
              <a:ext cx="2737787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AFADA21-1195-0074-4616-8C7FC98F6562}"/>
                </a:ext>
              </a:extLst>
            </p:cNvPr>
            <p:cNvSpPr/>
            <p:nvPr/>
          </p:nvSpPr>
          <p:spPr>
            <a:xfrm>
              <a:off x="5494789" y="2334453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DB277293-6632-DFCB-C8C4-E844F28C1BEE}"/>
                </a:ext>
              </a:extLst>
            </p:cNvPr>
            <p:cNvSpPr/>
            <p:nvPr/>
          </p:nvSpPr>
          <p:spPr>
            <a:xfrm>
              <a:off x="5494789" y="2881569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849E0BE9-3CEB-3569-DA93-5B24EC5C7B8E}"/>
                </a:ext>
              </a:extLst>
            </p:cNvPr>
            <p:cNvSpPr/>
            <p:nvPr/>
          </p:nvSpPr>
          <p:spPr>
            <a:xfrm>
              <a:off x="5492890" y="3429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891CB0D1-CB53-9955-F570-197594361061}"/>
                </a:ext>
              </a:extLst>
            </p:cNvPr>
            <p:cNvSpPr/>
            <p:nvPr/>
          </p:nvSpPr>
          <p:spPr>
            <a:xfrm>
              <a:off x="5492890" y="3968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989F8A61-1A2B-9FC1-9BDF-4BDA1B70FF22}"/>
                </a:ext>
              </a:extLst>
            </p:cNvPr>
            <p:cNvSpPr/>
            <p:nvPr/>
          </p:nvSpPr>
          <p:spPr>
            <a:xfrm>
              <a:off x="5492889" y="5062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D36E6EC0-31D2-C5AA-2085-03B2D3BD3DC2}"/>
                </a:ext>
              </a:extLst>
            </p:cNvPr>
            <p:cNvSpPr/>
            <p:nvPr/>
          </p:nvSpPr>
          <p:spPr>
            <a:xfrm>
              <a:off x="5492889" y="4515431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7FE787AB-89B3-5A0E-8090-C9A1CCBEDDC9}"/>
                </a:ext>
              </a:extLst>
            </p:cNvPr>
            <p:cNvSpPr/>
            <p:nvPr/>
          </p:nvSpPr>
          <p:spPr>
            <a:xfrm>
              <a:off x="5492889" y="5601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009F39EF-3ED6-7CB6-9A31-074F8DACD801}"/>
                </a:ext>
              </a:extLst>
            </p:cNvPr>
            <p:cNvSpPr/>
            <p:nvPr/>
          </p:nvSpPr>
          <p:spPr>
            <a:xfrm>
              <a:off x="5492889" y="6138964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F529F664-9076-B942-8B0D-C42136881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173" y="1866583"/>
            <a:ext cx="240484" cy="240484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56E72F8-90C8-3C96-739C-DC92FF370D93}"/>
              </a:ext>
            </a:extLst>
          </p:cNvPr>
          <p:cNvSpPr/>
          <p:nvPr/>
        </p:nvSpPr>
        <p:spPr>
          <a:xfrm>
            <a:off x="5561399" y="1833019"/>
            <a:ext cx="544709" cy="312351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필터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59136CD-7C8E-417F-9224-7C9B14E15295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ACBA26F-100D-45B0-AB33-1D16F00DA2EA}"/>
              </a:ext>
            </a:extLst>
          </p:cNvPr>
          <p:cNvGrpSpPr/>
          <p:nvPr/>
        </p:nvGrpSpPr>
        <p:grpSpPr>
          <a:xfrm>
            <a:off x="1676599" y="2319355"/>
            <a:ext cx="846407" cy="3822366"/>
            <a:chOff x="308035" y="2064890"/>
            <a:chExt cx="2166717" cy="4621505"/>
          </a:xfrm>
        </p:grpSpPr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8EA786-74C0-490E-8C98-5574C0D5A021}"/>
                </a:ext>
              </a:extLst>
            </p:cNvPr>
            <p:cNvSpPr/>
            <p:nvPr/>
          </p:nvSpPr>
          <p:spPr>
            <a:xfrm>
              <a:off x="308035" y="2064890"/>
              <a:ext cx="2164810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No.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8B85F1D4-1E92-4B5D-9D2E-C42668C1BB23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954C1F01-5151-4799-AC1F-AFCF6F08C6FF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5AA13D4-937C-46F2-A45B-B04D116D6182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6C77251-0CF0-4835-B258-E5DD4DA804E3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F7F0C23-CC3B-4B90-8EA9-C3CAEC8E0FEC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6344F7A-889E-4380-AB03-A57AA30FAE2D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84BFA119-23A3-445B-95FC-29C0BC531693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1958993-0210-432E-9364-616F70932EE4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161556C-9351-4CBC-A78A-949C462371AF}"/>
              </a:ext>
            </a:extLst>
          </p:cNvPr>
          <p:cNvSpPr/>
          <p:nvPr/>
        </p:nvSpPr>
        <p:spPr>
          <a:xfrm>
            <a:off x="1508762" y="208562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98D9849-85D3-4009-AD3F-F70A114BCF36}"/>
              </a:ext>
            </a:extLst>
          </p:cNvPr>
          <p:cNvSpPr/>
          <p:nvPr/>
        </p:nvSpPr>
        <p:spPr>
          <a:xfrm>
            <a:off x="5056217" y="163154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1656F4-56E4-4455-B075-3FCEB399C5DD}"/>
              </a:ext>
            </a:extLst>
          </p:cNvPr>
          <p:cNvSpPr txBox="1"/>
          <p:nvPr/>
        </p:nvSpPr>
        <p:spPr>
          <a:xfrm>
            <a:off x="1722329" y="1465545"/>
            <a:ext cx="1233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DE143C4-36A8-48D7-BC96-BC102D6414DC}"/>
              </a:ext>
            </a:extLst>
          </p:cNvPr>
          <p:cNvSpPr/>
          <p:nvPr/>
        </p:nvSpPr>
        <p:spPr>
          <a:xfrm>
            <a:off x="2956142" y="6405224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760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071372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427804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리뷰에 대한 정보를 자세히 알 수 있는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목록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관리 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BAB13593-1D47-439D-0208-56CDE35154DF}"/>
              </a:ext>
            </a:extLst>
          </p:cNvPr>
          <p:cNvSpPr/>
          <p:nvPr/>
        </p:nvSpPr>
        <p:spPr>
          <a:xfrm>
            <a:off x="1544923" y="2108565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작성자 </a:t>
            </a:r>
            <a:r>
              <a:rPr lang="en-US" altLang="ko-KR" dirty="0"/>
              <a:t>ID: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1DAA5C-4A6E-0279-F7AC-903F06149C92}"/>
              </a:ext>
            </a:extLst>
          </p:cNvPr>
          <p:cNvSpPr/>
          <p:nvPr/>
        </p:nvSpPr>
        <p:spPr>
          <a:xfrm>
            <a:off x="1544923" y="2538972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병원 이름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79D7F8-E72E-D61B-AD18-A7B5423AAE47}"/>
              </a:ext>
            </a:extLst>
          </p:cNvPr>
          <p:cNvSpPr/>
          <p:nvPr/>
        </p:nvSpPr>
        <p:spPr>
          <a:xfrm>
            <a:off x="1544923" y="297373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 날짜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EF7147-F621-C3C1-7721-7AB4C78BF49B}"/>
              </a:ext>
            </a:extLst>
          </p:cNvPr>
          <p:cNvSpPr/>
          <p:nvPr/>
        </p:nvSpPr>
        <p:spPr>
          <a:xfrm>
            <a:off x="1277655" y="343159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3504B8-B2AD-E42A-C759-8FCCA5E56F53}"/>
              </a:ext>
            </a:extLst>
          </p:cNvPr>
          <p:cNvSpPr/>
          <p:nvPr/>
        </p:nvSpPr>
        <p:spPr>
          <a:xfrm>
            <a:off x="3265145" y="2058175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468325-A4C9-524A-EE62-42C7168661A5}"/>
              </a:ext>
            </a:extLst>
          </p:cNvPr>
          <p:cNvSpPr/>
          <p:nvPr/>
        </p:nvSpPr>
        <p:spPr>
          <a:xfrm>
            <a:off x="3265145" y="2488583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85B46E-9324-FED2-56F5-1B5F881F0202}"/>
              </a:ext>
            </a:extLst>
          </p:cNvPr>
          <p:cNvSpPr/>
          <p:nvPr/>
        </p:nvSpPr>
        <p:spPr>
          <a:xfrm>
            <a:off x="3265145" y="2909699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186B4-B3F4-AA7E-F0AA-51397BD4E892}"/>
              </a:ext>
            </a:extLst>
          </p:cNvPr>
          <p:cNvSpPr/>
          <p:nvPr/>
        </p:nvSpPr>
        <p:spPr>
          <a:xfrm>
            <a:off x="1697276" y="3802320"/>
            <a:ext cx="6716933" cy="23748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11BE5B9-5EA5-7522-2357-C644713B6667}"/>
              </a:ext>
            </a:extLst>
          </p:cNvPr>
          <p:cNvSpPr/>
          <p:nvPr/>
        </p:nvSpPr>
        <p:spPr>
          <a:xfrm>
            <a:off x="7529305" y="6488055"/>
            <a:ext cx="703277" cy="3266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C9FB096-78E5-1907-8F7F-8153F6570271}"/>
              </a:ext>
            </a:extLst>
          </p:cNvPr>
          <p:cNvSpPr/>
          <p:nvPr/>
        </p:nvSpPr>
        <p:spPr>
          <a:xfrm>
            <a:off x="7396005" y="6412061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21CB8A4-912E-4F2C-86B1-22CEB349C17E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4B2BC-F342-43BC-A7C9-B1C7D5E8B2D9}"/>
              </a:ext>
            </a:extLst>
          </p:cNvPr>
          <p:cNvSpPr txBox="1"/>
          <p:nvPr/>
        </p:nvSpPr>
        <p:spPr>
          <a:xfrm>
            <a:off x="1747381" y="1421704"/>
            <a:ext cx="1517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상세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02DE7B5-11F2-4664-AF9F-75F43C37C620}"/>
              </a:ext>
            </a:extLst>
          </p:cNvPr>
          <p:cNvSpPr/>
          <p:nvPr/>
        </p:nvSpPr>
        <p:spPr>
          <a:xfrm>
            <a:off x="1745274" y="1300723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815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1802</TotalTime>
  <Words>4641</Words>
  <Application>Microsoft Office PowerPoint</Application>
  <PresentationFormat>와이드스크린</PresentationFormat>
  <Paragraphs>1747</Paragraphs>
  <Slides>58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4" baseType="lpstr">
      <vt:lpstr>ui-sans-serif</vt:lpstr>
      <vt:lpstr>맑은 고딕</vt:lpstr>
      <vt:lpstr>맑은 고딕</vt:lpstr>
      <vt:lpstr>Arial</vt:lpstr>
      <vt:lpstr>Consolas</vt:lpstr>
      <vt:lpstr>Office 테마</vt:lpstr>
      <vt:lpstr>스토리보드 산재통계</vt:lpstr>
      <vt:lpstr>목차</vt:lpstr>
      <vt:lpstr>API</vt:lpstr>
      <vt:lpstr>크롤링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관리자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131</cp:revision>
  <dcterms:created xsi:type="dcterms:W3CDTF">2025-11-24T01:38:34Z</dcterms:created>
  <dcterms:modified xsi:type="dcterms:W3CDTF">2025-11-27T06:44:25Z</dcterms:modified>
</cp:coreProperties>
</file>