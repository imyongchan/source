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256" r:id="rId2"/>
    <p:sldId id="311" r:id="rId3"/>
    <p:sldId id="312" r:id="rId4"/>
    <p:sldId id="313" r:id="rId5"/>
    <p:sldId id="262" r:id="rId6"/>
    <p:sldId id="257" r:id="rId7"/>
    <p:sldId id="266" r:id="rId8"/>
    <p:sldId id="261" r:id="rId9"/>
    <p:sldId id="296" r:id="rId10"/>
    <p:sldId id="306" r:id="rId11"/>
    <p:sldId id="307" r:id="rId12"/>
    <p:sldId id="308" r:id="rId13"/>
    <p:sldId id="267" r:id="rId14"/>
    <p:sldId id="268" r:id="rId15"/>
    <p:sldId id="270" r:id="rId16"/>
    <p:sldId id="271" r:id="rId17"/>
    <p:sldId id="273" r:id="rId18"/>
    <p:sldId id="274" r:id="rId19"/>
    <p:sldId id="310" r:id="rId20"/>
    <p:sldId id="285" r:id="rId21"/>
    <p:sldId id="283" r:id="rId22"/>
    <p:sldId id="278" r:id="rId23"/>
    <p:sldId id="282" r:id="rId24"/>
    <p:sldId id="281" r:id="rId25"/>
    <p:sldId id="294" r:id="rId26"/>
    <p:sldId id="295" r:id="rId27"/>
    <p:sldId id="263" r:id="rId28"/>
    <p:sldId id="265" r:id="rId29"/>
    <p:sldId id="317" r:id="rId30"/>
    <p:sldId id="258" r:id="rId31"/>
    <p:sldId id="318" r:id="rId32"/>
    <p:sldId id="319" r:id="rId33"/>
    <p:sldId id="320" r:id="rId34"/>
    <p:sldId id="321" r:id="rId35"/>
    <p:sldId id="280" r:id="rId36"/>
    <p:sldId id="291" r:id="rId37"/>
    <p:sldId id="299" r:id="rId38"/>
    <p:sldId id="300" r:id="rId39"/>
    <p:sldId id="301" r:id="rId40"/>
    <p:sldId id="305" r:id="rId41"/>
    <p:sldId id="286" r:id="rId42"/>
    <p:sldId id="292" r:id="rId43"/>
    <p:sldId id="287" r:id="rId44"/>
    <p:sldId id="288" r:id="rId45"/>
    <p:sldId id="290" r:id="rId46"/>
    <p:sldId id="293" r:id="rId47"/>
    <p:sldId id="289" r:id="rId48"/>
    <p:sldId id="302" r:id="rId49"/>
    <p:sldId id="264" r:id="rId50"/>
    <p:sldId id="303" r:id="rId51"/>
    <p:sldId id="304" r:id="rId52"/>
    <p:sldId id="314" r:id="rId53"/>
    <p:sldId id="315" r:id="rId54"/>
    <p:sldId id="323" r:id="rId55"/>
    <p:sldId id="322" r:id="rId56"/>
    <p:sldId id="325" r:id="rId57"/>
    <p:sldId id="324" r:id="rId58"/>
    <p:sldId id="297" r:id="rId5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1011" autoAdjust="0"/>
  </p:normalViewPr>
  <p:slideViewPr>
    <p:cSldViewPr snapToGrid="0">
      <p:cViewPr varScale="1">
        <p:scale>
          <a:sx n="104" d="100"/>
          <a:sy n="104" d="100"/>
        </p:scale>
        <p:origin x="7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13A-48F6-A7D0-A01141C5F7A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13A-48F6-A7D0-A01141C5F7A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13A-48F6-A7D0-A01141C5F7A7}"/>
              </c:ext>
            </c:extLst>
          </c:dPt>
          <c:val>
            <c:numRef>
              <c:f>Sheet1!$B$2:$B$4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판매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Sheet1!$A$2:$A$4</c15:sqref>
                        </c15:formulaRef>
                      </c:ext>
                    </c:extLst>
                    <c:strCache>
                      <c:ptCount val="3"/>
                      <c:pt idx="0">
                        <c:v>1분기</c:v>
                      </c:pt>
                      <c:pt idx="1">
                        <c:v>2분기</c:v>
                      </c:pt>
                      <c:pt idx="2">
                        <c:v>3분기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D4D1-45E9-8358-D3C8FA214E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DDFF91-717C-4EE9-9C3F-09298E32B65B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45F57A-A7A3-460B-A3C5-F840737745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1684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4697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Ref : </a:t>
            </a:r>
            <a:r>
              <a:rPr lang="ko-KR" altLang="en-US" dirty="0" err="1"/>
              <a:t>쿠팡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531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196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7175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87561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회원가입의 직종이랑 직무코드 겹치는듯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55560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회원가입의 직종이랑 직무코드 겹치는듯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03138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회원가입의 직종이랑 직무코드 겹치는듯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6077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작성자도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75120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32097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구성해야함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8416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75AC-7764-4B49-84EE-E35E15643FBD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464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75AC-7764-4B49-84EE-E35E15643FBD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9988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22121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작성자도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5179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BF445A-7219-45CC-84A4-B8233C141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5D0787E-6A0E-409C-A62B-F957BAF998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7D8E41-41F0-481C-99F5-596154A95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76CB26-82DD-439C-BB87-F51F68507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945926-5937-403E-A2AE-FE6713249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0665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1625D9-0240-48A3-A7CA-0606D5C8C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97F432-4EFB-43F5-AF68-14E225192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D91237-E1E9-4600-A6E8-42178C3DB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899AB1-7EBD-4C38-BE12-194D24CCC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EAC3DF-21B2-4573-A20F-B95EAAD31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4709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05DD34-BA4E-40E9-98F6-2AB80E8A8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8C4660-982D-47F4-A0B3-16771B27C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4C207-2820-4D68-9D04-E2012099D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0F5A2B-A048-4326-BEF5-242045A0B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48D398-7098-4CFE-9D22-49F7B3E06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1483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BF731-5355-4438-BD17-672D45B79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95C5E3-DD9F-4B06-AECE-1F5252EF77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1A5144-08E6-45BD-AA8D-41AB17786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D695DE-FC4E-4257-B793-DC2F38EF7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A7A258-A9AA-4174-959C-247351FCE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4B3C00-EA0F-4F60-9BBF-241E78CCA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138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EF529F-9D2A-4109-9757-113D0351F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082E3A-CDE9-4B1F-8640-A46BC239B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22DF67C-3A67-4E6F-A5E4-1899B27226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0577BB0-77C2-4C76-AED1-C0B993982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AB154-6BF4-4A35-9FDF-AF21F5EBBC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2F238E0-2BEA-4676-987B-68244B85D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5183CA9-EC6B-4C18-81E4-FC4451C49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B19213-122D-42CE-B4F6-14891B9D1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599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FE33D-C1AF-46D8-A49F-76C76B438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D982B2-76A3-42A2-9F50-C1F86E67C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A4D668-2E63-4DD9-89E2-23D3FE890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BAF317-C885-4E56-B3F0-2A2C9129B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959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BCDB548-2A8A-40EB-9E2B-0644EE1FD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31AE109-0C75-4FEF-9458-31FFC3ABD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2E2398-DB24-4A57-87AC-A32EE0B48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645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38F58C-33AE-4103-AFB3-FCEA17693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6163BB-E27E-4D3F-82AC-32D36E440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254FE4-AC80-4DBE-8CAA-616CE0443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41C060-26C8-4C7E-AAE9-F10FA1DE6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6E2991-7DA1-4C3B-A0FB-2E27B1600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244C9F-4EF2-4DC5-BDFE-17709090A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928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3CC52D-D665-431E-AD2C-0C2CB8E63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152C73F-8A07-42CB-97F4-66319120BE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A23B3A-7732-4482-8ECD-529F4DA84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45679A-CA04-4763-BE4D-E37165CEF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639F77-E6AC-48D6-9978-3AAFFD6AE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975227-D572-4A83-A1ED-431B03A77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653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2F6F2B-7D20-4404-9BDD-760D7CF88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4D7786-F7BF-42A8-8D4D-1D56AAD72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BDB759-CD4E-453B-9386-F37291A3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76A4BF-EE32-48F1-A719-000BE833C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9AE2E0-A4C5-4C8F-A46A-7DB631ACD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2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1215E3-378D-44B3-920A-B6B27215C9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2455D7-2D57-4438-ACCB-5993631B4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C26065-1FB2-4F8E-BC2D-9748CD9C9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72751E-9414-499F-B378-9980F5D6B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FCD185-1063-4156-B350-8B413C1A7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397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4C7BF92-72DE-4B94-9A1F-5A41D99CA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164FA9-4957-4742-AE2F-2B941972A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12D05E-6D5B-4D2C-983D-164ED01796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70BE70-DC93-4C0C-BED1-8C57C6BBD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03A512-BC1F-4D8D-B14C-40B253D4A0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003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ostcode.map.daum.net/guid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kosha.or.kr/archive/cent-archive/indust-arch/indust-page1" TargetMode="External"/><Relationship Id="rId2" Type="http://schemas.openxmlformats.org/officeDocument/2006/relationships/hyperlink" Target="http://sanjaenews.co.kr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omwel.or.kr/comwel/medi/orsc.jsp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comwel.or.kr/comwel/medi/orsc.jsp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7F733-D0AF-4E22-9ACD-628454BDF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74572"/>
          </a:xfrm>
        </p:spPr>
        <p:txBody>
          <a:bodyPr/>
          <a:lstStyle/>
          <a:p>
            <a:r>
              <a:rPr lang="ko-KR" altLang="en-US" dirty="0"/>
              <a:t>스토리보드 산재통계</a:t>
            </a:r>
          </a:p>
        </p:txBody>
      </p:sp>
    </p:spTree>
    <p:extLst>
      <p:ext uri="{BB962C8B-B14F-4D97-AF65-F5344CB8AC3E}">
        <p14:creationId xmlns:p14="http://schemas.microsoft.com/office/powerpoint/2010/main" val="1021928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BA063F-D905-4937-8ABC-3A50C4DF7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6E11D5-FA4D-468B-9D94-5167DC122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77500" lnSpcReduction="20000"/>
          </a:bodyPr>
          <a:lstStyle/>
          <a:p>
            <a:r>
              <a:rPr lang="en-US" altLang="ko-KR" dirty="0"/>
              <a:t>API</a:t>
            </a:r>
          </a:p>
          <a:p>
            <a:r>
              <a:rPr lang="ko-KR" altLang="en-US" dirty="0" err="1"/>
              <a:t>크롤링</a:t>
            </a:r>
            <a:endParaRPr lang="en-US" altLang="ko-KR" dirty="0"/>
          </a:p>
          <a:p>
            <a:r>
              <a:rPr lang="ko-KR" altLang="en-US" dirty="0"/>
              <a:t>헤더</a:t>
            </a:r>
            <a:r>
              <a:rPr lang="en-US" altLang="ko-KR" dirty="0"/>
              <a:t>, </a:t>
            </a:r>
            <a:r>
              <a:rPr lang="ko-KR" altLang="en-US" dirty="0"/>
              <a:t>메인</a:t>
            </a:r>
            <a:endParaRPr lang="en-US" altLang="ko-KR" dirty="0"/>
          </a:p>
          <a:p>
            <a:r>
              <a:rPr lang="ko-KR" altLang="en-US" dirty="0"/>
              <a:t>소개</a:t>
            </a:r>
            <a:endParaRPr lang="en-US" altLang="ko-KR" dirty="0"/>
          </a:p>
          <a:p>
            <a:r>
              <a:rPr lang="ko-KR" altLang="en-US" dirty="0"/>
              <a:t>회원가입</a:t>
            </a:r>
            <a:endParaRPr lang="en-US" altLang="ko-KR" dirty="0"/>
          </a:p>
          <a:p>
            <a:r>
              <a:rPr lang="ko-KR" altLang="en-US" dirty="0"/>
              <a:t>마이페이지</a:t>
            </a:r>
            <a:endParaRPr lang="en-US" altLang="ko-KR" dirty="0"/>
          </a:p>
          <a:p>
            <a:r>
              <a:rPr lang="ko-KR" altLang="en-US" dirty="0"/>
              <a:t>산재 뉴스</a:t>
            </a:r>
            <a:endParaRPr lang="en-US" altLang="ko-KR" dirty="0"/>
          </a:p>
          <a:p>
            <a:r>
              <a:rPr lang="ko-KR" altLang="en-US" dirty="0"/>
              <a:t>산재 통계</a:t>
            </a:r>
            <a:endParaRPr lang="en-US" altLang="ko-KR" dirty="0"/>
          </a:p>
          <a:p>
            <a:r>
              <a:rPr lang="ko-KR" altLang="en-US" dirty="0"/>
              <a:t>안전 자료실</a:t>
            </a:r>
            <a:endParaRPr lang="en-US" altLang="ko-KR" dirty="0"/>
          </a:p>
          <a:p>
            <a:r>
              <a:rPr lang="ko-KR" altLang="en-US" dirty="0"/>
              <a:t>주변 산재 검색</a:t>
            </a:r>
            <a:endParaRPr lang="en-US" altLang="ko-KR" dirty="0"/>
          </a:p>
          <a:p>
            <a:r>
              <a:rPr lang="ko-KR" altLang="en-US" dirty="0"/>
              <a:t>주변 병원 검색</a:t>
            </a:r>
            <a:endParaRPr lang="en-US" altLang="ko-KR" dirty="0"/>
          </a:p>
          <a:p>
            <a:r>
              <a:rPr lang="ko-KR" altLang="en-US" dirty="0"/>
              <a:t>관리자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2450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22BFFE-C749-4DA6-89A4-9465C7BAD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BEACF3-F952-44E5-A6E6-8E02014F2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 sz="1800" dirty="0" err="1"/>
              <a:t>Daum</a:t>
            </a:r>
            <a:r>
              <a:rPr lang="en-US" altLang="ko-KR" sz="1800" dirty="0"/>
              <a:t> </a:t>
            </a:r>
            <a:r>
              <a:rPr lang="ko-KR" altLang="en-US" sz="1800" dirty="0"/>
              <a:t>주소 </a:t>
            </a:r>
            <a:r>
              <a:rPr lang="en-US" altLang="ko-KR" sz="1800" dirty="0"/>
              <a:t>API</a:t>
            </a:r>
          </a:p>
          <a:p>
            <a:pPr marL="0" indent="0">
              <a:buNone/>
            </a:pPr>
            <a:r>
              <a:rPr lang="en-US" altLang="ko-KR" sz="1800" dirty="0"/>
              <a:t> - </a:t>
            </a:r>
            <a:r>
              <a:rPr lang="en-US" altLang="ko-KR" sz="1800" dirty="0">
                <a:hlinkClick r:id="rId2"/>
              </a:rPr>
              <a:t>https://postcode.map.daum.net/guide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r>
              <a:rPr lang="en-US" altLang="ko-KR" sz="1800" dirty="0" err="1"/>
              <a:t>KakaoMap</a:t>
            </a:r>
            <a:r>
              <a:rPr lang="en-US" altLang="ko-KR" sz="1800" dirty="0"/>
              <a:t> API</a:t>
            </a:r>
          </a:p>
          <a:p>
            <a:pPr marL="0" indent="0">
              <a:buNone/>
            </a:pPr>
            <a:r>
              <a:rPr lang="en-US" altLang="ko-KR" sz="1800" dirty="0"/>
              <a:t> - </a:t>
            </a:r>
            <a:r>
              <a:rPr lang="en-US" altLang="ko-KR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https://dapi.kakao.com/v2/local/search/address.json</a:t>
            </a:r>
            <a:endParaRPr lang="en-US" altLang="ko-KR" sz="1800" dirty="0"/>
          </a:p>
          <a:p>
            <a:endParaRPr lang="en-US" altLang="ko-KR" sz="1800" dirty="0"/>
          </a:p>
          <a:p>
            <a:r>
              <a:rPr lang="ko-KR" altLang="en-US" sz="1800" dirty="0" err="1"/>
              <a:t>산업재해수</a:t>
            </a:r>
            <a:r>
              <a:rPr lang="ko-KR" altLang="en-US" sz="1800" dirty="0"/>
              <a:t> </a:t>
            </a:r>
            <a:r>
              <a:rPr lang="en-US" altLang="ko-KR" sz="1800" dirty="0"/>
              <a:t>API</a:t>
            </a:r>
          </a:p>
          <a:p>
            <a:pPr marL="0" indent="0">
              <a:buNone/>
            </a:pPr>
            <a:r>
              <a:rPr lang="en-US" altLang="ko-KR" sz="1800" dirty="0"/>
              <a:t> - https://safemap.go.kr/opna/data/dataView.do?objtId=178</a:t>
            </a:r>
          </a:p>
          <a:p>
            <a:endParaRPr lang="en-US" altLang="ko-KR" sz="1800" dirty="0"/>
          </a:p>
          <a:p>
            <a:r>
              <a:rPr lang="en-US" altLang="ko-KR" sz="1800" dirty="0" err="1"/>
              <a:t>Kosis</a:t>
            </a:r>
            <a:r>
              <a:rPr lang="en-US" altLang="ko-KR" sz="1800" dirty="0"/>
              <a:t> API(</a:t>
            </a:r>
            <a:r>
              <a:rPr lang="ko-KR" altLang="en-US" sz="1800" dirty="0"/>
              <a:t>고용노동통계</a:t>
            </a:r>
            <a:r>
              <a:rPr lang="en-US" altLang="ko-KR" sz="1800" dirty="0"/>
              <a:t>)</a:t>
            </a:r>
          </a:p>
          <a:p>
            <a:pPr marL="0" indent="0">
              <a:buNone/>
            </a:pPr>
            <a:r>
              <a:rPr lang="en-US" altLang="ko-KR" sz="1800" dirty="0"/>
              <a:t> - </a:t>
            </a:r>
            <a:r>
              <a:rPr lang="en-US" altLang="ko-KR" sz="1200" dirty="0"/>
              <a:t>ttps://laborstat.moel.go.kr/hmp/tblInfo/TblInfoList.do?menuId=0010001100101102&amp;leftMenuId=0010001100101&amp;vwCdVal=MT_PTITLE&amp;upListVal=118_905</a:t>
            </a:r>
          </a:p>
          <a:p>
            <a:endParaRPr lang="en-US" altLang="ko-KR" sz="1800" dirty="0"/>
          </a:p>
          <a:p>
            <a:r>
              <a:rPr lang="ko-KR" altLang="en-US" sz="1800" dirty="0"/>
              <a:t>산재지정병원 </a:t>
            </a:r>
            <a:r>
              <a:rPr lang="en-US" altLang="ko-KR" sz="1800" dirty="0"/>
              <a:t>API</a:t>
            </a:r>
          </a:p>
          <a:p>
            <a:pPr marL="0" indent="0">
              <a:buNone/>
            </a:pPr>
            <a:r>
              <a:rPr lang="en-US" altLang="ko-KR" sz="1800" dirty="0"/>
              <a:t> - https://www.safemap.go.kr/</a:t>
            </a:r>
          </a:p>
        </p:txBody>
      </p:sp>
    </p:spTree>
    <p:extLst>
      <p:ext uri="{BB962C8B-B14F-4D97-AF65-F5344CB8AC3E}">
        <p14:creationId xmlns:p14="http://schemas.microsoft.com/office/powerpoint/2010/main" val="3416388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8C647-197F-472C-8D93-CE75798E7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크롤링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5A2527-23FB-4DE3-B932-CAEAC3F53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산재뉴스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en-US" altLang="ko-KR" dirty="0">
                <a:hlinkClick r:id="rId2"/>
              </a:rPr>
              <a:t>http://sanjaenews.co.kr/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 err="1"/>
              <a:t>산업안전포털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en-US" altLang="ko-KR" dirty="0">
                <a:hlinkClick r:id="rId3"/>
              </a:rPr>
              <a:t>https://portal.kosha.or.kr/archive/cent-archive/indust-arch/indust-page1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산재지정 의료기관 찾기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en-US" altLang="ko-KR" dirty="0">
                <a:hlinkClick r:id="rId4"/>
              </a:rPr>
              <a:t>https://www.comwel.or.kr/comwel/medi/orsc.jsp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3921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63FC1E-53BF-41EE-A318-AAEAA378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메인 </a:t>
            </a:r>
            <a:r>
              <a:rPr lang="en-US" altLang="ko-KR" dirty="0"/>
              <a:t>, </a:t>
            </a:r>
            <a:r>
              <a:rPr lang="ko-KR" altLang="en-US" dirty="0"/>
              <a:t>헤더</a:t>
            </a:r>
          </a:p>
        </p:txBody>
      </p:sp>
    </p:spTree>
    <p:extLst>
      <p:ext uri="{BB962C8B-B14F-4D97-AF65-F5344CB8AC3E}">
        <p14:creationId xmlns:p14="http://schemas.microsoft.com/office/powerpoint/2010/main" val="360651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787459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header,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685321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비로그인시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로그인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로그인 페이지 이동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회원가입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회원가입 페이지 이동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4025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864350" y="1432535"/>
            <a:ext cx="1615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로그인 </a:t>
            </a:r>
            <a:r>
              <a:rPr lang="en-US" altLang="ko-KR" sz="1400" dirty="0"/>
              <a:t>| </a:t>
            </a:r>
            <a:r>
              <a:rPr lang="ko-KR" altLang="en-US" sz="1400" dirty="0"/>
              <a:t>회원가입</a:t>
            </a:r>
          </a:p>
        </p:txBody>
      </p:sp>
      <p:graphicFrame>
        <p:nvGraphicFramePr>
          <p:cNvPr id="57" name="표 57">
            <a:extLst>
              <a:ext uri="{FF2B5EF4-FFF2-40B4-BE49-F238E27FC236}">
                <a16:creationId xmlns:a16="http://schemas.microsoft.com/office/drawing/2014/main" id="{01494A31-BFA9-4644-BF9E-FA34A263B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472296"/>
              </p:ext>
            </p:extLst>
          </p:nvPr>
        </p:nvGraphicFramePr>
        <p:xfrm>
          <a:off x="351394" y="2687320"/>
          <a:ext cx="8128000" cy="1400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75931139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147391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524904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416117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565327"/>
                    </a:ext>
                  </a:extLst>
                </a:gridCol>
              </a:tblGrid>
              <a:tr h="27489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지도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69175"/>
                  </a:ext>
                </a:extLst>
              </a:tr>
              <a:tr h="5149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서비스 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산재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807803"/>
                  </a:ext>
                </a:extLst>
              </a:tr>
              <a:tr h="54979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핵심 기능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67624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89BABEEB-D61E-4572-8483-5C33A5C4272A}"/>
              </a:ext>
            </a:extLst>
          </p:cNvPr>
          <p:cNvSpPr/>
          <p:nvPr/>
        </p:nvSpPr>
        <p:spPr>
          <a:xfrm>
            <a:off x="6864349" y="141210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77521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741926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header,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042645"/>
              </p:ext>
            </p:extLst>
          </p:nvPr>
        </p:nvGraphicFramePr>
        <p:xfrm>
          <a:off x="8603672" y="1180080"/>
          <a:ext cx="3588327" cy="5763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로그인시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사용자의 이름을 사용하여 환영인사 처리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로그아웃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로그아웃 처리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세션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마이 페이지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마이페이지 이동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4025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905963" y="1442269"/>
            <a:ext cx="16150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로그아웃 </a:t>
            </a:r>
            <a:r>
              <a:rPr lang="en-US" altLang="ko-KR" sz="1100" dirty="0"/>
              <a:t>| </a:t>
            </a:r>
            <a:r>
              <a:rPr lang="ko-KR" altLang="en-US" sz="1100" dirty="0"/>
              <a:t>마이페이지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9BABEEB-D61E-4572-8483-5C33A5C4272A}"/>
              </a:ext>
            </a:extLst>
          </p:cNvPr>
          <p:cNvSpPr/>
          <p:nvPr/>
        </p:nvSpPr>
        <p:spPr>
          <a:xfrm>
            <a:off x="6864349" y="141210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E94E71-EB46-4BAB-802F-72C9E1782DDD}"/>
              </a:ext>
            </a:extLst>
          </p:cNvPr>
          <p:cNvSpPr txBox="1"/>
          <p:nvPr/>
        </p:nvSpPr>
        <p:spPr>
          <a:xfrm>
            <a:off x="4926932" y="1432535"/>
            <a:ext cx="18131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OOO</a:t>
            </a:r>
            <a:r>
              <a:rPr lang="ko-KR" altLang="en-US" sz="1400" dirty="0"/>
              <a:t>님 환영합니다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graphicFrame>
        <p:nvGraphicFramePr>
          <p:cNvPr id="3" name="표 57">
            <a:extLst>
              <a:ext uri="{FF2B5EF4-FFF2-40B4-BE49-F238E27FC236}">
                <a16:creationId xmlns:a16="http://schemas.microsoft.com/office/drawing/2014/main" id="{259FD06B-23EF-0599-4590-327A5C86C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754310"/>
              </p:ext>
            </p:extLst>
          </p:nvPr>
        </p:nvGraphicFramePr>
        <p:xfrm>
          <a:off x="238125" y="3002942"/>
          <a:ext cx="8128000" cy="1400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75931139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147391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524904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416117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565327"/>
                    </a:ext>
                  </a:extLst>
                </a:gridCol>
              </a:tblGrid>
              <a:tr h="27489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지도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69175"/>
                  </a:ext>
                </a:extLst>
              </a:tr>
              <a:tr h="5149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서비스 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산재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807803"/>
                  </a:ext>
                </a:extLst>
              </a:tr>
              <a:tr h="54979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핵심 기능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67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2959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563202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홈페이지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985239"/>
              </p:ext>
            </p:extLst>
          </p:nvPr>
        </p:nvGraphicFramePr>
        <p:xfrm>
          <a:off x="8603672" y="1180080"/>
          <a:ext cx="3588327" cy="5870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연령대별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발생형태별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1,2,3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순위를 슬라이딩으로 보여준다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 이동</a:t>
                      </a:r>
                      <a:endParaRPr lang="en-US" altLang="ko-KR" sz="11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범위 내 클릭하면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뉴스 상세 페이지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industrial_accident_news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</a:t>
                      </a:r>
                      <a:endParaRPr lang="en-US" altLang="ko-KR" sz="11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썸네일 이미지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기사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요약글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작성자가 입력된다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뉴스 리스트 페이지 이동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8BDC760-B4AD-444E-B619-2FD56EF41606}"/>
              </a:ext>
            </a:extLst>
          </p:cNvPr>
          <p:cNvSpPr/>
          <p:nvPr/>
        </p:nvSpPr>
        <p:spPr>
          <a:xfrm>
            <a:off x="0" y="1822862"/>
            <a:ext cx="8603671" cy="13240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히어로 이미지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F9D3E86-FB28-44C2-B1B5-25949B751E8A}"/>
              </a:ext>
            </a:extLst>
          </p:cNvPr>
          <p:cNvSpPr/>
          <p:nvPr/>
        </p:nvSpPr>
        <p:spPr>
          <a:xfrm>
            <a:off x="-1979" y="3167744"/>
            <a:ext cx="8603671" cy="14933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6B596E8-2383-4511-860C-5CEBAAD20629}"/>
              </a:ext>
            </a:extLst>
          </p:cNvPr>
          <p:cNvSpPr/>
          <p:nvPr/>
        </p:nvSpPr>
        <p:spPr>
          <a:xfrm>
            <a:off x="0" y="4709174"/>
            <a:ext cx="8603671" cy="1486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7255CB5-0DD7-4720-BFC9-E32D0609F82D}"/>
              </a:ext>
            </a:extLst>
          </p:cNvPr>
          <p:cNvSpPr/>
          <p:nvPr/>
        </p:nvSpPr>
        <p:spPr>
          <a:xfrm>
            <a:off x="17813" y="3215853"/>
            <a:ext cx="884712" cy="4755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산재 통계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D96EBBB-0431-4EC2-90A2-14E7BCB512E6}"/>
              </a:ext>
            </a:extLst>
          </p:cNvPr>
          <p:cNvSpPr/>
          <p:nvPr/>
        </p:nvSpPr>
        <p:spPr>
          <a:xfrm>
            <a:off x="17813" y="4716886"/>
            <a:ext cx="878774" cy="4310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산재 뉴스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1233D38-0148-451D-819B-41F95C845542}"/>
              </a:ext>
            </a:extLst>
          </p:cNvPr>
          <p:cNvSpPr/>
          <p:nvPr/>
        </p:nvSpPr>
        <p:spPr>
          <a:xfrm>
            <a:off x="100941" y="5091545"/>
            <a:ext cx="2659824" cy="1054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73CE053-0061-480D-9A03-E0F1027FE364}"/>
              </a:ext>
            </a:extLst>
          </p:cNvPr>
          <p:cNvSpPr/>
          <p:nvPr/>
        </p:nvSpPr>
        <p:spPr>
          <a:xfrm>
            <a:off x="225631" y="5242956"/>
            <a:ext cx="1258785" cy="7422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A52B5B-D6D6-4786-BBAD-E99520AECA2D}"/>
              </a:ext>
            </a:extLst>
          </p:cNvPr>
          <p:cNvSpPr txBox="1"/>
          <p:nvPr/>
        </p:nvSpPr>
        <p:spPr>
          <a:xfrm>
            <a:off x="1615044" y="5238952"/>
            <a:ext cx="125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요약글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7A4E12-1C40-4350-BA62-47BECBF99EBD}"/>
              </a:ext>
            </a:extLst>
          </p:cNvPr>
          <p:cNvSpPr txBox="1"/>
          <p:nvPr/>
        </p:nvSpPr>
        <p:spPr>
          <a:xfrm>
            <a:off x="1666874" y="5683148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작성자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819A1AF-984A-4526-AC68-B3246648F072}"/>
              </a:ext>
            </a:extLst>
          </p:cNvPr>
          <p:cNvSpPr/>
          <p:nvPr/>
        </p:nvSpPr>
        <p:spPr>
          <a:xfrm>
            <a:off x="2838204" y="5091545"/>
            <a:ext cx="2659824" cy="1054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01AE18C-FEDA-4434-8293-64055F385CFE}"/>
              </a:ext>
            </a:extLst>
          </p:cNvPr>
          <p:cNvSpPr/>
          <p:nvPr/>
        </p:nvSpPr>
        <p:spPr>
          <a:xfrm>
            <a:off x="2962894" y="5242956"/>
            <a:ext cx="1258785" cy="7422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F1ACD3-C184-4F25-95EF-29F1B9DFAADA}"/>
              </a:ext>
            </a:extLst>
          </p:cNvPr>
          <p:cNvSpPr txBox="1"/>
          <p:nvPr/>
        </p:nvSpPr>
        <p:spPr>
          <a:xfrm>
            <a:off x="4352307" y="5238952"/>
            <a:ext cx="125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요약글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68FC70-AEC3-405C-B489-3F0548A592AD}"/>
              </a:ext>
            </a:extLst>
          </p:cNvPr>
          <p:cNvSpPr txBox="1"/>
          <p:nvPr/>
        </p:nvSpPr>
        <p:spPr>
          <a:xfrm>
            <a:off x="4404137" y="5683148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작성자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C9F3F06-FE66-4A24-8B9A-CC061AC1A18F}"/>
              </a:ext>
            </a:extLst>
          </p:cNvPr>
          <p:cNvSpPr/>
          <p:nvPr/>
        </p:nvSpPr>
        <p:spPr>
          <a:xfrm>
            <a:off x="5574348" y="5084572"/>
            <a:ext cx="2625563" cy="1054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8126CC8-6FF6-4FB1-B108-7C88591185A8}"/>
              </a:ext>
            </a:extLst>
          </p:cNvPr>
          <p:cNvSpPr/>
          <p:nvPr/>
        </p:nvSpPr>
        <p:spPr>
          <a:xfrm>
            <a:off x="5699039" y="5235983"/>
            <a:ext cx="1258785" cy="7422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9428F5-4701-459B-AE1E-5DE5F61A9112}"/>
              </a:ext>
            </a:extLst>
          </p:cNvPr>
          <p:cNvSpPr txBox="1"/>
          <p:nvPr/>
        </p:nvSpPr>
        <p:spPr>
          <a:xfrm>
            <a:off x="7088452" y="5231979"/>
            <a:ext cx="125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요약글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237C1D-E28D-4AD7-906D-4285DE847C3A}"/>
              </a:ext>
            </a:extLst>
          </p:cNvPr>
          <p:cNvSpPr txBox="1"/>
          <p:nvPr/>
        </p:nvSpPr>
        <p:spPr>
          <a:xfrm>
            <a:off x="7140282" y="5676175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작성자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E182F3-6220-4178-A907-7F8754A73014}"/>
              </a:ext>
            </a:extLst>
          </p:cNvPr>
          <p:cNvSpPr txBox="1"/>
          <p:nvPr/>
        </p:nvSpPr>
        <p:spPr>
          <a:xfrm>
            <a:off x="8005821" y="4771557"/>
            <a:ext cx="682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/>
              <a:t>더보기</a:t>
            </a:r>
            <a:endParaRPr lang="ko-KR" altLang="en-US" sz="1100" dirty="0"/>
          </a:p>
        </p:txBody>
      </p:sp>
      <p:graphicFrame>
        <p:nvGraphicFramePr>
          <p:cNvPr id="41" name="차트 40">
            <a:extLst>
              <a:ext uri="{FF2B5EF4-FFF2-40B4-BE49-F238E27FC236}">
                <a16:creationId xmlns:a16="http://schemas.microsoft.com/office/drawing/2014/main" id="{13D7E1F3-FA78-4F00-B8BA-A3A21E87D926}"/>
              </a:ext>
            </a:extLst>
          </p:cNvPr>
          <p:cNvGraphicFramePr/>
          <p:nvPr/>
        </p:nvGraphicFramePr>
        <p:xfrm>
          <a:off x="3412046" y="3195070"/>
          <a:ext cx="1604908" cy="14439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2" name="1/2 액자 41">
            <a:extLst>
              <a:ext uri="{FF2B5EF4-FFF2-40B4-BE49-F238E27FC236}">
                <a16:creationId xmlns:a16="http://schemas.microsoft.com/office/drawing/2014/main" id="{26A28183-CF79-45F1-A20E-992DC1BDAA3B}"/>
              </a:ext>
            </a:extLst>
          </p:cNvPr>
          <p:cNvSpPr/>
          <p:nvPr/>
        </p:nvSpPr>
        <p:spPr>
          <a:xfrm rot="7936885">
            <a:off x="7971202" y="3820832"/>
            <a:ext cx="187244" cy="162734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1/2 액자 42">
            <a:extLst>
              <a:ext uri="{FF2B5EF4-FFF2-40B4-BE49-F238E27FC236}">
                <a16:creationId xmlns:a16="http://schemas.microsoft.com/office/drawing/2014/main" id="{1C0CE8E2-7A61-44ED-AEE0-33F609B8A6B0}"/>
              </a:ext>
            </a:extLst>
          </p:cNvPr>
          <p:cNvSpPr/>
          <p:nvPr/>
        </p:nvSpPr>
        <p:spPr>
          <a:xfrm rot="18869348">
            <a:off x="130504" y="3887013"/>
            <a:ext cx="187244" cy="162734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1A9B73E-3424-41F7-94E2-BD090E306158}"/>
              </a:ext>
            </a:extLst>
          </p:cNvPr>
          <p:cNvSpPr txBox="1"/>
          <p:nvPr/>
        </p:nvSpPr>
        <p:spPr>
          <a:xfrm>
            <a:off x="5166360" y="3333997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위 </a:t>
            </a:r>
            <a:r>
              <a:rPr lang="en-US" altLang="ko-KR" dirty="0"/>
              <a:t>30</a:t>
            </a:r>
            <a:r>
              <a:rPr lang="ko-KR" altLang="en-US" dirty="0"/>
              <a:t>대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DCC4EB5-5834-4529-81DE-795003DA6E55}"/>
              </a:ext>
            </a:extLst>
          </p:cNvPr>
          <p:cNvSpPr txBox="1"/>
          <p:nvPr/>
        </p:nvSpPr>
        <p:spPr>
          <a:xfrm>
            <a:off x="5166360" y="3745010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위 </a:t>
            </a:r>
            <a:r>
              <a:rPr lang="en-US" altLang="ko-KR" dirty="0"/>
              <a:t>40</a:t>
            </a:r>
            <a:r>
              <a:rPr lang="ko-KR" altLang="en-US" dirty="0"/>
              <a:t>대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540D569-CF39-4AA6-882C-0E627E906E1A}"/>
              </a:ext>
            </a:extLst>
          </p:cNvPr>
          <p:cNvSpPr txBox="1"/>
          <p:nvPr/>
        </p:nvSpPr>
        <p:spPr>
          <a:xfrm>
            <a:off x="5166360" y="4155536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위 </a:t>
            </a:r>
            <a:r>
              <a:rPr lang="en-US" altLang="ko-KR" dirty="0"/>
              <a:t>10</a:t>
            </a:r>
            <a:r>
              <a:rPr lang="ko-KR" altLang="en-US" dirty="0"/>
              <a:t>대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4E2FE23-0F27-4ECB-99A1-2D462AEBC5B2}"/>
              </a:ext>
            </a:extLst>
          </p:cNvPr>
          <p:cNvSpPr/>
          <p:nvPr/>
        </p:nvSpPr>
        <p:spPr>
          <a:xfrm>
            <a:off x="1092530" y="3241965"/>
            <a:ext cx="6715496" cy="13187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8EFA2D7-7C17-4CE6-8433-02D68918D94D}"/>
              </a:ext>
            </a:extLst>
          </p:cNvPr>
          <p:cNvSpPr txBox="1"/>
          <p:nvPr/>
        </p:nvSpPr>
        <p:spPr>
          <a:xfrm>
            <a:off x="1137062" y="3262179"/>
            <a:ext cx="955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연령대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63D491A-D609-49F3-94BC-2A0C2FD7ACFA}"/>
              </a:ext>
            </a:extLst>
          </p:cNvPr>
          <p:cNvSpPr/>
          <p:nvPr/>
        </p:nvSpPr>
        <p:spPr>
          <a:xfrm>
            <a:off x="7856904" y="3185101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4AC78F-C9AB-40F7-9E85-0899E13BB9BD}"/>
              </a:ext>
            </a:extLst>
          </p:cNvPr>
          <p:cNvSpPr txBox="1"/>
          <p:nvPr/>
        </p:nvSpPr>
        <p:spPr>
          <a:xfrm>
            <a:off x="7855524" y="3231351"/>
            <a:ext cx="682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/>
              <a:t>더보기</a:t>
            </a:r>
            <a:endParaRPr lang="ko-KR" altLang="en-US" sz="1100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C9B01C8-945D-4F45-89FB-F06F1DE9B787}"/>
              </a:ext>
            </a:extLst>
          </p:cNvPr>
          <p:cNvSpPr/>
          <p:nvPr/>
        </p:nvSpPr>
        <p:spPr>
          <a:xfrm>
            <a:off x="52312" y="321585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1620BBE-37E5-4E42-A018-BEF36C917FAF}"/>
              </a:ext>
            </a:extLst>
          </p:cNvPr>
          <p:cNvSpPr/>
          <p:nvPr/>
        </p:nvSpPr>
        <p:spPr>
          <a:xfrm>
            <a:off x="52311" y="475963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6AE1946-FDA1-42E7-8E86-4424E75911A1}"/>
              </a:ext>
            </a:extLst>
          </p:cNvPr>
          <p:cNvSpPr/>
          <p:nvPr/>
        </p:nvSpPr>
        <p:spPr>
          <a:xfrm>
            <a:off x="8005821" y="472207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126225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0BF29B-5EAE-4EF4-B67A-285B6D13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소개</a:t>
            </a:r>
          </a:p>
        </p:txBody>
      </p:sp>
    </p:spTree>
    <p:extLst>
      <p:ext uri="{BB962C8B-B14F-4D97-AF65-F5344CB8AC3E}">
        <p14:creationId xmlns:p14="http://schemas.microsoft.com/office/powerpoint/2010/main" val="3999273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8891987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070155"/>
              </p:ext>
            </p:extLst>
          </p:nvPr>
        </p:nvGraphicFramePr>
        <p:xfrm>
          <a:off x="8603672" y="1180080"/>
          <a:ext cx="3588327" cy="6205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Depth2 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서비스소개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핵심기능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사이드 서브메뉴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메뉴 선택 시 글자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CSS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다르게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 소개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문제점 제기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산재지정병원 탐색 필요성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공공 데이터들이 흩어져 있어서 일반인이 한눈에 보기 쉽지 않음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1615043" y="2322244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서비스 소개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CFDD15-4B8A-557F-3F98-0E130AB40A05}"/>
              </a:ext>
            </a:extLst>
          </p:cNvPr>
          <p:cNvSpPr/>
          <p:nvPr/>
        </p:nvSpPr>
        <p:spPr>
          <a:xfrm>
            <a:off x="531969" y="2929631"/>
            <a:ext cx="1083075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1726244" y="2929631"/>
            <a:ext cx="5877017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79C5A-C7B1-74B8-AFB8-984D2159021E}"/>
              </a:ext>
            </a:extLst>
          </p:cNvPr>
          <p:cNvSpPr txBox="1"/>
          <p:nvPr/>
        </p:nvSpPr>
        <p:spPr>
          <a:xfrm>
            <a:off x="558600" y="3095708"/>
            <a:ext cx="10564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tx1"/>
                </a:solidFill>
              </a:rPr>
              <a:t>서비스 소개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핵심기능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CDBFAA-F5AE-1197-E330-D115FDD8D528}"/>
              </a:ext>
            </a:extLst>
          </p:cNvPr>
          <p:cNvSpPr/>
          <p:nvPr/>
        </p:nvSpPr>
        <p:spPr>
          <a:xfrm>
            <a:off x="449304" y="282285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EF970E-1132-091C-CEE2-4EDB4DF44D7C}"/>
              </a:ext>
            </a:extLst>
          </p:cNvPr>
          <p:cNvSpPr/>
          <p:nvPr/>
        </p:nvSpPr>
        <p:spPr>
          <a:xfrm>
            <a:off x="1692869" y="278346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FD7493-845A-5A34-EDD4-CE1F2AE0D169}"/>
              </a:ext>
            </a:extLst>
          </p:cNvPr>
          <p:cNvSpPr txBox="1"/>
          <p:nvPr/>
        </p:nvSpPr>
        <p:spPr>
          <a:xfrm>
            <a:off x="1988709" y="3199895"/>
            <a:ext cx="5109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i="1" dirty="0"/>
              <a:t>“</a:t>
            </a:r>
            <a:r>
              <a:rPr lang="ko-KR" altLang="en-US" sz="1200" i="1" dirty="0"/>
              <a:t>상단 히어로 메시지</a:t>
            </a:r>
            <a:r>
              <a:rPr lang="en-US" altLang="ko-KR" i="1" dirty="0"/>
              <a:t>”</a:t>
            </a:r>
            <a:endParaRPr lang="ko-KR" altLang="en-US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BB2D89-21A6-4800-D691-85E69E4DE54F}"/>
              </a:ext>
            </a:extLst>
          </p:cNvPr>
          <p:cNvSpPr txBox="1"/>
          <p:nvPr/>
        </p:nvSpPr>
        <p:spPr>
          <a:xfrm>
            <a:off x="1988709" y="3880539"/>
            <a:ext cx="17781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(</a:t>
            </a:r>
            <a:r>
              <a:rPr lang="ko-KR" altLang="en-US" sz="1200" dirty="0"/>
              <a:t>문제점 제기 및 필요성</a:t>
            </a:r>
            <a:r>
              <a:rPr lang="en-US" altLang="ko-KR" sz="1200" dirty="0"/>
              <a:t>)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0F22088-3EF5-3EE3-1326-11B0FAA08CB0}"/>
              </a:ext>
            </a:extLst>
          </p:cNvPr>
          <p:cNvSpPr/>
          <p:nvPr/>
        </p:nvSpPr>
        <p:spPr>
          <a:xfrm>
            <a:off x="2181225" y="4285151"/>
            <a:ext cx="1581990" cy="937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BAF7D5B-2D91-E6F2-9869-197009B5EB1A}"/>
              </a:ext>
            </a:extLst>
          </p:cNvPr>
          <p:cNvSpPr/>
          <p:nvPr/>
        </p:nvSpPr>
        <p:spPr>
          <a:xfrm>
            <a:off x="5567605" y="4285151"/>
            <a:ext cx="1581990" cy="937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71F4B62-0D36-B8F2-7937-ECF51238964A}"/>
              </a:ext>
            </a:extLst>
          </p:cNvPr>
          <p:cNvSpPr/>
          <p:nvPr/>
        </p:nvSpPr>
        <p:spPr>
          <a:xfrm>
            <a:off x="3874415" y="4285151"/>
            <a:ext cx="1581990" cy="937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75AF1F-57ED-D7D1-E81A-F464B44AF0CE}"/>
              </a:ext>
            </a:extLst>
          </p:cNvPr>
          <p:cNvSpPr txBox="1"/>
          <p:nvPr/>
        </p:nvSpPr>
        <p:spPr>
          <a:xfrm>
            <a:off x="6800689" y="3019927"/>
            <a:ext cx="79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상단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1955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351052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287907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Depth2 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서비스소개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핵심기능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사이드 서브메뉴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메뉴 선택 시 글자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CSS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다르게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그룹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텍스트로  사용자 그룹 표현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설명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각 사용자의 니즈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서비스의 핵심 가치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가지 정도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1615043" y="2322244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서비스 소개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CFDD15-4B8A-557F-3F98-0E130AB40A05}"/>
              </a:ext>
            </a:extLst>
          </p:cNvPr>
          <p:cNvSpPr/>
          <p:nvPr/>
        </p:nvSpPr>
        <p:spPr>
          <a:xfrm>
            <a:off x="531969" y="2929631"/>
            <a:ext cx="1083075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1726244" y="2929631"/>
            <a:ext cx="5877017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79C5A-C7B1-74B8-AFB8-984D2159021E}"/>
              </a:ext>
            </a:extLst>
          </p:cNvPr>
          <p:cNvSpPr txBox="1"/>
          <p:nvPr/>
        </p:nvSpPr>
        <p:spPr>
          <a:xfrm>
            <a:off x="558600" y="3095708"/>
            <a:ext cx="10564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tx1"/>
                </a:solidFill>
              </a:rPr>
              <a:t>서비스 소개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핵심기능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CDBFAA-F5AE-1197-E330-D115FDD8D528}"/>
              </a:ext>
            </a:extLst>
          </p:cNvPr>
          <p:cNvSpPr/>
          <p:nvPr/>
        </p:nvSpPr>
        <p:spPr>
          <a:xfrm>
            <a:off x="449304" y="282285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BB2D89-21A6-4800-D691-85E69E4DE54F}"/>
              </a:ext>
            </a:extLst>
          </p:cNvPr>
          <p:cNvSpPr txBox="1"/>
          <p:nvPr/>
        </p:nvSpPr>
        <p:spPr>
          <a:xfrm>
            <a:off x="1846640" y="2975301"/>
            <a:ext cx="1467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(</a:t>
            </a:r>
            <a:r>
              <a:rPr lang="ko-KR" altLang="en-US" sz="1200" dirty="0"/>
              <a:t>사용자 그룹</a:t>
            </a:r>
            <a:r>
              <a:rPr lang="en-US" altLang="ko-KR" sz="1200" dirty="0"/>
              <a:t>)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CDECF4B-FB88-DEAA-6A8B-93CB7F31512A}"/>
              </a:ext>
            </a:extLst>
          </p:cNvPr>
          <p:cNvGrpSpPr/>
          <p:nvPr/>
        </p:nvGrpSpPr>
        <p:grpSpPr>
          <a:xfrm>
            <a:off x="2228526" y="3349810"/>
            <a:ext cx="1270004" cy="1561764"/>
            <a:chOff x="2453042" y="4143237"/>
            <a:chExt cx="1142809" cy="1257936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C14A3C1B-CB6D-902D-61AB-E3D84E668A8C}"/>
                </a:ext>
              </a:extLst>
            </p:cNvPr>
            <p:cNvSpPr/>
            <p:nvPr/>
          </p:nvSpPr>
          <p:spPr>
            <a:xfrm>
              <a:off x="2453042" y="4143237"/>
              <a:ext cx="1142809" cy="125793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2852921-ABFD-1500-4C8B-86236D7D1415}"/>
                </a:ext>
              </a:extLst>
            </p:cNvPr>
            <p:cNvSpPr/>
            <p:nvPr/>
          </p:nvSpPr>
          <p:spPr>
            <a:xfrm>
              <a:off x="2606272" y="4281613"/>
              <a:ext cx="836348" cy="79064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아이콘</a:t>
              </a:r>
              <a:r>
                <a:rPr lang="en-US" altLang="ko-KR" sz="1200" dirty="0">
                  <a:solidFill>
                    <a:schemeClr val="tx1"/>
                  </a:solidFill>
                </a:rPr>
                <a:t>/ </a:t>
              </a: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일러스트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D94DBB3-A2FA-694A-E55D-1D7E895863CE}"/>
                </a:ext>
              </a:extLst>
            </p:cNvPr>
            <p:cNvSpPr txBox="1"/>
            <p:nvPr/>
          </p:nvSpPr>
          <p:spPr>
            <a:xfrm>
              <a:off x="2557444" y="5091946"/>
              <a:ext cx="970977" cy="2484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현장근로자</a:t>
              </a:r>
              <a:endParaRPr lang="en-US" altLang="ko-KR" sz="1100" dirty="0"/>
            </a:p>
            <a:p>
              <a:pPr algn="ctr"/>
              <a:r>
                <a:rPr lang="en-US" altLang="ko-KR" sz="1000" dirty="0"/>
                <a:t>-</a:t>
              </a:r>
              <a:r>
                <a:rPr lang="ko-KR" altLang="en-US" sz="1000" dirty="0"/>
                <a:t>설명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EF983DAD-3034-4CDC-6075-1BF5E00A8FD3}"/>
              </a:ext>
            </a:extLst>
          </p:cNvPr>
          <p:cNvGrpSpPr/>
          <p:nvPr/>
        </p:nvGrpSpPr>
        <p:grpSpPr>
          <a:xfrm>
            <a:off x="3913271" y="3351047"/>
            <a:ext cx="1270004" cy="1623403"/>
            <a:chOff x="2453042" y="4143237"/>
            <a:chExt cx="1142809" cy="1307583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E9AE64E4-B5BF-9505-2D48-5B00168AD965}"/>
                </a:ext>
              </a:extLst>
            </p:cNvPr>
            <p:cNvSpPr/>
            <p:nvPr/>
          </p:nvSpPr>
          <p:spPr>
            <a:xfrm>
              <a:off x="2453042" y="4143237"/>
              <a:ext cx="1142809" cy="126368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4538D15-5F67-CE89-A2FC-C577E0707A2F}"/>
                </a:ext>
              </a:extLst>
            </p:cNvPr>
            <p:cNvSpPr/>
            <p:nvPr/>
          </p:nvSpPr>
          <p:spPr>
            <a:xfrm>
              <a:off x="2606272" y="4281613"/>
              <a:ext cx="836348" cy="79064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아이콘</a:t>
              </a:r>
              <a:r>
                <a:rPr lang="en-US" altLang="ko-KR" sz="1200" dirty="0">
                  <a:solidFill>
                    <a:schemeClr val="tx1"/>
                  </a:solidFill>
                </a:rPr>
                <a:t>/ </a:t>
              </a: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일러스트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EA37EF5-1FBC-5CCD-3402-BA6F61693D57}"/>
                </a:ext>
              </a:extLst>
            </p:cNvPr>
            <p:cNvSpPr txBox="1"/>
            <p:nvPr/>
          </p:nvSpPr>
          <p:spPr>
            <a:xfrm>
              <a:off x="2534858" y="5103759"/>
              <a:ext cx="979176" cy="347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안전관리자</a:t>
              </a:r>
              <a:endParaRPr lang="en-US" altLang="ko-KR" sz="1100" dirty="0"/>
            </a:p>
            <a:p>
              <a:pPr algn="ctr"/>
              <a:r>
                <a:rPr lang="en-US" altLang="ko-KR" sz="1100" dirty="0"/>
                <a:t>-</a:t>
              </a:r>
              <a:r>
                <a:rPr lang="ko-KR" altLang="en-US" sz="1000" dirty="0"/>
                <a:t>설명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F8851BE6-984C-7E75-0DB1-F574A5BA5BA3}"/>
              </a:ext>
            </a:extLst>
          </p:cNvPr>
          <p:cNvGrpSpPr/>
          <p:nvPr/>
        </p:nvGrpSpPr>
        <p:grpSpPr>
          <a:xfrm>
            <a:off x="5554990" y="3342670"/>
            <a:ext cx="1270004" cy="1568904"/>
            <a:chOff x="2453042" y="4143237"/>
            <a:chExt cx="1142809" cy="1263686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7CCFB9AE-4FE9-24D5-F6B7-B22C4C3CDEB0}"/>
                </a:ext>
              </a:extLst>
            </p:cNvPr>
            <p:cNvSpPr/>
            <p:nvPr/>
          </p:nvSpPr>
          <p:spPr>
            <a:xfrm>
              <a:off x="2453042" y="4143237"/>
              <a:ext cx="1142809" cy="126368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F0F61FD0-8806-9B42-DFFA-B60D84A9F1E5}"/>
                </a:ext>
              </a:extLst>
            </p:cNvPr>
            <p:cNvSpPr/>
            <p:nvPr/>
          </p:nvSpPr>
          <p:spPr>
            <a:xfrm>
              <a:off x="2606272" y="4281613"/>
              <a:ext cx="836348" cy="79064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아이콘</a:t>
              </a:r>
              <a:r>
                <a:rPr lang="en-US" altLang="ko-KR" sz="1200" dirty="0">
                  <a:solidFill>
                    <a:schemeClr val="tx1"/>
                  </a:solidFill>
                </a:rPr>
                <a:t>/ </a:t>
              </a: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일러스트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C20C170-914A-89E9-A17D-EE72489AEFC0}"/>
                </a:ext>
              </a:extLst>
            </p:cNvPr>
            <p:cNvSpPr txBox="1"/>
            <p:nvPr/>
          </p:nvSpPr>
          <p:spPr>
            <a:xfrm>
              <a:off x="2564152" y="5107422"/>
              <a:ext cx="979176" cy="2484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기업운영자</a:t>
              </a:r>
              <a:r>
                <a:rPr lang="en-US" altLang="ko-KR" sz="1100" dirty="0"/>
                <a:t>?</a:t>
              </a:r>
            </a:p>
            <a:p>
              <a:pPr algn="ctr"/>
              <a:r>
                <a:rPr lang="en-US" altLang="ko-KR" sz="1000" dirty="0"/>
                <a:t>-</a:t>
              </a:r>
              <a:r>
                <a:rPr lang="ko-KR" altLang="en-US" sz="1000" dirty="0"/>
                <a:t>설명</a:t>
              </a:r>
            </a:p>
          </p:txBody>
        </p:sp>
      </p:grp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E9302BC-7211-14E0-CA44-1E4AF9F0B064}"/>
              </a:ext>
            </a:extLst>
          </p:cNvPr>
          <p:cNvSpPr/>
          <p:nvPr/>
        </p:nvSpPr>
        <p:spPr>
          <a:xfrm>
            <a:off x="1996746" y="5184180"/>
            <a:ext cx="5205333" cy="987479"/>
          </a:xfrm>
          <a:prstGeom prst="roundRect">
            <a:avLst/>
          </a:prstGeom>
          <a:solidFill>
            <a:srgbClr val="DAE3F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1592F9-C3C7-42DA-774D-06C88220C778}"/>
              </a:ext>
            </a:extLst>
          </p:cNvPr>
          <p:cNvSpPr txBox="1"/>
          <p:nvPr/>
        </p:nvSpPr>
        <p:spPr>
          <a:xfrm>
            <a:off x="2100691" y="5317363"/>
            <a:ext cx="1602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[</a:t>
            </a:r>
            <a:r>
              <a:rPr lang="ko-KR" altLang="en-US" sz="1000" dirty="0"/>
              <a:t>서비스 핵심 가치</a:t>
            </a:r>
            <a:r>
              <a:rPr lang="en-US" altLang="ko-KR" sz="1000" dirty="0"/>
              <a:t>]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383D8C6-83FE-24F7-6D7F-124FE29DCFD2}"/>
              </a:ext>
            </a:extLst>
          </p:cNvPr>
          <p:cNvSpPr/>
          <p:nvPr/>
        </p:nvSpPr>
        <p:spPr>
          <a:xfrm>
            <a:off x="1901204" y="5144577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EF970E-1132-091C-CEE2-4EDB4DF44D7C}"/>
              </a:ext>
            </a:extLst>
          </p:cNvPr>
          <p:cNvSpPr/>
          <p:nvPr/>
        </p:nvSpPr>
        <p:spPr>
          <a:xfrm>
            <a:off x="2132277" y="3212697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99197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353342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95279"/>
              </p:ext>
            </p:extLst>
          </p:nvPr>
        </p:nvGraphicFramePr>
        <p:xfrm>
          <a:off x="8603672" y="1180080"/>
          <a:ext cx="3588327" cy="5702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Depth2 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서비스소개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핵심기능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사이드 서브메뉴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메뉴 선택 시 글자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CSS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다르게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주요 기능 목록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글머리 기호로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맞춤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산재찾기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병원 찾기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산재통계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1615043" y="2322244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핵심기능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CFDD15-4B8A-557F-3F98-0E130AB40A05}"/>
              </a:ext>
            </a:extLst>
          </p:cNvPr>
          <p:cNvSpPr/>
          <p:nvPr/>
        </p:nvSpPr>
        <p:spPr>
          <a:xfrm>
            <a:off x="531969" y="2929631"/>
            <a:ext cx="1083075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1726244" y="2929631"/>
            <a:ext cx="5877017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79C5A-C7B1-74B8-AFB8-984D2159021E}"/>
              </a:ext>
            </a:extLst>
          </p:cNvPr>
          <p:cNvSpPr txBox="1"/>
          <p:nvPr/>
        </p:nvSpPr>
        <p:spPr>
          <a:xfrm>
            <a:off x="558600" y="3095708"/>
            <a:ext cx="10564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/>
                </a:solidFill>
              </a:rPr>
              <a:t>서비스 소개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b="1" dirty="0">
                <a:solidFill>
                  <a:schemeClr val="tx1"/>
                </a:solidFill>
              </a:rPr>
              <a:t>핵심기능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CDBFAA-F5AE-1197-E330-D115FDD8D528}"/>
              </a:ext>
            </a:extLst>
          </p:cNvPr>
          <p:cNvSpPr/>
          <p:nvPr/>
        </p:nvSpPr>
        <p:spPr>
          <a:xfrm>
            <a:off x="449304" y="282285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EF970E-1132-091C-CEE2-4EDB4DF44D7C}"/>
              </a:ext>
            </a:extLst>
          </p:cNvPr>
          <p:cNvSpPr/>
          <p:nvPr/>
        </p:nvSpPr>
        <p:spPr>
          <a:xfrm>
            <a:off x="1692869" y="278346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858001-D440-132C-BBFD-C6770682E9A4}"/>
              </a:ext>
            </a:extLst>
          </p:cNvPr>
          <p:cNvSpPr txBox="1"/>
          <p:nvPr/>
        </p:nvSpPr>
        <p:spPr>
          <a:xfrm>
            <a:off x="1887074" y="3057146"/>
            <a:ext cx="4477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맞춤 통계 분석 </a:t>
            </a:r>
            <a:r>
              <a:rPr lang="en-US" altLang="ko-KR" sz="1000" dirty="0">
                <a:solidFill>
                  <a:srgbClr val="555555"/>
                </a:solidFill>
                <a:latin typeface="Arial" panose="020B0604020202020204" pitchFamily="34" charset="0"/>
              </a:rPr>
              <a:t>,</a:t>
            </a:r>
            <a:r>
              <a:rPr lang="ko-KR" altLang="en-US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 안전교육 </a:t>
            </a:r>
            <a:r>
              <a:rPr lang="en-US" altLang="ko-KR" sz="1000" dirty="0">
                <a:solidFill>
                  <a:srgbClr val="555555"/>
                </a:solidFill>
                <a:latin typeface="Arial" panose="020B0604020202020204" pitchFamily="34" charset="0"/>
              </a:rPr>
              <a:t>,</a:t>
            </a:r>
            <a:r>
              <a:rPr lang="ko-KR" altLang="en-US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 병원</a:t>
            </a:r>
            <a:r>
              <a:rPr lang="en-US" altLang="ko-KR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/</a:t>
            </a:r>
            <a:r>
              <a:rPr lang="ko-KR" altLang="en-US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주변 산재 찾기까지</a:t>
            </a:r>
            <a:br>
              <a:rPr lang="ko-KR" altLang="en-US" sz="1000" dirty="0"/>
            </a:br>
            <a:r>
              <a:rPr lang="ko-KR" altLang="en-US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산업재해 예방과 대응을 한 번에 지원하는 주요 기능 영역</a:t>
            </a:r>
            <a:endParaRPr lang="ko-KR" altLang="en-US" sz="10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5F95A50-882B-0024-7961-2C5C3B8C7332}"/>
              </a:ext>
            </a:extLst>
          </p:cNvPr>
          <p:cNvSpPr/>
          <p:nvPr/>
        </p:nvSpPr>
        <p:spPr>
          <a:xfrm>
            <a:off x="1953269" y="3603421"/>
            <a:ext cx="5182821" cy="23448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주요 기능 목록</a:t>
            </a:r>
          </a:p>
        </p:txBody>
      </p:sp>
    </p:spTree>
    <p:extLst>
      <p:ext uri="{BB962C8B-B14F-4D97-AF65-F5344CB8AC3E}">
        <p14:creationId xmlns:p14="http://schemas.microsoft.com/office/powerpoint/2010/main" val="687015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8E778E-7188-4F1F-AB93-AD3E27968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회원가입</a:t>
            </a:r>
          </a:p>
        </p:txBody>
      </p:sp>
    </p:spTree>
    <p:extLst>
      <p:ext uri="{BB962C8B-B14F-4D97-AF65-F5344CB8AC3E}">
        <p14:creationId xmlns:p14="http://schemas.microsoft.com/office/powerpoint/2010/main" val="3678742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909212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969559"/>
              </p:ext>
            </p:extLst>
          </p:nvPr>
        </p:nvGraphicFramePr>
        <p:xfrm>
          <a:off x="8603672" y="1180080"/>
          <a:ext cx="3588327" cy="5894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 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필수 입력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성공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페이지로 이동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아이디 형식 불일치시 경고 처리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아이디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불일치시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form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검증 및 경고 처리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카카오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네이버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구글로 로그인 하기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Aouth2.0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사용하여 소셜 로그인 처리 후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회원정보 입력 페이지로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회원가입 클릭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회원가입 페이지로 이동 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5ABDF3B-5ACA-3C53-1278-5D2B8550EEAC}"/>
              </a:ext>
            </a:extLst>
          </p:cNvPr>
          <p:cNvSpPr/>
          <p:nvPr/>
        </p:nvSpPr>
        <p:spPr>
          <a:xfrm>
            <a:off x="1337488" y="1944053"/>
            <a:ext cx="6105379" cy="414996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------------------------------------------------------------------------------------------------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계정이 </a:t>
            </a:r>
            <a:r>
              <a:rPr lang="ko-KR" altLang="en-US" sz="1000" dirty="0" err="1">
                <a:solidFill>
                  <a:schemeClr val="tx1"/>
                </a:solidFill>
              </a:rPr>
              <a:t>없으세요</a:t>
            </a:r>
            <a:r>
              <a:rPr lang="en-US" altLang="ko-KR" sz="1000" dirty="0">
                <a:solidFill>
                  <a:schemeClr val="tx1"/>
                </a:solidFill>
              </a:rPr>
              <a:t>?  </a:t>
            </a:r>
            <a:r>
              <a:rPr lang="ko-KR" altLang="en-US" sz="1100" b="1" dirty="0">
                <a:solidFill>
                  <a:schemeClr val="tx1"/>
                </a:solidFill>
              </a:rPr>
              <a:t>회원가입 </a:t>
            </a:r>
            <a:r>
              <a:rPr lang="ko-KR" altLang="en-US" sz="1000" dirty="0" err="1">
                <a:solidFill>
                  <a:schemeClr val="tx1"/>
                </a:solidFill>
              </a:rPr>
              <a:t>하러가기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0209E4C-5466-CD8E-2D96-63EC88036477}"/>
              </a:ext>
            </a:extLst>
          </p:cNvPr>
          <p:cNvSpPr/>
          <p:nvPr/>
        </p:nvSpPr>
        <p:spPr>
          <a:xfrm>
            <a:off x="2427513" y="2477648"/>
            <a:ext cx="3854548" cy="304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err="1">
                <a:solidFill>
                  <a:schemeClr val="bg2">
                    <a:lumMod val="75000"/>
                  </a:schemeClr>
                </a:solidFill>
              </a:rPr>
              <a:t>회원아이디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</a:rPr>
              <a:t>이메일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</a:rPr>
              <a:t>)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</a:rPr>
              <a:t>을 입력해 주세요</a:t>
            </a:r>
            <a:endParaRPr lang="ko-KR" altLang="en-US" sz="12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A0C0C11-757F-6F24-B51C-B7B1B7215BE7}"/>
              </a:ext>
            </a:extLst>
          </p:cNvPr>
          <p:cNvSpPr/>
          <p:nvPr/>
        </p:nvSpPr>
        <p:spPr>
          <a:xfrm>
            <a:off x="2427513" y="3112939"/>
            <a:ext cx="3854548" cy="304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</a:rPr>
              <a:t>회원비밀번호를 입력해 주세요</a:t>
            </a:r>
            <a:endParaRPr lang="ko-KR" altLang="en-US" sz="1200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86A3B47-F32F-BFFD-6C1C-0894817D6960}"/>
              </a:ext>
            </a:extLst>
          </p:cNvPr>
          <p:cNvSpPr/>
          <p:nvPr/>
        </p:nvSpPr>
        <p:spPr>
          <a:xfrm>
            <a:off x="2416918" y="3876993"/>
            <a:ext cx="3854548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0E489BE-AF35-70AB-6685-02C58F1AE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111" y="4425371"/>
            <a:ext cx="3732952" cy="11972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58944D87-566B-4E30-809D-CA99A406C50A}"/>
              </a:ext>
            </a:extLst>
          </p:cNvPr>
          <p:cNvSpPr/>
          <p:nvPr/>
        </p:nvSpPr>
        <p:spPr>
          <a:xfrm>
            <a:off x="1469738" y="200084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926C8EB-8B40-4603-9E57-BE9B8EB002FB}"/>
              </a:ext>
            </a:extLst>
          </p:cNvPr>
          <p:cNvSpPr/>
          <p:nvPr/>
        </p:nvSpPr>
        <p:spPr>
          <a:xfrm>
            <a:off x="2334253" y="379500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E021DCC-A22D-46F1-9C1D-F366349E0EEE}"/>
              </a:ext>
            </a:extLst>
          </p:cNvPr>
          <p:cNvSpPr/>
          <p:nvPr/>
        </p:nvSpPr>
        <p:spPr>
          <a:xfrm>
            <a:off x="3412838" y="4809268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AC9E68D-AFE1-4BFC-AEE7-DAF47391613F}"/>
              </a:ext>
            </a:extLst>
          </p:cNvPr>
          <p:cNvSpPr/>
          <p:nvPr/>
        </p:nvSpPr>
        <p:spPr>
          <a:xfrm>
            <a:off x="3146138" y="549919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06D7D3-4A83-414D-9820-9F79F25387D7}"/>
              </a:ext>
            </a:extLst>
          </p:cNvPr>
          <p:cNvSpPr txBox="1"/>
          <p:nvPr/>
        </p:nvSpPr>
        <p:spPr>
          <a:xfrm>
            <a:off x="2344849" y="2794449"/>
            <a:ext cx="4036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아이디를 맞는 형식으로 입력해주세요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4AB1AD-7B38-4FE5-AC2C-C4AA756355A4}"/>
              </a:ext>
            </a:extLst>
          </p:cNvPr>
          <p:cNvSpPr txBox="1"/>
          <p:nvPr/>
        </p:nvSpPr>
        <p:spPr>
          <a:xfrm>
            <a:off x="2325799" y="3390628"/>
            <a:ext cx="4036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비밀번호는 필수 요소입니다</a:t>
            </a:r>
          </a:p>
        </p:txBody>
      </p:sp>
    </p:spTree>
    <p:extLst>
      <p:ext uri="{BB962C8B-B14F-4D97-AF65-F5344CB8AC3E}">
        <p14:creationId xmlns:p14="http://schemas.microsoft.com/office/powerpoint/2010/main" val="2372426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611973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3615439"/>
              </p:ext>
            </p:extLst>
          </p:nvPr>
        </p:nvGraphicFramePr>
        <p:xfrm>
          <a:off x="8603672" y="1180081"/>
          <a:ext cx="3588327" cy="5692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35789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51228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 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7586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아이디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 가능한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인지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 형식이 맞는지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형식이 맞는지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확인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입력과 일치하는지 확인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확인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폼 검증이 끝난 후 회원 정보 입력 페이지로 이동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이때 아이디와 비밀번호를 세션에 임시 저장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51228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51228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51228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51228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7585822-A012-21F1-38E0-DD3EC605CCD4}"/>
              </a:ext>
            </a:extLst>
          </p:cNvPr>
          <p:cNvSpPr/>
          <p:nvPr/>
        </p:nvSpPr>
        <p:spPr>
          <a:xfrm>
            <a:off x="2766926" y="3047266"/>
            <a:ext cx="2545150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6~16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/ </a:t>
            </a:r>
            <a:r>
              <a:rPr lang="ko-KR" altLang="en-US" sz="1000" dirty="0" err="1">
                <a:solidFill>
                  <a:schemeClr val="bg2">
                    <a:lumMod val="75000"/>
                  </a:schemeClr>
                </a:solidFill>
              </a:rPr>
              <a:t>영문소문자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, 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숫자사용가능</a:t>
            </a:r>
            <a:endParaRPr lang="ko-KR" altLang="en-US" sz="1000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D908B6D-6F18-BFDE-7514-0CF37797062E}"/>
              </a:ext>
            </a:extLst>
          </p:cNvPr>
          <p:cNvSpPr/>
          <p:nvPr/>
        </p:nvSpPr>
        <p:spPr>
          <a:xfrm>
            <a:off x="2766926" y="3604689"/>
            <a:ext cx="2545150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8~16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/ 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문자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,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숫자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,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특수문자 모두 혼용 </a:t>
            </a:r>
            <a:endParaRPr lang="ko-KR" altLang="en-US" sz="1000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B0F2DF4-EC2D-A4E2-D53A-D0187DA2A692}"/>
              </a:ext>
            </a:extLst>
          </p:cNvPr>
          <p:cNvSpPr/>
          <p:nvPr/>
        </p:nvSpPr>
        <p:spPr>
          <a:xfrm>
            <a:off x="2766926" y="4139950"/>
            <a:ext cx="2545150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비밀번호 다시 입력해주세요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. </a:t>
            </a:r>
            <a:endParaRPr lang="ko-KR" altLang="en-US" sz="10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5A5394-222E-4B20-990B-4B80333505B6}"/>
              </a:ext>
            </a:extLst>
          </p:cNvPr>
          <p:cNvSpPr txBox="1"/>
          <p:nvPr/>
        </p:nvSpPr>
        <p:spPr>
          <a:xfrm>
            <a:off x="3646114" y="2325222"/>
            <a:ext cx="1311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회원 가입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86A91C-B512-49AC-8A5D-62BBD3B8871A}"/>
              </a:ext>
            </a:extLst>
          </p:cNvPr>
          <p:cNvSpPr txBox="1"/>
          <p:nvPr/>
        </p:nvSpPr>
        <p:spPr>
          <a:xfrm>
            <a:off x="1479883" y="2694554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로그인 정보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6A042A-CDDB-4C42-BC10-28E8BB579AD8}"/>
              </a:ext>
            </a:extLst>
          </p:cNvPr>
          <p:cNvSpPr txBox="1"/>
          <p:nvPr/>
        </p:nvSpPr>
        <p:spPr>
          <a:xfrm>
            <a:off x="1479883" y="3024800"/>
            <a:ext cx="902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아이디 </a:t>
            </a:r>
            <a:r>
              <a:rPr lang="en-US" altLang="ko-KR" sz="1100" dirty="0"/>
              <a:t>: </a:t>
            </a:r>
            <a:endParaRPr lang="ko-KR" altLang="en-US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7E41F9-0CE6-486D-B12C-250CF15C4FF7}"/>
              </a:ext>
            </a:extLst>
          </p:cNvPr>
          <p:cNvSpPr txBox="1"/>
          <p:nvPr/>
        </p:nvSpPr>
        <p:spPr>
          <a:xfrm>
            <a:off x="1479883" y="3573863"/>
            <a:ext cx="902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비밀번호 </a:t>
            </a:r>
            <a:r>
              <a:rPr lang="en-US" altLang="ko-KR" sz="1100" dirty="0"/>
              <a:t>: </a:t>
            </a:r>
            <a:endParaRPr lang="ko-KR" altLang="en-US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045AC5-BE13-4D3D-B1EC-BB53E135AAB8}"/>
              </a:ext>
            </a:extLst>
          </p:cNvPr>
          <p:cNvSpPr txBox="1"/>
          <p:nvPr/>
        </p:nvSpPr>
        <p:spPr>
          <a:xfrm>
            <a:off x="1479883" y="4129294"/>
            <a:ext cx="12212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비밀번호 확인 </a:t>
            </a:r>
            <a:r>
              <a:rPr lang="en-US" altLang="ko-KR" sz="1100" dirty="0"/>
              <a:t>: </a:t>
            </a:r>
            <a:endParaRPr lang="ko-KR" altLang="en-US" sz="11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486AEC-BACE-4E9F-98D3-A76BA8A8AD37}"/>
              </a:ext>
            </a:extLst>
          </p:cNvPr>
          <p:cNvSpPr txBox="1"/>
          <p:nvPr/>
        </p:nvSpPr>
        <p:spPr>
          <a:xfrm>
            <a:off x="2664489" y="3243367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아이디를 맞는 형식으로 입력해주세요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D37CE4-2181-44AD-8775-60E8CE18EF2B}"/>
              </a:ext>
            </a:extLst>
          </p:cNvPr>
          <p:cNvSpPr txBox="1"/>
          <p:nvPr/>
        </p:nvSpPr>
        <p:spPr>
          <a:xfrm>
            <a:off x="2672508" y="3833671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비밀번호는 필수 요소입니다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BFEED28-96FC-4ACF-AE39-1A1432668DC5}"/>
              </a:ext>
            </a:extLst>
          </p:cNvPr>
          <p:cNvSpPr txBox="1"/>
          <p:nvPr/>
        </p:nvSpPr>
        <p:spPr>
          <a:xfrm>
            <a:off x="2664038" y="4370828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비밀번호와 일치하지 않습니다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AD009AD-B77E-4DEB-9190-6ECEFD60B17A}"/>
              </a:ext>
            </a:extLst>
          </p:cNvPr>
          <p:cNvSpPr/>
          <p:nvPr/>
        </p:nvSpPr>
        <p:spPr>
          <a:xfrm>
            <a:off x="1291765" y="1924248"/>
            <a:ext cx="6041482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5013DA3-6237-4279-A332-3E0C49F859F5}"/>
              </a:ext>
            </a:extLst>
          </p:cNvPr>
          <p:cNvSpPr/>
          <p:nvPr/>
        </p:nvSpPr>
        <p:spPr>
          <a:xfrm>
            <a:off x="2882815" y="5184304"/>
            <a:ext cx="1727023" cy="30576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확인하기</a:t>
            </a:r>
          </a:p>
        </p:txBody>
      </p:sp>
    </p:spTree>
    <p:extLst>
      <p:ext uri="{BB962C8B-B14F-4D97-AF65-F5344CB8AC3E}">
        <p14:creationId xmlns:p14="http://schemas.microsoft.com/office/powerpoint/2010/main" val="530717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997806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회원정보 입력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947959"/>
              </p:ext>
            </p:extLst>
          </p:nvPr>
        </p:nvGraphicFramePr>
        <p:xfrm>
          <a:off x="8603672" y="1180084"/>
          <a:ext cx="3588327" cy="5677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5661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5359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 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45677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나이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숫자만 입력가능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집 주소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입력칸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daumAPI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사용하여 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직장 주소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입력칸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daumAPI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사용하여 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전화번호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-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없이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자리 숫자 입력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 형식인지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성별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radio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 남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여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가입하기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폼 검증 후 가입처리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09FD97B-7EB9-4883-87ED-8C583A3A96A7}"/>
              </a:ext>
            </a:extLst>
          </p:cNvPr>
          <p:cNvSpPr/>
          <p:nvPr/>
        </p:nvSpPr>
        <p:spPr>
          <a:xfrm>
            <a:off x="2287016" y="304867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479883" y="2694554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회원 정보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712418C-516C-4A88-90CE-6916082B9C56}"/>
              </a:ext>
            </a:extLst>
          </p:cNvPr>
          <p:cNvSpPr/>
          <p:nvPr/>
        </p:nvSpPr>
        <p:spPr>
          <a:xfrm>
            <a:off x="2281543" y="40519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>
                <a:solidFill>
                  <a:schemeClr val="bg1">
                    <a:lumMod val="65000"/>
                  </a:schemeClr>
                </a:solidFill>
              </a:rPr>
              <a:t>Daum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API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E8125F4-512B-49C6-BBE2-013199A16BFF}"/>
              </a:ext>
            </a:extLst>
          </p:cNvPr>
          <p:cNvSpPr/>
          <p:nvPr/>
        </p:nvSpPr>
        <p:spPr>
          <a:xfrm>
            <a:off x="2281542" y="45938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-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없이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11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자리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A7E058-7779-459F-AA98-8F206CF9B283}"/>
              </a:ext>
            </a:extLst>
          </p:cNvPr>
          <p:cNvSpPr txBox="1"/>
          <p:nvPr/>
        </p:nvSpPr>
        <p:spPr>
          <a:xfrm>
            <a:off x="1405237" y="3022738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이름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D45076-A8CA-4EAD-9C40-04BAECF437AF}"/>
              </a:ext>
            </a:extLst>
          </p:cNvPr>
          <p:cNvSpPr txBox="1"/>
          <p:nvPr/>
        </p:nvSpPr>
        <p:spPr>
          <a:xfrm>
            <a:off x="1394659" y="4027248"/>
            <a:ext cx="785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집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B760FB-2D6A-4B6C-9A09-32689F45E014}"/>
              </a:ext>
            </a:extLst>
          </p:cNvPr>
          <p:cNvSpPr txBox="1"/>
          <p:nvPr/>
        </p:nvSpPr>
        <p:spPr>
          <a:xfrm>
            <a:off x="1425460" y="45714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전화번호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21FF8B7-A9DF-4B4D-9BCA-29278DD2FE07}"/>
              </a:ext>
            </a:extLst>
          </p:cNvPr>
          <p:cNvSpPr/>
          <p:nvPr/>
        </p:nvSpPr>
        <p:spPr>
          <a:xfrm>
            <a:off x="5137859" y="3044766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C4FF595-B300-4339-B57C-ACC8106A9127}"/>
              </a:ext>
            </a:extLst>
          </p:cNvPr>
          <p:cNvSpPr/>
          <p:nvPr/>
        </p:nvSpPr>
        <p:spPr>
          <a:xfrm>
            <a:off x="5138002" y="40519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>
                <a:solidFill>
                  <a:schemeClr val="bg1">
                    <a:lumMod val="65000"/>
                  </a:schemeClr>
                </a:solidFill>
              </a:rPr>
              <a:t>Daum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API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F383403F-C47E-47FD-A274-8111FA8B7619}"/>
              </a:ext>
            </a:extLst>
          </p:cNvPr>
          <p:cNvSpPr/>
          <p:nvPr/>
        </p:nvSpPr>
        <p:spPr>
          <a:xfrm>
            <a:off x="5138001" y="45938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A842F4-38DD-4D2B-952C-536ACE429F0C}"/>
              </a:ext>
            </a:extLst>
          </p:cNvPr>
          <p:cNvSpPr txBox="1"/>
          <p:nvPr/>
        </p:nvSpPr>
        <p:spPr>
          <a:xfrm>
            <a:off x="4261696" y="3022738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나이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896075-58F7-40E8-921D-22C531282175}"/>
              </a:ext>
            </a:extLst>
          </p:cNvPr>
          <p:cNvSpPr txBox="1"/>
          <p:nvPr/>
        </p:nvSpPr>
        <p:spPr>
          <a:xfrm>
            <a:off x="4251117" y="4027248"/>
            <a:ext cx="9040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*</a:t>
            </a:r>
            <a:r>
              <a:rPr lang="ko-KR" altLang="en-US" sz="1100" dirty="0"/>
              <a:t>직장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60A0AD-AFED-41AC-BEFA-E4EA1022A489}"/>
              </a:ext>
            </a:extLst>
          </p:cNvPr>
          <p:cNvSpPr txBox="1"/>
          <p:nvPr/>
        </p:nvSpPr>
        <p:spPr>
          <a:xfrm>
            <a:off x="4281919" y="45714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이메일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C57AE48-C6E2-4FEE-B103-F6409BDDDCEB}"/>
              </a:ext>
            </a:extLst>
          </p:cNvPr>
          <p:cNvSpPr txBox="1"/>
          <p:nvPr/>
        </p:nvSpPr>
        <p:spPr>
          <a:xfrm>
            <a:off x="2232723" y="3289963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이름은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D09F2D-E97A-435D-AFF9-4DFECBBC4E90}"/>
              </a:ext>
            </a:extLst>
          </p:cNvPr>
          <p:cNvSpPr txBox="1"/>
          <p:nvPr/>
        </p:nvSpPr>
        <p:spPr>
          <a:xfrm>
            <a:off x="2263525" y="4309834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집 주소는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F4BCBE-4CE2-4999-AE00-5E3C56CC43AB}"/>
              </a:ext>
            </a:extLst>
          </p:cNvPr>
          <p:cNvSpPr txBox="1"/>
          <p:nvPr/>
        </p:nvSpPr>
        <p:spPr>
          <a:xfrm>
            <a:off x="5069057" y="4306358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직장 주소는 필수 요소입니다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C90B07-1962-4088-86B7-2182AE13A462}"/>
              </a:ext>
            </a:extLst>
          </p:cNvPr>
          <p:cNvSpPr txBox="1"/>
          <p:nvPr/>
        </p:nvSpPr>
        <p:spPr>
          <a:xfrm>
            <a:off x="6150146" y="4943570"/>
            <a:ext cx="516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여</a:t>
            </a:r>
            <a:endParaRPr lang="ko-KR" alt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42F3E2D-C0CA-41CC-90B5-9DAC80ABF473}"/>
              </a:ext>
            </a:extLst>
          </p:cNvPr>
          <p:cNvSpPr txBox="1"/>
          <p:nvPr/>
        </p:nvSpPr>
        <p:spPr>
          <a:xfrm>
            <a:off x="4336065" y="4979078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성별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50" name="원형: 비어 있음 49">
            <a:extLst>
              <a:ext uri="{FF2B5EF4-FFF2-40B4-BE49-F238E27FC236}">
                <a16:creationId xmlns:a16="http://schemas.microsoft.com/office/drawing/2014/main" id="{FCDCD1FB-0F03-4A20-B74C-0F94BF574C90}"/>
              </a:ext>
            </a:extLst>
          </p:cNvPr>
          <p:cNvSpPr/>
          <p:nvPr/>
        </p:nvSpPr>
        <p:spPr>
          <a:xfrm>
            <a:off x="5539505" y="5067689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원형: 비어 있음 50">
            <a:extLst>
              <a:ext uri="{FF2B5EF4-FFF2-40B4-BE49-F238E27FC236}">
                <a16:creationId xmlns:a16="http://schemas.microsoft.com/office/drawing/2014/main" id="{5BABA49B-0664-4C08-A19A-ACB5102735C5}"/>
              </a:ext>
            </a:extLst>
          </p:cNvPr>
          <p:cNvSpPr/>
          <p:nvPr/>
        </p:nvSpPr>
        <p:spPr>
          <a:xfrm>
            <a:off x="6531710" y="5070010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98A33B9-176F-4C15-A2B5-FD5FE453FCC2}"/>
              </a:ext>
            </a:extLst>
          </p:cNvPr>
          <p:cNvSpPr txBox="1"/>
          <p:nvPr/>
        </p:nvSpPr>
        <p:spPr>
          <a:xfrm>
            <a:off x="5145960" y="4943570"/>
            <a:ext cx="33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남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0B68DD7-4E8B-4BBD-A857-DD37D146E612}"/>
              </a:ext>
            </a:extLst>
          </p:cNvPr>
          <p:cNvSpPr txBox="1"/>
          <p:nvPr/>
        </p:nvSpPr>
        <p:spPr>
          <a:xfrm>
            <a:off x="5109357" y="3320399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나이는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AC10335B-097D-474A-B788-09D54C8D91DB}"/>
              </a:ext>
            </a:extLst>
          </p:cNvPr>
          <p:cNvSpPr/>
          <p:nvPr/>
        </p:nvSpPr>
        <p:spPr>
          <a:xfrm>
            <a:off x="4396994" y="5806901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가입하기</a:t>
            </a:r>
          </a:p>
        </p:txBody>
      </p:sp>
    </p:spTree>
    <p:extLst>
      <p:ext uri="{BB962C8B-B14F-4D97-AF65-F5344CB8AC3E}">
        <p14:creationId xmlns:p14="http://schemas.microsoft.com/office/powerpoint/2010/main" val="1538068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518157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 완료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 완료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329771"/>
              </p:ext>
            </p:extLst>
          </p:nvPr>
        </p:nvGraphicFramePr>
        <p:xfrm>
          <a:off x="8603672" y="1180080"/>
          <a:ext cx="3588327" cy="567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9217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4762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 완료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회원가입 안내메시지 출력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회원가입이 완료되었습니다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2958960" y="3692625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2876294" y="360623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264103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961769-84F3-4125-BF36-068600127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마이페이지</a:t>
            </a:r>
          </a:p>
        </p:txBody>
      </p:sp>
    </p:spTree>
    <p:extLst>
      <p:ext uri="{BB962C8B-B14F-4D97-AF65-F5344CB8AC3E}">
        <p14:creationId xmlns:p14="http://schemas.microsoft.com/office/powerpoint/2010/main" val="2526750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245139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 상단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 상단</a:t>
                      </a: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981473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 상단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모든 페이지 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접근시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비밀번호를 한번 더 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입력받아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보안 강화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503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7" name="표 57">
            <a:extLst>
              <a:ext uri="{FF2B5EF4-FFF2-40B4-BE49-F238E27FC236}">
                <a16:creationId xmlns:a16="http://schemas.microsoft.com/office/drawing/2014/main" id="{01494A31-BFA9-4644-BF9E-FA34A263B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411833"/>
              </p:ext>
            </p:extLst>
          </p:nvPr>
        </p:nvGraphicFramePr>
        <p:xfrm>
          <a:off x="150407" y="2566667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75931139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147391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524904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416117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565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회원정보수정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회원 탈퇴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69175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F725F475-DADC-4201-8502-4CE1E0F30F2C}"/>
              </a:ext>
            </a:extLst>
          </p:cNvPr>
          <p:cNvSpPr/>
          <p:nvPr/>
        </p:nvSpPr>
        <p:spPr>
          <a:xfrm>
            <a:off x="0" y="2252284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7077197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34762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 정보 수정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체크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922120"/>
              </p:ext>
            </p:extLst>
          </p:nvPr>
        </p:nvGraphicFramePr>
        <p:xfrm>
          <a:off x="8603672" y="1180080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9171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4695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Member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에서 정보를 가져와 보여주기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393357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09FD97B-7EB9-4883-87ED-8C583A3A96A7}"/>
              </a:ext>
            </a:extLst>
          </p:cNvPr>
          <p:cNvSpPr/>
          <p:nvPr/>
        </p:nvSpPr>
        <p:spPr>
          <a:xfrm>
            <a:off x="3640568" y="4391145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비밀번호를 입력해 주세요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615044" y="3939706"/>
            <a:ext cx="1170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/>
              <a:t>비밀번호 입력</a:t>
            </a:r>
            <a:endParaRPr lang="ko-KR" altLang="en-US" sz="11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A7E058-7779-459F-AA98-8F206CF9B283}"/>
              </a:ext>
            </a:extLst>
          </p:cNvPr>
          <p:cNvSpPr txBox="1"/>
          <p:nvPr/>
        </p:nvSpPr>
        <p:spPr>
          <a:xfrm>
            <a:off x="2607649" y="4365210"/>
            <a:ext cx="7924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비밀번호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86C185-7B11-49F8-87A9-C10087A26C10}"/>
              </a:ext>
            </a:extLst>
          </p:cNvPr>
          <p:cNvSpPr txBox="1"/>
          <p:nvPr/>
        </p:nvSpPr>
        <p:spPr>
          <a:xfrm>
            <a:off x="1913021" y="2953753"/>
            <a:ext cx="4746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º </a:t>
            </a:r>
            <a:r>
              <a:rPr lang="ko-KR" altLang="en-US" sz="1000" dirty="0"/>
              <a:t>개인정보보호를 위하여 비밀번호 확인 후 회원정보의 관리</a:t>
            </a:r>
            <a:r>
              <a:rPr lang="en-US" altLang="ko-KR" sz="1000" dirty="0"/>
              <a:t>/</a:t>
            </a:r>
            <a:r>
              <a:rPr lang="ko-KR" altLang="en-US" sz="1000" dirty="0"/>
              <a:t>변경이 가능합니다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32C969-2945-4717-B0D6-64CE71C017A1}"/>
              </a:ext>
            </a:extLst>
          </p:cNvPr>
          <p:cNvSpPr txBox="1"/>
          <p:nvPr/>
        </p:nvSpPr>
        <p:spPr>
          <a:xfrm>
            <a:off x="1913021" y="3221010"/>
            <a:ext cx="4746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º </a:t>
            </a:r>
            <a:r>
              <a:rPr lang="ko-KR" altLang="en-US" sz="1000" dirty="0"/>
              <a:t>아래 비밀번호 입력란에 비밀번호 입력 후 </a:t>
            </a:r>
            <a:r>
              <a:rPr lang="en-US" altLang="ko-KR" sz="1000" dirty="0"/>
              <a:t>“</a:t>
            </a:r>
            <a:r>
              <a:rPr lang="ko-KR" altLang="en-US" sz="1000" dirty="0"/>
              <a:t>비밀번호 확인</a:t>
            </a:r>
            <a:r>
              <a:rPr lang="en-US" altLang="ko-KR" sz="1000" dirty="0"/>
              <a:t>＂</a:t>
            </a:r>
            <a:r>
              <a:rPr lang="ko-KR" altLang="en-US" sz="1000" dirty="0"/>
              <a:t>을 클릭하세요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DD4908E-5715-42CA-870E-90E87CB5F8C5}"/>
              </a:ext>
            </a:extLst>
          </p:cNvPr>
          <p:cNvSpPr/>
          <p:nvPr/>
        </p:nvSpPr>
        <p:spPr>
          <a:xfrm>
            <a:off x="3525253" y="5143500"/>
            <a:ext cx="1822784" cy="3884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비밀번호 확인</a:t>
            </a:r>
          </a:p>
        </p:txBody>
      </p:sp>
    </p:spTree>
    <p:extLst>
      <p:ext uri="{BB962C8B-B14F-4D97-AF65-F5344CB8AC3E}">
        <p14:creationId xmlns:p14="http://schemas.microsoft.com/office/powerpoint/2010/main" val="2390926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720306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체크 후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603022"/>
              </p:ext>
            </p:extLst>
          </p:nvPr>
        </p:nvGraphicFramePr>
        <p:xfrm>
          <a:off x="8603672" y="1180080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9171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4695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체크 후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Member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에서 정보를 가져와 보여주기 및 변경 폼 출력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변경하기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폼 검증 후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반영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취소하기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페이지로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393357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D8F802F4-A8C9-4B4E-B6F6-E38022758E7F}"/>
              </a:ext>
            </a:extLst>
          </p:cNvPr>
          <p:cNvSpPr/>
          <p:nvPr/>
        </p:nvSpPr>
        <p:spPr>
          <a:xfrm>
            <a:off x="2541016" y="275657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사람이름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7675A5D-4200-4BAE-95E9-064E79E8C195}"/>
              </a:ext>
            </a:extLst>
          </p:cNvPr>
          <p:cNvSpPr txBox="1"/>
          <p:nvPr/>
        </p:nvSpPr>
        <p:spPr>
          <a:xfrm>
            <a:off x="1648658" y="1950007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회원 정보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274D44AB-C61A-4C49-AAB8-AEC430108C8D}"/>
              </a:ext>
            </a:extLst>
          </p:cNvPr>
          <p:cNvSpPr/>
          <p:nvPr/>
        </p:nvSpPr>
        <p:spPr>
          <a:xfrm>
            <a:off x="2535543" y="37598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>
                <a:solidFill>
                  <a:schemeClr val="tx1"/>
                </a:solidFill>
              </a:rPr>
              <a:t>Daum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API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5B12600E-7909-45A3-BC19-16A48B258D6B}"/>
              </a:ext>
            </a:extLst>
          </p:cNvPr>
          <p:cNvSpPr/>
          <p:nvPr/>
        </p:nvSpPr>
        <p:spPr>
          <a:xfrm>
            <a:off x="2535542" y="43017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- </a:t>
            </a:r>
            <a:r>
              <a:rPr lang="ko-KR" altLang="en-US" sz="1200" dirty="0">
                <a:solidFill>
                  <a:schemeClr val="tx1"/>
                </a:solidFill>
              </a:rPr>
              <a:t>없이 </a:t>
            </a:r>
            <a:r>
              <a:rPr lang="en-US" altLang="ko-KR" sz="1200" dirty="0">
                <a:solidFill>
                  <a:schemeClr val="tx1"/>
                </a:solidFill>
              </a:rPr>
              <a:t>11</a:t>
            </a:r>
            <a:r>
              <a:rPr lang="ko-KR" altLang="en-US" sz="1200" dirty="0">
                <a:solidFill>
                  <a:schemeClr val="tx1"/>
                </a:solidFill>
              </a:rPr>
              <a:t>자리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6CACD65-A086-40B6-B9D2-F7A2D0BF801C}"/>
              </a:ext>
            </a:extLst>
          </p:cNvPr>
          <p:cNvSpPr txBox="1"/>
          <p:nvPr/>
        </p:nvSpPr>
        <p:spPr>
          <a:xfrm>
            <a:off x="1659237" y="2730638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이름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B3A32F4-231E-4B8C-A983-320F8AF9B482}"/>
              </a:ext>
            </a:extLst>
          </p:cNvPr>
          <p:cNvSpPr txBox="1"/>
          <p:nvPr/>
        </p:nvSpPr>
        <p:spPr>
          <a:xfrm>
            <a:off x="1648659" y="3735148"/>
            <a:ext cx="785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집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970D253-0578-41DC-9742-6E40188DAED4}"/>
              </a:ext>
            </a:extLst>
          </p:cNvPr>
          <p:cNvSpPr txBox="1"/>
          <p:nvPr/>
        </p:nvSpPr>
        <p:spPr>
          <a:xfrm>
            <a:off x="1679460" y="42793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전화번호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B9B0FE0B-4CBA-4999-9829-C64C832A97DD}"/>
              </a:ext>
            </a:extLst>
          </p:cNvPr>
          <p:cNvSpPr/>
          <p:nvPr/>
        </p:nvSpPr>
        <p:spPr>
          <a:xfrm>
            <a:off x="5391859" y="2752666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나이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2263F7DC-4037-47D8-803C-BD6E4F72BF65}"/>
              </a:ext>
            </a:extLst>
          </p:cNvPr>
          <p:cNvSpPr/>
          <p:nvPr/>
        </p:nvSpPr>
        <p:spPr>
          <a:xfrm>
            <a:off x="5392002" y="37598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>
                <a:solidFill>
                  <a:schemeClr val="tx1"/>
                </a:solidFill>
              </a:rPr>
              <a:t>Daum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API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09848021-6995-4E33-B4F0-8C890A8EED4C}"/>
              </a:ext>
            </a:extLst>
          </p:cNvPr>
          <p:cNvSpPr/>
          <p:nvPr/>
        </p:nvSpPr>
        <p:spPr>
          <a:xfrm>
            <a:off x="5392001" y="43017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1A2CE04-5E42-4A75-B15F-BB0CB8B9C88F}"/>
              </a:ext>
            </a:extLst>
          </p:cNvPr>
          <p:cNvSpPr txBox="1"/>
          <p:nvPr/>
        </p:nvSpPr>
        <p:spPr>
          <a:xfrm>
            <a:off x="4515696" y="2730638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나이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183477B-25B0-492E-A4F0-2E99191FE305}"/>
              </a:ext>
            </a:extLst>
          </p:cNvPr>
          <p:cNvSpPr txBox="1"/>
          <p:nvPr/>
        </p:nvSpPr>
        <p:spPr>
          <a:xfrm>
            <a:off x="4505117" y="3735148"/>
            <a:ext cx="9040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*</a:t>
            </a:r>
            <a:r>
              <a:rPr lang="ko-KR" altLang="en-US" sz="1100" dirty="0"/>
              <a:t>직장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0195720-E57A-4D2B-9C72-0371BA12B92C}"/>
              </a:ext>
            </a:extLst>
          </p:cNvPr>
          <p:cNvSpPr txBox="1"/>
          <p:nvPr/>
        </p:nvSpPr>
        <p:spPr>
          <a:xfrm>
            <a:off x="4535919" y="42793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이메일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D3517B5-F8CB-42E3-B1E8-C461ED0DFE6C}"/>
              </a:ext>
            </a:extLst>
          </p:cNvPr>
          <p:cNvSpPr txBox="1"/>
          <p:nvPr/>
        </p:nvSpPr>
        <p:spPr>
          <a:xfrm>
            <a:off x="2486723" y="2997863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이름은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D8607E8-FF34-42C8-A626-3FBFEBECB100}"/>
              </a:ext>
            </a:extLst>
          </p:cNvPr>
          <p:cNvSpPr txBox="1"/>
          <p:nvPr/>
        </p:nvSpPr>
        <p:spPr>
          <a:xfrm>
            <a:off x="2517525" y="4017734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집 주소는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481BE78-3DCF-4D39-BF29-C0F4B4FDEABF}"/>
              </a:ext>
            </a:extLst>
          </p:cNvPr>
          <p:cNvSpPr txBox="1"/>
          <p:nvPr/>
        </p:nvSpPr>
        <p:spPr>
          <a:xfrm>
            <a:off x="5323057" y="4014258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직장 주소는 필수 요소입니다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DED9DA0B-D090-4CE0-8E66-A657DBA4D894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51E2AB2-B455-417D-8006-466B8E6C37A8}"/>
              </a:ext>
            </a:extLst>
          </p:cNvPr>
          <p:cNvSpPr txBox="1"/>
          <p:nvPr/>
        </p:nvSpPr>
        <p:spPr>
          <a:xfrm>
            <a:off x="6404146" y="5077880"/>
            <a:ext cx="516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여</a:t>
            </a:r>
            <a:endParaRPr lang="ko-KR" alt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70F7B02-E565-4C23-B4BA-CB85E1D72D96}"/>
              </a:ext>
            </a:extLst>
          </p:cNvPr>
          <p:cNvSpPr txBox="1"/>
          <p:nvPr/>
        </p:nvSpPr>
        <p:spPr>
          <a:xfrm>
            <a:off x="4590065" y="5113388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성별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73" name="원형: 비어 있음 72">
            <a:extLst>
              <a:ext uri="{FF2B5EF4-FFF2-40B4-BE49-F238E27FC236}">
                <a16:creationId xmlns:a16="http://schemas.microsoft.com/office/drawing/2014/main" id="{D8A32403-414B-4CF2-8589-5B5412E403E7}"/>
              </a:ext>
            </a:extLst>
          </p:cNvPr>
          <p:cNvSpPr/>
          <p:nvPr/>
        </p:nvSpPr>
        <p:spPr>
          <a:xfrm>
            <a:off x="5793505" y="5201999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4" name="원형: 비어 있음 73">
            <a:extLst>
              <a:ext uri="{FF2B5EF4-FFF2-40B4-BE49-F238E27FC236}">
                <a16:creationId xmlns:a16="http://schemas.microsoft.com/office/drawing/2014/main" id="{AD71D93F-603C-4BED-9603-9BB8F823C409}"/>
              </a:ext>
            </a:extLst>
          </p:cNvPr>
          <p:cNvSpPr/>
          <p:nvPr/>
        </p:nvSpPr>
        <p:spPr>
          <a:xfrm>
            <a:off x="6785710" y="5204320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3634AEE-7053-4544-B6DB-11130347E3C9}"/>
              </a:ext>
            </a:extLst>
          </p:cNvPr>
          <p:cNvSpPr txBox="1"/>
          <p:nvPr/>
        </p:nvSpPr>
        <p:spPr>
          <a:xfrm>
            <a:off x="5399960" y="5077880"/>
            <a:ext cx="33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남</a:t>
            </a: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1A7636D3-9752-4D85-B0CF-4E4C8618F4C9}"/>
              </a:ext>
            </a:extLst>
          </p:cNvPr>
          <p:cNvSpPr/>
          <p:nvPr/>
        </p:nvSpPr>
        <p:spPr>
          <a:xfrm>
            <a:off x="2548343" y="231300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아이디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F37B149-9DD5-4C48-842D-F358323A7C73}"/>
              </a:ext>
            </a:extLst>
          </p:cNvPr>
          <p:cNvSpPr txBox="1"/>
          <p:nvPr/>
        </p:nvSpPr>
        <p:spPr>
          <a:xfrm>
            <a:off x="1666563" y="2287068"/>
            <a:ext cx="7676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*</a:t>
            </a:r>
            <a:r>
              <a:rPr lang="ko-KR" altLang="en-US" sz="1100" dirty="0"/>
              <a:t>아이디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5899B1A-FE19-458A-9F00-F2B42D180A87}"/>
              </a:ext>
            </a:extLst>
          </p:cNvPr>
          <p:cNvSpPr/>
          <p:nvPr/>
        </p:nvSpPr>
        <p:spPr>
          <a:xfrm>
            <a:off x="2163029" y="5677920"/>
            <a:ext cx="2055823" cy="36662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변경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25EF232-B36C-4D27-B422-714DD6C035A0}"/>
              </a:ext>
            </a:extLst>
          </p:cNvPr>
          <p:cNvSpPr/>
          <p:nvPr/>
        </p:nvSpPr>
        <p:spPr>
          <a:xfrm>
            <a:off x="4363947" y="5678481"/>
            <a:ext cx="2055823" cy="36662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취소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1CE7A3B-08CE-4AE7-B7E4-E56C5D640F9E}"/>
              </a:ext>
            </a:extLst>
          </p:cNvPr>
          <p:cNvSpPr txBox="1"/>
          <p:nvPr/>
        </p:nvSpPr>
        <p:spPr>
          <a:xfrm>
            <a:off x="5323057" y="2986888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나이는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1248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303287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관리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리스트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360950"/>
              </p:ext>
            </p:extLst>
          </p:nvPr>
        </p:nvGraphicFramePr>
        <p:xfrm>
          <a:off x="8603672" y="1180083"/>
          <a:ext cx="3588327" cy="5690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4395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3546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리스트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9290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정보가져와서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일련번호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 :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재해일자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Date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타입으로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발생형태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Check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기능으로 삭제 여부 결정하기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한 페이지당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개씩 출력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16694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추가하기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추가 페이지로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삭제하기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리스트에서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check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된 목록 삭제 처리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86534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479883" y="2694554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산재 정보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B6151FC-E3BD-41BB-80D5-72CA5DC7DFA7}"/>
              </a:ext>
            </a:extLst>
          </p:cNvPr>
          <p:cNvSpPr/>
          <p:nvPr/>
        </p:nvSpPr>
        <p:spPr>
          <a:xfrm>
            <a:off x="1825777" y="5615092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추가하기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FE57521-A2FC-4B06-ACC9-5967AF278877}"/>
              </a:ext>
            </a:extLst>
          </p:cNvPr>
          <p:cNvSpPr/>
          <p:nvPr/>
        </p:nvSpPr>
        <p:spPr>
          <a:xfrm>
            <a:off x="1675370" y="5441959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graphicFrame>
        <p:nvGraphicFramePr>
          <p:cNvPr id="3" name="표 8">
            <a:extLst>
              <a:ext uri="{FF2B5EF4-FFF2-40B4-BE49-F238E27FC236}">
                <a16:creationId xmlns:a16="http://schemas.microsoft.com/office/drawing/2014/main" id="{1DF89397-2A0C-41C5-BF63-94BFCC099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181391"/>
              </p:ext>
            </p:extLst>
          </p:nvPr>
        </p:nvGraphicFramePr>
        <p:xfrm>
          <a:off x="1675370" y="3183933"/>
          <a:ext cx="5495236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980">
                  <a:extLst>
                    <a:ext uri="{9D8B030D-6E8A-4147-A177-3AD203B41FA5}">
                      <a16:colId xmlns:a16="http://schemas.microsoft.com/office/drawing/2014/main" val="3149353794"/>
                    </a:ext>
                  </a:extLst>
                </a:gridCol>
                <a:gridCol w="471520">
                  <a:extLst>
                    <a:ext uri="{9D8B030D-6E8A-4147-A177-3AD203B41FA5}">
                      <a16:colId xmlns:a16="http://schemas.microsoft.com/office/drawing/2014/main" val="3974470729"/>
                    </a:ext>
                  </a:extLst>
                </a:gridCol>
                <a:gridCol w="1231321">
                  <a:extLst>
                    <a:ext uri="{9D8B030D-6E8A-4147-A177-3AD203B41FA5}">
                      <a16:colId xmlns:a16="http://schemas.microsoft.com/office/drawing/2014/main" val="68747978"/>
                    </a:ext>
                  </a:extLst>
                </a:gridCol>
                <a:gridCol w="1231321">
                  <a:extLst>
                    <a:ext uri="{9D8B030D-6E8A-4147-A177-3AD203B41FA5}">
                      <a16:colId xmlns:a16="http://schemas.microsoft.com/office/drawing/2014/main" val="840738960"/>
                    </a:ext>
                  </a:extLst>
                </a:gridCol>
                <a:gridCol w="1099047">
                  <a:extLst>
                    <a:ext uri="{9D8B030D-6E8A-4147-A177-3AD203B41FA5}">
                      <a16:colId xmlns:a16="http://schemas.microsoft.com/office/drawing/2014/main" val="1032703914"/>
                    </a:ext>
                  </a:extLst>
                </a:gridCol>
                <a:gridCol w="1099047">
                  <a:extLst>
                    <a:ext uri="{9D8B030D-6E8A-4147-A177-3AD203B41FA5}">
                      <a16:colId xmlns:a16="http://schemas.microsoft.com/office/drawing/2014/main" val="1305164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일련번호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재해일자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발생형태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질병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158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ㅁ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2024-12-30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건설업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진폐증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73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ㅁ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2024-09-30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중공업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골절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38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ㅁ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2024-07-30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건설업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찢어짐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696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ㅁ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2024-04-30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중공업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골절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76614"/>
                  </a:ext>
                </a:extLst>
              </a:tr>
            </a:tbl>
          </a:graphicData>
        </a:graphic>
      </p:graphicFrame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CEBA8D50-D7BE-4102-83D8-ABFD0740C103}"/>
              </a:ext>
            </a:extLst>
          </p:cNvPr>
          <p:cNvSpPr/>
          <p:nvPr/>
        </p:nvSpPr>
        <p:spPr>
          <a:xfrm>
            <a:off x="4455939" y="5615092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삭제하기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F1216A5-DF98-4A5F-9688-B1DBF163D13A}"/>
              </a:ext>
            </a:extLst>
          </p:cNvPr>
          <p:cNvSpPr/>
          <p:nvPr/>
        </p:nvSpPr>
        <p:spPr>
          <a:xfrm>
            <a:off x="2652028" y="5211266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746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741366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관리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입력 폼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447040"/>
              </p:ext>
            </p:extLst>
          </p:nvPr>
        </p:nvGraphicFramePr>
        <p:xfrm>
          <a:off x="8603672" y="1180083"/>
          <a:ext cx="3588327" cy="573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27044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46712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폼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35403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select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광업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제조업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건설업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중분류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 따라 바뀜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select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광업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석탄광업 및 채석업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석회석</a:t>
                      </a:r>
                      <a:r>
                        <a:rPr lang="en-US" altLang="ko-KR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금속</a:t>
                      </a:r>
                      <a:r>
                        <a:rPr lang="en-US" altLang="ko-KR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비금속광업</a:t>
                      </a:r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및 </a:t>
                      </a:r>
                      <a:r>
                        <a:rPr lang="ko-KR" alt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기타광업</a:t>
                      </a:r>
                      <a:endParaRPr lang="en-US" altLang="ko-KR" sz="1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en-US" altLang="ko-KR" sz="1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건설업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건설업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….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발생형태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질병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Radio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타입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재해일자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Date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타입으로 받기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YYYY-MM-DD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발생주소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다음주소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3441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Form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 입력 검증이 모두 통과했다면 가입확인 페이지로 이동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86534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479883" y="2694554"/>
            <a:ext cx="12023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산재 </a:t>
            </a:r>
            <a:r>
              <a:rPr lang="ko-KR" altLang="en-US" sz="1100" b="1"/>
              <a:t>정보 입력</a:t>
            </a:r>
            <a:endParaRPr lang="ko-KR" altLang="en-US" sz="1100" b="1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C80538E-C0D3-4534-93CA-4D4BDD7B7BF4}"/>
              </a:ext>
            </a:extLst>
          </p:cNvPr>
          <p:cNvSpPr/>
          <p:nvPr/>
        </p:nvSpPr>
        <p:spPr>
          <a:xfrm>
            <a:off x="2281543" y="3675476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21FF8B7-A9DF-4B4D-9BCA-29278DD2FE07}"/>
              </a:ext>
            </a:extLst>
          </p:cNvPr>
          <p:cNvSpPr/>
          <p:nvPr/>
        </p:nvSpPr>
        <p:spPr>
          <a:xfrm>
            <a:off x="1528194" y="4548011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B6151FC-E3BD-41BB-80D5-72CA5DC7DFA7}"/>
              </a:ext>
            </a:extLst>
          </p:cNvPr>
          <p:cNvSpPr/>
          <p:nvPr/>
        </p:nvSpPr>
        <p:spPr>
          <a:xfrm>
            <a:off x="4372664" y="5703026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등록하기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995F06-0A8B-40EF-AC28-9A19A76A2933}"/>
              </a:ext>
            </a:extLst>
          </p:cNvPr>
          <p:cNvSpPr txBox="1"/>
          <p:nvPr/>
        </p:nvSpPr>
        <p:spPr>
          <a:xfrm>
            <a:off x="1472235" y="4188595"/>
            <a:ext cx="994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발생형태 </a:t>
            </a:r>
            <a:r>
              <a:rPr lang="en-US" altLang="ko-KR" sz="1000" dirty="0"/>
              <a:t>:</a:t>
            </a:r>
            <a:endParaRPr lang="ko-KR" altLang="en-US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E00F82D-76CE-4AF0-AE17-A571ABE3D6B0}"/>
              </a:ext>
            </a:extLst>
          </p:cNvPr>
          <p:cNvSpPr txBox="1"/>
          <p:nvPr/>
        </p:nvSpPr>
        <p:spPr>
          <a:xfrm>
            <a:off x="1351916" y="3675476"/>
            <a:ext cx="869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재해일자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FE57521-A2FC-4B06-ACC9-5967AF278877}"/>
              </a:ext>
            </a:extLst>
          </p:cNvPr>
          <p:cNvSpPr/>
          <p:nvPr/>
        </p:nvSpPr>
        <p:spPr>
          <a:xfrm>
            <a:off x="4222255" y="5462799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EFE5CA5-578B-425C-A594-811BFD7A077D}"/>
              </a:ext>
            </a:extLst>
          </p:cNvPr>
          <p:cNvSpPr/>
          <p:nvPr/>
        </p:nvSpPr>
        <p:spPr>
          <a:xfrm>
            <a:off x="2281543" y="3177817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78ADDEF-1924-41EE-9977-5C53768B90A0}"/>
              </a:ext>
            </a:extLst>
          </p:cNvPr>
          <p:cNvSpPr/>
          <p:nvPr/>
        </p:nvSpPr>
        <p:spPr>
          <a:xfrm>
            <a:off x="5137859" y="3184032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3C7CF6-8420-40A9-91B6-9B154B5B42EA}"/>
              </a:ext>
            </a:extLst>
          </p:cNvPr>
          <p:cNvSpPr txBox="1"/>
          <p:nvPr/>
        </p:nvSpPr>
        <p:spPr>
          <a:xfrm>
            <a:off x="4319864" y="3163165"/>
            <a:ext cx="994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중분류</a:t>
            </a:r>
            <a:r>
              <a:rPr lang="en-US" altLang="ko-KR" sz="1000" dirty="0"/>
              <a:t>2::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19152C-C274-4842-B44E-91F10111CA5D}"/>
              </a:ext>
            </a:extLst>
          </p:cNvPr>
          <p:cNvSpPr txBox="1"/>
          <p:nvPr/>
        </p:nvSpPr>
        <p:spPr>
          <a:xfrm>
            <a:off x="1351916" y="3177817"/>
            <a:ext cx="869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중분류</a:t>
            </a:r>
            <a:r>
              <a:rPr lang="en-US" altLang="ko-KR" sz="1000" dirty="0"/>
              <a:t>1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55CEE9-71E0-4C35-9A1C-5D190BF390B2}"/>
              </a:ext>
            </a:extLst>
          </p:cNvPr>
          <p:cNvSpPr txBox="1"/>
          <p:nvPr/>
        </p:nvSpPr>
        <p:spPr>
          <a:xfrm>
            <a:off x="2778671" y="4188595"/>
            <a:ext cx="994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질병</a:t>
            </a:r>
            <a:r>
              <a:rPr lang="en-US" altLang="ko-KR" sz="1000" dirty="0"/>
              <a:t>:</a:t>
            </a:r>
            <a:endParaRPr lang="ko-KR" altLang="en-US" sz="1000" dirty="0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7E5A9285-C8BC-4B5C-ACB6-FD7FBE5B1562}"/>
              </a:ext>
            </a:extLst>
          </p:cNvPr>
          <p:cNvSpPr/>
          <p:nvPr/>
        </p:nvSpPr>
        <p:spPr>
          <a:xfrm>
            <a:off x="2281543" y="4249372"/>
            <a:ext cx="121122" cy="1208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2DB13C94-89F5-452E-A5F5-A9A3573347FE}"/>
              </a:ext>
            </a:extLst>
          </p:cNvPr>
          <p:cNvSpPr/>
          <p:nvPr/>
        </p:nvSpPr>
        <p:spPr>
          <a:xfrm>
            <a:off x="3323359" y="4249372"/>
            <a:ext cx="121122" cy="1208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3AFBE759-03EC-4886-A843-EA52EECC313E}"/>
              </a:ext>
            </a:extLst>
          </p:cNvPr>
          <p:cNvSpPr/>
          <p:nvPr/>
        </p:nvSpPr>
        <p:spPr>
          <a:xfrm>
            <a:off x="5157300" y="3675475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5F9FB7-303C-4A87-ADF1-B3C74B31FBA7}"/>
              </a:ext>
            </a:extLst>
          </p:cNvPr>
          <p:cNvSpPr txBox="1"/>
          <p:nvPr/>
        </p:nvSpPr>
        <p:spPr>
          <a:xfrm>
            <a:off x="4319864" y="3646170"/>
            <a:ext cx="869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발생주소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817342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653856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 탈퇴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회원탈퇴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896336"/>
              </p:ext>
            </p:extLst>
          </p:nvPr>
        </p:nvGraphicFramePr>
        <p:xfrm>
          <a:off x="8603672" y="1180081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7052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1663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회원탈퇴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1453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탈퇴 안내 메시지 출력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21453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탈퇴시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해당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user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초기화 및 세션처리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86534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B6151FC-E3BD-41BB-80D5-72CA5DC7DFA7}"/>
              </a:ext>
            </a:extLst>
          </p:cNvPr>
          <p:cNvSpPr/>
          <p:nvPr/>
        </p:nvSpPr>
        <p:spPr>
          <a:xfrm>
            <a:off x="4372664" y="5703026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탈퇴하기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FE57521-A2FC-4B06-ACC9-5967AF278877}"/>
              </a:ext>
            </a:extLst>
          </p:cNvPr>
          <p:cNvSpPr/>
          <p:nvPr/>
        </p:nvSpPr>
        <p:spPr>
          <a:xfrm>
            <a:off x="4222255" y="5462799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53788F-0E37-44EA-A62E-A555E27F6F69}"/>
              </a:ext>
            </a:extLst>
          </p:cNvPr>
          <p:cNvSpPr txBox="1"/>
          <p:nvPr/>
        </p:nvSpPr>
        <p:spPr>
          <a:xfrm>
            <a:off x="2249905" y="2803358"/>
            <a:ext cx="4012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정말 탈퇴 하시겠습니까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43774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7060C0-231F-48B5-97C7-6C5EC2DF9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산재 뉴스</a:t>
            </a:r>
          </a:p>
        </p:txBody>
      </p:sp>
    </p:spTree>
    <p:extLst>
      <p:ext uri="{BB962C8B-B14F-4D97-AF65-F5344CB8AC3E}">
        <p14:creationId xmlns:p14="http://schemas.microsoft.com/office/powerpoint/2010/main" val="33049400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413869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11563"/>
              </p:ext>
            </p:extLst>
          </p:nvPr>
        </p:nvGraphicFramePr>
        <p:xfrm>
          <a:off x="8603672" y="1180080"/>
          <a:ext cx="3588327" cy="58144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5701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5415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12261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사이트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기사이미지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기사 제목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요약글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기사 작성일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원본 뉴스 링크 저장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뉴스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정보 가져와 화면에 출력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제목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이미지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내용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원본 뉴스 링크를 타고 페이지 이동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한 페이지당 기사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개씩 출력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595F223-A11D-B244-B9A0-B5A17CDA5204}"/>
              </a:ext>
            </a:extLst>
          </p:cNvPr>
          <p:cNvSpPr/>
          <p:nvPr/>
        </p:nvSpPr>
        <p:spPr>
          <a:xfrm>
            <a:off x="275119" y="1990338"/>
            <a:ext cx="8053431" cy="36875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5EB0DC7-4DBF-0F36-C225-7EFCC67B293C}"/>
              </a:ext>
            </a:extLst>
          </p:cNvPr>
          <p:cNvSpPr/>
          <p:nvPr/>
        </p:nvSpPr>
        <p:spPr>
          <a:xfrm>
            <a:off x="1615043" y="2227234"/>
            <a:ext cx="969092" cy="214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기사 제목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1D95BDE-1637-E94E-184B-E7C89E5FC57D}"/>
              </a:ext>
            </a:extLst>
          </p:cNvPr>
          <p:cNvSpPr/>
          <p:nvPr/>
        </p:nvSpPr>
        <p:spPr>
          <a:xfrm>
            <a:off x="1615043" y="2517519"/>
            <a:ext cx="6610525" cy="370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기사 간단 내용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505921C-EFC5-9B98-CCC7-ADEB2725A46C}"/>
              </a:ext>
            </a:extLst>
          </p:cNvPr>
          <p:cNvSpPr/>
          <p:nvPr/>
        </p:nvSpPr>
        <p:spPr>
          <a:xfrm>
            <a:off x="1615043" y="3408107"/>
            <a:ext cx="969092" cy="214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기사 제목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A36684E-6B56-FADE-ECDF-822B743CF08B}"/>
              </a:ext>
            </a:extLst>
          </p:cNvPr>
          <p:cNvSpPr/>
          <p:nvPr/>
        </p:nvSpPr>
        <p:spPr>
          <a:xfrm>
            <a:off x="1615043" y="4588980"/>
            <a:ext cx="969092" cy="214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기사 제목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8BBEC8C-F3EA-FC4C-AE9F-73652C7E4ED6}"/>
              </a:ext>
            </a:extLst>
          </p:cNvPr>
          <p:cNvSpPr/>
          <p:nvPr/>
        </p:nvSpPr>
        <p:spPr>
          <a:xfrm>
            <a:off x="1615043" y="2957472"/>
            <a:ext cx="809375" cy="143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작성 날짜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4AEBDA4-1EFE-71A9-B7B4-B5729D664208}"/>
              </a:ext>
            </a:extLst>
          </p:cNvPr>
          <p:cNvSpPr/>
          <p:nvPr/>
        </p:nvSpPr>
        <p:spPr>
          <a:xfrm>
            <a:off x="1615043" y="3702911"/>
            <a:ext cx="6610525" cy="370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기사 간단 내용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DC844A9-69BF-AD30-8BF4-4A8CBD3D7698}"/>
              </a:ext>
            </a:extLst>
          </p:cNvPr>
          <p:cNvSpPr/>
          <p:nvPr/>
        </p:nvSpPr>
        <p:spPr>
          <a:xfrm>
            <a:off x="1615043" y="4145624"/>
            <a:ext cx="809375" cy="143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작성 날짜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2E32B1D-5D2E-6EDE-0755-A3C40900A3B7}"/>
              </a:ext>
            </a:extLst>
          </p:cNvPr>
          <p:cNvSpPr/>
          <p:nvPr/>
        </p:nvSpPr>
        <p:spPr>
          <a:xfrm>
            <a:off x="1615043" y="4875862"/>
            <a:ext cx="6610525" cy="370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기사 간단 내용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3259B4D-7C80-C259-C552-B61F64198742}"/>
              </a:ext>
            </a:extLst>
          </p:cNvPr>
          <p:cNvSpPr/>
          <p:nvPr/>
        </p:nvSpPr>
        <p:spPr>
          <a:xfrm>
            <a:off x="1615043" y="5329286"/>
            <a:ext cx="809375" cy="143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작성 날짜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7F314ACF-351E-8410-FA74-C8D895D2DD9D}"/>
              </a:ext>
            </a:extLst>
          </p:cNvPr>
          <p:cNvGrpSpPr/>
          <p:nvPr/>
        </p:nvGrpSpPr>
        <p:grpSpPr>
          <a:xfrm>
            <a:off x="8258986" y="1990338"/>
            <a:ext cx="208120" cy="3700872"/>
            <a:chOff x="8258986" y="1990338"/>
            <a:chExt cx="208120" cy="3700872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697B83F7-EC56-A29B-BE2C-B024631E2622}"/>
                </a:ext>
              </a:extLst>
            </p:cNvPr>
            <p:cNvSpPr/>
            <p:nvPr/>
          </p:nvSpPr>
          <p:spPr>
            <a:xfrm>
              <a:off x="8258986" y="1990338"/>
              <a:ext cx="206130" cy="3700872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94A63603-5DED-7778-56D1-DC07E38E917E}"/>
                </a:ext>
              </a:extLst>
            </p:cNvPr>
            <p:cNvSpPr/>
            <p:nvPr/>
          </p:nvSpPr>
          <p:spPr>
            <a:xfrm>
              <a:off x="8258986" y="2197150"/>
              <a:ext cx="208120" cy="236896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1DF785C-B7EC-1669-4582-2956CB7CAFD9}"/>
              </a:ext>
            </a:extLst>
          </p:cNvPr>
          <p:cNvSpPr/>
          <p:nvPr/>
        </p:nvSpPr>
        <p:spPr>
          <a:xfrm>
            <a:off x="2759978" y="5838738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3846343E-B1F6-DB92-6C16-B9DA1096D06D}"/>
              </a:ext>
            </a:extLst>
          </p:cNvPr>
          <p:cNvSpPr/>
          <p:nvPr/>
        </p:nvSpPr>
        <p:spPr>
          <a:xfrm>
            <a:off x="518562" y="2224455"/>
            <a:ext cx="907891" cy="79663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기사 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64A70A1D-A872-3F76-0E98-5DB1B4239256}"/>
              </a:ext>
            </a:extLst>
          </p:cNvPr>
          <p:cNvSpPr/>
          <p:nvPr/>
        </p:nvSpPr>
        <p:spPr>
          <a:xfrm>
            <a:off x="518562" y="3408107"/>
            <a:ext cx="907891" cy="79663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기사 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77202031-CF92-B844-8F4F-D42B89D773B0}"/>
              </a:ext>
            </a:extLst>
          </p:cNvPr>
          <p:cNvSpPr/>
          <p:nvPr/>
        </p:nvSpPr>
        <p:spPr>
          <a:xfrm>
            <a:off x="518562" y="4601148"/>
            <a:ext cx="907891" cy="79663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기사 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616DA03-25A6-4438-B5D8-9E3264DCE2F3}"/>
              </a:ext>
            </a:extLst>
          </p:cNvPr>
          <p:cNvSpPr/>
          <p:nvPr/>
        </p:nvSpPr>
        <p:spPr>
          <a:xfrm>
            <a:off x="138553" y="1829520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60CD243-7955-4DE0-A39E-B3D903DD0F75}"/>
              </a:ext>
            </a:extLst>
          </p:cNvPr>
          <p:cNvSpPr/>
          <p:nvPr/>
        </p:nvSpPr>
        <p:spPr>
          <a:xfrm>
            <a:off x="439368" y="2143903"/>
            <a:ext cx="7817628" cy="11813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2845C53-3EB1-4749-A31C-BFE34420A83E}"/>
              </a:ext>
            </a:extLst>
          </p:cNvPr>
          <p:cNvSpPr/>
          <p:nvPr/>
        </p:nvSpPr>
        <p:spPr>
          <a:xfrm>
            <a:off x="439368" y="3328974"/>
            <a:ext cx="7817628" cy="11813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9F2C791-417C-4781-962A-60D7AB8A5A33}"/>
              </a:ext>
            </a:extLst>
          </p:cNvPr>
          <p:cNvSpPr/>
          <p:nvPr/>
        </p:nvSpPr>
        <p:spPr>
          <a:xfrm>
            <a:off x="424649" y="4499500"/>
            <a:ext cx="7817628" cy="11813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2D4480C-E441-46C0-B4C5-CA6D606E9EBD}"/>
              </a:ext>
            </a:extLst>
          </p:cNvPr>
          <p:cNvSpPr/>
          <p:nvPr/>
        </p:nvSpPr>
        <p:spPr>
          <a:xfrm>
            <a:off x="2601216" y="5625122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768439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7D9E5A-9610-427A-A1C0-C72FDD0AC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산재 통계</a:t>
            </a:r>
          </a:p>
        </p:txBody>
      </p:sp>
    </p:spTree>
    <p:extLst>
      <p:ext uri="{BB962C8B-B14F-4D97-AF65-F5344CB8AC3E}">
        <p14:creationId xmlns:p14="http://schemas.microsoft.com/office/powerpoint/2010/main" val="33838391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842127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로그인체크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768917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로그인이 필요하다고 사용자에게 알린다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로그인이 필요한 서비스 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5669C7-CF63-AE91-F131-90B6DBA4EA1B}"/>
              </a:ext>
            </a:extLst>
          </p:cNvPr>
          <p:cNvSpPr/>
          <p:nvPr/>
        </p:nvSpPr>
        <p:spPr>
          <a:xfrm>
            <a:off x="2070034" y="3827528"/>
            <a:ext cx="1698607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화면으로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4071881" y="3827529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71FF94-DC1E-4BD3-B75A-E721C222A06C}"/>
              </a:ext>
            </a:extLst>
          </p:cNvPr>
          <p:cNvSpPr/>
          <p:nvPr/>
        </p:nvSpPr>
        <p:spPr>
          <a:xfrm>
            <a:off x="1987368" y="3741135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3989215" y="375066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74168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631742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978"/>
              </p:ext>
            </p:extLst>
          </p:nvPr>
        </p:nvGraphicFramePr>
        <p:xfrm>
          <a:off x="8603672" y="1180081"/>
          <a:ext cx="3588327" cy="5617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139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120188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6060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593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827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회원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와 산재리스트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DB Join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해서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회원 프로필 명시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247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정보선택을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클릭할때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본인이 작성한 산재 정보 목록 중 겪은 산재 선택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(Select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할 수 있게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 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분석 기간에 따른 통계 자료 변경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(Button)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97156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14C79B7-5760-B413-FB50-03C6F0CDE6A1}"/>
              </a:ext>
            </a:extLst>
          </p:cNvPr>
          <p:cNvSpPr/>
          <p:nvPr/>
        </p:nvSpPr>
        <p:spPr>
          <a:xfrm>
            <a:off x="368773" y="2090944"/>
            <a:ext cx="7921374" cy="67155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   </a:t>
            </a:r>
            <a:r>
              <a:rPr lang="en-US" altLang="ko-KR" sz="1400" b="1" dirty="0">
                <a:solidFill>
                  <a:schemeClr val="tx1"/>
                </a:solidFill>
              </a:rPr>
              <a:t>000</a:t>
            </a:r>
            <a:r>
              <a:rPr lang="ko-KR" altLang="en-US" sz="1400" b="1" dirty="0">
                <a:solidFill>
                  <a:schemeClr val="tx1"/>
                </a:solidFill>
              </a:rPr>
              <a:t> 님의 프로필 </a:t>
            </a:r>
            <a:r>
              <a:rPr lang="en-US" altLang="ko-KR" sz="1400" b="1" dirty="0">
                <a:solidFill>
                  <a:schemeClr val="tx1"/>
                </a:solidFill>
              </a:rPr>
              <a:t>						             </a:t>
            </a: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			        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r>
              <a:rPr lang="en-US" altLang="ko-KR" sz="900" dirty="0">
                <a:solidFill>
                  <a:schemeClr val="tx1"/>
                </a:solidFill>
              </a:rPr>
              <a:t>   </a:t>
            </a:r>
            <a:r>
              <a:rPr lang="ko-KR" altLang="en-US" sz="900" dirty="0">
                <a:solidFill>
                  <a:schemeClr val="tx1"/>
                </a:solidFill>
              </a:rPr>
              <a:t>   업종</a:t>
            </a:r>
            <a:r>
              <a:rPr lang="en-US" altLang="ko-KR" sz="900" dirty="0">
                <a:solidFill>
                  <a:schemeClr val="tx1"/>
                </a:solidFill>
              </a:rPr>
              <a:t>(1):               </a:t>
            </a:r>
            <a:r>
              <a:rPr lang="ko-KR" altLang="en-US" sz="900" dirty="0">
                <a:solidFill>
                  <a:schemeClr val="tx1"/>
                </a:solidFill>
              </a:rPr>
              <a:t>업종</a:t>
            </a:r>
            <a:r>
              <a:rPr lang="en-US" altLang="ko-KR" sz="900" dirty="0">
                <a:solidFill>
                  <a:schemeClr val="tx1"/>
                </a:solidFill>
              </a:rPr>
              <a:t>(2):             </a:t>
            </a:r>
            <a:r>
              <a:rPr lang="ko-KR" altLang="en-US" sz="900" dirty="0">
                <a:solidFill>
                  <a:schemeClr val="tx1"/>
                </a:solidFill>
              </a:rPr>
              <a:t>나이</a:t>
            </a:r>
            <a:r>
              <a:rPr lang="en-US" altLang="ko-KR" sz="900" dirty="0">
                <a:solidFill>
                  <a:schemeClr val="tx1"/>
                </a:solidFill>
              </a:rPr>
              <a:t>:           </a:t>
            </a:r>
            <a:r>
              <a:rPr lang="ko-KR" altLang="en-US" sz="900" dirty="0">
                <a:solidFill>
                  <a:schemeClr val="tx1"/>
                </a:solidFill>
              </a:rPr>
              <a:t>성별</a:t>
            </a:r>
            <a:r>
              <a:rPr lang="en-US" altLang="ko-KR" sz="900" dirty="0">
                <a:solidFill>
                  <a:schemeClr val="tx1"/>
                </a:solidFill>
              </a:rPr>
              <a:t>:                </a:t>
            </a: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C8FB421-9CFE-4432-A811-F0208FB58046}"/>
              </a:ext>
            </a:extLst>
          </p:cNvPr>
          <p:cNvSpPr/>
          <p:nvPr/>
        </p:nvSpPr>
        <p:spPr>
          <a:xfrm>
            <a:off x="198513" y="2008787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E2C0410-CB91-6CDB-DD7F-2E9415BF87AA}"/>
              </a:ext>
            </a:extLst>
          </p:cNvPr>
          <p:cNvSpPr/>
          <p:nvPr/>
        </p:nvSpPr>
        <p:spPr>
          <a:xfrm>
            <a:off x="368773" y="2879078"/>
            <a:ext cx="7921374" cy="304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분석 기간</a:t>
            </a:r>
            <a:r>
              <a:rPr lang="en-US" altLang="ko-KR" sz="1400" b="1" dirty="0">
                <a:solidFill>
                  <a:schemeClr val="tx1"/>
                </a:solidFill>
              </a:rPr>
              <a:t>:						            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48A80A4-9904-31F9-D9F0-24A203D0853C}"/>
              </a:ext>
            </a:extLst>
          </p:cNvPr>
          <p:cNvSpPr/>
          <p:nvPr/>
        </p:nvSpPr>
        <p:spPr>
          <a:xfrm>
            <a:off x="4894957" y="2887837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최근 </a:t>
            </a:r>
            <a:r>
              <a:rPr lang="en-US" altLang="ko-KR" sz="1100" dirty="0">
                <a:solidFill>
                  <a:schemeClr val="bg1"/>
                </a:solidFill>
              </a:rPr>
              <a:t>1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A6F1F55-5AD2-24E3-D532-89CB71D9E1EE}"/>
              </a:ext>
            </a:extLst>
          </p:cNvPr>
          <p:cNvSpPr/>
          <p:nvPr/>
        </p:nvSpPr>
        <p:spPr>
          <a:xfrm>
            <a:off x="6053573" y="2887837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2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ABB0301-6CB6-76E9-B49C-19AD4DD61391}"/>
              </a:ext>
            </a:extLst>
          </p:cNvPr>
          <p:cNvSpPr/>
          <p:nvPr/>
        </p:nvSpPr>
        <p:spPr>
          <a:xfrm>
            <a:off x="7200693" y="2890782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3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53C7825D-4448-4B98-BC96-9250A449316D}"/>
              </a:ext>
            </a:extLst>
          </p:cNvPr>
          <p:cNvSpPr/>
          <p:nvPr/>
        </p:nvSpPr>
        <p:spPr>
          <a:xfrm>
            <a:off x="4757392" y="2745007"/>
            <a:ext cx="275130" cy="30399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5C2A0EA-B3AE-AEC2-CE98-2376622D571B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EA71B6-598E-4F09-AF55-AECC68AE0278}"/>
              </a:ext>
            </a:extLst>
          </p:cNvPr>
          <p:cNvSpPr txBox="1"/>
          <p:nvPr/>
        </p:nvSpPr>
        <p:spPr>
          <a:xfrm>
            <a:off x="1971492" y="4304949"/>
            <a:ext cx="4124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분석을 시작하려면 기간을 선택하세요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122FFAF-E532-0FA7-2D39-ACC91267F496}"/>
              </a:ext>
            </a:extLst>
          </p:cNvPr>
          <p:cNvSpPr/>
          <p:nvPr/>
        </p:nvSpPr>
        <p:spPr>
          <a:xfrm>
            <a:off x="6673212" y="2364788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정보 선택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F51771-E44A-953D-0C91-B6EE8EF0AC9C}"/>
              </a:ext>
            </a:extLst>
          </p:cNvPr>
          <p:cNvSpPr/>
          <p:nvPr/>
        </p:nvSpPr>
        <p:spPr>
          <a:xfrm>
            <a:off x="6502952" y="2244942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3AD9B29-D813-20EE-3223-5ABEFF00E57D}"/>
              </a:ext>
            </a:extLst>
          </p:cNvPr>
          <p:cNvSpPr/>
          <p:nvPr/>
        </p:nvSpPr>
        <p:spPr>
          <a:xfrm>
            <a:off x="7014888" y="1324407"/>
            <a:ext cx="1258932" cy="11024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산재 정보 목록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산재 </a:t>
            </a:r>
            <a:r>
              <a:rPr lang="en-US" altLang="ko-KR" sz="110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산재 </a:t>
            </a:r>
            <a:r>
              <a:rPr lang="en-US" altLang="ko-KR" sz="1100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산재 </a:t>
            </a:r>
            <a:r>
              <a:rPr lang="en-US" altLang="ko-KR" sz="1100" dirty="0">
                <a:solidFill>
                  <a:schemeClr val="tx1"/>
                </a:solidFill>
              </a:rPr>
              <a:t>3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산재 </a:t>
            </a:r>
            <a:r>
              <a:rPr lang="en-US" altLang="ko-KR" sz="1100" dirty="0">
                <a:solidFill>
                  <a:schemeClr val="tx1"/>
                </a:solidFill>
              </a:rPr>
              <a:t>4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8182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149F63A-B17E-6964-404B-4C602586C571}"/>
              </a:ext>
            </a:extLst>
          </p:cNvPr>
          <p:cNvSpPr/>
          <p:nvPr/>
        </p:nvSpPr>
        <p:spPr>
          <a:xfrm>
            <a:off x="336077" y="3509181"/>
            <a:ext cx="1928120" cy="285552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내 업종 재해율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</a:t>
            </a:r>
            <a:r>
              <a:rPr lang="ko-KR" altLang="en-US" sz="1100" b="1" dirty="0">
                <a:solidFill>
                  <a:schemeClr val="tx1"/>
                </a:solidFill>
              </a:rPr>
              <a:t> 재해율 </a:t>
            </a:r>
            <a:r>
              <a:rPr lang="en-US" altLang="ko-KR" sz="1100" b="1" dirty="0">
                <a:solidFill>
                  <a:schemeClr val="tx1"/>
                </a:solidFill>
              </a:rPr>
              <a:t>%</a:t>
            </a: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 </a:t>
            </a:r>
            <a:r>
              <a:rPr lang="ko-KR" altLang="en-US" sz="1100" b="1" dirty="0">
                <a:solidFill>
                  <a:schemeClr val="tx1"/>
                </a:solidFill>
              </a:rPr>
              <a:t>전년 대비 증감률</a:t>
            </a:r>
            <a:r>
              <a:rPr lang="en-US" altLang="ko-KR" sz="1100" b="1" dirty="0">
                <a:solidFill>
                  <a:schemeClr val="tx1"/>
                </a:solidFill>
              </a:rPr>
              <a:t> </a:t>
            </a:r>
            <a:r>
              <a:rPr lang="ko-KR" altLang="en-US" sz="11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				            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775889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782090"/>
              </p:ext>
            </p:extLst>
          </p:nvPr>
        </p:nvGraphicFramePr>
        <p:xfrm>
          <a:off x="8603672" y="1180081"/>
          <a:ext cx="3588327" cy="58372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139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120188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6060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593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827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최근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2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3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(Button)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에 따른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통계 집계 및  시각화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고용노동통계의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산업재해현황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를 보면 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년도별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통계분석 가능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247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활용한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 업종 재해율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 업종 사망률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 업종 재해유형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 업종 사망유형 집계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97156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14C79B7-5760-B413-FB50-03C6F0CDE6A1}"/>
              </a:ext>
            </a:extLst>
          </p:cNvPr>
          <p:cNvSpPr/>
          <p:nvPr/>
        </p:nvSpPr>
        <p:spPr>
          <a:xfrm>
            <a:off x="368773" y="2090944"/>
            <a:ext cx="7921374" cy="67155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   </a:t>
            </a:r>
            <a:r>
              <a:rPr lang="en-US" altLang="ko-KR" sz="1400" b="1" dirty="0">
                <a:solidFill>
                  <a:schemeClr val="tx1"/>
                </a:solidFill>
              </a:rPr>
              <a:t>000</a:t>
            </a:r>
            <a:r>
              <a:rPr lang="ko-KR" altLang="en-US" sz="1400" b="1" dirty="0">
                <a:solidFill>
                  <a:schemeClr val="tx1"/>
                </a:solidFill>
              </a:rPr>
              <a:t> 님의 프로필 </a:t>
            </a:r>
            <a:r>
              <a:rPr lang="en-US" altLang="ko-KR" sz="1400" b="1" dirty="0">
                <a:solidFill>
                  <a:schemeClr val="tx1"/>
                </a:solidFill>
              </a:rPr>
              <a:t>						             </a:t>
            </a: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			        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r>
              <a:rPr lang="en-US" altLang="ko-KR" sz="900" dirty="0">
                <a:solidFill>
                  <a:schemeClr val="tx1"/>
                </a:solidFill>
              </a:rPr>
              <a:t>   </a:t>
            </a:r>
            <a:r>
              <a:rPr lang="ko-KR" altLang="en-US" sz="900" dirty="0">
                <a:solidFill>
                  <a:schemeClr val="tx1"/>
                </a:solidFill>
              </a:rPr>
              <a:t>   업종</a:t>
            </a:r>
            <a:r>
              <a:rPr lang="en-US" altLang="ko-KR" sz="900" dirty="0">
                <a:solidFill>
                  <a:schemeClr val="tx1"/>
                </a:solidFill>
              </a:rPr>
              <a:t>(1):               </a:t>
            </a:r>
            <a:r>
              <a:rPr lang="ko-KR" altLang="en-US" sz="900" dirty="0">
                <a:solidFill>
                  <a:schemeClr val="tx1"/>
                </a:solidFill>
              </a:rPr>
              <a:t>업종</a:t>
            </a:r>
            <a:r>
              <a:rPr lang="en-US" altLang="ko-KR" sz="900" dirty="0">
                <a:solidFill>
                  <a:schemeClr val="tx1"/>
                </a:solidFill>
              </a:rPr>
              <a:t>(2):             </a:t>
            </a:r>
            <a:r>
              <a:rPr lang="ko-KR" altLang="en-US" sz="900" dirty="0">
                <a:solidFill>
                  <a:schemeClr val="tx1"/>
                </a:solidFill>
              </a:rPr>
              <a:t>나이</a:t>
            </a:r>
            <a:r>
              <a:rPr lang="en-US" altLang="ko-KR" sz="900" dirty="0">
                <a:solidFill>
                  <a:schemeClr val="tx1"/>
                </a:solidFill>
              </a:rPr>
              <a:t>:           </a:t>
            </a:r>
            <a:r>
              <a:rPr lang="ko-KR" altLang="en-US" sz="900" dirty="0">
                <a:solidFill>
                  <a:schemeClr val="tx1"/>
                </a:solidFill>
              </a:rPr>
              <a:t>성별</a:t>
            </a:r>
            <a:r>
              <a:rPr lang="en-US" altLang="ko-KR" sz="900" dirty="0">
                <a:solidFill>
                  <a:schemeClr val="tx1"/>
                </a:solidFill>
              </a:rPr>
              <a:t>:                </a:t>
            </a: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B2F5A591-3AD0-4F5C-9238-CEA0D23DD078}"/>
              </a:ext>
            </a:extLst>
          </p:cNvPr>
          <p:cNvSpPr/>
          <p:nvPr/>
        </p:nvSpPr>
        <p:spPr>
          <a:xfrm>
            <a:off x="198511" y="3412727"/>
            <a:ext cx="275129" cy="30399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E2C0410-CB91-6CDB-DD7F-2E9415BF87AA}"/>
              </a:ext>
            </a:extLst>
          </p:cNvPr>
          <p:cNvSpPr/>
          <p:nvPr/>
        </p:nvSpPr>
        <p:spPr>
          <a:xfrm>
            <a:off x="368773" y="2879078"/>
            <a:ext cx="7921374" cy="304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분석 기간</a:t>
            </a:r>
            <a:r>
              <a:rPr lang="en-US" altLang="ko-KR" sz="1400" b="1" dirty="0">
                <a:solidFill>
                  <a:schemeClr val="tx1"/>
                </a:solidFill>
              </a:rPr>
              <a:t>:						            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48A80A4-9904-31F9-D9F0-24A203D0853C}"/>
              </a:ext>
            </a:extLst>
          </p:cNvPr>
          <p:cNvSpPr/>
          <p:nvPr/>
        </p:nvSpPr>
        <p:spPr>
          <a:xfrm>
            <a:off x="4894957" y="2887837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최근 </a:t>
            </a:r>
            <a:r>
              <a:rPr lang="en-US" altLang="ko-KR" sz="1100" dirty="0">
                <a:solidFill>
                  <a:schemeClr val="bg1"/>
                </a:solidFill>
              </a:rPr>
              <a:t>1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A6F1F55-5AD2-24E3-D532-89CB71D9E1EE}"/>
              </a:ext>
            </a:extLst>
          </p:cNvPr>
          <p:cNvSpPr/>
          <p:nvPr/>
        </p:nvSpPr>
        <p:spPr>
          <a:xfrm>
            <a:off x="6053573" y="2887837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2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ABB0301-6CB6-76E9-B49C-19AD4DD61391}"/>
              </a:ext>
            </a:extLst>
          </p:cNvPr>
          <p:cNvSpPr/>
          <p:nvPr/>
        </p:nvSpPr>
        <p:spPr>
          <a:xfrm>
            <a:off x="7200693" y="2890782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3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D2DBE83A-2468-082E-E62C-120CB5D082A9}"/>
              </a:ext>
            </a:extLst>
          </p:cNvPr>
          <p:cNvSpPr/>
          <p:nvPr/>
        </p:nvSpPr>
        <p:spPr>
          <a:xfrm>
            <a:off x="2505517" y="3509182"/>
            <a:ext cx="1793000" cy="285552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내 업종 사망률 </a:t>
            </a:r>
            <a:r>
              <a:rPr lang="en-US" altLang="ko-KR" sz="1400" b="1" dirty="0">
                <a:solidFill>
                  <a:schemeClr val="tx1"/>
                </a:solidFill>
              </a:rPr>
              <a:t>	</a:t>
            </a:r>
            <a:r>
              <a:rPr lang="ko-KR" altLang="en-US" sz="1000" b="1" dirty="0">
                <a:solidFill>
                  <a:schemeClr val="tx1"/>
                </a:solidFill>
              </a:rPr>
              <a:t> 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</a:t>
            </a:r>
            <a:r>
              <a:rPr lang="ko-KR" altLang="en-US" sz="1100" b="1" dirty="0">
                <a:solidFill>
                  <a:schemeClr val="tx1"/>
                </a:solidFill>
              </a:rPr>
              <a:t> 사망률 </a:t>
            </a:r>
            <a:r>
              <a:rPr lang="en-US" altLang="ko-KR" sz="1100" b="1" dirty="0">
                <a:solidFill>
                  <a:schemeClr val="tx1"/>
                </a:solidFill>
              </a:rPr>
              <a:t>%</a:t>
            </a: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</a:t>
            </a:r>
            <a:r>
              <a:rPr lang="ko-KR" altLang="en-US" sz="1100" b="1" dirty="0">
                <a:solidFill>
                  <a:schemeClr val="tx1"/>
                </a:solidFill>
              </a:rPr>
              <a:t> 전년 대비 증감률</a:t>
            </a:r>
            <a:r>
              <a:rPr lang="en-US" altLang="ko-KR" sz="11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					             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85AD99E9-1106-2DE1-BFF9-4C62DCC8B6C9}"/>
              </a:ext>
            </a:extLst>
          </p:cNvPr>
          <p:cNvSpPr/>
          <p:nvPr/>
        </p:nvSpPr>
        <p:spPr>
          <a:xfrm>
            <a:off x="4491707" y="3523820"/>
            <a:ext cx="1796876" cy="284088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내 업종  재해유형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 </a:t>
            </a:r>
            <a:r>
              <a:rPr lang="ko-KR" altLang="en-US" sz="1100" b="1" dirty="0">
                <a:solidFill>
                  <a:schemeClr val="tx1"/>
                </a:solidFill>
              </a:rPr>
              <a:t>가장 많이 다친 유형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</a:t>
            </a:r>
            <a:r>
              <a:rPr lang="ko-KR" altLang="en-US" sz="1100" b="1" dirty="0">
                <a:solidFill>
                  <a:schemeClr val="tx1"/>
                </a:solidFill>
              </a:rPr>
              <a:t> 전년 대비 증감률 </a:t>
            </a:r>
            <a:r>
              <a:rPr lang="en-US" altLang="ko-KR" sz="1400" b="1" dirty="0">
                <a:solidFill>
                  <a:schemeClr val="tx1"/>
                </a:solidFill>
              </a:rPr>
              <a:t>				             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CDF171BC-877A-C50D-B47E-1BB2EA327636}"/>
              </a:ext>
            </a:extLst>
          </p:cNvPr>
          <p:cNvSpPr/>
          <p:nvPr/>
        </p:nvSpPr>
        <p:spPr>
          <a:xfrm>
            <a:off x="6481773" y="3475693"/>
            <a:ext cx="1796877" cy="284088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내 업종 사망유형  </a:t>
            </a:r>
            <a:r>
              <a:rPr lang="en-US" altLang="ko-KR" sz="1400" b="1" dirty="0">
                <a:solidFill>
                  <a:schemeClr val="tx1"/>
                </a:solidFill>
              </a:rPr>
              <a:t>	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 </a:t>
            </a:r>
            <a:r>
              <a:rPr lang="ko-KR" altLang="en-US" sz="1100" b="1" dirty="0">
                <a:solidFill>
                  <a:schemeClr val="tx1"/>
                </a:solidFill>
              </a:rPr>
              <a:t>가장 많은 사망 유형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 </a:t>
            </a:r>
            <a:r>
              <a:rPr lang="ko-KR" altLang="en-US" sz="1100" b="1" dirty="0">
                <a:solidFill>
                  <a:schemeClr val="tx1"/>
                </a:solidFill>
              </a:rPr>
              <a:t>전년 대비 증감률 </a:t>
            </a:r>
            <a:r>
              <a:rPr lang="en-US" altLang="ko-KR" sz="1400" b="1" dirty="0">
                <a:solidFill>
                  <a:schemeClr val="tx1"/>
                </a:solidFill>
              </a:rPr>
              <a:t>					             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C8FB421-9CFE-4432-A811-F0208FB58046}"/>
              </a:ext>
            </a:extLst>
          </p:cNvPr>
          <p:cNvSpPr/>
          <p:nvPr/>
        </p:nvSpPr>
        <p:spPr>
          <a:xfrm>
            <a:off x="4772986" y="2716711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3D0C3FE3-BB76-E61C-C52C-1978DD221B9E}"/>
              </a:ext>
            </a:extLst>
          </p:cNvPr>
          <p:cNvSpPr/>
          <p:nvPr/>
        </p:nvSpPr>
        <p:spPr>
          <a:xfrm>
            <a:off x="6592551" y="2345429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정보 선택 </a:t>
            </a:r>
          </a:p>
        </p:txBody>
      </p:sp>
    </p:spTree>
    <p:extLst>
      <p:ext uri="{BB962C8B-B14F-4D97-AF65-F5344CB8AC3E}">
        <p14:creationId xmlns:p14="http://schemas.microsoft.com/office/powerpoint/2010/main" val="34321032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177303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활용한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성별 재해현황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성별 사망현황 통계시각화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활용한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연령별 재해현황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연령별 사망현황 통계시각화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3182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760F890-669F-145E-F1AB-86374C6FFF03}"/>
              </a:ext>
            </a:extLst>
          </p:cNvPr>
          <p:cNvSpPr/>
          <p:nvPr/>
        </p:nvSpPr>
        <p:spPr>
          <a:xfrm>
            <a:off x="601290" y="1925053"/>
            <a:ext cx="3008184" cy="24183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남 </a:t>
            </a:r>
            <a:r>
              <a:rPr lang="en-US" altLang="ko-KR" sz="1400" b="1" dirty="0">
                <a:solidFill>
                  <a:schemeClr val="tx1"/>
                </a:solidFill>
              </a:rPr>
              <a:t> vs </a:t>
            </a:r>
            <a:r>
              <a:rPr lang="ko-KR" altLang="en-US" sz="1400" b="1" dirty="0">
                <a:solidFill>
                  <a:schemeClr val="tx1"/>
                </a:solidFill>
              </a:rPr>
              <a:t>여 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000" dirty="0">
                <a:solidFill>
                  <a:schemeClr val="tx1"/>
                </a:solidFill>
              </a:rPr>
              <a:t>재해현황</a:t>
            </a:r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남 </a:t>
            </a:r>
            <a:r>
              <a:rPr lang="en-US" altLang="ko-KR" sz="1000" b="1" dirty="0">
                <a:solidFill>
                  <a:schemeClr val="tx1"/>
                </a:solidFill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</a:rPr>
              <a:t>건수 및 퍼센트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여 </a:t>
            </a:r>
            <a:r>
              <a:rPr lang="en-US" altLang="ko-KR" sz="1000" b="1" dirty="0">
                <a:solidFill>
                  <a:schemeClr val="tx1"/>
                </a:solidFill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</a:rPr>
              <a:t>건수 및 퍼센트</a:t>
            </a:r>
            <a:r>
              <a:rPr lang="en-US" altLang="ko-KR" sz="1000" b="1" dirty="0">
                <a:solidFill>
                  <a:schemeClr val="tx1"/>
                </a:solidFill>
              </a:rPr>
              <a:t>             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55732EC-A2B8-5CCF-ACC4-8F7E33B68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693" y="2573520"/>
            <a:ext cx="2338100" cy="1242049"/>
          </a:xfrm>
          <a:prstGeom prst="rect">
            <a:avLst/>
          </a:prstGeom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2F467F7-275E-3FE4-8C28-6DD2949F0BFE}"/>
              </a:ext>
            </a:extLst>
          </p:cNvPr>
          <p:cNvSpPr/>
          <p:nvPr/>
        </p:nvSpPr>
        <p:spPr>
          <a:xfrm>
            <a:off x="601290" y="4421581"/>
            <a:ext cx="3008184" cy="237461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 연령대별 재해현황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0D3B6F6C-DBD0-3EE0-9D60-F3C8754CF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667" y="4852650"/>
            <a:ext cx="2195876" cy="1834656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72D8FF1-B3A6-1ECF-1047-EDD5F84F7381}"/>
              </a:ext>
            </a:extLst>
          </p:cNvPr>
          <p:cNvSpPr/>
          <p:nvPr/>
        </p:nvSpPr>
        <p:spPr>
          <a:xfrm>
            <a:off x="4315038" y="1906408"/>
            <a:ext cx="3008184" cy="24183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남 </a:t>
            </a:r>
            <a:r>
              <a:rPr lang="en-US" altLang="ko-KR" sz="1400" b="1" dirty="0">
                <a:solidFill>
                  <a:schemeClr val="tx1"/>
                </a:solidFill>
              </a:rPr>
              <a:t> vs </a:t>
            </a:r>
            <a:r>
              <a:rPr lang="ko-KR" altLang="en-US" sz="1400" b="1" dirty="0">
                <a:solidFill>
                  <a:schemeClr val="tx1"/>
                </a:solidFill>
              </a:rPr>
              <a:t>여 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000" dirty="0">
                <a:solidFill>
                  <a:schemeClr val="tx1"/>
                </a:solidFill>
              </a:rPr>
              <a:t>사망현황</a:t>
            </a:r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남 </a:t>
            </a:r>
            <a:r>
              <a:rPr lang="en-US" altLang="ko-KR" sz="1000" b="1" dirty="0">
                <a:solidFill>
                  <a:schemeClr val="tx1"/>
                </a:solidFill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</a:rPr>
              <a:t>건수 및 퍼센트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여 </a:t>
            </a:r>
            <a:r>
              <a:rPr lang="en-US" altLang="ko-KR" sz="1000" b="1" dirty="0">
                <a:solidFill>
                  <a:schemeClr val="tx1"/>
                </a:solidFill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</a:rPr>
              <a:t>건수 및 퍼센트</a:t>
            </a:r>
            <a:r>
              <a:rPr lang="en-US" altLang="ko-KR" sz="1000" b="1" dirty="0">
                <a:solidFill>
                  <a:schemeClr val="tx1"/>
                </a:solidFill>
              </a:rPr>
              <a:t>             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64B2379D-2EB6-62F2-EC95-F0361605E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441" y="2554875"/>
            <a:ext cx="2338100" cy="1242049"/>
          </a:xfrm>
          <a:prstGeom prst="rect">
            <a:avLst/>
          </a:prstGeom>
        </p:spPr>
      </p:pic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AFBF0404-5DE0-6178-4EA1-4771A8B3DC3C}"/>
              </a:ext>
            </a:extLst>
          </p:cNvPr>
          <p:cNvSpPr/>
          <p:nvPr/>
        </p:nvSpPr>
        <p:spPr>
          <a:xfrm>
            <a:off x="4315038" y="4402936"/>
            <a:ext cx="3008184" cy="237461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 연령대별 사망현황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95887E02-21D3-33DE-39B0-7D58D1DB9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415" y="4834005"/>
            <a:ext cx="2195876" cy="1834656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4EA2AB29-B621-CDC6-6FB2-22A3310C4393}"/>
              </a:ext>
            </a:extLst>
          </p:cNvPr>
          <p:cNvSpPr/>
          <p:nvPr/>
        </p:nvSpPr>
        <p:spPr>
          <a:xfrm>
            <a:off x="408031" y="1901043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DCDA271-47A7-3329-18DD-F342DDEB1819}"/>
              </a:ext>
            </a:extLst>
          </p:cNvPr>
          <p:cNvSpPr/>
          <p:nvPr/>
        </p:nvSpPr>
        <p:spPr>
          <a:xfrm>
            <a:off x="463725" y="4343400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349995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304258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활용한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발생형태별 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발생형태별 재해사망현황 통계시각화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A7AC872-2757-5684-1D12-80C3D2C37CAF}"/>
              </a:ext>
            </a:extLst>
          </p:cNvPr>
          <p:cNvSpPr/>
          <p:nvPr/>
        </p:nvSpPr>
        <p:spPr>
          <a:xfrm>
            <a:off x="509164" y="2213991"/>
            <a:ext cx="3805225" cy="428306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	             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602BE4D-9673-2903-3DD6-8737C5235DE7}"/>
              </a:ext>
            </a:extLst>
          </p:cNvPr>
          <p:cNvSpPr/>
          <p:nvPr/>
        </p:nvSpPr>
        <p:spPr>
          <a:xfrm>
            <a:off x="4398278" y="2213992"/>
            <a:ext cx="3805227" cy="428306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             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200AFA2-D796-83CF-C0A3-2498C9FED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22" y="2753994"/>
            <a:ext cx="3167868" cy="357187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F754866-24CA-15A6-3FE4-6D7515888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747" y="2745988"/>
            <a:ext cx="3167868" cy="357187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6B755F7-999B-AF94-AECC-F8B02A0708D0}"/>
              </a:ext>
            </a:extLst>
          </p:cNvPr>
          <p:cNvSpPr txBox="1"/>
          <p:nvPr/>
        </p:nvSpPr>
        <p:spPr>
          <a:xfrm>
            <a:off x="1126225" y="2376656"/>
            <a:ext cx="2571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b="1" dirty="0">
                <a:solidFill>
                  <a:schemeClr val="tx1"/>
                </a:solidFill>
              </a:rPr>
              <a:t>내 업종  재해유형</a:t>
            </a:r>
            <a:endParaRPr lang="en-US" altLang="ko-KR" sz="1800" b="1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9BD7A3-CF7B-71E4-C02A-BB73A160CE80}"/>
              </a:ext>
            </a:extLst>
          </p:cNvPr>
          <p:cNvSpPr txBox="1"/>
          <p:nvPr/>
        </p:nvSpPr>
        <p:spPr>
          <a:xfrm>
            <a:off x="4547457" y="2394792"/>
            <a:ext cx="3506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b="1" dirty="0">
                <a:solidFill>
                  <a:schemeClr val="tx1"/>
                </a:solidFill>
              </a:rPr>
              <a:t>내 업종  재해 </a:t>
            </a:r>
            <a:r>
              <a:rPr lang="ko-KR" altLang="en-US" b="1" dirty="0"/>
              <a:t>유형별 사망현황</a:t>
            </a:r>
            <a:endParaRPr lang="en-US" altLang="ko-KR" sz="1800" b="1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F23D985-7DC2-C9A8-31B5-E6C1A3AF135E}"/>
              </a:ext>
            </a:extLst>
          </p:cNvPr>
          <p:cNvSpPr/>
          <p:nvPr/>
        </p:nvSpPr>
        <p:spPr>
          <a:xfrm>
            <a:off x="513448" y="2204914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388092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2808537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0"/>
          <a:ext cx="3588327" cy="5763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활용한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질병별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질병별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재해사망현황 통계시각화</a:t>
                      </a:r>
                    </a:p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A7AC872-2757-5684-1D12-80C3D2C37CAF}"/>
              </a:ext>
            </a:extLst>
          </p:cNvPr>
          <p:cNvSpPr/>
          <p:nvPr/>
        </p:nvSpPr>
        <p:spPr>
          <a:xfrm>
            <a:off x="509164" y="2213991"/>
            <a:ext cx="3805225" cy="428306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	             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602BE4D-9673-2903-3DD6-8737C5235DE7}"/>
              </a:ext>
            </a:extLst>
          </p:cNvPr>
          <p:cNvSpPr/>
          <p:nvPr/>
        </p:nvSpPr>
        <p:spPr>
          <a:xfrm>
            <a:off x="4398278" y="2213992"/>
            <a:ext cx="3805227" cy="428306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             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200AFA2-D796-83CF-C0A3-2498C9FED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22" y="2753994"/>
            <a:ext cx="3167868" cy="357187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F754866-24CA-15A6-3FE4-6D7515888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747" y="2745988"/>
            <a:ext cx="3167868" cy="357187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6B755F7-999B-AF94-AECC-F8B02A0708D0}"/>
              </a:ext>
            </a:extLst>
          </p:cNvPr>
          <p:cNvSpPr txBox="1"/>
          <p:nvPr/>
        </p:nvSpPr>
        <p:spPr>
          <a:xfrm>
            <a:off x="1126225" y="2376656"/>
            <a:ext cx="2571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b="1" dirty="0">
                <a:solidFill>
                  <a:schemeClr val="tx1"/>
                </a:solidFill>
              </a:rPr>
              <a:t>내 업종  </a:t>
            </a:r>
            <a:r>
              <a:rPr lang="ko-KR" altLang="en-US" b="1" dirty="0"/>
              <a:t>재해질병 </a:t>
            </a:r>
            <a:r>
              <a:rPr lang="ko-KR" altLang="en-US" sz="1800" b="1" dirty="0">
                <a:solidFill>
                  <a:schemeClr val="tx1"/>
                </a:solidFill>
              </a:rPr>
              <a:t>유형</a:t>
            </a:r>
            <a:endParaRPr lang="en-US" altLang="ko-KR" sz="1800" b="1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9BD7A3-CF7B-71E4-C02A-BB73A160CE80}"/>
              </a:ext>
            </a:extLst>
          </p:cNvPr>
          <p:cNvSpPr txBox="1"/>
          <p:nvPr/>
        </p:nvSpPr>
        <p:spPr>
          <a:xfrm>
            <a:off x="4398278" y="2346996"/>
            <a:ext cx="38052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내 업종  재해</a:t>
            </a:r>
            <a:r>
              <a:rPr lang="ko-KR" altLang="en-US" sz="1600" b="1" dirty="0"/>
              <a:t>질병 유형별 사망현황</a:t>
            </a:r>
            <a:endParaRPr lang="en-US" altLang="ko-KR" sz="1600" b="1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374AE9A-68F0-6A3E-7C4B-97D21FFC1BFF}"/>
              </a:ext>
            </a:extLst>
          </p:cNvPr>
          <p:cNvSpPr/>
          <p:nvPr/>
        </p:nvSpPr>
        <p:spPr>
          <a:xfrm>
            <a:off x="435753" y="2208053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367166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860750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303255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요인들을 종합해서 종합위험도 지수 통계시각화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정보에 기반한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안전자료실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정보에 기반한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주변 산재 찾기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정보에 기반한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주변 산재 병원 찾기로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08B4402-1D15-A72D-601E-EEEAF4DAB682}"/>
              </a:ext>
            </a:extLst>
          </p:cNvPr>
          <p:cNvSpPr/>
          <p:nvPr/>
        </p:nvSpPr>
        <p:spPr>
          <a:xfrm>
            <a:off x="601579" y="1916637"/>
            <a:ext cx="6988627" cy="420480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종합 위험도 평가 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	             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92977A8-EE81-172F-6519-02E4414C84EB}"/>
              </a:ext>
            </a:extLst>
          </p:cNvPr>
          <p:cNvSpPr/>
          <p:nvPr/>
        </p:nvSpPr>
        <p:spPr>
          <a:xfrm>
            <a:off x="601925" y="1880700"/>
            <a:ext cx="411194" cy="3158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2B9DF86-42F0-4E7E-7F35-B4DD1D3373A7}"/>
              </a:ext>
            </a:extLst>
          </p:cNvPr>
          <p:cNvSpPr/>
          <p:nvPr/>
        </p:nvSpPr>
        <p:spPr>
          <a:xfrm>
            <a:off x="1615044" y="5413574"/>
            <a:ext cx="1489103" cy="429422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나에게 필요한 안전 가이드 보기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8B9AC75-5911-BD25-4C2F-4EEFF9C3518C}"/>
              </a:ext>
            </a:extLst>
          </p:cNvPr>
          <p:cNvSpPr/>
          <p:nvPr/>
        </p:nvSpPr>
        <p:spPr>
          <a:xfrm>
            <a:off x="5278892" y="5316132"/>
            <a:ext cx="1489103" cy="48222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가까운 응급</a:t>
            </a:r>
            <a:r>
              <a:rPr lang="en-US" altLang="ko-KR" sz="1100" dirty="0"/>
              <a:t>·</a:t>
            </a:r>
            <a:r>
              <a:rPr lang="ko-KR" altLang="en-US" sz="1100" dirty="0"/>
              <a:t>산재병원 찾기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BCBF801-505E-A4A7-5E7B-CD6D433640CB}"/>
              </a:ext>
            </a:extLst>
          </p:cNvPr>
          <p:cNvSpPr/>
          <p:nvPr/>
        </p:nvSpPr>
        <p:spPr>
          <a:xfrm>
            <a:off x="3446968" y="5388526"/>
            <a:ext cx="1489103" cy="429422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내 위치 기반 위험 탐색하기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47AE0BDC-C2D3-18A1-CE46-28000D14E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119" y="2883397"/>
            <a:ext cx="6359706" cy="1843378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CD8311E1-5C2E-671C-A58B-196310D778C4}"/>
              </a:ext>
            </a:extLst>
          </p:cNvPr>
          <p:cNvSpPr/>
          <p:nvPr/>
        </p:nvSpPr>
        <p:spPr>
          <a:xfrm>
            <a:off x="1304684" y="5150770"/>
            <a:ext cx="411194" cy="3158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D57C9D5-A530-E379-A23F-C36DB9D34656}"/>
              </a:ext>
            </a:extLst>
          </p:cNvPr>
          <p:cNvSpPr/>
          <p:nvPr/>
        </p:nvSpPr>
        <p:spPr>
          <a:xfrm>
            <a:off x="3152785" y="5150770"/>
            <a:ext cx="411194" cy="3158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87F2174-AD50-34D7-DA86-D2F1541A5DB6}"/>
              </a:ext>
            </a:extLst>
          </p:cNvPr>
          <p:cNvSpPr/>
          <p:nvPr/>
        </p:nvSpPr>
        <p:spPr>
          <a:xfrm>
            <a:off x="5000886" y="5162207"/>
            <a:ext cx="411194" cy="29302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7872256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246473-6DA8-4C85-8259-70D4CA3D7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안전 자료실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1CA613-5FAA-4D68-A805-C577DA387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97386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4945594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로그인체크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안전 자료실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030882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 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로그인이 필요하다고 사용자에게 알린다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로그인이 필요한 서비스 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5669C7-CF63-AE91-F131-90B6DBA4EA1B}"/>
              </a:ext>
            </a:extLst>
          </p:cNvPr>
          <p:cNvSpPr/>
          <p:nvPr/>
        </p:nvSpPr>
        <p:spPr>
          <a:xfrm>
            <a:off x="2070034" y="3827528"/>
            <a:ext cx="1698607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화면으로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4071881" y="3827529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71FF94-DC1E-4BD3-B75A-E721C222A06C}"/>
              </a:ext>
            </a:extLst>
          </p:cNvPr>
          <p:cNvSpPr/>
          <p:nvPr/>
        </p:nvSpPr>
        <p:spPr>
          <a:xfrm>
            <a:off x="1987368" y="3741135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3989215" y="375066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450713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1"/>
          <p:cNvGraphicFramePr/>
          <p:nvPr>
            <p:extLst>
              <p:ext uri="{D42A27DB-BD31-4B8C-83A1-F6EECF244321}">
                <p14:modId xmlns:p14="http://schemas.microsoft.com/office/powerpoint/2010/main" val="1491709953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프로젝트 명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화면코드</a:t>
                      </a:r>
                      <a:endParaRPr dirty="0"/>
                    </a:p>
                  </a:txBody>
                  <a:tcPr marL="91450" marR="91450" marT="90000" marB="90000" anchor="ctr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안전자료실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버전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박소윤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일자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2025-11-24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 경로 :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 main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 자료실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상단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Google Shape;18;p1"/>
          <p:cNvGraphicFramePr/>
          <p:nvPr>
            <p:extLst>
              <p:ext uri="{D42A27DB-BD31-4B8C-83A1-F6EECF244321}">
                <p14:modId xmlns:p14="http://schemas.microsoft.com/office/powerpoint/2010/main" val="2317625951"/>
              </p:ext>
            </p:extLst>
          </p:nvPr>
        </p:nvGraphicFramePr>
        <p:xfrm>
          <a:off x="8603672" y="1180081"/>
          <a:ext cx="3588325" cy="5690023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5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154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28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main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안전 자료실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상단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51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u="none" strike="noStrike" cap="none">
                          <a:solidFill>
                            <a:schemeClr val="dk1"/>
                          </a:solidFill>
                        </a:rPr>
                        <a:t>1.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dirty="0" err="1"/>
                        <a:t>추천콘텐츠</a:t>
                      </a:r>
                      <a:r>
                        <a:rPr lang="en-US" altLang="ko-KR" sz="1100" dirty="0"/>
                        <a:t> </a:t>
                      </a:r>
                      <a:r>
                        <a:rPr lang="ko-KR" altLang="en-US" sz="1100" dirty="0"/>
                        <a:t>영역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dirty="0" err="1"/>
                        <a:t>default</a:t>
                      </a:r>
                      <a:r>
                        <a:rPr lang="ko-KR" sz="1100" dirty="0"/>
                        <a:t>: 업종 기반 추천 콘텐츠</a:t>
                      </a:r>
                      <a:endParaRPr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dirty="0"/>
                        <a:t>카드 슬라이드로 출력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이미지 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안전교육 자료 이미지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제목 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안전교육 자료 제목</a:t>
                      </a:r>
                      <a:endParaRPr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728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u="none" strike="noStrike" cap="none">
                          <a:solidFill>
                            <a:schemeClr val="dk1"/>
                          </a:solidFill>
                        </a:rPr>
                        <a:t>2.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dirty="0"/>
                        <a:t>자료유형 필터(체크박스)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동영상 </a:t>
                      </a:r>
                      <a:r>
                        <a:rPr lang="en-US" altLang="ko-KR" sz="1100" dirty="0"/>
                        <a:t>/ OPS</a:t>
                      </a:r>
                      <a:r>
                        <a:rPr lang="en-US" altLang="ko-KR" sz="1100" b="0" i="0" u="none" strike="noStrike" kern="1200" cap="none" dirty="0">
                          <a:solidFill>
                            <a:schemeClr val="dk1"/>
                          </a:solidFill>
                          <a:effectLst/>
                          <a:latin typeface="맑은 고딕"/>
                          <a:ea typeface="맑은 고딕"/>
                          <a:cs typeface="맑은 고딕"/>
                        </a:rPr>
                        <a:t>(One Point Sheet)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 교재 </a:t>
                      </a:r>
                      <a:r>
                        <a:rPr lang="en-US" altLang="ko-KR" sz="1100" dirty="0"/>
                        <a:t>/ PPT </a:t>
                      </a:r>
                      <a:r>
                        <a:rPr lang="ko-KR" altLang="en-US" sz="1100" dirty="0"/>
                        <a:t>로 나누어 분류</a:t>
                      </a:r>
                      <a:r>
                        <a:rPr lang="en-US" altLang="ko-KR" sz="1100" dirty="0"/>
                        <a:t> </a:t>
                      </a:r>
                      <a:endParaRPr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728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ko-KR" altLang="en-US" sz="1100" dirty="0"/>
                        <a:t>검색 필터 </a:t>
                      </a:r>
                      <a:r>
                        <a:rPr lang="en-US" altLang="ko-KR" sz="1100" dirty="0"/>
                        <a:t>(selector) – </a:t>
                      </a:r>
                      <a:r>
                        <a:rPr lang="ko-KR" altLang="en-US" sz="1100" dirty="0"/>
                        <a:t>제목 </a:t>
                      </a:r>
                      <a:r>
                        <a:rPr lang="en-US" altLang="ko-KR" sz="1100" dirty="0"/>
                        <a:t>/ </a:t>
                      </a:r>
                      <a:r>
                        <a:rPr lang="ko-KR" altLang="en-US" sz="1100" dirty="0"/>
                        <a:t>키워드</a:t>
                      </a:r>
                      <a:r>
                        <a:rPr lang="en-US" altLang="ko-KR" sz="1100" dirty="0"/>
                        <a:t>(=</a:t>
                      </a:r>
                      <a:r>
                        <a:rPr lang="ko-KR" altLang="en-US" sz="1100" dirty="0"/>
                        <a:t>태그</a:t>
                      </a:r>
                      <a:r>
                        <a:rPr lang="en-US" altLang="ko-KR" sz="1100" dirty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endParaRPr lang="en-US" altLang="ko-KR"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13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4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텍스트 </a:t>
                      </a:r>
                      <a:r>
                        <a:rPr lang="ko-KR" altLang="en-US" sz="1100" u="none" strike="noStrike" cap="none" dirty="0" err="1">
                          <a:solidFill>
                            <a:schemeClr val="dk1"/>
                          </a:solidFill>
                        </a:rPr>
                        <a:t>검색란</a:t>
                      </a:r>
                      <a:endParaRPr lang="en-US" altLang="ko-KR" sz="11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altLang="ko-KR" sz="1100" u="none" strike="noStrike" cap="none" dirty="0">
                          <a:solidFill>
                            <a:schemeClr val="dk1"/>
                          </a:solidFill>
                        </a:rPr>
                        <a:t>- </a:t>
                      </a:r>
                      <a:r>
                        <a:rPr lang="ko-KR" altLang="en-US" sz="1100" u="none" strike="noStrike" cap="none" dirty="0" err="1">
                          <a:solidFill>
                            <a:schemeClr val="dk1"/>
                          </a:solidFill>
                        </a:rPr>
                        <a:t>검색텍스트가</a:t>
                      </a: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 제목 </a:t>
                      </a:r>
                      <a:r>
                        <a:rPr lang="en-US" altLang="ko-KR" sz="1100" u="none" strike="noStrike" cap="none" dirty="0">
                          <a:solidFill>
                            <a:schemeClr val="dk1"/>
                          </a:solidFill>
                        </a:rPr>
                        <a:t>OR </a:t>
                      </a: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키워드에 </a:t>
                      </a:r>
                      <a:r>
                        <a:rPr lang="ko-KR" altLang="en-US" sz="1100" u="none" strike="noStrike" cap="none" dirty="0" err="1">
                          <a:solidFill>
                            <a:schemeClr val="dk1"/>
                          </a:solidFill>
                        </a:rPr>
                        <a:t>들어가있는</a:t>
                      </a: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 자료 검색</a:t>
                      </a:r>
                      <a:endParaRPr lang="en-US" altLang="ko-KR"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728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728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Google Shape;19;p1"/>
          <p:cNvSpPr/>
          <p:nvPr/>
        </p:nvSpPr>
        <p:spPr>
          <a:xfrm>
            <a:off x="1615044" y="1179953"/>
            <a:ext cx="6988500" cy="642900"/>
          </a:xfrm>
          <a:prstGeom prst="rect">
            <a:avLst/>
          </a:prstGeom>
          <a:solidFill>
            <a:srgbClr val="BFBFBF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헤더</a:t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0" y="1180080"/>
            <a:ext cx="1614900" cy="642900"/>
          </a:xfrm>
          <a:prstGeom prst="rect">
            <a:avLst/>
          </a:prstGeom>
          <a:solidFill>
            <a:srgbClr val="595959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로고</a:t>
            </a:r>
            <a:endParaRPr/>
          </a:p>
        </p:txBody>
      </p:sp>
      <p:sp>
        <p:nvSpPr>
          <p:cNvPr id="23" name="Google Shape;23;p1"/>
          <p:cNvSpPr txBox="1"/>
          <p:nvPr/>
        </p:nvSpPr>
        <p:spPr>
          <a:xfrm>
            <a:off x="567534" y="2767233"/>
            <a:ext cx="1520233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 콘텐츠</a:t>
            </a:r>
            <a:endParaRPr sz="1200" dirty="0"/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2352138A-2D9A-0034-8B74-04C1B8B490FA}"/>
              </a:ext>
            </a:extLst>
          </p:cNvPr>
          <p:cNvGrpSpPr/>
          <p:nvPr/>
        </p:nvGrpSpPr>
        <p:grpSpPr>
          <a:xfrm>
            <a:off x="560199" y="6292263"/>
            <a:ext cx="7404379" cy="332170"/>
            <a:chOff x="-255" y="4486803"/>
            <a:chExt cx="8603799" cy="481117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7AFBDAC9-397E-B61D-18B0-EE4308A5BAD3}"/>
                </a:ext>
              </a:extLst>
            </p:cNvPr>
            <p:cNvSpPr/>
            <p:nvPr/>
          </p:nvSpPr>
          <p:spPr>
            <a:xfrm>
              <a:off x="-127" y="4486803"/>
              <a:ext cx="8603671" cy="4811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검색</a:t>
              </a:r>
            </a:p>
          </p:txBody>
        </p:sp>
        <p:pic>
          <p:nvPicPr>
            <p:cNvPr id="38" name="그래픽 37" descr="돋보기 단색으로 채워진">
              <a:extLst>
                <a:ext uri="{FF2B5EF4-FFF2-40B4-BE49-F238E27FC236}">
                  <a16:creationId xmlns:a16="http://schemas.microsoft.com/office/drawing/2014/main" id="{68AFFAE0-9DCE-2D1F-C899-C28D2D0FF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173119" y="4548552"/>
              <a:ext cx="326366" cy="326366"/>
            </a:xfrm>
            <a:prstGeom prst="rect">
              <a:avLst/>
            </a:prstGeom>
          </p:spPr>
        </p:pic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2CE310EE-9931-251E-2AF7-772794151427}"/>
                </a:ext>
              </a:extLst>
            </p:cNvPr>
            <p:cNvSpPr/>
            <p:nvPr/>
          </p:nvSpPr>
          <p:spPr>
            <a:xfrm>
              <a:off x="-255" y="4497116"/>
              <a:ext cx="1123951" cy="47080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필터</a:t>
              </a: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52BB3AB8-E9E2-670F-53AA-4EFAB576B196}"/>
              </a:ext>
            </a:extLst>
          </p:cNvPr>
          <p:cNvGrpSpPr/>
          <p:nvPr/>
        </p:nvGrpSpPr>
        <p:grpSpPr>
          <a:xfrm>
            <a:off x="567535" y="3091161"/>
            <a:ext cx="7404379" cy="2345050"/>
            <a:chOff x="-22034" y="2332583"/>
            <a:chExt cx="8613063" cy="2123346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58F642C1-AE9C-BA0C-6391-A5D10F03F320}"/>
                </a:ext>
              </a:extLst>
            </p:cNvPr>
            <p:cNvSpPr/>
            <p:nvPr/>
          </p:nvSpPr>
          <p:spPr>
            <a:xfrm>
              <a:off x="-22034" y="2332583"/>
              <a:ext cx="8613063" cy="21233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D900AE3-427B-6EEE-E52F-A098DF854A06}"/>
                </a:ext>
              </a:extLst>
            </p:cNvPr>
            <p:cNvSpPr txBox="1"/>
            <p:nvPr/>
          </p:nvSpPr>
          <p:spPr>
            <a:xfrm>
              <a:off x="7815321" y="3192305"/>
              <a:ext cx="163183" cy="3788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&gt;</a:t>
              </a:r>
              <a:endParaRPr lang="ko-KR" altLang="en-US" dirty="0"/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4169AC0D-4588-C0A6-1A11-9C89EC82F080}"/>
                </a:ext>
              </a:extLst>
            </p:cNvPr>
            <p:cNvGrpSpPr/>
            <p:nvPr/>
          </p:nvGrpSpPr>
          <p:grpSpPr>
            <a:xfrm>
              <a:off x="1251347" y="2594261"/>
              <a:ext cx="1844382" cy="1694170"/>
              <a:chOff x="488731" y="2624754"/>
              <a:chExt cx="1844382" cy="1694170"/>
            </a:xfrm>
          </p:grpSpPr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0D1EA7D0-EC6B-9AFB-23F6-CF254C0AD2A9}"/>
                  </a:ext>
                </a:extLst>
              </p:cNvPr>
              <p:cNvSpPr/>
              <p:nvPr/>
            </p:nvSpPr>
            <p:spPr>
              <a:xfrm>
                <a:off x="488731" y="2624754"/>
                <a:ext cx="1844382" cy="169417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7EDEB38F-96BD-AA65-8B91-21CCD01CCECA}"/>
                  </a:ext>
                </a:extLst>
              </p:cNvPr>
              <p:cNvSpPr/>
              <p:nvPr/>
            </p:nvSpPr>
            <p:spPr>
              <a:xfrm>
                <a:off x="776587" y="2777501"/>
                <a:ext cx="1258785" cy="10599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chemeClr val="tx1"/>
                    </a:solidFill>
                  </a:rPr>
                  <a:t>이미지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BD9E8A6-C223-A79B-0F41-28DCF06C6D49}"/>
                  </a:ext>
                </a:extLst>
              </p:cNvPr>
              <p:cNvSpPr txBox="1"/>
              <p:nvPr/>
            </p:nvSpPr>
            <p:spPr>
              <a:xfrm>
                <a:off x="946389" y="3911216"/>
                <a:ext cx="9301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/>
                  <a:t>제목</a:t>
                </a:r>
              </a:p>
            </p:txBody>
          </p:sp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321A9C0B-ED47-E557-98E1-B75D45DE7AE3}"/>
                </a:ext>
              </a:extLst>
            </p:cNvPr>
            <p:cNvGrpSpPr/>
            <p:nvPr/>
          </p:nvGrpSpPr>
          <p:grpSpPr>
            <a:xfrm>
              <a:off x="5691591" y="2586378"/>
              <a:ext cx="1844382" cy="1694170"/>
              <a:chOff x="488731" y="2624754"/>
              <a:chExt cx="1844382" cy="1694170"/>
            </a:xfrm>
          </p:grpSpPr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A4F385DA-4922-DF0C-E792-7DAAF6144865}"/>
                  </a:ext>
                </a:extLst>
              </p:cNvPr>
              <p:cNvSpPr/>
              <p:nvPr/>
            </p:nvSpPr>
            <p:spPr>
              <a:xfrm>
                <a:off x="488731" y="2624754"/>
                <a:ext cx="1844382" cy="169417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EE641C1A-2B6A-BD4E-F5B0-35D07F14E86A}"/>
                  </a:ext>
                </a:extLst>
              </p:cNvPr>
              <p:cNvSpPr/>
              <p:nvPr/>
            </p:nvSpPr>
            <p:spPr>
              <a:xfrm>
                <a:off x="776587" y="2777501"/>
                <a:ext cx="1258785" cy="10599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chemeClr val="tx1"/>
                    </a:solidFill>
                  </a:rPr>
                  <a:t>이미지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4C8FFC3-0DD5-2F15-C8D0-1985980FFEDA}"/>
                  </a:ext>
                </a:extLst>
              </p:cNvPr>
              <p:cNvSpPr txBox="1"/>
              <p:nvPr/>
            </p:nvSpPr>
            <p:spPr>
              <a:xfrm>
                <a:off x="946389" y="3911216"/>
                <a:ext cx="9301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/>
                  <a:t>제목</a:t>
                </a:r>
              </a:p>
            </p:txBody>
          </p:sp>
        </p:grp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60304954-153D-A405-A916-1E039EBD1574}"/>
                </a:ext>
              </a:extLst>
            </p:cNvPr>
            <p:cNvGrpSpPr/>
            <p:nvPr/>
          </p:nvGrpSpPr>
          <p:grpSpPr>
            <a:xfrm>
              <a:off x="3471469" y="2608486"/>
              <a:ext cx="1844382" cy="1694170"/>
              <a:chOff x="488731" y="2624754"/>
              <a:chExt cx="1844382" cy="1694170"/>
            </a:xfrm>
          </p:grpSpPr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37C6D9E7-FCA2-A6F5-84AB-A82E6DD000B3}"/>
                  </a:ext>
                </a:extLst>
              </p:cNvPr>
              <p:cNvSpPr/>
              <p:nvPr/>
            </p:nvSpPr>
            <p:spPr>
              <a:xfrm>
                <a:off x="488731" y="2624754"/>
                <a:ext cx="1844382" cy="169417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FC3627AB-8A6D-B5C0-E6BB-82BD70CB49B2}"/>
                  </a:ext>
                </a:extLst>
              </p:cNvPr>
              <p:cNvSpPr/>
              <p:nvPr/>
            </p:nvSpPr>
            <p:spPr>
              <a:xfrm>
                <a:off x="776587" y="2777501"/>
                <a:ext cx="1258785" cy="10599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chemeClr val="tx1"/>
                    </a:solidFill>
                  </a:rPr>
                  <a:t>이미지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DAD795A-9509-433E-0DD5-7218BCCF63DC}"/>
                  </a:ext>
                </a:extLst>
              </p:cNvPr>
              <p:cNvSpPr txBox="1"/>
              <p:nvPr/>
            </p:nvSpPr>
            <p:spPr>
              <a:xfrm>
                <a:off x="946389" y="3911216"/>
                <a:ext cx="9301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/>
                  <a:t>제목</a:t>
                </a:r>
              </a:p>
            </p:txBody>
          </p: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A8F7C40-39D5-5E3A-1CDF-CF1198DEFD48}"/>
                </a:ext>
              </a:extLst>
            </p:cNvPr>
            <p:cNvSpPr txBox="1"/>
            <p:nvPr/>
          </p:nvSpPr>
          <p:spPr>
            <a:xfrm>
              <a:off x="517128" y="3201870"/>
              <a:ext cx="4364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&lt;</a:t>
              </a:r>
              <a:endParaRPr lang="ko-KR" altLang="en-US" dirty="0"/>
            </a:p>
          </p:txBody>
        </p:sp>
      </p:grp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FFCC216-20AC-B620-92DB-38636EEAA7FB}"/>
              </a:ext>
            </a:extLst>
          </p:cNvPr>
          <p:cNvSpPr/>
          <p:nvPr/>
        </p:nvSpPr>
        <p:spPr>
          <a:xfrm>
            <a:off x="567645" y="5620348"/>
            <a:ext cx="7404269" cy="66180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AB2CACF-145C-5AE0-B4EF-006826A02F38}"/>
              </a:ext>
            </a:extLst>
          </p:cNvPr>
          <p:cNvSpPr/>
          <p:nvPr/>
        </p:nvSpPr>
        <p:spPr>
          <a:xfrm>
            <a:off x="484917" y="552065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DFCC97C3-8B87-028A-C1BE-5D2AAE4BE79B}"/>
              </a:ext>
            </a:extLst>
          </p:cNvPr>
          <p:cNvSpPr/>
          <p:nvPr/>
        </p:nvSpPr>
        <p:spPr>
          <a:xfrm>
            <a:off x="450825" y="302305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4414735F-6A8A-88ED-26FD-70AEC223AD40}"/>
              </a:ext>
            </a:extLst>
          </p:cNvPr>
          <p:cNvSpPr/>
          <p:nvPr/>
        </p:nvSpPr>
        <p:spPr>
          <a:xfrm>
            <a:off x="477534" y="621494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5D1A7A40-7C39-C7B0-8157-53F2B3A05D9D}"/>
              </a:ext>
            </a:extLst>
          </p:cNvPr>
          <p:cNvSpPr/>
          <p:nvPr/>
        </p:nvSpPr>
        <p:spPr>
          <a:xfrm>
            <a:off x="1424111" y="616365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C0AFA082-8659-FA47-6C38-61FBBAA41A92}"/>
              </a:ext>
            </a:extLst>
          </p:cNvPr>
          <p:cNvGrpSpPr/>
          <p:nvPr/>
        </p:nvGrpSpPr>
        <p:grpSpPr>
          <a:xfrm>
            <a:off x="546431" y="2084894"/>
            <a:ext cx="7307492" cy="453020"/>
            <a:chOff x="567534" y="2272425"/>
            <a:chExt cx="7307492" cy="453020"/>
          </a:xfrm>
        </p:grpSpPr>
        <p:sp>
          <p:nvSpPr>
            <p:cNvPr id="67" name="Google Shape;23;p1">
              <a:extLst>
                <a:ext uri="{FF2B5EF4-FFF2-40B4-BE49-F238E27FC236}">
                  <a16:creationId xmlns:a16="http://schemas.microsoft.com/office/drawing/2014/main" id="{ECEAA6D1-1F7A-C6B3-2E9B-699C43275D87}"/>
                </a:ext>
              </a:extLst>
            </p:cNvPr>
            <p:cNvSpPr txBox="1"/>
            <p:nvPr/>
          </p:nvSpPr>
          <p:spPr>
            <a:xfrm>
              <a:off x="567534" y="2272425"/>
              <a:ext cx="1767293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b="1" dirty="0">
                  <a:solidFill>
                    <a:schemeClr val="dk1"/>
                  </a:solidFill>
                  <a:latin typeface="Malgun Gothic"/>
                  <a:ea typeface="Malgun Gothic"/>
                  <a:sym typeface="Malgun Gothic"/>
                </a:rPr>
                <a:t>전체 자료</a:t>
              </a:r>
              <a:endParaRPr b="1" dirty="0"/>
            </a:p>
          </p:txBody>
        </p: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A264761D-8EE0-94A6-C11E-5AEC1318A2BB}"/>
                </a:ext>
              </a:extLst>
            </p:cNvPr>
            <p:cNvCxnSpPr/>
            <p:nvPr/>
          </p:nvCxnSpPr>
          <p:spPr>
            <a:xfrm>
              <a:off x="567534" y="2725445"/>
              <a:ext cx="730749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0598290F-7F84-A1B9-3464-E20FD3BAB3C5}"/>
              </a:ext>
            </a:extLst>
          </p:cNvPr>
          <p:cNvSpPr txBox="1"/>
          <p:nvPr/>
        </p:nvSpPr>
        <p:spPr>
          <a:xfrm>
            <a:off x="3714591" y="3131441"/>
            <a:ext cx="12557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업종별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최근 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B01D005-5ABD-4C06-9CF3-ED0531F5D442}"/>
              </a:ext>
            </a:extLst>
          </p:cNvPr>
          <p:cNvSpPr/>
          <p:nvPr/>
        </p:nvSpPr>
        <p:spPr>
          <a:xfrm>
            <a:off x="878305" y="5835316"/>
            <a:ext cx="324853" cy="2646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AA663A-877B-43EA-A627-E98A52E6A245}"/>
              </a:ext>
            </a:extLst>
          </p:cNvPr>
          <p:cNvSpPr txBox="1"/>
          <p:nvPr/>
        </p:nvSpPr>
        <p:spPr>
          <a:xfrm>
            <a:off x="1279425" y="5823012"/>
            <a:ext cx="670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동영상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ADECD2E-8868-43C7-BBFE-F4B2D0052B72}"/>
              </a:ext>
            </a:extLst>
          </p:cNvPr>
          <p:cNvSpPr/>
          <p:nvPr/>
        </p:nvSpPr>
        <p:spPr>
          <a:xfrm>
            <a:off x="2082755" y="5839077"/>
            <a:ext cx="324853" cy="2646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CC872D-4934-43C9-ADBB-30B8DB8DE183}"/>
              </a:ext>
            </a:extLst>
          </p:cNvPr>
          <p:cNvSpPr txBox="1"/>
          <p:nvPr/>
        </p:nvSpPr>
        <p:spPr>
          <a:xfrm>
            <a:off x="2483875" y="5826773"/>
            <a:ext cx="670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OPS</a:t>
            </a:r>
            <a:endParaRPr lang="ko-KR" altLang="en-US" sz="1200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5070BF3-A58E-4C37-BB7E-D24756CDDA25}"/>
              </a:ext>
            </a:extLst>
          </p:cNvPr>
          <p:cNvSpPr/>
          <p:nvPr/>
        </p:nvSpPr>
        <p:spPr>
          <a:xfrm>
            <a:off x="3353039" y="5835316"/>
            <a:ext cx="324853" cy="2646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7971BC7-6A1B-4105-91AF-18413B350D6A}"/>
              </a:ext>
            </a:extLst>
          </p:cNvPr>
          <p:cNvSpPr txBox="1"/>
          <p:nvPr/>
        </p:nvSpPr>
        <p:spPr>
          <a:xfrm>
            <a:off x="3754159" y="5823012"/>
            <a:ext cx="670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교재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20973F0-4017-4C39-A468-05EB7BC3F9EC}"/>
              </a:ext>
            </a:extLst>
          </p:cNvPr>
          <p:cNvSpPr/>
          <p:nvPr/>
        </p:nvSpPr>
        <p:spPr>
          <a:xfrm>
            <a:off x="4623323" y="5834136"/>
            <a:ext cx="324853" cy="2646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AA0779-66BE-48C3-9E8D-13908399725C}"/>
              </a:ext>
            </a:extLst>
          </p:cNvPr>
          <p:cNvSpPr txBox="1"/>
          <p:nvPr/>
        </p:nvSpPr>
        <p:spPr>
          <a:xfrm>
            <a:off x="5024443" y="5821832"/>
            <a:ext cx="670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PPT</a:t>
            </a:r>
            <a:endParaRPr lang="ko-KR" altLang="en-US" sz="1200" dirty="0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BD9CACA8-9093-4DC6-ABA6-A4B7F7568171}"/>
              </a:ext>
            </a:extLst>
          </p:cNvPr>
          <p:cNvSpPr/>
          <p:nvPr/>
        </p:nvSpPr>
        <p:spPr>
          <a:xfrm>
            <a:off x="5827773" y="5834136"/>
            <a:ext cx="324853" cy="2646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36EDFEC-90EE-41A1-95CB-D5875D808C19}"/>
              </a:ext>
            </a:extLst>
          </p:cNvPr>
          <p:cNvSpPr txBox="1"/>
          <p:nvPr/>
        </p:nvSpPr>
        <p:spPr>
          <a:xfrm>
            <a:off x="6228893" y="5821832"/>
            <a:ext cx="670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기타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1"/>
          <p:cNvGraphicFramePr/>
          <p:nvPr>
            <p:extLst>
              <p:ext uri="{D42A27DB-BD31-4B8C-83A1-F6EECF244321}">
                <p14:modId xmlns:p14="http://schemas.microsoft.com/office/powerpoint/2010/main" val="2716804911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프로젝트 명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화면코드</a:t>
                      </a:r>
                      <a:endParaRPr dirty="0"/>
                    </a:p>
                  </a:txBody>
                  <a:tcPr marL="91450" marR="91450" marT="90000" marB="90000" anchor="ctr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 자료실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버전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박소윤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일자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2025-11-24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 경로 :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메인 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 자료실 검색 후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하단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Google Shape;18;p1"/>
          <p:cNvGraphicFramePr/>
          <p:nvPr>
            <p:extLst>
              <p:ext uri="{D42A27DB-BD31-4B8C-83A1-F6EECF244321}">
                <p14:modId xmlns:p14="http://schemas.microsoft.com/office/powerpoint/2010/main" val="1800507469"/>
              </p:ext>
            </p:extLst>
          </p:nvPr>
        </p:nvGraphicFramePr>
        <p:xfrm>
          <a:off x="8603672" y="1180080"/>
          <a:ext cx="3588325" cy="68639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5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52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5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메인 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안전 자료실 검색 후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하단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u="none" strike="noStrike" cap="none">
                          <a:solidFill>
                            <a:schemeClr val="dk1"/>
                          </a:solidFill>
                        </a:rPr>
                        <a:t>1.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교육자료 제목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태그 </a:t>
                      </a:r>
                      <a:r>
                        <a:rPr lang="en-US" altLang="ko-KR" sz="1100" dirty="0"/>
                        <a:t>: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태그 최소 </a:t>
                      </a:r>
                      <a:r>
                        <a:rPr lang="en-US" altLang="ko-KR" sz="1100" dirty="0"/>
                        <a:t>5-6</a:t>
                      </a:r>
                      <a:r>
                        <a:rPr lang="ko-KR" altLang="en-US" sz="1100" dirty="0"/>
                        <a:t>개</a:t>
                      </a:r>
                      <a:r>
                        <a:rPr lang="en-US" altLang="ko-KR" sz="1100" dirty="0"/>
                        <a:t>,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 err="1"/>
                        <a:t>크롤링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-&gt; </a:t>
                      </a:r>
                      <a:r>
                        <a:rPr lang="ko-KR" altLang="en-US" sz="1100" dirty="0"/>
                        <a:t>키워드 항목 사용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내용요약</a:t>
                      </a:r>
                      <a:r>
                        <a:rPr lang="en-US" altLang="ko-KR" sz="1100" dirty="0"/>
                        <a:t>: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 err="1"/>
                        <a:t>크롤링</a:t>
                      </a:r>
                      <a:r>
                        <a:rPr lang="ko-KR" altLang="en-US" sz="1100" dirty="0"/>
                        <a:t> 내용에 따라 추가 및 제거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이미지</a:t>
                      </a:r>
                      <a:r>
                        <a:rPr lang="en-US" altLang="ko-KR" sz="1100" dirty="0"/>
                        <a:t>: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썸네일 이미지</a:t>
                      </a:r>
                      <a:endParaRPr lang="en-US" altLang="ko-KR"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altLang="ko-KR"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endParaRPr lang="en-US" altLang="ko-KR"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55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altLang="ko-KR"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Google Shape;19;p1"/>
          <p:cNvSpPr/>
          <p:nvPr/>
        </p:nvSpPr>
        <p:spPr>
          <a:xfrm>
            <a:off x="1615044" y="1179953"/>
            <a:ext cx="6988500" cy="642900"/>
          </a:xfrm>
          <a:prstGeom prst="rect">
            <a:avLst/>
          </a:prstGeom>
          <a:solidFill>
            <a:srgbClr val="BFBFBF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헤더</a:t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0" y="1180080"/>
            <a:ext cx="1614900" cy="642900"/>
          </a:xfrm>
          <a:prstGeom prst="rect">
            <a:avLst/>
          </a:prstGeom>
          <a:solidFill>
            <a:srgbClr val="595959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로고</a:t>
            </a:r>
            <a:endParaRPr/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2352138A-2D9A-0034-8B74-04C1B8B490FA}"/>
              </a:ext>
            </a:extLst>
          </p:cNvPr>
          <p:cNvGrpSpPr/>
          <p:nvPr/>
        </p:nvGrpSpPr>
        <p:grpSpPr>
          <a:xfrm>
            <a:off x="502043" y="2862450"/>
            <a:ext cx="7404379" cy="332170"/>
            <a:chOff x="-255" y="4486803"/>
            <a:chExt cx="8603799" cy="481117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7AFBDAC9-397E-B61D-18B0-EE4308A5BAD3}"/>
                </a:ext>
              </a:extLst>
            </p:cNvPr>
            <p:cNvSpPr/>
            <p:nvPr/>
          </p:nvSpPr>
          <p:spPr>
            <a:xfrm>
              <a:off x="-127" y="4486803"/>
              <a:ext cx="8603671" cy="4811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검색</a:t>
              </a:r>
            </a:p>
          </p:txBody>
        </p:sp>
        <p:pic>
          <p:nvPicPr>
            <p:cNvPr id="38" name="그래픽 37" descr="돋보기 단색으로 채워진">
              <a:extLst>
                <a:ext uri="{FF2B5EF4-FFF2-40B4-BE49-F238E27FC236}">
                  <a16:creationId xmlns:a16="http://schemas.microsoft.com/office/drawing/2014/main" id="{68AFFAE0-9DCE-2D1F-C899-C28D2D0FF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173119" y="4548552"/>
              <a:ext cx="326366" cy="326366"/>
            </a:xfrm>
            <a:prstGeom prst="rect">
              <a:avLst/>
            </a:prstGeom>
          </p:spPr>
        </p:pic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2CE310EE-9931-251E-2AF7-772794151427}"/>
                </a:ext>
              </a:extLst>
            </p:cNvPr>
            <p:cNvSpPr/>
            <p:nvPr/>
          </p:nvSpPr>
          <p:spPr>
            <a:xfrm>
              <a:off x="-255" y="4497116"/>
              <a:ext cx="1123951" cy="47080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필터</a:t>
              </a:r>
            </a:p>
          </p:txBody>
        </p:sp>
      </p:grp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FFCC216-20AC-B620-92DB-38636EEAA7FB}"/>
              </a:ext>
            </a:extLst>
          </p:cNvPr>
          <p:cNvSpPr/>
          <p:nvPr/>
        </p:nvSpPr>
        <p:spPr>
          <a:xfrm>
            <a:off x="502153" y="2200514"/>
            <a:ext cx="7404269" cy="66180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체크박스</a:t>
            </a:r>
          </a:p>
        </p:txBody>
      </p:sp>
      <p:sp>
        <p:nvSpPr>
          <p:cNvPr id="2" name="Google Shape;23;p1">
            <a:extLst>
              <a:ext uri="{FF2B5EF4-FFF2-40B4-BE49-F238E27FC236}">
                <a16:creationId xmlns:a16="http://schemas.microsoft.com/office/drawing/2014/main" id="{B79359C4-C06E-B9A2-0301-7FF508A4E401}"/>
              </a:ext>
            </a:extLst>
          </p:cNvPr>
          <p:cNvSpPr txBox="1"/>
          <p:nvPr/>
        </p:nvSpPr>
        <p:spPr>
          <a:xfrm>
            <a:off x="434403" y="3429001"/>
            <a:ext cx="1660728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검색결과</a:t>
            </a:r>
            <a:endParaRPr sz="1600" b="1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91C5788D-3F32-7885-9969-54E88FE52D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814238"/>
              </p:ext>
            </p:extLst>
          </p:nvPr>
        </p:nvGraphicFramePr>
        <p:xfrm>
          <a:off x="494817" y="4051894"/>
          <a:ext cx="7404270" cy="2437102"/>
        </p:xfrm>
        <a:graphic>
          <a:graphicData uri="http://schemas.openxmlformats.org/drawingml/2006/table">
            <a:tbl>
              <a:tblPr firstRow="1" bandRow="1"/>
              <a:tblGrid>
                <a:gridCol w="5832831">
                  <a:extLst>
                    <a:ext uri="{9D8B030D-6E8A-4147-A177-3AD203B41FA5}">
                      <a16:colId xmlns:a16="http://schemas.microsoft.com/office/drawing/2014/main" val="610372560"/>
                    </a:ext>
                  </a:extLst>
                </a:gridCol>
                <a:gridCol w="1571439">
                  <a:extLst>
                    <a:ext uri="{9D8B030D-6E8A-4147-A177-3AD203B41FA5}">
                      <a16:colId xmlns:a16="http://schemas.microsoft.com/office/drawing/2014/main" val="1554072574"/>
                    </a:ext>
                  </a:extLst>
                </a:gridCol>
              </a:tblGrid>
              <a:tr h="39921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5698585"/>
                  </a:ext>
                </a:extLst>
              </a:tr>
              <a:tr h="109015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 교육자료 제목</a:t>
                      </a:r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2619439"/>
                  </a:ext>
                </a:extLst>
              </a:tr>
              <a:tr h="9477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교육자료 제목</a:t>
                      </a:r>
                      <a:endParaRPr lang="en-US" altLang="ko-KR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912220"/>
                  </a:ext>
                </a:extLst>
              </a:tr>
            </a:tbl>
          </a:graphicData>
        </a:graphic>
      </p:graphicFrame>
      <p:grpSp>
        <p:nvGrpSpPr>
          <p:cNvPr id="8" name="그룹 7">
            <a:extLst>
              <a:ext uri="{FF2B5EF4-FFF2-40B4-BE49-F238E27FC236}">
                <a16:creationId xmlns:a16="http://schemas.microsoft.com/office/drawing/2014/main" id="{94A2782A-D3E8-898C-BD5D-F5F8F7D349EC}"/>
              </a:ext>
            </a:extLst>
          </p:cNvPr>
          <p:cNvGrpSpPr/>
          <p:nvPr/>
        </p:nvGrpSpPr>
        <p:grpSpPr>
          <a:xfrm>
            <a:off x="577482" y="4773097"/>
            <a:ext cx="4041648" cy="530600"/>
            <a:chOff x="577482" y="4773097"/>
            <a:chExt cx="4041648" cy="53060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C3AA75E-8599-C0D2-C3A8-E39063397693}"/>
                </a:ext>
              </a:extLst>
            </p:cNvPr>
            <p:cNvSpPr txBox="1"/>
            <p:nvPr/>
          </p:nvSpPr>
          <p:spPr>
            <a:xfrm>
              <a:off x="577482" y="4773097"/>
              <a:ext cx="25680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……</a:t>
              </a:r>
              <a:endParaRPr lang="ko-KR" altLang="en-US" sz="10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498A1D5-094B-4384-198E-09B0A5415157}"/>
                </a:ext>
              </a:extLst>
            </p:cNvPr>
            <p:cNvSpPr txBox="1"/>
            <p:nvPr/>
          </p:nvSpPr>
          <p:spPr>
            <a:xfrm>
              <a:off x="577482" y="5042087"/>
              <a:ext cx="40416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/>
                <a:t>내용 요약 </a:t>
              </a:r>
              <a:r>
                <a:rPr lang="en-US" altLang="ko-KR" sz="1100" dirty="0"/>
                <a:t>(</a:t>
              </a:r>
              <a:r>
                <a:rPr lang="ko-KR" altLang="en-US" sz="1100" dirty="0"/>
                <a:t>옵션</a:t>
              </a:r>
              <a:r>
                <a:rPr lang="en-US" altLang="ko-KR" sz="1100" dirty="0"/>
                <a:t>)</a:t>
              </a:r>
              <a:endParaRPr lang="ko-KR" altLang="en-US" sz="1100" dirty="0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7DCB0964-8A29-61AA-A26E-722DAB73ADB2}"/>
              </a:ext>
            </a:extLst>
          </p:cNvPr>
          <p:cNvGrpSpPr/>
          <p:nvPr/>
        </p:nvGrpSpPr>
        <p:grpSpPr>
          <a:xfrm>
            <a:off x="548929" y="5876592"/>
            <a:ext cx="4041648" cy="530600"/>
            <a:chOff x="577482" y="4773097"/>
            <a:chExt cx="4041648" cy="53060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15C5AB6-873B-FAA0-789D-741BC343B241}"/>
                </a:ext>
              </a:extLst>
            </p:cNvPr>
            <p:cNvSpPr txBox="1"/>
            <p:nvPr/>
          </p:nvSpPr>
          <p:spPr>
            <a:xfrm>
              <a:off x="577482" y="4773097"/>
              <a:ext cx="25680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……</a:t>
              </a:r>
              <a:endParaRPr lang="ko-KR" altLang="en-US" sz="10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81C4E66-808D-0A9C-63D1-DF3C64A6211E}"/>
                </a:ext>
              </a:extLst>
            </p:cNvPr>
            <p:cNvSpPr txBox="1"/>
            <p:nvPr/>
          </p:nvSpPr>
          <p:spPr>
            <a:xfrm>
              <a:off x="577482" y="5042087"/>
              <a:ext cx="40416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/>
                <a:t>내용 요약 </a:t>
              </a:r>
              <a:r>
                <a:rPr lang="en-US" altLang="ko-KR" sz="1100" dirty="0"/>
                <a:t>(</a:t>
              </a:r>
              <a:r>
                <a:rPr lang="ko-KR" altLang="en-US" sz="1100" dirty="0"/>
                <a:t>옵션</a:t>
              </a:r>
              <a:r>
                <a:rPr lang="en-US" altLang="ko-KR" sz="1100" dirty="0"/>
                <a:t>)</a:t>
              </a:r>
              <a:endParaRPr lang="ko-KR" altLang="en-US" sz="1100" dirty="0"/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11070F2-EE87-ABDA-7900-ACA0719D4C20}"/>
              </a:ext>
            </a:extLst>
          </p:cNvPr>
          <p:cNvSpPr/>
          <p:nvPr/>
        </p:nvSpPr>
        <p:spPr>
          <a:xfrm>
            <a:off x="383600" y="39501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CB11AAA-75AE-4732-AB33-29FEA235BEB4}"/>
              </a:ext>
            </a:extLst>
          </p:cNvPr>
          <p:cNvSpPr/>
          <p:nvPr/>
        </p:nvSpPr>
        <p:spPr>
          <a:xfrm>
            <a:off x="6679038" y="4597307"/>
            <a:ext cx="893834" cy="8440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06E267A-F00A-42B4-BE74-5F9D8D0DB3D1}"/>
              </a:ext>
            </a:extLst>
          </p:cNvPr>
          <p:cNvSpPr/>
          <p:nvPr/>
        </p:nvSpPr>
        <p:spPr>
          <a:xfrm>
            <a:off x="6679038" y="5627228"/>
            <a:ext cx="893834" cy="8440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</p:spTree>
    <p:extLst>
      <p:ext uri="{BB962C8B-B14F-4D97-AF65-F5344CB8AC3E}">
        <p14:creationId xmlns:p14="http://schemas.microsoft.com/office/powerpoint/2010/main" val="12842828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7175930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44621"/>
              </p:ext>
            </p:extLst>
          </p:nvPr>
        </p:nvGraphicFramePr>
        <p:xfrm>
          <a:off x="8603672" y="1180080"/>
          <a:ext cx="3588327" cy="73787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자료 이름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이미지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안전교육 자료 이미지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태그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키워드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자료형태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OPS/PPT/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교재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동영상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기타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내용요약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내용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807522" y="2465225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/>
              <a:t>자료 </a:t>
            </a:r>
            <a:r>
              <a:rPr lang="ko-KR" altLang="en-US" b="1" dirty="0"/>
              <a:t>상세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1048116" y="3002942"/>
            <a:ext cx="5877017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F0BB55-E055-F3AD-8928-7E13726EB4DD}"/>
              </a:ext>
            </a:extLst>
          </p:cNvPr>
          <p:cNvSpPr/>
          <p:nvPr/>
        </p:nvSpPr>
        <p:spPr>
          <a:xfrm>
            <a:off x="882787" y="300294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C778B3-9477-7B90-9347-1744D206ACDE}"/>
              </a:ext>
            </a:extLst>
          </p:cNvPr>
          <p:cNvSpPr/>
          <p:nvPr/>
        </p:nvSpPr>
        <p:spPr>
          <a:xfrm>
            <a:off x="1331556" y="3807373"/>
            <a:ext cx="1615045" cy="1660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036009-1E84-40D9-8452-AF2B6FABE2A7}"/>
              </a:ext>
            </a:extLst>
          </p:cNvPr>
          <p:cNvSpPr txBox="1"/>
          <p:nvPr/>
        </p:nvSpPr>
        <p:spPr>
          <a:xfrm>
            <a:off x="1331556" y="3175728"/>
            <a:ext cx="3694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자료 이름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1CE361-EBE9-451A-88CB-DF32FF4ACCFC}"/>
              </a:ext>
            </a:extLst>
          </p:cNvPr>
          <p:cNvSpPr txBox="1"/>
          <p:nvPr/>
        </p:nvSpPr>
        <p:spPr>
          <a:xfrm>
            <a:off x="3230041" y="4174709"/>
            <a:ext cx="32275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태그 </a:t>
            </a:r>
            <a:r>
              <a:rPr lang="en-US" altLang="ko-KR" sz="1400" dirty="0"/>
              <a:t>: </a:t>
            </a:r>
            <a:r>
              <a:rPr lang="ko-KR" altLang="en-US" sz="1400" dirty="0"/>
              <a:t>태그</a:t>
            </a:r>
            <a:r>
              <a:rPr lang="en-US" altLang="ko-KR" sz="1400" dirty="0"/>
              <a:t>1, </a:t>
            </a:r>
            <a:r>
              <a:rPr lang="ko-KR" altLang="en-US" sz="1400" dirty="0"/>
              <a:t>태그</a:t>
            </a:r>
            <a:r>
              <a:rPr lang="en-US" altLang="ko-KR" sz="1400" dirty="0"/>
              <a:t>2, </a:t>
            </a:r>
            <a:r>
              <a:rPr lang="ko-KR" altLang="en-US" sz="1400" dirty="0"/>
              <a:t>태그</a:t>
            </a:r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95EAD1-4567-4613-B6A6-24BCC6A86F0C}"/>
              </a:ext>
            </a:extLst>
          </p:cNvPr>
          <p:cNvSpPr txBox="1"/>
          <p:nvPr/>
        </p:nvSpPr>
        <p:spPr>
          <a:xfrm>
            <a:off x="3230041" y="3713445"/>
            <a:ext cx="23143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자료 형태 </a:t>
            </a:r>
            <a:r>
              <a:rPr lang="en-US" altLang="ko-KR" sz="1400" dirty="0"/>
              <a:t>: PPT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08462B3-1C8A-4768-828F-6E576B11708A}"/>
              </a:ext>
            </a:extLst>
          </p:cNvPr>
          <p:cNvSpPr/>
          <p:nvPr/>
        </p:nvSpPr>
        <p:spPr>
          <a:xfrm>
            <a:off x="3322109" y="4781209"/>
            <a:ext cx="2372396" cy="6862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11666001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647691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0584660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연관 컨텐츠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이런콘텐츠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어떠세요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항목의 썸네일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제목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링크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441746" y="2458157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/>
              <a:t>연관 컨텐츠</a:t>
            </a:r>
            <a:endParaRPr lang="ko-KR" altLang="en-US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491884" y="3002942"/>
            <a:ext cx="7334119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F0BB55-E055-F3AD-8928-7E13726EB4DD}"/>
              </a:ext>
            </a:extLst>
          </p:cNvPr>
          <p:cNvSpPr/>
          <p:nvPr/>
        </p:nvSpPr>
        <p:spPr>
          <a:xfrm>
            <a:off x="409219" y="291654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C778B3-9477-7B90-9347-1744D206ACDE}"/>
              </a:ext>
            </a:extLst>
          </p:cNvPr>
          <p:cNvSpPr/>
          <p:nvPr/>
        </p:nvSpPr>
        <p:spPr>
          <a:xfrm>
            <a:off x="1331556" y="3807373"/>
            <a:ext cx="1615045" cy="1660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036009-1E84-40D9-8452-AF2B6FABE2A7}"/>
              </a:ext>
            </a:extLst>
          </p:cNvPr>
          <p:cNvSpPr txBox="1"/>
          <p:nvPr/>
        </p:nvSpPr>
        <p:spPr>
          <a:xfrm>
            <a:off x="1281107" y="3353849"/>
            <a:ext cx="3694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자료 이름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35C8542-72BC-4B0D-B287-7709063DF0A8}"/>
              </a:ext>
            </a:extLst>
          </p:cNvPr>
          <p:cNvSpPr/>
          <p:nvPr/>
        </p:nvSpPr>
        <p:spPr>
          <a:xfrm>
            <a:off x="3262113" y="3807373"/>
            <a:ext cx="1615045" cy="1660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D9B6AC-91CE-4152-8A93-8BC40DE65638}"/>
              </a:ext>
            </a:extLst>
          </p:cNvPr>
          <p:cNvSpPr txBox="1"/>
          <p:nvPr/>
        </p:nvSpPr>
        <p:spPr>
          <a:xfrm>
            <a:off x="3211664" y="3353849"/>
            <a:ext cx="3694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자료 이름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53AE670-FEF4-46C7-AC24-9AB108ACE4BE}"/>
              </a:ext>
            </a:extLst>
          </p:cNvPr>
          <p:cNvSpPr/>
          <p:nvPr/>
        </p:nvSpPr>
        <p:spPr>
          <a:xfrm>
            <a:off x="5243119" y="3807373"/>
            <a:ext cx="1615045" cy="1660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0E1308-0BF9-4364-8DAF-5A195CD52CB8}"/>
              </a:ext>
            </a:extLst>
          </p:cNvPr>
          <p:cNvSpPr txBox="1"/>
          <p:nvPr/>
        </p:nvSpPr>
        <p:spPr>
          <a:xfrm>
            <a:off x="5192670" y="3353849"/>
            <a:ext cx="3694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자료 이름</a:t>
            </a:r>
          </a:p>
        </p:txBody>
      </p:sp>
      <p:sp>
        <p:nvSpPr>
          <p:cNvPr id="18" name="1/2 액자 17">
            <a:extLst>
              <a:ext uri="{FF2B5EF4-FFF2-40B4-BE49-F238E27FC236}">
                <a16:creationId xmlns:a16="http://schemas.microsoft.com/office/drawing/2014/main" id="{2802CFE5-1F41-4EE5-A878-114242E99261}"/>
              </a:ext>
            </a:extLst>
          </p:cNvPr>
          <p:cNvSpPr/>
          <p:nvPr/>
        </p:nvSpPr>
        <p:spPr>
          <a:xfrm rot="19002226">
            <a:off x="662152" y="4363895"/>
            <a:ext cx="491884" cy="472966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1/2 액자 18">
            <a:extLst>
              <a:ext uri="{FF2B5EF4-FFF2-40B4-BE49-F238E27FC236}">
                <a16:creationId xmlns:a16="http://schemas.microsoft.com/office/drawing/2014/main" id="{69A34B69-3FFB-4757-9269-7F5CF031CA69}"/>
              </a:ext>
            </a:extLst>
          </p:cNvPr>
          <p:cNvSpPr/>
          <p:nvPr/>
        </p:nvSpPr>
        <p:spPr>
          <a:xfrm rot="8009119">
            <a:off x="7096140" y="4326002"/>
            <a:ext cx="491884" cy="472966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1631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A1C1F2-5328-4756-8968-8C07AED4E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주변 산재 검색</a:t>
            </a:r>
          </a:p>
        </p:txBody>
      </p:sp>
    </p:spTree>
    <p:extLst>
      <p:ext uri="{BB962C8B-B14F-4D97-AF65-F5344CB8AC3E}">
        <p14:creationId xmlns:p14="http://schemas.microsoft.com/office/powerpoint/2010/main" val="21911676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625173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로그인체크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산재 검색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953094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산재 검색 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로그인이 필요하다고 사용자에게 알린다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로그인이 필요한 서비스 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5669C7-CF63-AE91-F131-90B6DBA4EA1B}"/>
              </a:ext>
            </a:extLst>
          </p:cNvPr>
          <p:cNvSpPr/>
          <p:nvPr/>
        </p:nvSpPr>
        <p:spPr>
          <a:xfrm>
            <a:off x="2070034" y="3827528"/>
            <a:ext cx="1698607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화면으로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4071881" y="3827529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71FF94-DC1E-4BD3-B75A-E721C222A06C}"/>
              </a:ext>
            </a:extLst>
          </p:cNvPr>
          <p:cNvSpPr/>
          <p:nvPr/>
        </p:nvSpPr>
        <p:spPr>
          <a:xfrm>
            <a:off x="1987368" y="3741135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3989215" y="375066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528517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3EB23EE5-4830-38F5-ABCB-D3C5120861B9}"/>
              </a:ext>
            </a:extLst>
          </p:cNvPr>
          <p:cNvSpPr/>
          <p:nvPr/>
        </p:nvSpPr>
        <p:spPr>
          <a:xfrm>
            <a:off x="732492" y="2991364"/>
            <a:ext cx="6988627" cy="34713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4463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산재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주변 산재 검색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002095"/>
              </p:ext>
            </p:extLst>
          </p:nvPr>
        </p:nvGraphicFramePr>
        <p:xfrm>
          <a:off x="8603672" y="1180080"/>
          <a:ext cx="3588327" cy="5894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주변 산재 검색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근무지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사고지역 위치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검색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선택에 따른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산업재해수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와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KaKao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필터링하여 지도에 마킹 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지도에 표시되어 있는 총 발생 건수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 반경에 따라 발생건수 업데이트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마커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연동된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산업재해수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  </a:t>
                      </a:r>
                      <a:br>
                        <a:rPr lang="en-US" altLang="ko-KR" sz="11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추가 상세정보 확인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상세정보 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100" b="0" dirty="0" err="1">
                          <a:solidFill>
                            <a:srgbClr val="FF0000"/>
                          </a:solidFill>
                        </a:rPr>
                        <a:t>발생년도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관할구역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소재지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) 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사고지역은 개인 산재 데이터를 기준으로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리스트이름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산재위치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또는 기타 아이디어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를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리스트형태로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드롭다운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팝업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으로 구현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9988C13-2B2E-F909-EC1E-B4FE55334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556" y="3387425"/>
            <a:ext cx="6493164" cy="3024640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0D013E3-B0E5-9B84-6519-88988CDA57F4}"/>
              </a:ext>
            </a:extLst>
          </p:cNvPr>
          <p:cNvSpPr/>
          <p:nvPr/>
        </p:nvSpPr>
        <p:spPr>
          <a:xfrm>
            <a:off x="686484" y="2906373"/>
            <a:ext cx="6988627" cy="43041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근무지</a:t>
            </a:r>
            <a:r>
              <a:rPr lang="en-US" altLang="ko-KR" sz="1400" b="1" dirty="0">
                <a:solidFill>
                  <a:schemeClr val="tx1"/>
                </a:solidFill>
              </a:rPr>
              <a:t>/</a:t>
            </a:r>
            <a:r>
              <a:rPr lang="ko-KR" altLang="en-US" sz="1400" b="1" dirty="0">
                <a:solidFill>
                  <a:schemeClr val="tx1"/>
                </a:solidFill>
              </a:rPr>
              <a:t>산업재해 상황 </a:t>
            </a:r>
            <a:r>
              <a:rPr lang="en-US" altLang="ko-KR" sz="1400" b="1" dirty="0">
                <a:solidFill>
                  <a:schemeClr val="tx1"/>
                </a:solidFill>
              </a:rPr>
              <a:t>					          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700" dirty="0">
                <a:solidFill>
                  <a:schemeClr val="tx1"/>
                </a:solidFill>
              </a:rPr>
              <a:t>주변 산업재해 발생 현황을 확인하세요                                                                      </a:t>
            </a:r>
            <a:r>
              <a:rPr lang="en-US" altLang="ko-KR" sz="700" dirty="0">
                <a:solidFill>
                  <a:schemeClr val="tx1"/>
                </a:solidFill>
              </a:rPr>
              <a:t>		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6D3BF85-21DD-A604-CF53-EB9B6F671E55}"/>
              </a:ext>
            </a:extLst>
          </p:cNvPr>
          <p:cNvSpPr/>
          <p:nvPr/>
        </p:nvSpPr>
        <p:spPr>
          <a:xfrm>
            <a:off x="6819782" y="2296082"/>
            <a:ext cx="1371565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총 발생 건수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7E79A5F-30FF-A302-12D8-A30502C6697C}"/>
              </a:ext>
            </a:extLst>
          </p:cNvPr>
          <p:cNvSpPr/>
          <p:nvPr/>
        </p:nvSpPr>
        <p:spPr>
          <a:xfrm>
            <a:off x="392477" y="2310457"/>
            <a:ext cx="6260803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위치선택</a:t>
            </a:r>
            <a:r>
              <a:rPr lang="en-US" altLang="ko-KR" sz="1400" b="1" dirty="0">
                <a:solidFill>
                  <a:schemeClr val="tx1"/>
                </a:solidFill>
              </a:rPr>
              <a:t>:  						</a:t>
            </a:r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AB0B057-1F02-5BB5-9536-741458F839D5}"/>
              </a:ext>
            </a:extLst>
          </p:cNvPr>
          <p:cNvSpPr/>
          <p:nvPr/>
        </p:nvSpPr>
        <p:spPr>
          <a:xfrm>
            <a:off x="1335824" y="2360160"/>
            <a:ext cx="1419678" cy="39216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집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30A59CC-0869-9970-969C-EB7B73631F4B}"/>
              </a:ext>
            </a:extLst>
          </p:cNvPr>
          <p:cNvSpPr/>
          <p:nvPr/>
        </p:nvSpPr>
        <p:spPr>
          <a:xfrm>
            <a:off x="2838753" y="2360160"/>
            <a:ext cx="1419678" cy="39216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근무지 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6213174-412B-617A-1C4F-E0212F159BC7}"/>
              </a:ext>
            </a:extLst>
          </p:cNvPr>
          <p:cNvSpPr/>
          <p:nvPr/>
        </p:nvSpPr>
        <p:spPr>
          <a:xfrm>
            <a:off x="4338043" y="2360160"/>
            <a:ext cx="1419678" cy="39216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사고지역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말풍선: 사각형 8">
            <a:extLst>
              <a:ext uri="{FF2B5EF4-FFF2-40B4-BE49-F238E27FC236}">
                <a16:creationId xmlns:a16="http://schemas.microsoft.com/office/drawing/2014/main" id="{054A4F74-B9F7-E170-D668-B8915D9ECF53}"/>
              </a:ext>
            </a:extLst>
          </p:cNvPr>
          <p:cNvSpPr/>
          <p:nvPr/>
        </p:nvSpPr>
        <p:spPr>
          <a:xfrm>
            <a:off x="2941210" y="3498671"/>
            <a:ext cx="1655551" cy="509139"/>
          </a:xfrm>
          <a:prstGeom prst="wedgeRectCallout">
            <a:avLst>
              <a:gd name="adj1" fmla="val -40116"/>
              <a:gd name="adj2" fmla="val 85866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소재지</a:t>
            </a:r>
            <a:r>
              <a:rPr lang="en-US" altLang="ko-KR" sz="8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800" dirty="0">
                <a:solidFill>
                  <a:schemeClr val="tx1"/>
                </a:solidFill>
              </a:rPr>
              <a:t>관할구역</a:t>
            </a:r>
            <a:r>
              <a:rPr lang="en-US" altLang="ko-KR" sz="8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800" dirty="0" err="1">
                <a:solidFill>
                  <a:schemeClr val="tx1"/>
                </a:solidFill>
              </a:rPr>
              <a:t>발생년도</a:t>
            </a:r>
            <a:r>
              <a:rPr lang="en-US" altLang="ko-KR" sz="800" dirty="0">
                <a:solidFill>
                  <a:schemeClr val="tx1"/>
                </a:solidFill>
              </a:rPr>
              <a:t>: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7162887-3326-462F-A4A7-3A7BAF7CC2C1}"/>
              </a:ext>
            </a:extLst>
          </p:cNvPr>
          <p:cNvSpPr/>
          <p:nvPr/>
        </p:nvSpPr>
        <p:spPr>
          <a:xfrm>
            <a:off x="331668" y="220968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D3F6A1A-D5B7-4655-A199-F905BAAA6FDF}"/>
              </a:ext>
            </a:extLst>
          </p:cNvPr>
          <p:cNvSpPr/>
          <p:nvPr/>
        </p:nvSpPr>
        <p:spPr>
          <a:xfrm>
            <a:off x="6853066" y="220968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9ED02C6-D2C7-47CA-9A4F-EC9B17A81868}"/>
              </a:ext>
            </a:extLst>
          </p:cNvPr>
          <p:cNvSpPr/>
          <p:nvPr/>
        </p:nvSpPr>
        <p:spPr>
          <a:xfrm>
            <a:off x="2693216" y="3942311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2D67E2E-266C-446F-BA8E-6C00531C6B3F}"/>
              </a:ext>
            </a:extLst>
          </p:cNvPr>
          <p:cNvSpPr/>
          <p:nvPr/>
        </p:nvSpPr>
        <p:spPr>
          <a:xfrm>
            <a:off x="4410958" y="2712121"/>
            <a:ext cx="1278585" cy="11024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산재 정보 목록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산재 </a:t>
            </a:r>
            <a:r>
              <a:rPr lang="en-US" altLang="ko-KR" sz="110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산재 </a:t>
            </a:r>
            <a:r>
              <a:rPr lang="en-US" altLang="ko-KR" sz="1100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산재 </a:t>
            </a:r>
            <a:r>
              <a:rPr lang="en-US" altLang="ko-KR" sz="1100" dirty="0">
                <a:solidFill>
                  <a:schemeClr val="tx1"/>
                </a:solidFill>
              </a:rPr>
              <a:t>3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산재 </a:t>
            </a:r>
            <a:r>
              <a:rPr lang="en-US" altLang="ko-KR" sz="1100" dirty="0">
                <a:solidFill>
                  <a:schemeClr val="tx1"/>
                </a:solidFill>
              </a:rPr>
              <a:t>4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05155C6-DB09-49CD-9E4A-B7F42F99F78C}"/>
              </a:ext>
            </a:extLst>
          </p:cNvPr>
          <p:cNvSpPr/>
          <p:nvPr/>
        </p:nvSpPr>
        <p:spPr>
          <a:xfrm>
            <a:off x="4302341" y="227088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9117230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762455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산재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주변 산재 검색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926912"/>
              </p:ext>
            </p:extLst>
          </p:nvPr>
        </p:nvGraphicFramePr>
        <p:xfrm>
          <a:off x="8603672" y="1180080"/>
          <a:ext cx="3588327" cy="6037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주변 산재 검색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사용자의 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근무지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사고 지역에 따라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지도에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마커표시된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 산업재해 목록 리스트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사용자의 위치 기준 가까운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Top5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개 산업재해 리스트 제공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C9B4CC7-4047-AD24-079F-AC9E13AB8090}"/>
              </a:ext>
            </a:extLst>
          </p:cNvPr>
          <p:cNvSpPr/>
          <p:nvPr/>
        </p:nvSpPr>
        <p:spPr>
          <a:xfrm>
            <a:off x="498099" y="2484310"/>
            <a:ext cx="7921372" cy="47692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산업재해 목록 </a:t>
            </a:r>
            <a:r>
              <a:rPr lang="en-US" altLang="ko-KR" sz="1400" b="1" dirty="0">
                <a:solidFill>
                  <a:schemeClr val="tx1"/>
                </a:solidFill>
              </a:rPr>
              <a:t>				         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Top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5</a:t>
            </a:r>
            <a:r>
              <a:rPr lang="ko-KR" altLang="en-US" sz="1400" b="1" dirty="0">
                <a:solidFill>
                  <a:schemeClr val="tx1"/>
                </a:solidFill>
              </a:rPr>
              <a:t>  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E9CEDE5-2964-B986-D05A-9A01041AB654}"/>
              </a:ext>
            </a:extLst>
          </p:cNvPr>
          <p:cNvSpPr/>
          <p:nvPr/>
        </p:nvSpPr>
        <p:spPr>
          <a:xfrm>
            <a:off x="498099" y="2953763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1782BCF-CB4C-9EAC-5C79-71E4ACF7DA31}"/>
              </a:ext>
            </a:extLst>
          </p:cNvPr>
          <p:cNvSpPr/>
          <p:nvPr/>
        </p:nvSpPr>
        <p:spPr>
          <a:xfrm>
            <a:off x="498099" y="3519819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2️⃣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E0C5155-132A-0A51-5AF8-6A34DB21CA11}"/>
              </a:ext>
            </a:extLst>
          </p:cNvPr>
          <p:cNvSpPr/>
          <p:nvPr/>
        </p:nvSpPr>
        <p:spPr>
          <a:xfrm>
            <a:off x="498099" y="4029742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3️⃣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EDEDFE5-28AB-86DD-8801-EA74829CF65E}"/>
              </a:ext>
            </a:extLst>
          </p:cNvPr>
          <p:cNvSpPr/>
          <p:nvPr/>
        </p:nvSpPr>
        <p:spPr>
          <a:xfrm>
            <a:off x="498098" y="4539665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4️⃣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9A35A85-FFA4-7B7F-6D28-CF4164425CAE}"/>
              </a:ext>
            </a:extLst>
          </p:cNvPr>
          <p:cNvSpPr/>
          <p:nvPr/>
        </p:nvSpPr>
        <p:spPr>
          <a:xfrm>
            <a:off x="498097" y="5112141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5️⃣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FB7746F-ACE0-4C39-8831-58120F25C456}"/>
              </a:ext>
            </a:extLst>
          </p:cNvPr>
          <p:cNvSpPr/>
          <p:nvPr/>
        </p:nvSpPr>
        <p:spPr>
          <a:xfrm>
            <a:off x="359131" y="2305600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849315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4E7E2-68BB-43CD-AC4F-DC564D57D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주변 병원 검색</a:t>
            </a:r>
          </a:p>
        </p:txBody>
      </p:sp>
    </p:spTree>
    <p:extLst>
      <p:ext uri="{BB962C8B-B14F-4D97-AF65-F5344CB8AC3E}">
        <p14:creationId xmlns:p14="http://schemas.microsoft.com/office/powerpoint/2010/main" val="33720866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627872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체크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83426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로그인이 필요하다고 사용자에게 알린다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로그인이 필요한 서비스 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5669C7-CF63-AE91-F131-90B6DBA4EA1B}"/>
              </a:ext>
            </a:extLst>
          </p:cNvPr>
          <p:cNvSpPr/>
          <p:nvPr/>
        </p:nvSpPr>
        <p:spPr>
          <a:xfrm>
            <a:off x="2070034" y="3827528"/>
            <a:ext cx="1698607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화면으로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4071881" y="3827529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71FF94-DC1E-4BD3-B75A-E721C222A06C}"/>
              </a:ext>
            </a:extLst>
          </p:cNvPr>
          <p:cNvSpPr/>
          <p:nvPr/>
        </p:nvSpPr>
        <p:spPr>
          <a:xfrm>
            <a:off x="1987368" y="3741135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3989215" y="375066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794138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486051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935213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근무지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사고지역 위치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검색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선택에 따른 산재지정의료기관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필터링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선택 위치기준 필터링 되어 나온 가까운 의료기관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Top10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리스트 제공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각 의료기관 상세보기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Click&gt;&gt;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병원 상세 페이지로 이동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A47732E-A579-039A-2AAF-8559DC51A5C1}"/>
              </a:ext>
            </a:extLst>
          </p:cNvPr>
          <p:cNvSpPr/>
          <p:nvPr/>
        </p:nvSpPr>
        <p:spPr>
          <a:xfrm>
            <a:off x="412041" y="1958850"/>
            <a:ext cx="7921374" cy="8140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위치선택</a:t>
            </a:r>
            <a:r>
              <a:rPr lang="en-US" altLang="ko-KR" sz="1400" b="1" dirty="0">
                <a:solidFill>
                  <a:schemeClr val="tx1"/>
                </a:solidFill>
              </a:rPr>
              <a:t>:							             </a:t>
            </a: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			        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r>
              <a:rPr lang="ko-KR" altLang="en-US" sz="800" dirty="0">
                <a:solidFill>
                  <a:schemeClr val="tx1"/>
                </a:solidFill>
              </a:rPr>
              <a:t>선택한 위치를 기준으로 가까운 산재지정의료기관을 찾아드립니다</a:t>
            </a:r>
            <a:r>
              <a:rPr lang="en-US" altLang="ko-KR" sz="800" dirty="0">
                <a:solidFill>
                  <a:schemeClr val="tx1"/>
                </a:solidFill>
              </a:rPr>
              <a:t>.   </a:t>
            </a: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2A52295-7A4D-414D-945F-360595F9CECB}"/>
              </a:ext>
            </a:extLst>
          </p:cNvPr>
          <p:cNvSpPr/>
          <p:nvPr/>
        </p:nvSpPr>
        <p:spPr>
          <a:xfrm>
            <a:off x="1973982" y="2167306"/>
            <a:ext cx="1419678" cy="2783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집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28F4AFB-BF0F-2958-1157-4A699F801C27}"/>
              </a:ext>
            </a:extLst>
          </p:cNvPr>
          <p:cNvSpPr/>
          <p:nvPr/>
        </p:nvSpPr>
        <p:spPr>
          <a:xfrm>
            <a:off x="3662889" y="2172460"/>
            <a:ext cx="1419678" cy="2783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근무지 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CE1E5D8-83CD-27C1-3581-DBB7E28AD163}"/>
              </a:ext>
            </a:extLst>
          </p:cNvPr>
          <p:cNvSpPr/>
          <p:nvPr/>
        </p:nvSpPr>
        <p:spPr>
          <a:xfrm>
            <a:off x="5467432" y="2181351"/>
            <a:ext cx="1419678" cy="2783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사고지역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ADA37BA-C399-1446-B76E-66554809278E}"/>
              </a:ext>
            </a:extLst>
          </p:cNvPr>
          <p:cNvSpPr/>
          <p:nvPr/>
        </p:nvSpPr>
        <p:spPr>
          <a:xfrm>
            <a:off x="412040" y="2808575"/>
            <a:ext cx="7921375" cy="45860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❗ 산재 </a:t>
            </a:r>
            <a:r>
              <a:rPr lang="ko-KR" altLang="en-US" sz="800" b="1" dirty="0" err="1">
                <a:solidFill>
                  <a:schemeClr val="tx1"/>
                </a:solidFill>
              </a:rPr>
              <a:t>지정의료기관이란</a:t>
            </a:r>
            <a:r>
              <a:rPr lang="en-US" altLang="ko-KR" sz="800" b="1" dirty="0">
                <a:solidFill>
                  <a:schemeClr val="tx1"/>
                </a:solidFill>
              </a:rPr>
              <a:t>?</a:t>
            </a:r>
          </a:p>
          <a:p>
            <a:endParaRPr lang="en-US" altLang="ko-KR" sz="800" b="1" dirty="0">
              <a:solidFill>
                <a:schemeClr val="tx1"/>
              </a:solidFill>
            </a:endParaRPr>
          </a:p>
          <a:p>
            <a:r>
              <a:rPr lang="ko-KR" altLang="en-US" sz="700" b="0" i="0" dirty="0">
                <a:solidFill>
                  <a:srgbClr val="334155"/>
                </a:solidFill>
                <a:effectLst/>
                <a:latin typeface="ui-sans-serif"/>
              </a:rPr>
              <a:t>근로복지공단이 지정한 의료기관으로</a:t>
            </a:r>
            <a:r>
              <a:rPr lang="en-US" altLang="ko-KR" sz="700" b="0" i="0" dirty="0">
                <a:solidFill>
                  <a:srgbClr val="334155"/>
                </a:solidFill>
                <a:effectLst/>
                <a:latin typeface="ui-sans-serif"/>
              </a:rPr>
              <a:t>, </a:t>
            </a:r>
            <a:r>
              <a:rPr lang="ko-KR" altLang="en-US" sz="700" b="0" i="0" dirty="0">
                <a:solidFill>
                  <a:srgbClr val="334155"/>
                </a:solidFill>
                <a:effectLst/>
                <a:latin typeface="ui-sans-serif"/>
              </a:rPr>
              <a:t>산업재해를 당한 근로자가 요양급여를 받을 수 있는 병원입니다</a:t>
            </a:r>
            <a:r>
              <a:rPr lang="en-US" altLang="ko-KR" sz="700" b="0" i="0" dirty="0">
                <a:solidFill>
                  <a:srgbClr val="334155"/>
                </a:solidFill>
                <a:effectLst/>
                <a:latin typeface="ui-sans-serif"/>
              </a:rPr>
              <a:t>. </a:t>
            </a:r>
            <a:r>
              <a:rPr lang="ko-KR" altLang="en-US" sz="700" b="0" i="0" dirty="0">
                <a:solidFill>
                  <a:srgbClr val="334155"/>
                </a:solidFill>
                <a:effectLst/>
                <a:latin typeface="ui-sans-serif"/>
              </a:rPr>
              <a:t>산재보험 적용을 받으며</a:t>
            </a:r>
            <a:r>
              <a:rPr lang="en-US" altLang="ko-KR" sz="700" b="0" i="0" dirty="0">
                <a:solidFill>
                  <a:srgbClr val="334155"/>
                </a:solidFill>
                <a:effectLst/>
                <a:latin typeface="ui-sans-serif"/>
              </a:rPr>
              <a:t>, </a:t>
            </a:r>
            <a:r>
              <a:rPr lang="ko-KR" altLang="en-US" sz="700" b="0" i="0" dirty="0">
                <a:solidFill>
                  <a:srgbClr val="334155"/>
                </a:solidFill>
                <a:effectLst/>
                <a:latin typeface="ui-sans-serif"/>
              </a:rPr>
              <a:t>치료비 부담 없이 진료를 받으실 수 있습니다</a:t>
            </a:r>
            <a:r>
              <a:rPr lang="en-US" altLang="ko-KR" sz="800" b="0" i="0" dirty="0">
                <a:solidFill>
                  <a:srgbClr val="334155"/>
                </a:solidFill>
                <a:effectLst/>
                <a:latin typeface="ui-sans-serif"/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8678B02-49BE-7067-C3A7-84DA09CC1DAC}"/>
              </a:ext>
            </a:extLst>
          </p:cNvPr>
          <p:cNvSpPr/>
          <p:nvPr/>
        </p:nvSpPr>
        <p:spPr>
          <a:xfrm>
            <a:off x="412039" y="3429000"/>
            <a:ext cx="7921373" cy="3296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주변 산재지정의료기관 </a:t>
            </a:r>
            <a:r>
              <a:rPr lang="en-US" altLang="ko-KR" sz="1400" b="1" dirty="0">
                <a:solidFill>
                  <a:schemeClr val="tx1"/>
                </a:solidFill>
              </a:rPr>
              <a:t>				         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	           Top 10</a:t>
            </a:r>
            <a:r>
              <a:rPr lang="ko-KR" altLang="en-US" sz="1400" b="1" dirty="0">
                <a:solidFill>
                  <a:schemeClr val="tx1"/>
                </a:solidFill>
              </a:rPr>
              <a:t>  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412038" y="3715204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1️⃣ </a:t>
            </a:r>
            <a:r>
              <a:rPr lang="ko-KR" altLang="en-US" sz="1000" dirty="0">
                <a:solidFill>
                  <a:schemeClr val="tx1"/>
                </a:solidFill>
              </a:rPr>
              <a:t>의료 기관명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>
                <a:solidFill>
                  <a:schemeClr val="tx1"/>
                </a:solidFill>
              </a:rPr>
              <a:t>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전화번호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 &gt;&gt;</a:t>
            </a:r>
            <a:r>
              <a:rPr lang="ko-KR" altLang="en-US" sz="1000" dirty="0">
                <a:solidFill>
                  <a:schemeClr val="tx1"/>
                </a:solidFill>
              </a:rPr>
              <a:t>상세보기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E74AB6E-3C41-B2D7-3769-1211D70C4565}"/>
              </a:ext>
            </a:extLst>
          </p:cNvPr>
          <p:cNvSpPr/>
          <p:nvPr/>
        </p:nvSpPr>
        <p:spPr>
          <a:xfrm>
            <a:off x="412038" y="4252896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2️⃣ </a:t>
            </a:r>
            <a:r>
              <a:rPr lang="ko-KR" altLang="en-US" sz="1000" dirty="0">
                <a:solidFill>
                  <a:schemeClr val="tx1"/>
                </a:solidFill>
              </a:rPr>
              <a:t>의료 기관명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>
                <a:solidFill>
                  <a:schemeClr val="tx1"/>
                </a:solidFill>
              </a:rPr>
              <a:t>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전화번호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 &gt;&gt;</a:t>
            </a:r>
            <a:r>
              <a:rPr lang="ko-KR" altLang="en-US" sz="1000" dirty="0">
                <a:solidFill>
                  <a:schemeClr val="tx1"/>
                </a:solidFill>
              </a:rPr>
              <a:t>상세보기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F4B3FAC-DEC1-2747-EDAD-906604AA7793}"/>
              </a:ext>
            </a:extLst>
          </p:cNvPr>
          <p:cNvSpPr/>
          <p:nvPr/>
        </p:nvSpPr>
        <p:spPr>
          <a:xfrm>
            <a:off x="412037" y="4790588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3️⃣ </a:t>
            </a:r>
            <a:r>
              <a:rPr lang="ko-KR" altLang="en-US" sz="1000" dirty="0">
                <a:solidFill>
                  <a:schemeClr val="tx1"/>
                </a:solidFill>
              </a:rPr>
              <a:t>의료 기관명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>
                <a:solidFill>
                  <a:schemeClr val="tx1"/>
                </a:solidFill>
              </a:rPr>
              <a:t>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전화번호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 &gt;&gt;</a:t>
            </a:r>
            <a:r>
              <a:rPr lang="ko-KR" altLang="en-US" sz="1000" dirty="0">
                <a:solidFill>
                  <a:schemeClr val="tx1"/>
                </a:solidFill>
              </a:rPr>
              <a:t>상세보기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5499618-A5E6-FA6F-9E16-49F3B022FB75}"/>
              </a:ext>
            </a:extLst>
          </p:cNvPr>
          <p:cNvSpPr/>
          <p:nvPr/>
        </p:nvSpPr>
        <p:spPr>
          <a:xfrm>
            <a:off x="412037" y="5350429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4️⃣ </a:t>
            </a:r>
            <a:r>
              <a:rPr lang="ko-KR" altLang="en-US" sz="1000" dirty="0">
                <a:solidFill>
                  <a:schemeClr val="tx1"/>
                </a:solidFill>
              </a:rPr>
              <a:t>의료 기관명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>
                <a:solidFill>
                  <a:schemeClr val="tx1"/>
                </a:solidFill>
              </a:rPr>
              <a:t>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전화번호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 &gt;&gt;</a:t>
            </a:r>
            <a:r>
              <a:rPr lang="ko-KR" altLang="en-US" sz="1000" dirty="0">
                <a:solidFill>
                  <a:schemeClr val="tx1"/>
                </a:solidFill>
              </a:rPr>
              <a:t>상세보기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9A66A60-525D-4F6C-B665-C5C68A2237C0}"/>
              </a:ext>
            </a:extLst>
          </p:cNvPr>
          <p:cNvSpPr/>
          <p:nvPr/>
        </p:nvSpPr>
        <p:spPr>
          <a:xfrm>
            <a:off x="273075" y="1822862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E254A6F-3F09-4BAD-836A-FEAADB60E581}"/>
              </a:ext>
            </a:extLst>
          </p:cNvPr>
          <p:cNvSpPr/>
          <p:nvPr/>
        </p:nvSpPr>
        <p:spPr>
          <a:xfrm>
            <a:off x="273075" y="3226857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C010669-6DD9-452C-993B-5DDFE60726EE}"/>
              </a:ext>
            </a:extLst>
          </p:cNvPr>
          <p:cNvSpPr/>
          <p:nvPr/>
        </p:nvSpPr>
        <p:spPr>
          <a:xfrm>
            <a:off x="7356666" y="3809197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893584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425725" y="3303766"/>
            <a:ext cx="7921373" cy="12764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종별 </a:t>
            </a:r>
            <a:r>
              <a:rPr lang="en-US" altLang="ko-KR" sz="1200" dirty="0">
                <a:solidFill>
                  <a:schemeClr val="tx1"/>
                </a:solidFill>
              </a:rPr>
              <a:t>:	 ex) </a:t>
            </a:r>
            <a:r>
              <a:rPr lang="ko-KR" altLang="en-US" sz="1200" dirty="0">
                <a:solidFill>
                  <a:schemeClr val="tx1"/>
                </a:solidFill>
              </a:rPr>
              <a:t>요양병원 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부가기능</a:t>
            </a:r>
            <a:r>
              <a:rPr lang="en-US" altLang="ko-KR" sz="1200" dirty="0">
                <a:solidFill>
                  <a:schemeClr val="tx1"/>
                </a:solidFill>
              </a:rPr>
              <a:t>: 	ex)</a:t>
            </a:r>
            <a:r>
              <a:rPr lang="ko-KR" altLang="en-US" sz="1200" dirty="0">
                <a:solidFill>
                  <a:schemeClr val="tx1"/>
                </a:solidFill>
              </a:rPr>
              <a:t> 진폐요양 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재활인증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만료일</a:t>
            </a:r>
            <a:r>
              <a:rPr lang="en-US" altLang="ko-KR" sz="1200" dirty="0">
                <a:solidFill>
                  <a:schemeClr val="tx1"/>
                </a:solidFill>
              </a:rPr>
              <a:t>): 2026-12-31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진료제한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기간</a:t>
            </a:r>
            <a:r>
              <a:rPr lang="en-US" altLang="ko-KR" sz="1200" dirty="0">
                <a:solidFill>
                  <a:schemeClr val="tx1"/>
                </a:solidFill>
              </a:rPr>
              <a:t>) : -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의료기관평가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평가연도</a:t>
            </a:r>
            <a:r>
              <a:rPr lang="en-US" altLang="ko-KR" sz="1200" dirty="0">
                <a:solidFill>
                  <a:schemeClr val="tx1"/>
                </a:solidFill>
              </a:rPr>
              <a:t>): -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551950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47897"/>
              </p:ext>
            </p:extLst>
          </p:nvPr>
        </p:nvGraphicFramePr>
        <p:xfrm>
          <a:off x="8603672" y="1180080"/>
          <a:ext cx="3588327" cy="5894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hlinkClick r:id="rId2"/>
                        </a:rPr>
                        <a:t>https://www.comwel.or.kr/comwel/medi/orsc.jsp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하여 해당 산재 지정 의료기관 상세기본 정보 가져오기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 상세정보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가져오기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Kakao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활용하여 해당 산재 지정 의료기관 위치를 마커 표시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줌 레벨 만들어보면서 체크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408846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A47732E-A579-039A-2AAF-8559DC51A5C1}"/>
              </a:ext>
            </a:extLst>
          </p:cNvPr>
          <p:cNvSpPr/>
          <p:nvPr/>
        </p:nvSpPr>
        <p:spPr>
          <a:xfrm>
            <a:off x="412041" y="2131648"/>
            <a:ext cx="7921374" cy="60954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1️⃣ </a:t>
            </a:r>
            <a:r>
              <a:rPr lang="ko-KR" altLang="en-US" sz="1400" dirty="0">
                <a:solidFill>
                  <a:schemeClr val="tx1"/>
                </a:solidFill>
              </a:rPr>
              <a:t>의료기관명</a:t>
            </a:r>
            <a:endParaRPr lang="en-US" altLang="ko-KR" sz="1400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ADA37BA-C399-1446-B76E-66554809278E}"/>
              </a:ext>
            </a:extLst>
          </p:cNvPr>
          <p:cNvSpPr/>
          <p:nvPr/>
        </p:nvSpPr>
        <p:spPr>
          <a:xfrm>
            <a:off x="1891519" y="2228727"/>
            <a:ext cx="831133" cy="19667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i="0" dirty="0">
                <a:solidFill>
                  <a:schemeClr val="tx1"/>
                </a:solidFill>
                <a:effectLst/>
                <a:latin typeface="ui-sans-serif"/>
              </a:rPr>
              <a:t>거리</a:t>
            </a:r>
            <a:r>
              <a:rPr lang="en-US" altLang="ko-KR" sz="800" b="1" i="0" dirty="0">
                <a:solidFill>
                  <a:schemeClr val="tx1"/>
                </a:solidFill>
                <a:effectLst/>
                <a:latin typeface="ui-sans-serif"/>
              </a:rPr>
              <a:t>:     0.8km</a:t>
            </a:r>
            <a:r>
              <a:rPr lang="en-US" altLang="ko-KR" sz="800" b="0" i="0" dirty="0">
                <a:solidFill>
                  <a:srgbClr val="334155"/>
                </a:solidFill>
                <a:effectLst/>
                <a:latin typeface="ui-sans-serif"/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8678B02-49BE-7067-C3A7-84DA09CC1DAC}"/>
              </a:ext>
            </a:extLst>
          </p:cNvPr>
          <p:cNvSpPr/>
          <p:nvPr/>
        </p:nvSpPr>
        <p:spPr>
          <a:xfrm>
            <a:off x="425725" y="3097090"/>
            <a:ext cx="7921373" cy="3296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기본정보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735230D-AC52-E088-E3DC-BDF27002CB77}"/>
              </a:ext>
            </a:extLst>
          </p:cNvPr>
          <p:cNvSpPr/>
          <p:nvPr/>
        </p:nvSpPr>
        <p:spPr>
          <a:xfrm>
            <a:off x="412037" y="2496993"/>
            <a:ext cx="7921373" cy="3721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  주소 </a:t>
            </a:r>
            <a:r>
              <a:rPr lang="en-US" altLang="ko-KR" sz="1000" dirty="0">
                <a:solidFill>
                  <a:schemeClr val="tx1"/>
                </a:solidFill>
              </a:rPr>
              <a:t>				    </a:t>
            </a:r>
            <a:r>
              <a:rPr lang="ko-KR" altLang="en-US" sz="1000" dirty="0">
                <a:solidFill>
                  <a:schemeClr val="tx1"/>
                </a:solidFill>
              </a:rPr>
              <a:t>전화번호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ui-sans-serif"/>
              </a:rPr>
              <a:t>    ex)</a:t>
            </a:r>
            <a:r>
              <a:rPr lang="ko-KR" altLang="en-US" sz="1000" b="1" i="0" dirty="0">
                <a:solidFill>
                  <a:srgbClr val="0F172A"/>
                </a:solidFill>
                <a:effectLst/>
                <a:latin typeface="ui-sans-serif"/>
              </a:rPr>
              <a:t>서울특별시 종로구 대학로 </a:t>
            </a:r>
            <a:r>
              <a:rPr lang="en-US" altLang="ko-KR" sz="1000" b="1" i="0" dirty="0">
                <a:solidFill>
                  <a:srgbClr val="0F172A"/>
                </a:solidFill>
                <a:effectLst/>
                <a:latin typeface="ui-sans-serif"/>
              </a:rPr>
              <a:t>101</a:t>
            </a:r>
            <a:r>
              <a:rPr lang="en-US" altLang="ko-KR" sz="1000" dirty="0">
                <a:solidFill>
                  <a:schemeClr val="tx1"/>
                </a:solidFill>
              </a:rPr>
              <a:t> 	</a:t>
            </a:r>
            <a:r>
              <a:rPr lang="en-US" altLang="ko-KR" sz="1000" b="1" dirty="0">
                <a:solidFill>
                  <a:schemeClr val="tx1"/>
                </a:solidFill>
              </a:rPr>
              <a:t>                         ex) 02-2072-2114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B01B261-018F-1972-F95A-F2A29EE5D0BA}"/>
              </a:ext>
            </a:extLst>
          </p:cNvPr>
          <p:cNvSpPr/>
          <p:nvPr/>
        </p:nvSpPr>
        <p:spPr>
          <a:xfrm>
            <a:off x="412036" y="4614247"/>
            <a:ext cx="7921373" cy="16666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C438A21-BDB9-82D2-BA28-499D756C932D}"/>
              </a:ext>
            </a:extLst>
          </p:cNvPr>
          <p:cNvSpPr/>
          <p:nvPr/>
        </p:nvSpPr>
        <p:spPr>
          <a:xfrm>
            <a:off x="412036" y="4562902"/>
            <a:ext cx="7921373" cy="3296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위치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B8A08974-DF31-D653-B804-468A12B34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629" y="4984640"/>
            <a:ext cx="4705564" cy="127123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0BBFF38D-AA72-4206-BB48-55B7A5D46FD0}"/>
              </a:ext>
            </a:extLst>
          </p:cNvPr>
          <p:cNvSpPr/>
          <p:nvPr/>
        </p:nvSpPr>
        <p:spPr>
          <a:xfrm>
            <a:off x="286759" y="1978594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7D259DD-C29D-494F-887A-1FCD8CD4297D}"/>
              </a:ext>
            </a:extLst>
          </p:cNvPr>
          <p:cNvSpPr/>
          <p:nvPr/>
        </p:nvSpPr>
        <p:spPr>
          <a:xfrm>
            <a:off x="266226" y="4512721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8819838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425725" y="2326681"/>
            <a:ext cx="7921373" cy="27595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/>
            <a:r>
              <a:rPr lang="en-US" altLang="ko-KR" sz="1200" b="0">
                <a:solidFill>
                  <a:schemeClr val="tx1"/>
                </a:solidFill>
              </a:rPr>
              <a:t>Kakao </a:t>
            </a:r>
            <a:r>
              <a:rPr lang="ko-KR" altLang="en-US" sz="1200" b="0">
                <a:solidFill>
                  <a:schemeClr val="tx1"/>
                </a:solidFill>
              </a:rPr>
              <a:t>지도 </a:t>
            </a:r>
            <a:r>
              <a:rPr lang="en-US" altLang="ko-KR" sz="1200" b="0">
                <a:solidFill>
                  <a:schemeClr val="tx1"/>
                </a:solidFill>
              </a:rPr>
              <a:t>API</a:t>
            </a:r>
            <a:r>
              <a:rPr lang="ko-KR" altLang="en-US" sz="1200" b="0">
                <a:solidFill>
                  <a:schemeClr val="tx1"/>
                </a:solidFill>
              </a:rPr>
              <a:t>를 활용하여 해당 산재 지정 의료기관 위치를 마커 표시</a:t>
            </a:r>
            <a:endParaRPr lang="en-US" altLang="ko-KR" sz="1200" b="0">
              <a:solidFill>
                <a:schemeClr val="tx1"/>
              </a:solidFill>
            </a:endParaRPr>
          </a:p>
          <a:p>
            <a:pPr latinLnBrk="1"/>
            <a:r>
              <a:rPr lang="ko-KR" altLang="en-US" sz="1200" b="0">
                <a:solidFill>
                  <a:schemeClr val="tx1"/>
                </a:solidFill>
              </a:rPr>
              <a:t>줌 레벨 만들어보면서 체크</a:t>
            </a:r>
            <a:endParaRPr lang="ko-KR" altLang="en-US" sz="1200" b="0" dirty="0">
              <a:solidFill>
                <a:schemeClr val="tx1"/>
              </a:solidFill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6246337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272138"/>
              </p:ext>
            </p:extLst>
          </p:nvPr>
        </p:nvGraphicFramePr>
        <p:xfrm>
          <a:off x="8603672" y="1180080"/>
          <a:ext cx="3588327" cy="61974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7252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7635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1160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내용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 날짜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만약 로그인한 사용자가 입력한 리뷰라면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수정하기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삭제하기 버튼 추가 구현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수정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수정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출력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: 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삭제하시겠습니까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 Alert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창 띄우고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한번더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사용자에게 인지 시키기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487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작성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작성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화면에 출력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67635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7635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7635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408846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8678B02-49BE-7067-C3A7-84DA09CC1DAC}"/>
              </a:ext>
            </a:extLst>
          </p:cNvPr>
          <p:cNvSpPr/>
          <p:nvPr/>
        </p:nvSpPr>
        <p:spPr>
          <a:xfrm>
            <a:off x="425725" y="2119629"/>
            <a:ext cx="7918834" cy="3296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리뷰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FD746EB-4A1B-C8C0-F101-2378BA96ABC2}"/>
              </a:ext>
            </a:extLst>
          </p:cNvPr>
          <p:cNvSpPr/>
          <p:nvPr/>
        </p:nvSpPr>
        <p:spPr>
          <a:xfrm>
            <a:off x="423186" y="2852632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작성자</a:t>
            </a:r>
            <a:r>
              <a:rPr lang="en-US" altLang="ko-KR" sz="1000" dirty="0">
                <a:solidFill>
                  <a:schemeClr val="tx1"/>
                </a:solidFill>
              </a:rPr>
              <a:t>ID:   </a:t>
            </a:r>
            <a:r>
              <a:rPr lang="ko-KR" altLang="en-US" sz="1000" dirty="0">
                <a:solidFill>
                  <a:schemeClr val="tx1"/>
                </a:solidFill>
              </a:rPr>
              <a:t>여기 병원  별로</a:t>
            </a:r>
            <a:r>
              <a:rPr lang="en-US" altLang="ko-KR" sz="1000" dirty="0">
                <a:solidFill>
                  <a:schemeClr val="tx1"/>
                </a:solidFill>
              </a:rPr>
              <a:t>1….. 					              2025-10-23   	            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095EC09-4986-6F25-74F7-5EDEB9B69288}"/>
              </a:ext>
            </a:extLst>
          </p:cNvPr>
          <p:cNvSpPr/>
          <p:nvPr/>
        </p:nvSpPr>
        <p:spPr>
          <a:xfrm>
            <a:off x="423186" y="3406426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작성자</a:t>
            </a:r>
            <a:r>
              <a:rPr lang="en-US" altLang="ko-KR" sz="1000" dirty="0">
                <a:solidFill>
                  <a:schemeClr val="tx1"/>
                </a:solidFill>
              </a:rPr>
              <a:t>ID:   </a:t>
            </a:r>
            <a:r>
              <a:rPr lang="ko-KR" altLang="en-US" sz="1000" dirty="0">
                <a:solidFill>
                  <a:schemeClr val="tx1"/>
                </a:solidFill>
              </a:rPr>
              <a:t>여기 병원  별로</a:t>
            </a:r>
            <a:r>
              <a:rPr lang="en-US" altLang="ko-KR" sz="1000" dirty="0">
                <a:solidFill>
                  <a:schemeClr val="tx1"/>
                </a:solidFill>
              </a:rPr>
              <a:t>2….. 				  	              2023-10-23 	            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4037436-F1F6-B019-DC88-D5BEE9087032}"/>
              </a:ext>
            </a:extLst>
          </p:cNvPr>
          <p:cNvSpPr/>
          <p:nvPr/>
        </p:nvSpPr>
        <p:spPr>
          <a:xfrm>
            <a:off x="423186" y="3948994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작성자</a:t>
            </a:r>
            <a:r>
              <a:rPr lang="en-US" altLang="ko-KR" sz="1000" dirty="0">
                <a:solidFill>
                  <a:schemeClr val="tx1"/>
                </a:solidFill>
              </a:rPr>
              <a:t>ID:   </a:t>
            </a:r>
            <a:r>
              <a:rPr lang="ko-KR" altLang="en-US" sz="1000" dirty="0">
                <a:solidFill>
                  <a:schemeClr val="tx1"/>
                </a:solidFill>
              </a:rPr>
              <a:t>여기 병원  별로</a:t>
            </a:r>
            <a:r>
              <a:rPr lang="en-US" altLang="ko-KR" sz="1000" dirty="0">
                <a:solidFill>
                  <a:schemeClr val="tx1"/>
                </a:solidFill>
              </a:rPr>
              <a:t>3….. 					              2022-10-23 	            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876387E-51E2-459B-A203-E6CA649973EC}"/>
              </a:ext>
            </a:extLst>
          </p:cNvPr>
          <p:cNvSpPr/>
          <p:nvPr/>
        </p:nvSpPr>
        <p:spPr>
          <a:xfrm>
            <a:off x="314085" y="1936463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2C6E47C-377F-48C3-975E-9EF52302EBB0}"/>
              </a:ext>
            </a:extLst>
          </p:cNvPr>
          <p:cNvSpPr/>
          <p:nvPr/>
        </p:nvSpPr>
        <p:spPr>
          <a:xfrm>
            <a:off x="7358474" y="4234620"/>
            <a:ext cx="486833" cy="2316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476EBE1-9DBD-4248-8335-C0EBD51912D0}"/>
              </a:ext>
            </a:extLst>
          </p:cNvPr>
          <p:cNvSpPr/>
          <p:nvPr/>
        </p:nvSpPr>
        <p:spPr>
          <a:xfrm>
            <a:off x="7846577" y="4242577"/>
            <a:ext cx="486833" cy="2316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D1B5266-C006-4C75-827C-BCD9ABB33668}"/>
              </a:ext>
            </a:extLst>
          </p:cNvPr>
          <p:cNvSpPr/>
          <p:nvPr/>
        </p:nvSpPr>
        <p:spPr>
          <a:xfrm>
            <a:off x="3361691" y="5871614"/>
            <a:ext cx="1702676" cy="30269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리뷰 작성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E010DCA-4238-472C-B4A3-D7C96B9464A2}"/>
              </a:ext>
            </a:extLst>
          </p:cNvPr>
          <p:cNvSpPr/>
          <p:nvPr/>
        </p:nvSpPr>
        <p:spPr>
          <a:xfrm>
            <a:off x="3222725" y="5687518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774DABA-A602-44B5-B093-8E8983803FAA}"/>
              </a:ext>
            </a:extLst>
          </p:cNvPr>
          <p:cNvSpPr/>
          <p:nvPr/>
        </p:nvSpPr>
        <p:spPr>
          <a:xfrm>
            <a:off x="423186" y="4526367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작성자</a:t>
            </a:r>
            <a:r>
              <a:rPr lang="en-US" altLang="ko-KR" sz="1000" dirty="0">
                <a:solidFill>
                  <a:schemeClr val="tx1"/>
                </a:solidFill>
              </a:rPr>
              <a:t>ID:   </a:t>
            </a:r>
            <a:r>
              <a:rPr lang="ko-KR" altLang="en-US" sz="1000" dirty="0">
                <a:solidFill>
                  <a:schemeClr val="tx1"/>
                </a:solidFill>
              </a:rPr>
              <a:t>여기 병원  별로</a:t>
            </a:r>
            <a:r>
              <a:rPr lang="en-US" altLang="ko-KR" sz="1000" dirty="0">
                <a:solidFill>
                  <a:schemeClr val="tx1"/>
                </a:solidFill>
              </a:rPr>
              <a:t>2….. 				  	              2023-10-23 	             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FF39268-2150-494F-B6A5-6FE11F66A6F9}"/>
              </a:ext>
            </a:extLst>
          </p:cNvPr>
          <p:cNvSpPr/>
          <p:nvPr/>
        </p:nvSpPr>
        <p:spPr>
          <a:xfrm>
            <a:off x="2572088" y="5318620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96807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425725" y="2408660"/>
            <a:ext cx="7921373" cy="29767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        </a:t>
            </a:r>
            <a:r>
              <a:rPr lang="ko-KR" altLang="en-US" sz="1200" dirty="0">
                <a:solidFill>
                  <a:schemeClr val="tx1"/>
                </a:solidFill>
              </a:rPr>
              <a:t>💬상세 리뷰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088850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-&gt;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리뷰 작성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743073"/>
              </p:ext>
            </p:extLst>
          </p:nvPr>
        </p:nvGraphicFramePr>
        <p:xfrm>
          <a:off x="8603672" y="1180080"/>
          <a:ext cx="3588327" cy="6372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-&gt;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리뷰 작성 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등록하기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작성 후 리뷰 등록하기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 &gt;&gt; 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목록으로 이동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아이디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로그인한 사용자 아이디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작성일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datetime auto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취소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닫기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408846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5167C2DE-7E51-8D1D-D885-98D9C84DC3DD}"/>
              </a:ext>
            </a:extLst>
          </p:cNvPr>
          <p:cNvSpPr/>
          <p:nvPr/>
        </p:nvSpPr>
        <p:spPr>
          <a:xfrm>
            <a:off x="423187" y="2199362"/>
            <a:ext cx="7921373" cy="32962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리뷰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35116B8-4465-20AF-7ACF-2ECCD5D55C96}"/>
              </a:ext>
            </a:extLst>
          </p:cNvPr>
          <p:cNvSpPr/>
          <p:nvPr/>
        </p:nvSpPr>
        <p:spPr>
          <a:xfrm>
            <a:off x="2292387" y="4955805"/>
            <a:ext cx="1781789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리뷰 등록하기  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181CF9F-D032-C8F4-FFA4-E474C2406EDA}"/>
              </a:ext>
            </a:extLst>
          </p:cNvPr>
          <p:cNvSpPr/>
          <p:nvPr/>
        </p:nvSpPr>
        <p:spPr>
          <a:xfrm>
            <a:off x="4385728" y="4955805"/>
            <a:ext cx="1781789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취소 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F95FC08-9414-0F4D-9524-F55D456350FE}"/>
              </a:ext>
            </a:extLst>
          </p:cNvPr>
          <p:cNvSpPr/>
          <p:nvPr/>
        </p:nvSpPr>
        <p:spPr>
          <a:xfrm>
            <a:off x="802888" y="3005259"/>
            <a:ext cx="7103327" cy="177124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7877545-EBBA-4883-BB42-B279F1986281}"/>
              </a:ext>
            </a:extLst>
          </p:cNvPr>
          <p:cNvSpPr/>
          <p:nvPr/>
        </p:nvSpPr>
        <p:spPr>
          <a:xfrm>
            <a:off x="2168119" y="4759235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009185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324827" y="2522172"/>
            <a:ext cx="7921373" cy="29767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        </a:t>
            </a:r>
            <a:r>
              <a:rPr lang="ko-KR" altLang="en-US" sz="1200" dirty="0">
                <a:solidFill>
                  <a:schemeClr val="tx1"/>
                </a:solidFill>
              </a:rPr>
              <a:t>💬리뷰 수정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420006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-&gt;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리뷰 수정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637242"/>
              </p:ext>
            </p:extLst>
          </p:nvPr>
        </p:nvGraphicFramePr>
        <p:xfrm>
          <a:off x="8603672" y="1180080"/>
          <a:ext cx="3588327" cy="6372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-&gt;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리뷰 수정 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수정하기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수정 후 수정하기 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 &gt;&gt;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수정되었습니다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.alert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창 하나 띄우고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닫기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취소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닫기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408846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5167C2DE-7E51-8D1D-D885-98D9C84DC3DD}"/>
              </a:ext>
            </a:extLst>
          </p:cNvPr>
          <p:cNvSpPr/>
          <p:nvPr/>
        </p:nvSpPr>
        <p:spPr>
          <a:xfrm>
            <a:off x="322288" y="2312874"/>
            <a:ext cx="7921374" cy="32962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리뷰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35116B8-4465-20AF-7ACF-2ECCD5D55C96}"/>
              </a:ext>
            </a:extLst>
          </p:cNvPr>
          <p:cNvSpPr/>
          <p:nvPr/>
        </p:nvSpPr>
        <p:spPr>
          <a:xfrm>
            <a:off x="1347819" y="5069317"/>
            <a:ext cx="1781789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수정하기  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181CF9F-D032-C8F4-FFA4-E474C2406EDA}"/>
              </a:ext>
            </a:extLst>
          </p:cNvPr>
          <p:cNvSpPr/>
          <p:nvPr/>
        </p:nvSpPr>
        <p:spPr>
          <a:xfrm>
            <a:off x="5436794" y="5069317"/>
            <a:ext cx="1781789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취소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F95FC08-9414-0F4D-9524-F55D456350FE}"/>
              </a:ext>
            </a:extLst>
          </p:cNvPr>
          <p:cNvSpPr/>
          <p:nvPr/>
        </p:nvSpPr>
        <p:spPr>
          <a:xfrm>
            <a:off x="701990" y="3118771"/>
            <a:ext cx="7103327" cy="177124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548701C-5E3D-4C19-83A5-6042778997C1}"/>
              </a:ext>
            </a:extLst>
          </p:cNvPr>
          <p:cNvSpPr/>
          <p:nvPr/>
        </p:nvSpPr>
        <p:spPr>
          <a:xfrm>
            <a:off x="1236214" y="4872747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221861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E06F99-D362-4090-AD86-DD7068DE8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관리자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7C2874-28AE-4ADB-94E8-446DA2F24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83319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2153099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2025-11-27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269835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관리자의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환영인사 처리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로그아웃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세션처리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" y="1186018"/>
            <a:ext cx="1677450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180081"/>
            <a:ext cx="8603092" cy="56876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7" name="표 57">
            <a:extLst>
              <a:ext uri="{FF2B5EF4-FFF2-40B4-BE49-F238E27FC236}">
                <a16:creationId xmlns:a16="http://schemas.microsoft.com/office/drawing/2014/main" id="{01494A31-BFA9-4644-BF9E-FA34A263B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089312"/>
              </p:ext>
            </p:extLst>
          </p:nvPr>
        </p:nvGraphicFramePr>
        <p:xfrm>
          <a:off x="-1" y="1816922"/>
          <a:ext cx="1677451" cy="5041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7451">
                  <a:extLst>
                    <a:ext uri="{9D8B030D-6E8A-4147-A177-3AD203B41FA5}">
                      <a16:colId xmlns:a16="http://schemas.microsoft.com/office/drawing/2014/main" val="1759311398"/>
                    </a:ext>
                  </a:extLst>
                </a:gridCol>
              </a:tblGrid>
              <a:tr h="11223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대시보드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69175"/>
                  </a:ext>
                </a:extLst>
              </a:tr>
              <a:tr h="11223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 관리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67624"/>
                  </a:ext>
                </a:extLst>
              </a:tr>
              <a:tr h="11223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 산재 조회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950863"/>
                  </a:ext>
                </a:extLst>
              </a:tr>
              <a:tr h="11223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리뷰 관리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885076"/>
                  </a:ext>
                </a:extLst>
              </a:tr>
              <a:tr h="5514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로그아웃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9720896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89BABEEB-D61E-4572-8483-5C33A5C4272A}"/>
              </a:ext>
            </a:extLst>
          </p:cNvPr>
          <p:cNvSpPr/>
          <p:nvPr/>
        </p:nvSpPr>
        <p:spPr>
          <a:xfrm>
            <a:off x="64347" y="1209568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E94E71-EB46-4BAB-802F-72C9E1782DDD}"/>
              </a:ext>
            </a:extLst>
          </p:cNvPr>
          <p:cNvSpPr txBox="1"/>
          <p:nvPr/>
        </p:nvSpPr>
        <p:spPr>
          <a:xfrm>
            <a:off x="-61255" y="1426597"/>
            <a:ext cx="18131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환영합니다</a:t>
            </a:r>
            <a:r>
              <a:rPr lang="en-US" altLang="ko-KR" sz="1400" dirty="0"/>
              <a:t>, OOO</a:t>
            </a:r>
            <a:r>
              <a:rPr lang="ko-KR" altLang="en-US" sz="1400" dirty="0"/>
              <a:t>님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449098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202401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대시보드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2025-11-27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대시보드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192399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관리자 대시보드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관리자가 대략적인 회원의 흐름을 한눈에 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볼수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있는 페이지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" y="1186018"/>
            <a:ext cx="1677450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175214"/>
            <a:ext cx="8603092" cy="56876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8B04F7A-5F4F-ACF6-4C9A-306724CDF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087" y="1778617"/>
            <a:ext cx="6851787" cy="209184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0BE891E-14C3-49E2-A0D3-6971D2F53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3767" y="4347563"/>
            <a:ext cx="5686425" cy="2266950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DDA1B36-9293-5A12-FC95-955E42D29165}"/>
              </a:ext>
            </a:extLst>
          </p:cNvPr>
          <p:cNvSpPr/>
          <p:nvPr/>
        </p:nvSpPr>
        <p:spPr>
          <a:xfrm>
            <a:off x="2490950" y="3947212"/>
            <a:ext cx="1975770" cy="304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월별 신규가입 </a:t>
            </a:r>
            <a:r>
              <a:rPr lang="en-US" altLang="ko-KR" sz="1100" b="1" dirty="0">
                <a:solidFill>
                  <a:schemeClr val="tx1"/>
                </a:solidFill>
              </a:rPr>
              <a:t>, </a:t>
            </a:r>
            <a:r>
              <a:rPr lang="ko-KR" altLang="en-US" sz="1100" b="1" dirty="0">
                <a:solidFill>
                  <a:schemeClr val="tx1"/>
                </a:solidFill>
              </a:rPr>
              <a:t>산재등록  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5A0615B-3117-5FDB-064C-93CDBBC888D3}"/>
              </a:ext>
            </a:extLst>
          </p:cNvPr>
          <p:cNvSpPr/>
          <p:nvPr/>
        </p:nvSpPr>
        <p:spPr>
          <a:xfrm>
            <a:off x="6638102" y="3929125"/>
            <a:ext cx="1103342" cy="304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🔴 신규가입 </a:t>
            </a:r>
            <a:endParaRPr lang="en-US" altLang="ko-KR" sz="9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 </a:t>
            </a:r>
            <a:r>
              <a:rPr lang="ko-KR" altLang="en-US" sz="900" b="1" dirty="0">
                <a:solidFill>
                  <a:schemeClr val="tx1"/>
                </a:solidFill>
              </a:rPr>
              <a:t>🔵 산재등록   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D096FEC-696D-432E-B04C-881E045C0FE2}"/>
              </a:ext>
            </a:extLst>
          </p:cNvPr>
          <p:cNvSpPr/>
          <p:nvPr/>
        </p:nvSpPr>
        <p:spPr>
          <a:xfrm>
            <a:off x="23636" y="1175214"/>
            <a:ext cx="1677450" cy="567197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1485F2-2C19-4113-B3C1-B643B528AFC5}"/>
              </a:ext>
            </a:extLst>
          </p:cNvPr>
          <p:cNvSpPr/>
          <p:nvPr/>
        </p:nvSpPr>
        <p:spPr>
          <a:xfrm>
            <a:off x="1559303" y="1612559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815983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908246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회원 관리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2025-11-27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회원 관리</a:t>
                      </a: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481969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관리자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관리자 회원 관리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민감한 개인정보를 제외한 회원정보 보여주기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삭제하시겠습니까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?” alert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창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띄어주고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확인하면 회원 삭제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" y="1186017"/>
            <a:ext cx="1677450" cy="567197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1677451" y="1180081"/>
            <a:ext cx="6926220" cy="56876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5">
            <a:extLst>
              <a:ext uri="{FF2B5EF4-FFF2-40B4-BE49-F238E27FC236}">
                <a16:creationId xmlns:a16="http://schemas.microsoft.com/office/drawing/2014/main" id="{D67916ED-A79E-4F66-9CE9-813C6C03FE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795321"/>
              </p:ext>
            </p:extLst>
          </p:nvPr>
        </p:nvGraphicFramePr>
        <p:xfrm>
          <a:off x="1784655" y="2522483"/>
          <a:ext cx="6690885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177">
                  <a:extLst>
                    <a:ext uri="{9D8B030D-6E8A-4147-A177-3AD203B41FA5}">
                      <a16:colId xmlns:a16="http://schemas.microsoft.com/office/drawing/2014/main" val="3571291480"/>
                    </a:ext>
                  </a:extLst>
                </a:gridCol>
                <a:gridCol w="1338177">
                  <a:extLst>
                    <a:ext uri="{9D8B030D-6E8A-4147-A177-3AD203B41FA5}">
                      <a16:colId xmlns:a16="http://schemas.microsoft.com/office/drawing/2014/main" val="1401191227"/>
                    </a:ext>
                  </a:extLst>
                </a:gridCol>
                <a:gridCol w="1338177">
                  <a:extLst>
                    <a:ext uri="{9D8B030D-6E8A-4147-A177-3AD203B41FA5}">
                      <a16:colId xmlns:a16="http://schemas.microsoft.com/office/drawing/2014/main" val="3213933534"/>
                    </a:ext>
                  </a:extLst>
                </a:gridCol>
                <a:gridCol w="1338177">
                  <a:extLst>
                    <a:ext uri="{9D8B030D-6E8A-4147-A177-3AD203B41FA5}">
                      <a16:colId xmlns:a16="http://schemas.microsoft.com/office/drawing/2014/main" val="195023035"/>
                    </a:ext>
                  </a:extLst>
                </a:gridCol>
                <a:gridCol w="1338177">
                  <a:extLst>
                    <a:ext uri="{9D8B030D-6E8A-4147-A177-3AD203B41FA5}">
                      <a16:colId xmlns:a16="http://schemas.microsoft.com/office/drawing/2014/main" val="2761892074"/>
                    </a:ext>
                  </a:extLst>
                </a:gridCol>
              </a:tblGrid>
              <a:tr h="1508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이름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이메일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가입일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삭제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216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1858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3468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625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785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01949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DDC073A-FCB5-43F4-B7D3-D3AA6E2ABEA5}"/>
              </a:ext>
            </a:extLst>
          </p:cNvPr>
          <p:cNvSpPr txBox="1"/>
          <p:nvPr/>
        </p:nvSpPr>
        <p:spPr>
          <a:xfrm>
            <a:off x="1721594" y="2153151"/>
            <a:ext cx="1330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회원 관리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7664B6B-7608-4DA3-A674-E6889D539FB4}"/>
              </a:ext>
            </a:extLst>
          </p:cNvPr>
          <p:cNvSpPr/>
          <p:nvPr/>
        </p:nvSpPr>
        <p:spPr>
          <a:xfrm>
            <a:off x="1582628" y="1902115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C145F78-D50D-45BD-8856-F599F0C8E354}"/>
              </a:ext>
            </a:extLst>
          </p:cNvPr>
          <p:cNvSpPr/>
          <p:nvPr/>
        </p:nvSpPr>
        <p:spPr>
          <a:xfrm>
            <a:off x="7107128" y="2337817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37CB031-D8EC-465E-8958-286F8A3123C4}"/>
              </a:ext>
            </a:extLst>
          </p:cNvPr>
          <p:cNvSpPr/>
          <p:nvPr/>
        </p:nvSpPr>
        <p:spPr>
          <a:xfrm>
            <a:off x="3104444" y="5072343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35592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029274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 산재 조회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 산재 조회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5461857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관리자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 산재 조회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산재등록 목록 검색필터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업종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발생형태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 산재등록 목록 테이블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09B36BA-6DA8-4C53-AFEB-F4E8C821AD97}"/>
              </a:ext>
            </a:extLst>
          </p:cNvPr>
          <p:cNvSpPr txBox="1"/>
          <p:nvPr/>
        </p:nvSpPr>
        <p:spPr>
          <a:xfrm>
            <a:off x="2241103" y="2388096"/>
            <a:ext cx="11338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검색 </a:t>
            </a:r>
            <a:r>
              <a:rPr lang="en-US" altLang="ko-KR" sz="1400" b="1" dirty="0"/>
              <a:t>/ </a:t>
            </a:r>
            <a:r>
              <a:rPr lang="ko-KR" altLang="en-US" sz="1400" b="1" dirty="0"/>
              <a:t>필터</a:t>
            </a:r>
          </a:p>
        </p:txBody>
      </p:sp>
      <p:graphicFrame>
        <p:nvGraphicFramePr>
          <p:cNvPr id="9" name="표 9">
            <a:extLst>
              <a:ext uri="{FF2B5EF4-FFF2-40B4-BE49-F238E27FC236}">
                <a16:creationId xmlns:a16="http://schemas.microsoft.com/office/drawing/2014/main" id="{14AB4E91-C744-C53F-5941-BD8F9F4B76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557626"/>
              </p:ext>
            </p:extLst>
          </p:nvPr>
        </p:nvGraphicFramePr>
        <p:xfrm>
          <a:off x="2108199" y="4098303"/>
          <a:ext cx="6203951" cy="1592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154">
                  <a:extLst>
                    <a:ext uri="{9D8B030D-6E8A-4147-A177-3AD203B41FA5}">
                      <a16:colId xmlns:a16="http://schemas.microsoft.com/office/drawing/2014/main" val="290832576"/>
                    </a:ext>
                  </a:extLst>
                </a:gridCol>
                <a:gridCol w="604130">
                  <a:extLst>
                    <a:ext uri="{9D8B030D-6E8A-4147-A177-3AD203B41FA5}">
                      <a16:colId xmlns:a16="http://schemas.microsoft.com/office/drawing/2014/main" val="102188575"/>
                    </a:ext>
                  </a:extLst>
                </a:gridCol>
                <a:gridCol w="772331">
                  <a:extLst>
                    <a:ext uri="{9D8B030D-6E8A-4147-A177-3AD203B41FA5}">
                      <a16:colId xmlns:a16="http://schemas.microsoft.com/office/drawing/2014/main" val="1300920205"/>
                    </a:ext>
                  </a:extLst>
                </a:gridCol>
                <a:gridCol w="1098149">
                  <a:extLst>
                    <a:ext uri="{9D8B030D-6E8A-4147-A177-3AD203B41FA5}">
                      <a16:colId xmlns:a16="http://schemas.microsoft.com/office/drawing/2014/main" val="878541107"/>
                    </a:ext>
                  </a:extLst>
                </a:gridCol>
                <a:gridCol w="669605">
                  <a:extLst>
                    <a:ext uri="{9D8B030D-6E8A-4147-A177-3AD203B41FA5}">
                      <a16:colId xmlns:a16="http://schemas.microsoft.com/office/drawing/2014/main" val="2804284854"/>
                    </a:ext>
                  </a:extLst>
                </a:gridCol>
                <a:gridCol w="721696">
                  <a:extLst>
                    <a:ext uri="{9D8B030D-6E8A-4147-A177-3AD203B41FA5}">
                      <a16:colId xmlns:a16="http://schemas.microsoft.com/office/drawing/2014/main" val="2733423004"/>
                    </a:ext>
                  </a:extLst>
                </a:gridCol>
                <a:gridCol w="769626">
                  <a:extLst>
                    <a:ext uri="{9D8B030D-6E8A-4147-A177-3AD203B41FA5}">
                      <a16:colId xmlns:a16="http://schemas.microsoft.com/office/drawing/2014/main" val="2614146688"/>
                    </a:ext>
                  </a:extLst>
                </a:gridCol>
                <a:gridCol w="1208260">
                  <a:extLst>
                    <a:ext uri="{9D8B030D-6E8A-4147-A177-3AD203B41FA5}">
                      <a16:colId xmlns:a16="http://schemas.microsoft.com/office/drawing/2014/main" val="1299462405"/>
                    </a:ext>
                  </a:extLst>
                </a:gridCol>
              </a:tblGrid>
              <a:tr h="2383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No.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/>
                        <a:t>회원명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업종 분류</a:t>
                      </a:r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업종 분류</a:t>
                      </a:r>
                      <a:r>
                        <a:rPr lang="en-US" altLang="ko-KR" sz="1100" dirty="0"/>
                        <a:t>2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발생형태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질병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/>
                        <a:t>발생일자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사고지역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945175"/>
                  </a:ext>
                </a:extLst>
              </a:tr>
              <a:tr h="5711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홍길동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제조업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출판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인쇄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 err="1"/>
                        <a:t>제본업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끼임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우측 손가락 골절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2023-11-01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서울시 강남구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064222"/>
                  </a:ext>
                </a:extLst>
              </a:tr>
              <a:tr h="571135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0072185"/>
                  </a:ext>
                </a:extLst>
              </a:tr>
            </a:tbl>
          </a:graphicData>
        </a:graphic>
      </p:graphicFrame>
      <p:pic>
        <p:nvPicPr>
          <p:cNvPr id="12" name="그림 11">
            <a:extLst>
              <a:ext uri="{FF2B5EF4-FFF2-40B4-BE49-F238E27FC236}">
                <a16:creationId xmlns:a16="http://schemas.microsoft.com/office/drawing/2014/main" id="{3091EE4C-4CE9-4ED1-ACA7-51708CFCA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007" y="2909510"/>
            <a:ext cx="3696216" cy="24768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0EEDECB-78EA-210D-B875-6E3AAE6C538E}"/>
              </a:ext>
            </a:extLst>
          </p:cNvPr>
          <p:cNvSpPr txBox="1"/>
          <p:nvPr/>
        </p:nvSpPr>
        <p:spPr>
          <a:xfrm>
            <a:off x="2241103" y="3546917"/>
            <a:ext cx="1894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회원 산재등록 목록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4973300-5F5D-335F-D59D-2BA289995F27}"/>
              </a:ext>
            </a:extLst>
          </p:cNvPr>
          <p:cNvSpPr/>
          <p:nvPr/>
        </p:nvSpPr>
        <p:spPr>
          <a:xfrm>
            <a:off x="1963171" y="2541984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D90C704-CDD5-9225-24B0-C42371073555}"/>
              </a:ext>
            </a:extLst>
          </p:cNvPr>
          <p:cNvSpPr/>
          <p:nvPr/>
        </p:nvSpPr>
        <p:spPr>
          <a:xfrm>
            <a:off x="1952075" y="3871532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7FD89E1-8FB4-4D90-AEB3-0FCB6E7756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916711"/>
            <a:ext cx="240484" cy="24048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1F2D5A1-ECEF-40E3-8168-83372110D37B}"/>
              </a:ext>
            </a:extLst>
          </p:cNvPr>
          <p:cNvSpPr txBox="1"/>
          <p:nvPr/>
        </p:nvSpPr>
        <p:spPr>
          <a:xfrm>
            <a:off x="1871703" y="1465441"/>
            <a:ext cx="1725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회원 산재 조회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28A418D-5B87-4491-9696-BBCCEEC25654}"/>
              </a:ext>
            </a:extLst>
          </p:cNvPr>
          <p:cNvSpPr/>
          <p:nvPr/>
        </p:nvSpPr>
        <p:spPr>
          <a:xfrm>
            <a:off x="-20489" y="1180080"/>
            <a:ext cx="1677450" cy="567197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FC14AB-BC62-4AED-98F8-76776A6C58DF}"/>
              </a:ext>
            </a:extLst>
          </p:cNvPr>
          <p:cNvSpPr/>
          <p:nvPr/>
        </p:nvSpPr>
        <p:spPr>
          <a:xfrm>
            <a:off x="3423858" y="6022543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3659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185319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리뷰관리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관리자 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리뷰관리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939568"/>
              </p:ext>
            </p:extLst>
          </p:nvPr>
        </p:nvGraphicFramePr>
        <p:xfrm>
          <a:off x="8603672" y="1180080"/>
          <a:ext cx="3588327" cy="5739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8956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0074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관리자 페이지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관리자 리뷰관리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9839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회원들이 등록한 리뷰 열람 가능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각 테이블 클릭 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=&gt;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상세 페이지로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열람 하고싶은 리뷰 검색 가능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=&gt;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병원 이름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select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grpSp>
        <p:nvGrpSpPr>
          <p:cNvPr id="13" name="그룹 12">
            <a:extLst>
              <a:ext uri="{FF2B5EF4-FFF2-40B4-BE49-F238E27FC236}">
                <a16:creationId xmlns:a16="http://schemas.microsoft.com/office/drawing/2014/main" id="{D2ED75A3-C1B1-6944-2403-D1EC42282AF6}"/>
              </a:ext>
            </a:extLst>
          </p:cNvPr>
          <p:cNvGrpSpPr/>
          <p:nvPr/>
        </p:nvGrpSpPr>
        <p:grpSpPr>
          <a:xfrm>
            <a:off x="2522159" y="2319355"/>
            <a:ext cx="1932137" cy="3822366"/>
            <a:chOff x="308035" y="2064890"/>
            <a:chExt cx="2166717" cy="4621505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DAAD4B23-8DC2-005C-4070-DF563D7B3D78}"/>
                </a:ext>
              </a:extLst>
            </p:cNvPr>
            <p:cNvSpPr/>
            <p:nvPr/>
          </p:nvSpPr>
          <p:spPr>
            <a:xfrm>
              <a:off x="308035" y="2064890"/>
              <a:ext cx="2164811" cy="2692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1C568FB2-9E67-60F6-B99D-32DF7037BF65}"/>
                </a:ext>
              </a:extLst>
            </p:cNvPr>
            <p:cNvSpPr/>
            <p:nvPr/>
          </p:nvSpPr>
          <p:spPr>
            <a:xfrm>
              <a:off x="309940" y="2334453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E429D88C-05BE-F954-C287-D8E3946D3A94}"/>
                </a:ext>
              </a:extLst>
            </p:cNvPr>
            <p:cNvSpPr/>
            <p:nvPr/>
          </p:nvSpPr>
          <p:spPr>
            <a:xfrm>
              <a:off x="309940" y="2881569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85F9D515-7146-5D5C-5085-8750F36CBA2A}"/>
                </a:ext>
              </a:extLst>
            </p:cNvPr>
            <p:cNvSpPr/>
            <p:nvPr/>
          </p:nvSpPr>
          <p:spPr>
            <a:xfrm>
              <a:off x="308041" y="3429000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CF28D879-ADA5-71AF-D313-BF628F642CFA}"/>
                </a:ext>
              </a:extLst>
            </p:cNvPr>
            <p:cNvSpPr/>
            <p:nvPr/>
          </p:nvSpPr>
          <p:spPr>
            <a:xfrm>
              <a:off x="308041" y="3968000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3FECF496-6E84-5B9A-43FF-5B8F22CC486D}"/>
                </a:ext>
              </a:extLst>
            </p:cNvPr>
            <p:cNvSpPr/>
            <p:nvPr/>
          </p:nvSpPr>
          <p:spPr>
            <a:xfrm>
              <a:off x="308040" y="5062547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63" name="직사각형 162">
              <a:extLst>
                <a:ext uri="{FF2B5EF4-FFF2-40B4-BE49-F238E27FC236}">
                  <a16:creationId xmlns:a16="http://schemas.microsoft.com/office/drawing/2014/main" id="{55567B12-B9DC-3980-B9E8-86AE919F40DB}"/>
                </a:ext>
              </a:extLst>
            </p:cNvPr>
            <p:cNvSpPr/>
            <p:nvPr/>
          </p:nvSpPr>
          <p:spPr>
            <a:xfrm>
              <a:off x="308040" y="4515431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69" name="직사각형 168">
              <a:extLst>
                <a:ext uri="{FF2B5EF4-FFF2-40B4-BE49-F238E27FC236}">
                  <a16:creationId xmlns:a16="http://schemas.microsoft.com/office/drawing/2014/main" id="{F584D4EF-1071-4B10-B0CC-F73DB44CFA1D}"/>
                </a:ext>
              </a:extLst>
            </p:cNvPr>
            <p:cNvSpPr/>
            <p:nvPr/>
          </p:nvSpPr>
          <p:spPr>
            <a:xfrm>
              <a:off x="308040" y="5601547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75" name="직사각형 174">
              <a:extLst>
                <a:ext uri="{FF2B5EF4-FFF2-40B4-BE49-F238E27FC236}">
                  <a16:creationId xmlns:a16="http://schemas.microsoft.com/office/drawing/2014/main" id="{A5A20FE6-FCEE-9217-2592-8C2FFD476869}"/>
                </a:ext>
              </a:extLst>
            </p:cNvPr>
            <p:cNvSpPr/>
            <p:nvPr/>
          </p:nvSpPr>
          <p:spPr>
            <a:xfrm>
              <a:off x="308040" y="6138964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</p:grp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9698B42-7568-0FA7-9E24-99526805BF4E}"/>
              </a:ext>
            </a:extLst>
          </p:cNvPr>
          <p:cNvSpPr/>
          <p:nvPr/>
        </p:nvSpPr>
        <p:spPr>
          <a:xfrm>
            <a:off x="5190309" y="1806681"/>
            <a:ext cx="3040369" cy="37510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0E29E2E-B92C-B987-4977-94C6A3C734F0}"/>
              </a:ext>
            </a:extLst>
          </p:cNvPr>
          <p:cNvSpPr/>
          <p:nvPr/>
        </p:nvSpPr>
        <p:spPr>
          <a:xfrm>
            <a:off x="6096000" y="1833019"/>
            <a:ext cx="2058099" cy="31235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검색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B33A41A-DAB7-80E9-153C-9DCC89077478}"/>
              </a:ext>
            </a:extLst>
          </p:cNvPr>
          <p:cNvGrpSpPr/>
          <p:nvPr/>
        </p:nvGrpSpPr>
        <p:grpSpPr>
          <a:xfrm>
            <a:off x="4451009" y="2319356"/>
            <a:ext cx="1805173" cy="3822365"/>
            <a:chOff x="2464455" y="2064890"/>
            <a:chExt cx="2166717" cy="4621505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5754E66E-F266-5FE2-AE79-1650855F383C}"/>
                </a:ext>
              </a:extLst>
            </p:cNvPr>
            <p:cNvSpPr/>
            <p:nvPr/>
          </p:nvSpPr>
          <p:spPr>
            <a:xfrm>
              <a:off x="2464455" y="2064890"/>
              <a:ext cx="2164811" cy="2692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5255BF8E-A615-DDC5-43E5-C0FE462BF9AC}"/>
                </a:ext>
              </a:extLst>
            </p:cNvPr>
            <p:cNvSpPr/>
            <p:nvPr/>
          </p:nvSpPr>
          <p:spPr>
            <a:xfrm>
              <a:off x="2466360" y="2334453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306AE7E4-C1D4-1389-9542-88E70125085A}"/>
                </a:ext>
              </a:extLst>
            </p:cNvPr>
            <p:cNvSpPr/>
            <p:nvPr/>
          </p:nvSpPr>
          <p:spPr>
            <a:xfrm>
              <a:off x="2466360" y="2881569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2C75C338-76F1-107F-42FE-30893B17AD0A}"/>
                </a:ext>
              </a:extLst>
            </p:cNvPr>
            <p:cNvSpPr/>
            <p:nvPr/>
          </p:nvSpPr>
          <p:spPr>
            <a:xfrm>
              <a:off x="2464461" y="3429000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52" name="직사각형 151">
              <a:extLst>
                <a:ext uri="{FF2B5EF4-FFF2-40B4-BE49-F238E27FC236}">
                  <a16:creationId xmlns:a16="http://schemas.microsoft.com/office/drawing/2014/main" id="{513B201C-12D7-5B94-EEC9-7577A7FFFD1B}"/>
                </a:ext>
              </a:extLst>
            </p:cNvPr>
            <p:cNvSpPr/>
            <p:nvPr/>
          </p:nvSpPr>
          <p:spPr>
            <a:xfrm>
              <a:off x="2464461" y="3968000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59C9A893-78BC-AA39-79E7-AC119FC8A42A}"/>
                </a:ext>
              </a:extLst>
            </p:cNvPr>
            <p:cNvSpPr/>
            <p:nvPr/>
          </p:nvSpPr>
          <p:spPr>
            <a:xfrm>
              <a:off x="2464460" y="5062547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CDDC1614-7D20-DB22-B5AB-52EC0D21EE8B}"/>
                </a:ext>
              </a:extLst>
            </p:cNvPr>
            <p:cNvSpPr/>
            <p:nvPr/>
          </p:nvSpPr>
          <p:spPr>
            <a:xfrm>
              <a:off x="2464460" y="4515431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70" name="직사각형 169">
              <a:extLst>
                <a:ext uri="{FF2B5EF4-FFF2-40B4-BE49-F238E27FC236}">
                  <a16:creationId xmlns:a16="http://schemas.microsoft.com/office/drawing/2014/main" id="{A1450180-0E97-EDBB-B6DB-CB2473798304}"/>
                </a:ext>
              </a:extLst>
            </p:cNvPr>
            <p:cNvSpPr/>
            <p:nvPr/>
          </p:nvSpPr>
          <p:spPr>
            <a:xfrm>
              <a:off x="2464460" y="5601547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76" name="직사각형 175">
              <a:extLst>
                <a:ext uri="{FF2B5EF4-FFF2-40B4-BE49-F238E27FC236}">
                  <a16:creationId xmlns:a16="http://schemas.microsoft.com/office/drawing/2014/main" id="{79FD7DF7-288F-5E0C-233E-08A33F33F418}"/>
                </a:ext>
              </a:extLst>
            </p:cNvPr>
            <p:cNvSpPr/>
            <p:nvPr/>
          </p:nvSpPr>
          <p:spPr>
            <a:xfrm>
              <a:off x="2464460" y="6138964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019DC55-76DC-D8C9-E4DE-45000C546144}"/>
              </a:ext>
            </a:extLst>
          </p:cNvPr>
          <p:cNvGrpSpPr/>
          <p:nvPr/>
        </p:nvGrpSpPr>
        <p:grpSpPr>
          <a:xfrm>
            <a:off x="6257882" y="2319355"/>
            <a:ext cx="1974696" cy="3822366"/>
            <a:chOff x="5492884" y="2064890"/>
            <a:chExt cx="2739693" cy="4621505"/>
          </a:xfrm>
        </p:grpSpPr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83DE84B6-AE7B-49EE-1F15-4D101387CB4B}"/>
                </a:ext>
              </a:extLst>
            </p:cNvPr>
            <p:cNvSpPr/>
            <p:nvPr/>
          </p:nvSpPr>
          <p:spPr>
            <a:xfrm>
              <a:off x="5492884" y="2064890"/>
              <a:ext cx="2737787" cy="2692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0AFADA21-1195-0074-4616-8C7FC98F6562}"/>
                </a:ext>
              </a:extLst>
            </p:cNvPr>
            <p:cNvSpPr/>
            <p:nvPr/>
          </p:nvSpPr>
          <p:spPr>
            <a:xfrm>
              <a:off x="5494789" y="2334453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41" name="직사각형 140">
              <a:extLst>
                <a:ext uri="{FF2B5EF4-FFF2-40B4-BE49-F238E27FC236}">
                  <a16:creationId xmlns:a16="http://schemas.microsoft.com/office/drawing/2014/main" id="{DB277293-6632-DFCB-C8C4-E844F28C1BEE}"/>
                </a:ext>
              </a:extLst>
            </p:cNvPr>
            <p:cNvSpPr/>
            <p:nvPr/>
          </p:nvSpPr>
          <p:spPr>
            <a:xfrm>
              <a:off x="5494789" y="2881569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849E0BE9-3CEB-3569-DA93-5B24EC5C7B8E}"/>
                </a:ext>
              </a:extLst>
            </p:cNvPr>
            <p:cNvSpPr/>
            <p:nvPr/>
          </p:nvSpPr>
          <p:spPr>
            <a:xfrm>
              <a:off x="5492890" y="3429000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id="{891CB0D1-CB53-9955-F570-197594361061}"/>
                </a:ext>
              </a:extLst>
            </p:cNvPr>
            <p:cNvSpPr/>
            <p:nvPr/>
          </p:nvSpPr>
          <p:spPr>
            <a:xfrm>
              <a:off x="5492890" y="3968000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989F8A61-1A2B-9FC1-9BDF-4BDA1B70FF22}"/>
                </a:ext>
              </a:extLst>
            </p:cNvPr>
            <p:cNvSpPr/>
            <p:nvPr/>
          </p:nvSpPr>
          <p:spPr>
            <a:xfrm>
              <a:off x="5492889" y="5062547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D36E6EC0-31D2-C5AA-2085-03B2D3BD3DC2}"/>
                </a:ext>
              </a:extLst>
            </p:cNvPr>
            <p:cNvSpPr/>
            <p:nvPr/>
          </p:nvSpPr>
          <p:spPr>
            <a:xfrm>
              <a:off x="5492889" y="4515431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7FE787AB-89B3-5A0E-8090-C9A1CCBEDDC9}"/>
                </a:ext>
              </a:extLst>
            </p:cNvPr>
            <p:cNvSpPr/>
            <p:nvPr/>
          </p:nvSpPr>
          <p:spPr>
            <a:xfrm>
              <a:off x="5492889" y="5601547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009F39EF-3ED6-7CB6-9A31-074F8DACD801}"/>
                </a:ext>
              </a:extLst>
            </p:cNvPr>
            <p:cNvSpPr/>
            <p:nvPr/>
          </p:nvSpPr>
          <p:spPr>
            <a:xfrm>
              <a:off x="5492889" y="6138964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F529F664-9076-B942-8B0D-C421368814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3173" y="1866583"/>
            <a:ext cx="240484" cy="240484"/>
          </a:xfrm>
          <a:prstGeom prst="rect">
            <a:avLst/>
          </a:prstGeom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56E72F8-90C8-3C96-739C-DC92FF370D93}"/>
              </a:ext>
            </a:extLst>
          </p:cNvPr>
          <p:cNvSpPr/>
          <p:nvPr/>
        </p:nvSpPr>
        <p:spPr>
          <a:xfrm>
            <a:off x="5561399" y="1833019"/>
            <a:ext cx="544709" cy="312351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필터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59136CD-7C8E-417F-9224-7C9B14E15295}"/>
              </a:ext>
            </a:extLst>
          </p:cNvPr>
          <p:cNvSpPr/>
          <p:nvPr/>
        </p:nvSpPr>
        <p:spPr>
          <a:xfrm>
            <a:off x="1" y="1186017"/>
            <a:ext cx="1677450" cy="567197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FACBA26F-100D-45B0-AB33-1D16F00DA2EA}"/>
              </a:ext>
            </a:extLst>
          </p:cNvPr>
          <p:cNvGrpSpPr/>
          <p:nvPr/>
        </p:nvGrpSpPr>
        <p:grpSpPr>
          <a:xfrm>
            <a:off x="1676599" y="2319355"/>
            <a:ext cx="846407" cy="3822366"/>
            <a:chOff x="308035" y="2064890"/>
            <a:chExt cx="2166717" cy="4621505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F78EA786-74C0-490E-8C98-5574C0D5A021}"/>
                </a:ext>
              </a:extLst>
            </p:cNvPr>
            <p:cNvSpPr/>
            <p:nvPr/>
          </p:nvSpPr>
          <p:spPr>
            <a:xfrm>
              <a:off x="308035" y="2064890"/>
              <a:ext cx="2164810" cy="2692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No.</a:t>
              </a:r>
              <a:endParaRPr lang="ko-KR" altLang="en-US" dirty="0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8B85F1D4-1E92-4B5D-9D2E-C42668C1BB23}"/>
                </a:ext>
              </a:extLst>
            </p:cNvPr>
            <p:cNvSpPr/>
            <p:nvPr/>
          </p:nvSpPr>
          <p:spPr>
            <a:xfrm>
              <a:off x="309940" y="2334453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8</a:t>
              </a:r>
              <a:endParaRPr lang="ko-KR" altLang="en-US" dirty="0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954C1F01-5151-4799-AC1F-AFCF6F08C6FF}"/>
                </a:ext>
              </a:extLst>
            </p:cNvPr>
            <p:cNvSpPr/>
            <p:nvPr/>
          </p:nvSpPr>
          <p:spPr>
            <a:xfrm>
              <a:off x="309940" y="2881569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7</a:t>
              </a:r>
              <a:endParaRPr lang="ko-KR" altLang="en-US" dirty="0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5AA13D4-937C-46F2-A45B-B04D116D6182}"/>
                </a:ext>
              </a:extLst>
            </p:cNvPr>
            <p:cNvSpPr/>
            <p:nvPr/>
          </p:nvSpPr>
          <p:spPr>
            <a:xfrm>
              <a:off x="308041" y="3429000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6</a:t>
              </a:r>
              <a:endParaRPr lang="ko-KR" altLang="en-US" dirty="0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76C77251-0CF0-4835-B258-E5DD4DA804E3}"/>
                </a:ext>
              </a:extLst>
            </p:cNvPr>
            <p:cNvSpPr/>
            <p:nvPr/>
          </p:nvSpPr>
          <p:spPr>
            <a:xfrm>
              <a:off x="308041" y="3968000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5</a:t>
              </a:r>
              <a:endParaRPr lang="ko-KR" altLang="en-US" dirty="0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EF7F0C23-CC3B-4B90-8EA9-C3CAEC8E0FEC}"/>
                </a:ext>
              </a:extLst>
            </p:cNvPr>
            <p:cNvSpPr/>
            <p:nvPr/>
          </p:nvSpPr>
          <p:spPr>
            <a:xfrm>
              <a:off x="308040" y="5062547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3</a:t>
              </a:r>
              <a:endParaRPr lang="ko-KR" altLang="en-US" dirty="0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6344F7A-889E-4380-AB03-A57AA30FAE2D}"/>
                </a:ext>
              </a:extLst>
            </p:cNvPr>
            <p:cNvSpPr/>
            <p:nvPr/>
          </p:nvSpPr>
          <p:spPr>
            <a:xfrm>
              <a:off x="308040" y="4515431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4</a:t>
              </a:r>
              <a:endParaRPr lang="ko-KR" altLang="en-US" dirty="0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84BFA119-23A3-445B-95FC-29C0BC531693}"/>
                </a:ext>
              </a:extLst>
            </p:cNvPr>
            <p:cNvSpPr/>
            <p:nvPr/>
          </p:nvSpPr>
          <p:spPr>
            <a:xfrm>
              <a:off x="308040" y="5601547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2</a:t>
              </a:r>
              <a:endParaRPr lang="ko-KR" altLang="en-US" dirty="0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B1958993-0210-432E-9364-616F70932EE4}"/>
                </a:ext>
              </a:extLst>
            </p:cNvPr>
            <p:cNvSpPr/>
            <p:nvPr/>
          </p:nvSpPr>
          <p:spPr>
            <a:xfrm>
              <a:off x="308040" y="6138964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1</a:t>
              </a:r>
              <a:endParaRPr lang="ko-KR" altLang="en-US" dirty="0"/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161556C-9351-4CBC-A78A-949C462371AF}"/>
              </a:ext>
            </a:extLst>
          </p:cNvPr>
          <p:cNvSpPr/>
          <p:nvPr/>
        </p:nvSpPr>
        <p:spPr>
          <a:xfrm>
            <a:off x="1508762" y="2085622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98D9849-85D3-4009-AD3F-F70A114BCF36}"/>
              </a:ext>
            </a:extLst>
          </p:cNvPr>
          <p:cNvSpPr/>
          <p:nvPr/>
        </p:nvSpPr>
        <p:spPr>
          <a:xfrm>
            <a:off x="5056217" y="1631544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1656F4-56E4-4455-B075-3FCEB399C5DD}"/>
              </a:ext>
            </a:extLst>
          </p:cNvPr>
          <p:cNvSpPr txBox="1"/>
          <p:nvPr/>
        </p:nvSpPr>
        <p:spPr>
          <a:xfrm>
            <a:off x="1722329" y="1465545"/>
            <a:ext cx="1233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리뷰 관리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DE143C4-36A8-48D7-BC96-BC102D6414DC}"/>
              </a:ext>
            </a:extLst>
          </p:cNvPr>
          <p:cNvSpPr/>
          <p:nvPr/>
        </p:nvSpPr>
        <p:spPr>
          <a:xfrm>
            <a:off x="2956142" y="6405224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7600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287608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리뷰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관리자 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리뷰관리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리뷰 상세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427804"/>
              </p:ext>
            </p:extLst>
          </p:nvPr>
        </p:nvGraphicFramePr>
        <p:xfrm>
          <a:off x="8603672" y="1180080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8956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0074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관리자 페이지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관리자 리뷰관리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리뷰 상세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9839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해당 리뷰에 대한 정보를 자세히 알 수 있는 페이지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목록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관리 페이지로 이동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BAB13593-1D47-439D-0208-56CDE35154DF}"/>
              </a:ext>
            </a:extLst>
          </p:cNvPr>
          <p:cNvSpPr/>
          <p:nvPr/>
        </p:nvSpPr>
        <p:spPr>
          <a:xfrm>
            <a:off x="1544923" y="2108565"/>
            <a:ext cx="1466147" cy="32962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작성자 </a:t>
            </a:r>
            <a:r>
              <a:rPr lang="en-US" altLang="ko-KR" dirty="0"/>
              <a:t>ID: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A1DAA5C-4A6E-0279-F7AC-903F06149C92}"/>
              </a:ext>
            </a:extLst>
          </p:cNvPr>
          <p:cNvSpPr/>
          <p:nvPr/>
        </p:nvSpPr>
        <p:spPr>
          <a:xfrm>
            <a:off x="1544923" y="2538972"/>
            <a:ext cx="1466147" cy="32962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병원 이름</a:t>
            </a:r>
            <a:r>
              <a:rPr lang="en-US" altLang="ko-KR" dirty="0"/>
              <a:t>: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179D7F8-E72E-D61B-AD18-A7B5423AAE47}"/>
              </a:ext>
            </a:extLst>
          </p:cNvPr>
          <p:cNvSpPr/>
          <p:nvPr/>
        </p:nvSpPr>
        <p:spPr>
          <a:xfrm>
            <a:off x="1544923" y="2973734"/>
            <a:ext cx="1466147" cy="32962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작성 날짜</a:t>
            </a:r>
            <a:r>
              <a:rPr lang="en-US" altLang="ko-KR" dirty="0"/>
              <a:t>: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3EF7147-F621-C3C1-7721-7AB4C78BF49B}"/>
              </a:ext>
            </a:extLst>
          </p:cNvPr>
          <p:cNvSpPr/>
          <p:nvPr/>
        </p:nvSpPr>
        <p:spPr>
          <a:xfrm>
            <a:off x="1277655" y="3431594"/>
            <a:ext cx="1466147" cy="32962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내용</a:t>
            </a:r>
            <a:r>
              <a:rPr lang="en-US" altLang="ko-KR" dirty="0"/>
              <a:t>: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73504B8-B2AD-E42A-C759-8FCCA5E56F53}"/>
              </a:ext>
            </a:extLst>
          </p:cNvPr>
          <p:cNvSpPr/>
          <p:nvPr/>
        </p:nvSpPr>
        <p:spPr>
          <a:xfrm>
            <a:off x="3265145" y="2058175"/>
            <a:ext cx="3166473" cy="4304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1468325-A4C9-524A-EE62-42C7168661A5}"/>
              </a:ext>
            </a:extLst>
          </p:cNvPr>
          <p:cNvSpPr/>
          <p:nvPr/>
        </p:nvSpPr>
        <p:spPr>
          <a:xfrm>
            <a:off x="3265145" y="2488583"/>
            <a:ext cx="3166473" cy="4304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E85B46E-9324-FED2-56F5-1B5F881F0202}"/>
              </a:ext>
            </a:extLst>
          </p:cNvPr>
          <p:cNvSpPr/>
          <p:nvPr/>
        </p:nvSpPr>
        <p:spPr>
          <a:xfrm>
            <a:off x="3265145" y="2909699"/>
            <a:ext cx="3166473" cy="4304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DA186B4-B3F4-AA7E-F0AA-51397BD4E892}"/>
              </a:ext>
            </a:extLst>
          </p:cNvPr>
          <p:cNvSpPr/>
          <p:nvPr/>
        </p:nvSpPr>
        <p:spPr>
          <a:xfrm>
            <a:off x="1697276" y="3802320"/>
            <a:ext cx="6716933" cy="23748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11BE5B9-5EA5-7522-2357-C644713B6667}"/>
              </a:ext>
            </a:extLst>
          </p:cNvPr>
          <p:cNvSpPr/>
          <p:nvPr/>
        </p:nvSpPr>
        <p:spPr>
          <a:xfrm>
            <a:off x="7529305" y="6488055"/>
            <a:ext cx="703277" cy="3266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목록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C9FB096-78E5-1907-8F7F-8153F6570271}"/>
              </a:ext>
            </a:extLst>
          </p:cNvPr>
          <p:cNvSpPr/>
          <p:nvPr/>
        </p:nvSpPr>
        <p:spPr>
          <a:xfrm>
            <a:off x="7396005" y="6412061"/>
            <a:ext cx="243280" cy="2273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21CB8A4-912E-4F2C-86B1-22CEB349C17E}"/>
              </a:ext>
            </a:extLst>
          </p:cNvPr>
          <p:cNvSpPr/>
          <p:nvPr/>
        </p:nvSpPr>
        <p:spPr>
          <a:xfrm>
            <a:off x="1" y="1186017"/>
            <a:ext cx="1677450" cy="567197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14B2BC-F342-43BC-A7C9-B1C7D5E8B2D9}"/>
              </a:ext>
            </a:extLst>
          </p:cNvPr>
          <p:cNvSpPr txBox="1"/>
          <p:nvPr/>
        </p:nvSpPr>
        <p:spPr>
          <a:xfrm>
            <a:off x="1747381" y="1421704"/>
            <a:ext cx="1517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리뷰 상세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02DE7B5-11F2-4664-AF9F-75F43C37C620}"/>
              </a:ext>
            </a:extLst>
          </p:cNvPr>
          <p:cNvSpPr/>
          <p:nvPr/>
        </p:nvSpPr>
        <p:spPr>
          <a:xfrm>
            <a:off x="1745274" y="1300723"/>
            <a:ext cx="243280" cy="2273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8815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1841</TotalTime>
  <Words>4749</Words>
  <Application>Microsoft Office PowerPoint</Application>
  <PresentationFormat>와이드스크린</PresentationFormat>
  <Paragraphs>1804</Paragraphs>
  <Slides>58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58</vt:i4>
      </vt:variant>
    </vt:vector>
  </HeadingPairs>
  <TitlesOfParts>
    <vt:vector size="64" baseType="lpstr">
      <vt:lpstr>ui-sans-serif</vt:lpstr>
      <vt:lpstr>맑은 고딕</vt:lpstr>
      <vt:lpstr>맑은 고딕</vt:lpstr>
      <vt:lpstr>Arial</vt:lpstr>
      <vt:lpstr>Consolas</vt:lpstr>
      <vt:lpstr>Office 테마</vt:lpstr>
      <vt:lpstr>스토리보드 산재통계</vt:lpstr>
      <vt:lpstr>목차</vt:lpstr>
      <vt:lpstr>API</vt:lpstr>
      <vt:lpstr>크롤링</vt:lpstr>
      <vt:lpstr>메인 , 헤더</vt:lpstr>
      <vt:lpstr>PowerPoint 프레젠테이션</vt:lpstr>
      <vt:lpstr>PowerPoint 프레젠테이션</vt:lpstr>
      <vt:lpstr>PowerPoint 프레젠테이션</vt:lpstr>
      <vt:lpstr>소개</vt:lpstr>
      <vt:lpstr>PowerPoint 프레젠테이션</vt:lpstr>
      <vt:lpstr>PowerPoint 프레젠테이션</vt:lpstr>
      <vt:lpstr>PowerPoint 프레젠테이션</vt:lpstr>
      <vt:lpstr>회원가입</vt:lpstr>
      <vt:lpstr>PowerPoint 프레젠테이션</vt:lpstr>
      <vt:lpstr>PowerPoint 프레젠테이션</vt:lpstr>
      <vt:lpstr>PowerPoint 프레젠테이션</vt:lpstr>
      <vt:lpstr>PowerPoint 프레젠테이션</vt:lpstr>
      <vt:lpstr>마이페이지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산재 뉴스</vt:lpstr>
      <vt:lpstr>PowerPoint 프레젠테이션</vt:lpstr>
      <vt:lpstr>산재 통계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안전 자료실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주변 산재 검색</vt:lpstr>
      <vt:lpstr>PowerPoint 프레젠테이션</vt:lpstr>
      <vt:lpstr>PowerPoint 프레젠테이션</vt:lpstr>
      <vt:lpstr>PowerPoint 프레젠테이션</vt:lpstr>
      <vt:lpstr>주변 병원 검색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관리자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페이지 구성도</dc:title>
  <dc:creator>do yun choi</dc:creator>
  <cp:lastModifiedBy>User</cp:lastModifiedBy>
  <cp:revision>140</cp:revision>
  <dcterms:created xsi:type="dcterms:W3CDTF">2025-11-24T01:38:34Z</dcterms:created>
  <dcterms:modified xsi:type="dcterms:W3CDTF">2025-11-27T08:03:20Z</dcterms:modified>
</cp:coreProperties>
</file>