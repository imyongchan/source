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60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348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3A-48F6-A7D0-A01141C5F7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3A-48F6-A7D0-A01141C5F7A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13A-48F6-A7D0-A01141C5F7A7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D4D1-45E9-8358-D3C8FA214E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D3B-4D35-980D-445A6312232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D3B-4D35-980D-445A6312232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D3B-4D35-980D-445A63122326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6-FD3B-4D35-980D-445A631223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CF6-4F80-B38B-901ACB5E42A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F6-4F80-B38B-901ACB5E42A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CF6-4F80-B38B-901ACB5E42AE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6-ECF6-4F80-B38B-901ACB5E42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68F-481D-B2BD-21EB88DDCAD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68F-481D-B2BD-21EB88DDCAD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68F-481D-B2BD-21EB88DDCAD2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6-968F-481D-B2BD-21EB88DDCA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DFF91-717C-4EE9-9C3F-09298E32B65B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5F57A-A7A3-460B-A3C5-F840737745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68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구성해야함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841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F445A-7219-45CC-84A4-B8233C141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0787E-6A0E-409C-A62B-F957BAF99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D8E41-41F0-481C-99F5-596154A9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6CB26-82DD-439C-BB87-F51F6850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45926-5937-403E-A2AE-FE671324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625D9-0240-48A3-A7CA-0606D5C8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7F432-4EFB-43F5-AF68-14E22519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91237-E1E9-4600-A6E8-42178C3D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99AB1-7EBD-4C38-BE12-194D24CC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AC3DF-21B2-4573-A20F-B95EAAD3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70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5DD34-BA4E-40E9-98F6-2AB80E8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C4660-982D-47F4-A0B3-16771B27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4C207-2820-4D68-9D04-E2012099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F5A2B-A048-4326-BEF5-242045A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8D398-7098-4CFE-9D22-49F7B3E0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48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BF731-5355-4438-BD17-672D45B7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5C5E3-DD9F-4B06-AECE-1F5252EF7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A5144-08E6-45BD-AA8D-41AB17786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D695DE-FC4E-4257-B793-DC2F38EF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7A258-A9AA-4174-959C-247351FC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B3C00-EA0F-4F60-9BBF-241E78CC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3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F529F-9D2A-4109-9757-113D035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82E3A-CDE9-4B1F-8640-A46BC239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2DF67C-3A67-4E6F-A5E4-1899B272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577BB0-77C2-4C76-AED1-C0B993982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AB154-6BF4-4A35-9FDF-AF21F5EBB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F238E0-2BEA-4676-987B-68244B85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183CA9-EC6B-4C18-81E4-FC4451C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19213-122D-42CE-B4F6-14891B9D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5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FE33D-C1AF-46D8-A49F-76C76B4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982B2-76A3-42A2-9F50-C1F86E67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4D668-2E63-4DD9-89E2-23D3FE89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BAF317-C885-4E56-B3F0-2A2C9129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9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CDB548-2A8A-40EB-9E2B-0644EE1F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AE109-0C75-4FEF-9458-31FFC3AB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E2398-DB24-4A57-87AC-A32EE0B4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4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8F58C-33AE-4103-AFB3-FCEA1769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163BB-E27E-4D3F-82AC-32D36E44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54FE4-AC80-4DBE-8CAA-616CE0443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1C060-26C8-4C7E-AAE9-F10FA1DE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6E2991-7DA1-4C3B-A0FB-2E27B160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244C9F-4EF2-4DC5-BDFE-1770909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C52D-D665-431E-AD2C-0C2CB8E6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2C73F-8A07-42CB-97F4-66319120B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23B3A-7732-4482-8ECD-529F4DA8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5679A-CA04-4763-BE4D-E37165CE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39F77-E6AC-48D6-9978-3AAFFD6A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75227-D572-4A83-A1ED-431B03A7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5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F6F2B-7D20-4404-9BDD-760D7CF8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D7786-F7BF-42A8-8D4D-1D56AAD72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DB759-CD4E-453B-9386-F37291A3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6A4BF-EE32-48F1-A719-000BE833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AE2E0-A4C5-4C8F-A46A-7DB631AC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1215E3-378D-44B3-920A-B6B27215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455D7-2D57-4438-ACCB-5993631B4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26065-1FB2-4F8E-BC2D-9748CD9C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2751E-9414-499F-B378-9980F5D6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CD185-1063-4156-B350-8B413C1A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C7BF92-72DE-4B94-9A1F-5A41D99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64FA9-4957-4742-AE2F-2B941972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2D05E-6D5B-4D2C-983D-164ED017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0BE70-DC93-4C0C-BED1-8C57C6BB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3A512-BC1F-4D8D-B14C-40B253D4A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00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7F733-D0AF-4E22-9ACD-628454BDF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4572"/>
          </a:xfrm>
        </p:spPr>
        <p:txBody>
          <a:bodyPr/>
          <a:lstStyle/>
          <a:p>
            <a:r>
              <a:rPr lang="ko-KR" altLang="en-US" dirty="0"/>
              <a:t>스토리보드 산재통계</a:t>
            </a:r>
          </a:p>
        </p:txBody>
      </p:sp>
    </p:spTree>
    <p:extLst>
      <p:ext uri="{BB962C8B-B14F-4D97-AF65-F5344CB8AC3E}">
        <p14:creationId xmlns:p14="http://schemas.microsoft.com/office/powerpoint/2010/main" val="102192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96733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752686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188731"/>
              </p:ext>
            </p:extLst>
          </p:nvPr>
        </p:nvGraphicFramePr>
        <p:xfrm>
          <a:off x="139700" y="247158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교육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지역별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산재뉴스 목록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업종별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사고별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7521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988736"/>
              </p:ext>
            </p:extLst>
          </p:nvPr>
        </p:nvGraphicFramePr>
        <p:xfrm>
          <a:off x="8603672" y="1180080"/>
          <a:ext cx="3588327" cy="5702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 industrial_accident_statistics.html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지역별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업종별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부상별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1,2,3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순위를 슬라이딩으로 보여준다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industrial_accident_news_list.html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범위 내 클릭하면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industrial_accident_news_detail_id.html</a:t>
                      </a:r>
                    </a:p>
                    <a:p>
                      <a:pPr latinLnBrk="1"/>
                      <a:r>
                        <a:rPr lang="en-US" altLang="ko-K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industrial_accident_news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섬네일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작성자가 입력된다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BDC760-B4AD-444E-B619-2FD56EF41606}"/>
              </a:ext>
            </a:extLst>
          </p:cNvPr>
          <p:cNvSpPr/>
          <p:nvPr/>
        </p:nvSpPr>
        <p:spPr>
          <a:xfrm>
            <a:off x="0" y="1822862"/>
            <a:ext cx="8603671" cy="13240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히어로 이미지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9D3E86-FB28-44C2-B1B5-25949B751E8A}"/>
              </a:ext>
            </a:extLst>
          </p:cNvPr>
          <p:cNvSpPr/>
          <p:nvPr/>
        </p:nvSpPr>
        <p:spPr>
          <a:xfrm>
            <a:off x="-1979" y="3167744"/>
            <a:ext cx="8603671" cy="14933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B596E8-2383-4511-860C-5CEBAAD20629}"/>
              </a:ext>
            </a:extLst>
          </p:cNvPr>
          <p:cNvSpPr/>
          <p:nvPr/>
        </p:nvSpPr>
        <p:spPr>
          <a:xfrm>
            <a:off x="0" y="4709174"/>
            <a:ext cx="8603671" cy="1486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255CB5-0DD7-4720-BFC9-E32D0609F82D}"/>
              </a:ext>
            </a:extLst>
          </p:cNvPr>
          <p:cNvSpPr/>
          <p:nvPr/>
        </p:nvSpPr>
        <p:spPr>
          <a:xfrm>
            <a:off x="17813" y="3215853"/>
            <a:ext cx="884712" cy="4755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통계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96EBBB-0431-4EC2-90A2-14E7BCB512E6}"/>
              </a:ext>
            </a:extLst>
          </p:cNvPr>
          <p:cNvSpPr/>
          <p:nvPr/>
        </p:nvSpPr>
        <p:spPr>
          <a:xfrm>
            <a:off x="17813" y="4716886"/>
            <a:ext cx="878774" cy="4310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뉴스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233D38-0148-451D-819B-41F95C845542}"/>
              </a:ext>
            </a:extLst>
          </p:cNvPr>
          <p:cNvSpPr/>
          <p:nvPr/>
        </p:nvSpPr>
        <p:spPr>
          <a:xfrm>
            <a:off x="100941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3CE053-0061-480D-9A03-E0F1027FE364}"/>
              </a:ext>
            </a:extLst>
          </p:cNvPr>
          <p:cNvSpPr/>
          <p:nvPr/>
        </p:nvSpPr>
        <p:spPr>
          <a:xfrm>
            <a:off x="225631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A52B5B-D6D6-4786-BBAD-E99520AECA2D}"/>
              </a:ext>
            </a:extLst>
          </p:cNvPr>
          <p:cNvSpPr txBox="1"/>
          <p:nvPr/>
        </p:nvSpPr>
        <p:spPr>
          <a:xfrm>
            <a:off x="1615044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7A4E12-1C40-4350-BA62-47BECBF99EBD}"/>
              </a:ext>
            </a:extLst>
          </p:cNvPr>
          <p:cNvSpPr txBox="1"/>
          <p:nvPr/>
        </p:nvSpPr>
        <p:spPr>
          <a:xfrm>
            <a:off x="1666874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819A1AF-984A-4526-AC68-B3246648F072}"/>
              </a:ext>
            </a:extLst>
          </p:cNvPr>
          <p:cNvSpPr/>
          <p:nvPr/>
        </p:nvSpPr>
        <p:spPr>
          <a:xfrm>
            <a:off x="2838204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1AE18C-FEDA-4434-8293-64055F385CFE}"/>
              </a:ext>
            </a:extLst>
          </p:cNvPr>
          <p:cNvSpPr/>
          <p:nvPr/>
        </p:nvSpPr>
        <p:spPr>
          <a:xfrm>
            <a:off x="2962894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F1ACD3-C184-4F25-95EF-29F1B9DFAADA}"/>
              </a:ext>
            </a:extLst>
          </p:cNvPr>
          <p:cNvSpPr txBox="1"/>
          <p:nvPr/>
        </p:nvSpPr>
        <p:spPr>
          <a:xfrm>
            <a:off x="4352307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68FC70-AEC3-405C-B489-3F0548A592AD}"/>
              </a:ext>
            </a:extLst>
          </p:cNvPr>
          <p:cNvSpPr txBox="1"/>
          <p:nvPr/>
        </p:nvSpPr>
        <p:spPr>
          <a:xfrm>
            <a:off x="4404137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9F3F06-FE66-4A24-8B9A-CC061AC1A18F}"/>
              </a:ext>
            </a:extLst>
          </p:cNvPr>
          <p:cNvSpPr/>
          <p:nvPr/>
        </p:nvSpPr>
        <p:spPr>
          <a:xfrm>
            <a:off x="5574348" y="5084572"/>
            <a:ext cx="2625563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126CC8-6FF6-4FB1-B108-7C88591185A8}"/>
              </a:ext>
            </a:extLst>
          </p:cNvPr>
          <p:cNvSpPr/>
          <p:nvPr/>
        </p:nvSpPr>
        <p:spPr>
          <a:xfrm>
            <a:off x="5699039" y="5235983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9428F5-4701-459B-AE1E-5DE5F61A9112}"/>
              </a:ext>
            </a:extLst>
          </p:cNvPr>
          <p:cNvSpPr txBox="1"/>
          <p:nvPr/>
        </p:nvSpPr>
        <p:spPr>
          <a:xfrm>
            <a:off x="7088452" y="5231979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237C1D-E28D-4AD7-906D-4285DE847C3A}"/>
              </a:ext>
            </a:extLst>
          </p:cNvPr>
          <p:cNvSpPr txBox="1"/>
          <p:nvPr/>
        </p:nvSpPr>
        <p:spPr>
          <a:xfrm>
            <a:off x="7140282" y="567617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E182F3-6220-4178-A907-7F8754A73014}"/>
              </a:ext>
            </a:extLst>
          </p:cNvPr>
          <p:cNvSpPr txBox="1"/>
          <p:nvPr/>
        </p:nvSpPr>
        <p:spPr>
          <a:xfrm>
            <a:off x="8005821" y="4771557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graphicFrame>
        <p:nvGraphicFramePr>
          <p:cNvPr id="41" name="차트 40">
            <a:extLst>
              <a:ext uri="{FF2B5EF4-FFF2-40B4-BE49-F238E27FC236}">
                <a16:creationId xmlns:a16="http://schemas.microsoft.com/office/drawing/2014/main" id="{13D7E1F3-FA78-4F00-B8BA-A3A21E87D926}"/>
              </a:ext>
            </a:extLst>
          </p:cNvPr>
          <p:cNvGraphicFramePr/>
          <p:nvPr/>
        </p:nvGraphicFramePr>
        <p:xfrm>
          <a:off x="3412046" y="3195070"/>
          <a:ext cx="1604908" cy="1443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2" name="1/2 액자 41">
            <a:extLst>
              <a:ext uri="{FF2B5EF4-FFF2-40B4-BE49-F238E27FC236}">
                <a16:creationId xmlns:a16="http://schemas.microsoft.com/office/drawing/2014/main" id="{26A28183-CF79-45F1-A20E-992DC1BDAA3B}"/>
              </a:ext>
            </a:extLst>
          </p:cNvPr>
          <p:cNvSpPr/>
          <p:nvPr/>
        </p:nvSpPr>
        <p:spPr>
          <a:xfrm rot="7936885">
            <a:off x="7971202" y="3820832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1/2 액자 42">
            <a:extLst>
              <a:ext uri="{FF2B5EF4-FFF2-40B4-BE49-F238E27FC236}">
                <a16:creationId xmlns:a16="http://schemas.microsoft.com/office/drawing/2014/main" id="{1C0CE8E2-7A61-44ED-AEE0-33F609B8A6B0}"/>
              </a:ext>
            </a:extLst>
          </p:cNvPr>
          <p:cNvSpPr/>
          <p:nvPr/>
        </p:nvSpPr>
        <p:spPr>
          <a:xfrm rot="18869348">
            <a:off x="130504" y="3887013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A9B73E-3424-41F7-94E2-BD090E306158}"/>
              </a:ext>
            </a:extLst>
          </p:cNvPr>
          <p:cNvSpPr txBox="1"/>
          <p:nvPr/>
        </p:nvSpPr>
        <p:spPr>
          <a:xfrm>
            <a:off x="5166360" y="333399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위 서울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CC4EB5-5834-4529-81DE-795003DA6E55}"/>
              </a:ext>
            </a:extLst>
          </p:cNvPr>
          <p:cNvSpPr txBox="1"/>
          <p:nvPr/>
        </p:nvSpPr>
        <p:spPr>
          <a:xfrm>
            <a:off x="5166360" y="3745010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위 인천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40D569-CF39-4AA6-882C-0E627E906E1A}"/>
              </a:ext>
            </a:extLst>
          </p:cNvPr>
          <p:cNvSpPr txBox="1"/>
          <p:nvPr/>
        </p:nvSpPr>
        <p:spPr>
          <a:xfrm>
            <a:off x="5166360" y="4155536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위 대구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4E2FE23-0F27-4ECB-99A1-2D462AEBC5B2}"/>
              </a:ext>
            </a:extLst>
          </p:cNvPr>
          <p:cNvSpPr/>
          <p:nvPr/>
        </p:nvSpPr>
        <p:spPr>
          <a:xfrm>
            <a:off x="1092530" y="3241965"/>
            <a:ext cx="6715496" cy="13187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EFA2D7-7C17-4CE6-8433-02D68918D94D}"/>
              </a:ext>
            </a:extLst>
          </p:cNvPr>
          <p:cNvSpPr txBox="1"/>
          <p:nvPr/>
        </p:nvSpPr>
        <p:spPr>
          <a:xfrm>
            <a:off x="1137062" y="3262179"/>
            <a:ext cx="95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지역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63D491A-D609-49F3-94BC-2A0C2FD7ACFA}"/>
              </a:ext>
            </a:extLst>
          </p:cNvPr>
          <p:cNvSpPr/>
          <p:nvPr/>
        </p:nvSpPr>
        <p:spPr>
          <a:xfrm>
            <a:off x="8145417" y="369085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4AC78F-C9AB-40F7-9E85-0899E13BB9BD}"/>
              </a:ext>
            </a:extLst>
          </p:cNvPr>
          <p:cNvSpPr txBox="1"/>
          <p:nvPr/>
        </p:nvSpPr>
        <p:spPr>
          <a:xfrm>
            <a:off x="7855524" y="3231351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C9B01C8-945D-4F45-89FB-F06F1DE9B787}"/>
              </a:ext>
            </a:extLst>
          </p:cNvPr>
          <p:cNvSpPr/>
          <p:nvPr/>
        </p:nvSpPr>
        <p:spPr>
          <a:xfrm>
            <a:off x="7808026" y="317298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1620BBE-37E5-4E42-A018-BEF36C917FAF}"/>
              </a:ext>
            </a:extLst>
          </p:cNvPr>
          <p:cNvSpPr/>
          <p:nvPr/>
        </p:nvSpPr>
        <p:spPr>
          <a:xfrm>
            <a:off x="8000808" y="472207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6AE1946-FDA1-42E7-8E86-4424E75911A1}"/>
              </a:ext>
            </a:extLst>
          </p:cNvPr>
          <p:cNvSpPr/>
          <p:nvPr/>
        </p:nvSpPr>
        <p:spPr>
          <a:xfrm>
            <a:off x="5687412" y="517971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26225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531290"/>
              </p:ext>
            </p:extLst>
          </p:nvPr>
        </p:nvGraphicFramePr>
        <p:xfrm>
          <a:off x="0" y="0"/>
          <a:ext cx="12192000" cy="142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industrial_accident_statistics.html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industrial_accident_statistics.html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940761"/>
              </p:ext>
            </p:extLst>
          </p:nvPr>
        </p:nvGraphicFramePr>
        <p:xfrm>
          <a:off x="8603672" y="1180080"/>
          <a:ext cx="3588327" cy="587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주제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와 주제에 관한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한줄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소개를 보여준다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이미지는 주제와 관련된 이미지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정보를 받아와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분석요약글을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보여준다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정보를 받아와 분석 결과를 시각적으로 보여준다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지역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업종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부상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별로 미리 쿼리를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필터한다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버튼 또는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엔터를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입력하면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검색쿼리를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넘긴다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DB2DED3-87A5-4945-AC03-7FDAD7763D99}"/>
              </a:ext>
            </a:extLst>
          </p:cNvPr>
          <p:cNvSpPr/>
          <p:nvPr/>
        </p:nvSpPr>
        <p:spPr>
          <a:xfrm>
            <a:off x="0" y="4257031"/>
            <a:ext cx="8603671" cy="14933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9" name="차트 38">
            <a:extLst>
              <a:ext uri="{FF2B5EF4-FFF2-40B4-BE49-F238E27FC236}">
                <a16:creationId xmlns:a16="http://schemas.microsoft.com/office/drawing/2014/main" id="{8A96D94D-13EF-44F2-9CAF-EFDE076937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1831490"/>
              </p:ext>
            </p:extLst>
          </p:nvPr>
        </p:nvGraphicFramePr>
        <p:xfrm>
          <a:off x="423175" y="4284357"/>
          <a:ext cx="1398193" cy="1257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7C9FD3F0-C9D1-4A70-B068-6EA97A867A8D}"/>
              </a:ext>
            </a:extLst>
          </p:cNvPr>
          <p:cNvSpPr txBox="1"/>
          <p:nvPr/>
        </p:nvSpPr>
        <p:spPr>
          <a:xfrm>
            <a:off x="1682189" y="4423284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1</a:t>
            </a:r>
            <a:r>
              <a:rPr lang="ko-KR" altLang="en-US" sz="1100" dirty="0"/>
              <a:t>위 서울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F0AABC2-A77D-4C50-8A9A-605BDF278D4A}"/>
              </a:ext>
            </a:extLst>
          </p:cNvPr>
          <p:cNvSpPr txBox="1"/>
          <p:nvPr/>
        </p:nvSpPr>
        <p:spPr>
          <a:xfrm>
            <a:off x="1682189" y="4834297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</a:t>
            </a:r>
            <a:r>
              <a:rPr lang="ko-KR" altLang="en-US" sz="1100" dirty="0"/>
              <a:t>위 인천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C33BF4-2A5E-4658-A6A5-C5923784CBCF}"/>
              </a:ext>
            </a:extLst>
          </p:cNvPr>
          <p:cNvSpPr txBox="1"/>
          <p:nvPr/>
        </p:nvSpPr>
        <p:spPr>
          <a:xfrm>
            <a:off x="1682189" y="5244823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</a:t>
            </a:r>
            <a:r>
              <a:rPr lang="ko-KR" altLang="en-US" sz="1100" dirty="0"/>
              <a:t>위 대구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4E5C56-146C-4691-8AE2-0FCE5EAE53F9}"/>
              </a:ext>
            </a:extLst>
          </p:cNvPr>
          <p:cNvSpPr txBox="1"/>
          <p:nvPr/>
        </p:nvSpPr>
        <p:spPr>
          <a:xfrm>
            <a:off x="0" y="4338766"/>
            <a:ext cx="832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지역</a:t>
            </a:r>
          </a:p>
        </p:txBody>
      </p:sp>
      <p:graphicFrame>
        <p:nvGraphicFramePr>
          <p:cNvPr id="68" name="차트 67">
            <a:extLst>
              <a:ext uri="{FF2B5EF4-FFF2-40B4-BE49-F238E27FC236}">
                <a16:creationId xmlns:a16="http://schemas.microsoft.com/office/drawing/2014/main" id="{BA5FD586-2AEE-4F28-ACE7-3E3C40F7C7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1756174"/>
              </p:ext>
            </p:extLst>
          </p:nvPr>
        </p:nvGraphicFramePr>
        <p:xfrm>
          <a:off x="3001796" y="4294670"/>
          <a:ext cx="1398193" cy="1257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CD78A94F-672F-4506-AB7D-FB0CE7DA614A}"/>
              </a:ext>
            </a:extLst>
          </p:cNvPr>
          <p:cNvSpPr txBox="1"/>
          <p:nvPr/>
        </p:nvSpPr>
        <p:spPr>
          <a:xfrm>
            <a:off x="4260810" y="4433597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1</a:t>
            </a:r>
            <a:r>
              <a:rPr lang="ko-KR" altLang="en-US" sz="1100" dirty="0"/>
              <a:t>위 중공업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CA2248A-8C05-4C1E-87CA-81D1A9FE8C11}"/>
              </a:ext>
            </a:extLst>
          </p:cNvPr>
          <p:cNvSpPr txBox="1"/>
          <p:nvPr/>
        </p:nvSpPr>
        <p:spPr>
          <a:xfrm>
            <a:off x="4260810" y="4844610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</a:t>
            </a:r>
            <a:r>
              <a:rPr lang="ko-KR" altLang="en-US" sz="1100" dirty="0"/>
              <a:t>위 건설업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3ACB7BD-BDFA-4B90-B429-EE4554FC05B0}"/>
              </a:ext>
            </a:extLst>
          </p:cNvPr>
          <p:cNvSpPr txBox="1"/>
          <p:nvPr/>
        </p:nvSpPr>
        <p:spPr>
          <a:xfrm>
            <a:off x="4260810" y="5255136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</a:t>
            </a:r>
            <a:r>
              <a:rPr lang="ko-KR" altLang="en-US" sz="1100" dirty="0"/>
              <a:t>위 조선업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16A6A1A-C9E1-4346-9C35-8B4D472EF87D}"/>
              </a:ext>
            </a:extLst>
          </p:cNvPr>
          <p:cNvSpPr txBox="1"/>
          <p:nvPr/>
        </p:nvSpPr>
        <p:spPr>
          <a:xfrm>
            <a:off x="2578621" y="4349079"/>
            <a:ext cx="832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업종</a:t>
            </a:r>
          </a:p>
        </p:txBody>
      </p:sp>
      <p:graphicFrame>
        <p:nvGraphicFramePr>
          <p:cNvPr id="73" name="차트 72">
            <a:extLst>
              <a:ext uri="{FF2B5EF4-FFF2-40B4-BE49-F238E27FC236}">
                <a16:creationId xmlns:a16="http://schemas.microsoft.com/office/drawing/2014/main" id="{F36D2ED7-A300-4F9D-AC94-E10BDE68EC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0950584"/>
              </p:ext>
            </p:extLst>
          </p:nvPr>
        </p:nvGraphicFramePr>
        <p:xfrm>
          <a:off x="5659003" y="4304983"/>
          <a:ext cx="1398193" cy="1257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04155135-FC20-4418-9941-6A101365DC22}"/>
              </a:ext>
            </a:extLst>
          </p:cNvPr>
          <p:cNvSpPr txBox="1"/>
          <p:nvPr/>
        </p:nvSpPr>
        <p:spPr>
          <a:xfrm>
            <a:off x="6918017" y="4443910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1</a:t>
            </a:r>
            <a:r>
              <a:rPr lang="ko-KR" altLang="en-US" sz="1100" dirty="0"/>
              <a:t>위 골절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FE57174-6E08-408F-A21F-2A24EF33ED8B}"/>
              </a:ext>
            </a:extLst>
          </p:cNvPr>
          <p:cNvSpPr txBox="1"/>
          <p:nvPr/>
        </p:nvSpPr>
        <p:spPr>
          <a:xfrm>
            <a:off x="6918017" y="4854923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</a:t>
            </a:r>
            <a:r>
              <a:rPr lang="ko-KR" altLang="en-US" sz="1100" dirty="0"/>
              <a:t>위 화상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4BF16A1-3127-4BD9-8288-05EFFA9F9D23}"/>
              </a:ext>
            </a:extLst>
          </p:cNvPr>
          <p:cNvSpPr txBox="1"/>
          <p:nvPr/>
        </p:nvSpPr>
        <p:spPr>
          <a:xfrm>
            <a:off x="6918017" y="5265449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</a:t>
            </a:r>
            <a:r>
              <a:rPr lang="ko-KR" altLang="en-US" sz="1100" dirty="0"/>
              <a:t>위 낙상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1AD3C85-2459-46B0-9000-62BB5AD7E201}"/>
              </a:ext>
            </a:extLst>
          </p:cNvPr>
          <p:cNvSpPr txBox="1"/>
          <p:nvPr/>
        </p:nvSpPr>
        <p:spPr>
          <a:xfrm>
            <a:off x="5235828" y="4359392"/>
            <a:ext cx="832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C90FA2-9FFE-4D54-BDA0-7CBD08FE42E3}"/>
              </a:ext>
            </a:extLst>
          </p:cNvPr>
          <p:cNvSpPr/>
          <p:nvPr/>
        </p:nvSpPr>
        <p:spPr>
          <a:xfrm>
            <a:off x="0" y="1822862"/>
            <a:ext cx="8603671" cy="11828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CC7303-B0EF-431B-821A-0F92CB474877}"/>
              </a:ext>
            </a:extLst>
          </p:cNvPr>
          <p:cNvSpPr txBox="1"/>
          <p:nvPr/>
        </p:nvSpPr>
        <p:spPr>
          <a:xfrm>
            <a:off x="67857" y="1935387"/>
            <a:ext cx="1479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산재 통계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F8B21B-7790-4195-91E4-904B61EC5EE9}"/>
              </a:ext>
            </a:extLst>
          </p:cNvPr>
          <p:cNvSpPr txBox="1"/>
          <p:nvPr/>
        </p:nvSpPr>
        <p:spPr>
          <a:xfrm>
            <a:off x="206578" y="2490827"/>
            <a:ext cx="6988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한줄</a:t>
            </a:r>
            <a:r>
              <a:rPr lang="ko-KR" altLang="en-US" dirty="0"/>
              <a:t> 소개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2BE55AE-3461-4A4B-9AAA-528CE6E3DE19}"/>
              </a:ext>
            </a:extLst>
          </p:cNvPr>
          <p:cNvSpPr/>
          <p:nvPr/>
        </p:nvSpPr>
        <p:spPr>
          <a:xfrm>
            <a:off x="7057196" y="1968500"/>
            <a:ext cx="1299404" cy="89597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4CDFB43-F3F6-4146-941D-DB02300DA1F4}"/>
              </a:ext>
            </a:extLst>
          </p:cNvPr>
          <p:cNvSpPr/>
          <p:nvPr/>
        </p:nvSpPr>
        <p:spPr>
          <a:xfrm>
            <a:off x="0" y="5750352"/>
            <a:ext cx="8603671" cy="4811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검색창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1CD89F3-6697-4B63-BC75-AACAC5C082DC}"/>
              </a:ext>
            </a:extLst>
          </p:cNvPr>
          <p:cNvSpPr/>
          <p:nvPr/>
        </p:nvSpPr>
        <p:spPr>
          <a:xfrm>
            <a:off x="-1" y="5752198"/>
            <a:ext cx="1123951" cy="470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필터</a:t>
            </a:r>
          </a:p>
        </p:txBody>
      </p:sp>
      <p:pic>
        <p:nvPicPr>
          <p:cNvPr id="24" name="그래픽 23" descr="돋보기 단색으로 채워진">
            <a:extLst>
              <a:ext uri="{FF2B5EF4-FFF2-40B4-BE49-F238E27FC236}">
                <a16:creationId xmlns:a16="http://schemas.microsoft.com/office/drawing/2014/main" id="{73ECFD17-9A6E-4481-8791-F6C6D2C619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3417" y="5812308"/>
            <a:ext cx="326366" cy="32636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47914DA-0E1B-4369-9E70-CCD764D00B4E}"/>
              </a:ext>
            </a:extLst>
          </p:cNvPr>
          <p:cNvSpPr txBox="1"/>
          <p:nvPr/>
        </p:nvSpPr>
        <p:spPr>
          <a:xfrm>
            <a:off x="499533" y="3285067"/>
            <a:ext cx="7454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OOO</a:t>
            </a:r>
            <a:r>
              <a:rPr lang="ko-KR" altLang="en-US" dirty="0"/>
              <a:t>님의 </a:t>
            </a:r>
            <a:r>
              <a:rPr lang="en-US" altLang="ko-KR" dirty="0"/>
              <a:t>OOO</a:t>
            </a:r>
            <a:r>
              <a:rPr lang="ko-KR" altLang="en-US" dirty="0"/>
              <a:t>업은 부상순위 </a:t>
            </a:r>
            <a:r>
              <a:rPr lang="en-US" altLang="ko-KR" dirty="0"/>
              <a:t>OO</a:t>
            </a:r>
            <a:r>
              <a:rPr lang="ko-KR" altLang="en-US" dirty="0"/>
              <a:t>위 이며</a:t>
            </a:r>
            <a:r>
              <a:rPr lang="en-US" altLang="ko-KR" dirty="0"/>
              <a:t>, </a:t>
            </a:r>
            <a:r>
              <a:rPr lang="ko-KR" altLang="en-US" dirty="0"/>
              <a:t>가장 높은 부상 종류는 </a:t>
            </a:r>
            <a:r>
              <a:rPr lang="en-US" altLang="ko-KR" dirty="0"/>
              <a:t>OO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6D5D312-89F8-48B7-9AB9-2388EBC7DD6C}"/>
              </a:ext>
            </a:extLst>
          </p:cNvPr>
          <p:cNvSpPr/>
          <p:nvPr/>
        </p:nvSpPr>
        <p:spPr>
          <a:xfrm>
            <a:off x="77635" y="580044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635FEAC-12D7-49C4-8209-97A0EA2F704B}"/>
              </a:ext>
            </a:extLst>
          </p:cNvPr>
          <p:cNvSpPr/>
          <p:nvPr/>
        </p:nvSpPr>
        <p:spPr>
          <a:xfrm>
            <a:off x="8313965" y="580044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41249" y="190092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3C7825D-4448-4B98-BC96-9250A449316D}"/>
              </a:ext>
            </a:extLst>
          </p:cNvPr>
          <p:cNvSpPr/>
          <p:nvPr/>
        </p:nvSpPr>
        <p:spPr>
          <a:xfrm>
            <a:off x="208140" y="316285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2F5A591-3AD0-4F5C-9238-CEA0D23DD078}"/>
              </a:ext>
            </a:extLst>
          </p:cNvPr>
          <p:cNvSpPr/>
          <p:nvPr/>
        </p:nvSpPr>
        <p:spPr>
          <a:xfrm>
            <a:off x="33184" y="4290734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32103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157513"/>
              </p:ext>
            </p:extLst>
          </p:nvPr>
        </p:nvGraphicFramePr>
        <p:xfrm>
          <a:off x="0" y="0"/>
          <a:ext cx="12192000" cy="142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industrial_accident_statistics.html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industrial_accident_statistics.html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 industrial_accident_statistics.html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지역별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업종별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부상별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통계 슬라이딩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industrial_accident_news_list.html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범위 내 클릭하면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industrial_accident_news_detail_id.html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4CDFB43-F3F6-4146-941D-DB02300DA1F4}"/>
              </a:ext>
            </a:extLst>
          </p:cNvPr>
          <p:cNvSpPr/>
          <p:nvPr/>
        </p:nvSpPr>
        <p:spPr>
          <a:xfrm>
            <a:off x="0" y="1855671"/>
            <a:ext cx="8603671" cy="4811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검색창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1CD89F3-6697-4B63-BC75-AACAC5C082DC}"/>
              </a:ext>
            </a:extLst>
          </p:cNvPr>
          <p:cNvSpPr/>
          <p:nvPr/>
        </p:nvSpPr>
        <p:spPr>
          <a:xfrm>
            <a:off x="-1" y="1857517"/>
            <a:ext cx="1123951" cy="470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필터</a:t>
            </a:r>
          </a:p>
        </p:txBody>
      </p:sp>
      <p:pic>
        <p:nvPicPr>
          <p:cNvPr id="24" name="그래픽 23" descr="돋보기 단색으로 채워진">
            <a:extLst>
              <a:ext uri="{FF2B5EF4-FFF2-40B4-BE49-F238E27FC236}">
                <a16:creationId xmlns:a16="http://schemas.microsoft.com/office/drawing/2014/main" id="{73ECFD17-9A6E-4481-8791-F6C6D2C61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3417" y="1917627"/>
            <a:ext cx="326366" cy="326366"/>
          </a:xfrm>
          <a:prstGeom prst="rect">
            <a:avLst/>
          </a:prstGeom>
        </p:spPr>
      </p:pic>
      <p:graphicFrame>
        <p:nvGraphicFramePr>
          <p:cNvPr id="31" name="표 4">
            <a:extLst>
              <a:ext uri="{FF2B5EF4-FFF2-40B4-BE49-F238E27FC236}">
                <a16:creationId xmlns:a16="http://schemas.microsoft.com/office/drawing/2014/main" id="{C28346CC-9FDB-4C8F-97B6-31A655296F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9022073"/>
              </p:ext>
            </p:extLst>
          </p:nvPr>
        </p:nvGraphicFramePr>
        <p:xfrm>
          <a:off x="8466" y="2480724"/>
          <a:ext cx="8603672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096">
                  <a:extLst>
                    <a:ext uri="{9D8B030D-6E8A-4147-A177-3AD203B41FA5}">
                      <a16:colId xmlns:a16="http://schemas.microsoft.com/office/drawing/2014/main" val="3052106221"/>
                    </a:ext>
                  </a:extLst>
                </a:gridCol>
                <a:gridCol w="1229096">
                  <a:extLst>
                    <a:ext uri="{9D8B030D-6E8A-4147-A177-3AD203B41FA5}">
                      <a16:colId xmlns:a16="http://schemas.microsoft.com/office/drawing/2014/main" val="2663705773"/>
                    </a:ext>
                  </a:extLst>
                </a:gridCol>
                <a:gridCol w="1229096">
                  <a:extLst>
                    <a:ext uri="{9D8B030D-6E8A-4147-A177-3AD203B41FA5}">
                      <a16:colId xmlns:a16="http://schemas.microsoft.com/office/drawing/2014/main" val="3975982369"/>
                    </a:ext>
                  </a:extLst>
                </a:gridCol>
                <a:gridCol w="1229096">
                  <a:extLst>
                    <a:ext uri="{9D8B030D-6E8A-4147-A177-3AD203B41FA5}">
                      <a16:colId xmlns:a16="http://schemas.microsoft.com/office/drawing/2014/main" val="1152241909"/>
                    </a:ext>
                  </a:extLst>
                </a:gridCol>
                <a:gridCol w="1229096">
                  <a:extLst>
                    <a:ext uri="{9D8B030D-6E8A-4147-A177-3AD203B41FA5}">
                      <a16:colId xmlns:a16="http://schemas.microsoft.com/office/drawing/2014/main" val="1750711354"/>
                    </a:ext>
                  </a:extLst>
                </a:gridCol>
                <a:gridCol w="1229096">
                  <a:extLst>
                    <a:ext uri="{9D8B030D-6E8A-4147-A177-3AD203B41FA5}">
                      <a16:colId xmlns:a16="http://schemas.microsoft.com/office/drawing/2014/main" val="4200747119"/>
                    </a:ext>
                  </a:extLst>
                </a:gridCol>
                <a:gridCol w="1229096">
                  <a:extLst>
                    <a:ext uri="{9D8B030D-6E8A-4147-A177-3AD203B41FA5}">
                      <a16:colId xmlns:a16="http://schemas.microsoft.com/office/drawing/2014/main" val="36798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지역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업종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요일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연령대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직종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23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99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114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806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826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802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39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6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584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3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741A143-1F6D-4DA7-9DC5-AB6D5CD63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086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418</Words>
  <Application>Microsoft Office PowerPoint</Application>
  <PresentationFormat>와이드스크린</PresentationFormat>
  <Paragraphs>166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스토리보드 산재통계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페이지 구성도</dc:title>
  <dc:creator>do yun choi</dc:creator>
  <cp:lastModifiedBy>do yun choi</cp:lastModifiedBy>
  <cp:revision>19</cp:revision>
  <dcterms:created xsi:type="dcterms:W3CDTF">2025-11-24T01:38:34Z</dcterms:created>
  <dcterms:modified xsi:type="dcterms:W3CDTF">2025-11-24T07:16:17Z</dcterms:modified>
</cp:coreProperties>
</file>